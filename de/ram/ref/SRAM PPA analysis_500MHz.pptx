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744" r:id="rId1"/>
  </p:sldMasterIdLst>
  <p:notesMasterIdLst>
    <p:notesMasterId r:id="rId10"/>
  </p:notesMasterIdLst>
  <p:handoutMasterIdLst>
    <p:handoutMasterId r:id="rId11"/>
  </p:handoutMasterIdLst>
  <p:sldIdLst>
    <p:sldId id="256" r:id="rId2"/>
    <p:sldId id="301" r:id="rId3"/>
    <p:sldId id="296" r:id="rId4"/>
    <p:sldId id="297" r:id="rId5"/>
    <p:sldId id="298" r:id="rId6"/>
    <p:sldId id="299" r:id="rId7"/>
    <p:sldId id="300" r:id="rId8"/>
    <p:sldId id="260" r:id="rId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1F4FB"/>
    <a:srgbClr val="EEF1FA"/>
    <a:srgbClr val="F8F6F7"/>
    <a:srgbClr val="F2F2F2"/>
    <a:srgbClr val="9859AB"/>
    <a:srgbClr val="EAC57B"/>
    <a:srgbClr val="9A39B8"/>
    <a:srgbClr val="BF37B1"/>
    <a:srgbClr val="E623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3296810-A885-4BE3-A3E7-6D5BEEA58F35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2642" autoAdjust="0"/>
  </p:normalViewPr>
  <p:slideViewPr>
    <p:cSldViewPr snapToGrid="0">
      <p:cViewPr varScale="1">
        <p:scale>
          <a:sx n="91" d="100"/>
          <a:sy n="91" d="100"/>
        </p:scale>
        <p:origin x="135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719EC3F4-CD57-AA2B-39F6-95664074573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8EECB8B-111E-A865-5818-00BD6043D01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B65BE0-96DB-4526-8B9E-46C326072A4F}" type="datetimeFigureOut">
              <a:rPr lang="zh-TW" altLang="en-US" smtClean="0"/>
              <a:t>2026/1/19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D08A8B1-B709-3CF5-ECF0-A96C9CABB58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EEBC5B5-1955-46AA-30AD-59568A6092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20F711-A710-4689-9458-B6AF59E7B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295535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EE9B56-F21D-4E22-AB47-1B2434A27BC3}" type="datetimeFigureOut">
              <a:rPr lang="zh-TW" altLang="en-US" smtClean="0"/>
              <a:t>2026/1/19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C7D60C-0EFC-4E98-B6F1-17F3821BC9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93126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DA9BB-4385-7E19-E7AC-176C0C2A7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7AA65DB-9186-6893-B527-C0E86F7C88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E56EE2F-ED5E-E454-0CF6-855D74AEE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6C973DE-E1CF-BFAC-0490-8D698FBF7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7D60C-0EFC-4E98-B6F1-17F3821BC94B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38852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19B6F-6D9E-8BAA-B45B-33C62F69E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B70B44A-5B9D-36F8-CD99-3CADAA991D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4E3A526-A8DA-1216-4061-9C55118A5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71C055-73F6-C676-E22D-D6E6184C20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7D60C-0EFC-4E98-B6F1-17F3821BC94B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56622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5ABB-972A-AB83-9817-E86403E00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34A6B7B-26E9-67C0-B3A8-CBCF57F93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E404B8B-C196-4794-240C-A9A79797C6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A3E3C-FEA0-D34A-3A33-F5C72DF13E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7D60C-0EFC-4E98-B6F1-17F3821BC94B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48152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7D20D-AAA5-826C-1D95-01938DFC3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F72DDB-1EF8-E464-A55D-084A99517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8289724-EAB7-8C2A-A32D-EA95B3C153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0ED302-7202-480E-DCE7-D86CB0BF2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7D60C-0EFC-4E98-B6F1-17F3821BC94B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75778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A35FA-3687-53BF-6BC3-0FD9DACA8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2EF2016-FB80-2A4C-AF77-202243D252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DF9398C-38ED-A67E-CD37-9435891C24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259305-970A-C579-EBED-5FB9AAFB84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7D60C-0EFC-4E98-B6F1-17F3821BC94B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7195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EC856-3047-B005-8001-9C69F4F2A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7816799-6BD7-2397-FD2C-24CDA115EC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9A27541-C006-8D1B-4874-6542E89ADF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11387-71CE-6684-E537-93E348CC93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7D60C-0EFC-4E98-B6F1-17F3821BC94B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16376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page Templa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19403" y="980729"/>
            <a:ext cx="10753195" cy="2318097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3600" b="1" cap="none" baseline="0">
                <a:solidFill>
                  <a:srgbClr val="002060"/>
                </a:solidFill>
                <a:latin typeface="+mn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zh-TW" altLang="en-US" dirty="0"/>
              <a:t>按一下以編輯標題</a:t>
            </a:r>
            <a:br>
              <a:rPr lang="en-US" altLang="zh-TW" dirty="0"/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19404" y="3501008"/>
            <a:ext cx="8598768" cy="143675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dirty="0"/>
              <a:t>按一下以編輯子標題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719403" y="3429000"/>
            <a:ext cx="8598768" cy="0"/>
          </a:xfrm>
          <a:prstGeom prst="line">
            <a:avLst/>
          </a:prstGeom>
          <a:ln w="38100">
            <a:solidFill>
              <a:srgbClr val="FFB21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プレースホルダー 12">
            <a:extLst>
              <a:ext uri="{FF2B5EF4-FFF2-40B4-BE49-F238E27FC236}">
                <a16:creationId xmlns:a16="http://schemas.microsoft.com/office/drawing/2014/main" id="{5BE1B1CA-6A3F-0196-B47A-5CB0665BCF7B}"/>
              </a:ext>
            </a:extLst>
          </p:cNvPr>
          <p:cNvSpPr txBox="1">
            <a:spLocks/>
          </p:cNvSpPr>
          <p:nvPr userDrawn="1"/>
        </p:nvSpPr>
        <p:spPr>
          <a:xfrm>
            <a:off x="1291465" y="6372492"/>
            <a:ext cx="1935727" cy="286332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171458" indent="-17145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Wingdings" panose="05000000000000000000" pitchFamily="2" charset="2"/>
              <a:buChar char="n"/>
              <a:defRPr sz="1400" kern="1200" baseline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700"/>
              </a:lnSpc>
              <a:spcBef>
                <a:spcPts val="0"/>
              </a:spcBef>
              <a:buNone/>
            </a:pPr>
            <a:r>
              <a:rPr kumimoji="1" lang="en-US" altLang="zh-TW" sz="800" b="1" dirty="0">
                <a:solidFill>
                  <a:schemeClr val="bg1">
                    <a:lumMod val="50000"/>
                  </a:schemeClr>
                </a:solidFill>
                <a:ea typeface="Heiti TC Light" charset="-120"/>
                <a:cs typeface="Heiti TC Light" charset="-120"/>
              </a:rPr>
              <a:t>Confidential</a:t>
            </a:r>
            <a:endParaRPr kumimoji="1" lang="en-US" altLang="zh-TW" sz="1000" b="1" dirty="0">
              <a:solidFill>
                <a:schemeClr val="bg1">
                  <a:lumMod val="50000"/>
                </a:schemeClr>
              </a:solidFill>
              <a:ea typeface="Heiti TC Light" charset="-120"/>
              <a:cs typeface="Heiti TC Light" charset="-120"/>
            </a:endParaRPr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77B5ED44-718C-B8D1-E887-42D78FE6DC78}"/>
              </a:ext>
            </a:extLst>
          </p:cNvPr>
          <p:cNvSpPr txBox="1">
            <a:spLocks/>
          </p:cNvSpPr>
          <p:nvPr userDrawn="1"/>
        </p:nvSpPr>
        <p:spPr>
          <a:xfrm>
            <a:off x="1282919" y="6533598"/>
            <a:ext cx="2293494" cy="286332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171458" indent="-17145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Wingdings" panose="05000000000000000000" pitchFamily="2" charset="2"/>
              <a:buChar char="n"/>
              <a:defRPr sz="1400" kern="1200" baseline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kumimoji="1" lang="en-US" altLang="zh-TW" sz="600" b="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Subject to change without notice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kumimoji="1" lang="en-US" altLang="zh-TW" sz="600" b="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copyright </a:t>
            </a:r>
            <a:r>
              <a:rPr lang="en-US" altLang="zh-TW" sz="800" b="0" i="0" dirty="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© </a:t>
            </a:r>
            <a:r>
              <a:rPr kumimoji="1" lang="en-US" altLang="zh-TW" sz="600" b="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2025  Andes Technology</a:t>
            </a:r>
          </a:p>
        </p:txBody>
      </p:sp>
    </p:spTree>
    <p:extLst>
      <p:ext uri="{BB962C8B-B14F-4D97-AF65-F5344CB8AC3E}">
        <p14:creationId xmlns:p14="http://schemas.microsoft.com/office/powerpoint/2010/main" val="26429239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tent page1Templa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3899538" y="4420848"/>
            <a:ext cx="4392924" cy="946995"/>
          </a:xfrm>
          <a:prstGeom prst="rect">
            <a:avLst/>
          </a:prstGeom>
        </p:spPr>
        <p:txBody>
          <a:bodyPr anchor="b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lang="en-US" sz="3200" b="1" kern="1200" spc="-100" baseline="0" dirty="0">
                <a:solidFill>
                  <a:srgbClr val="12355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按一下以編輯標題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3899538" y="5512688"/>
            <a:ext cx="4392924" cy="7159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dirty="0"/>
              <a:t>按一下以編輯子標題</a:t>
            </a:r>
          </a:p>
        </p:txBody>
      </p:sp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1504950" y="5440680"/>
            <a:ext cx="9286875" cy="0"/>
          </a:xfrm>
          <a:prstGeom prst="line">
            <a:avLst/>
          </a:prstGeom>
          <a:ln w="38100">
            <a:solidFill>
              <a:srgbClr val="FFB21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8">
            <a:extLst>
              <a:ext uri="{FF2B5EF4-FFF2-40B4-BE49-F238E27FC236}">
                <a16:creationId xmlns:a16="http://schemas.microsoft.com/office/drawing/2014/main" id="{9563AA8F-3CD5-6521-1BE0-BF9F949327A8}"/>
              </a:ext>
            </a:extLst>
          </p:cNvPr>
          <p:cNvSpPr txBox="1"/>
          <p:nvPr userDrawn="1"/>
        </p:nvSpPr>
        <p:spPr>
          <a:xfrm>
            <a:off x="11629624" y="6519446"/>
            <a:ext cx="6814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838F01-448A-498C-AC18-01F8715B18A2}" type="slidenum">
              <a:rPr lang="en-US" altLang="zh-TW" sz="1600" b="1" i="0" smtClean="0">
                <a:solidFill>
                  <a:schemeClr val="tx1"/>
                </a:solidFill>
              </a:rPr>
              <a:pPr/>
              <a:t>‹#›</a:t>
            </a:fld>
            <a:endParaRPr lang="zh-TW" altLang="en-US" sz="1600" dirty="0"/>
          </a:p>
        </p:txBody>
      </p:sp>
      <p:sp>
        <p:nvSpPr>
          <p:cNvPr id="4" name="テキスト プレースホルダー 12">
            <a:extLst>
              <a:ext uri="{FF2B5EF4-FFF2-40B4-BE49-F238E27FC236}">
                <a16:creationId xmlns:a16="http://schemas.microsoft.com/office/drawing/2014/main" id="{A7CF5C95-5C1E-6972-9E7B-C0BCF3797A04}"/>
              </a:ext>
            </a:extLst>
          </p:cNvPr>
          <p:cNvSpPr txBox="1">
            <a:spLocks/>
          </p:cNvSpPr>
          <p:nvPr userDrawn="1"/>
        </p:nvSpPr>
        <p:spPr>
          <a:xfrm>
            <a:off x="1291465" y="6372492"/>
            <a:ext cx="1935727" cy="286332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171458" indent="-17145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Wingdings" panose="05000000000000000000" pitchFamily="2" charset="2"/>
              <a:buChar char="n"/>
              <a:defRPr sz="1400" kern="1200" baseline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700"/>
              </a:lnSpc>
              <a:spcBef>
                <a:spcPts val="0"/>
              </a:spcBef>
              <a:buNone/>
            </a:pPr>
            <a:r>
              <a:rPr kumimoji="1" lang="en-US" altLang="zh-TW" sz="800" b="1" dirty="0">
                <a:solidFill>
                  <a:schemeClr val="bg1">
                    <a:lumMod val="50000"/>
                  </a:schemeClr>
                </a:solidFill>
                <a:ea typeface="Heiti TC Light" charset="-120"/>
                <a:cs typeface="Heiti TC Light" charset="-120"/>
              </a:rPr>
              <a:t>Confidential</a:t>
            </a:r>
            <a:endParaRPr kumimoji="1" lang="en-US" altLang="zh-TW" sz="1000" b="1" dirty="0">
              <a:solidFill>
                <a:schemeClr val="bg1">
                  <a:lumMod val="50000"/>
                </a:schemeClr>
              </a:solidFill>
              <a:ea typeface="Heiti TC Light" charset="-120"/>
              <a:cs typeface="Heiti TC Light" charset="-120"/>
            </a:endParaRPr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E617ED3D-FDFB-101F-4A22-F539E19E89A2}"/>
              </a:ext>
            </a:extLst>
          </p:cNvPr>
          <p:cNvSpPr txBox="1">
            <a:spLocks/>
          </p:cNvSpPr>
          <p:nvPr userDrawn="1"/>
        </p:nvSpPr>
        <p:spPr>
          <a:xfrm>
            <a:off x="1282919" y="6533598"/>
            <a:ext cx="2293494" cy="286332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171458" indent="-17145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Wingdings" panose="05000000000000000000" pitchFamily="2" charset="2"/>
              <a:buChar char="n"/>
              <a:defRPr sz="1400" kern="1200" baseline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kumimoji="1" lang="en-US" altLang="zh-TW" sz="600" b="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Subject to change without notice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kumimoji="1" lang="en-US" altLang="zh-TW" sz="600" b="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copyright </a:t>
            </a:r>
            <a:r>
              <a:rPr lang="en-US" altLang="zh-TW" sz="800" b="0" i="0" dirty="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© </a:t>
            </a:r>
            <a:r>
              <a:rPr kumimoji="1" lang="en-US" altLang="zh-TW" sz="600" b="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2025  Andes Technology</a:t>
            </a:r>
          </a:p>
        </p:txBody>
      </p:sp>
    </p:spTree>
    <p:extLst>
      <p:ext uri="{BB962C8B-B14F-4D97-AF65-F5344CB8AC3E}">
        <p14:creationId xmlns:p14="http://schemas.microsoft.com/office/powerpoint/2010/main" val="28241877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age2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419100"/>
            <a:ext cx="10972800" cy="5715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3600" b="1">
                <a:solidFill>
                  <a:srgbClr val="12355B"/>
                </a:solidFill>
              </a:defRPr>
            </a:lvl1pPr>
          </a:lstStyle>
          <a:p>
            <a:r>
              <a:rPr lang="zh-TW" altLang="en-US" dirty="0"/>
              <a:t>按一下以編輯標題</a:t>
            </a:r>
            <a:endParaRPr lang="en-US" dirty="0"/>
          </a:p>
        </p:txBody>
      </p:sp>
      <p:cxnSp>
        <p:nvCxnSpPr>
          <p:cNvPr id="7" name="Straight Connector 7"/>
          <p:cNvCxnSpPr/>
          <p:nvPr/>
        </p:nvCxnSpPr>
        <p:spPr>
          <a:xfrm>
            <a:off x="623392" y="1032621"/>
            <a:ext cx="10945216" cy="0"/>
          </a:xfrm>
          <a:prstGeom prst="line">
            <a:avLst/>
          </a:prstGeom>
          <a:ln w="38100">
            <a:solidFill>
              <a:srgbClr val="FFB31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內容版面配置區 5">
            <a:extLst>
              <a:ext uri="{FF2B5EF4-FFF2-40B4-BE49-F238E27FC236}">
                <a16:creationId xmlns:a16="http://schemas.microsoft.com/office/drawing/2014/main" id="{E28AF33A-0BF1-589C-4295-F788267AABC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" y="1152525"/>
            <a:ext cx="10972800" cy="5121275"/>
          </a:xfrm>
          <a:prstGeom prst="rect">
            <a:avLst/>
          </a:prstGeom>
          <a:noFill/>
        </p:spPr>
        <p:txBody>
          <a:bodyPr/>
          <a:lstStyle>
            <a:lvl1pPr marL="182880" indent="-182880">
              <a:buClr>
                <a:schemeClr val="tx1"/>
              </a:buClr>
              <a:buSzPct val="100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</a:defRPr>
            </a:lvl1pPr>
            <a:lvl2pPr marL="741600" indent="-284400">
              <a:buClr>
                <a:schemeClr val="tx1"/>
              </a:buClr>
              <a:buSzPct val="10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</a:defRPr>
            </a:lvl2pPr>
            <a:lvl3pPr marL="1144800" indent="-230400">
              <a:buClr>
                <a:schemeClr val="tx1"/>
              </a:buClr>
              <a:buSzPct val="100000"/>
              <a:buFont typeface="Wingdings" panose="05000000000000000000" pitchFamily="2" charset="2"/>
              <a:buChar char="u"/>
              <a:defRPr sz="2000">
                <a:solidFill>
                  <a:schemeClr val="tx1"/>
                </a:solidFill>
              </a:defRPr>
            </a:lvl3pPr>
            <a:lvl4pPr marL="1602000" indent="-230400">
              <a:buClr>
                <a:schemeClr val="tx1"/>
              </a:buClr>
              <a:buFont typeface="Wingdings" panose="05000000000000000000" pitchFamily="2" charset="2"/>
              <a:buChar char="l"/>
              <a:defRPr sz="1800">
                <a:solidFill>
                  <a:schemeClr val="tx1"/>
                </a:solidFill>
              </a:defRPr>
            </a:lvl4pPr>
            <a:lvl5pPr marL="2059200" indent="-230400">
              <a:lnSpc>
                <a:spcPts val="24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zh-TW" altLang="en-US" dirty="0"/>
              <a:t>按一下以編輯文字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3" name="文字方塊 8">
            <a:extLst>
              <a:ext uri="{FF2B5EF4-FFF2-40B4-BE49-F238E27FC236}">
                <a16:creationId xmlns:a16="http://schemas.microsoft.com/office/drawing/2014/main" id="{64E5449A-8681-81DD-141F-758F1F8BB0D5}"/>
              </a:ext>
            </a:extLst>
          </p:cNvPr>
          <p:cNvSpPr txBox="1"/>
          <p:nvPr userDrawn="1"/>
        </p:nvSpPr>
        <p:spPr>
          <a:xfrm>
            <a:off x="11629624" y="6519446"/>
            <a:ext cx="6814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838F01-448A-498C-AC18-01F8715B18A2}" type="slidenum">
              <a:rPr lang="en-US" altLang="zh-TW" sz="1600" b="1" i="0" smtClean="0">
                <a:solidFill>
                  <a:schemeClr val="tx1"/>
                </a:solidFill>
              </a:rPr>
              <a:pPr/>
              <a:t>‹#›</a:t>
            </a:fld>
            <a:endParaRPr lang="zh-TW" altLang="en-US" sz="1600" dirty="0"/>
          </a:p>
        </p:txBody>
      </p:sp>
      <p:sp>
        <p:nvSpPr>
          <p:cNvPr id="4" name="テキスト プレースホルダー 12">
            <a:extLst>
              <a:ext uri="{FF2B5EF4-FFF2-40B4-BE49-F238E27FC236}">
                <a16:creationId xmlns:a16="http://schemas.microsoft.com/office/drawing/2014/main" id="{498FBA4E-CA01-F847-E266-074985AEC028}"/>
              </a:ext>
            </a:extLst>
          </p:cNvPr>
          <p:cNvSpPr txBox="1">
            <a:spLocks/>
          </p:cNvSpPr>
          <p:nvPr userDrawn="1"/>
        </p:nvSpPr>
        <p:spPr>
          <a:xfrm>
            <a:off x="1291465" y="6372492"/>
            <a:ext cx="1935727" cy="286332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171458" indent="-17145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Wingdings" panose="05000000000000000000" pitchFamily="2" charset="2"/>
              <a:buChar char="n"/>
              <a:defRPr sz="1400" kern="1200" baseline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700"/>
              </a:lnSpc>
              <a:spcBef>
                <a:spcPts val="0"/>
              </a:spcBef>
              <a:buNone/>
            </a:pPr>
            <a:r>
              <a:rPr kumimoji="1" lang="en-US" altLang="zh-TW" sz="800" b="1" dirty="0">
                <a:solidFill>
                  <a:schemeClr val="bg1">
                    <a:lumMod val="50000"/>
                  </a:schemeClr>
                </a:solidFill>
                <a:ea typeface="Heiti TC Light" charset="-120"/>
                <a:cs typeface="Heiti TC Light" charset="-120"/>
              </a:rPr>
              <a:t>Confidential</a:t>
            </a:r>
            <a:endParaRPr kumimoji="1" lang="en-US" altLang="zh-TW" sz="1000" b="1" dirty="0">
              <a:solidFill>
                <a:schemeClr val="bg1">
                  <a:lumMod val="50000"/>
                </a:schemeClr>
              </a:solidFill>
              <a:ea typeface="Heiti TC Light" charset="-120"/>
              <a:cs typeface="Heiti TC Light" charset="-120"/>
            </a:endParaRPr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A42ACEF3-3EF2-BBD6-1346-3B50E273545A}"/>
              </a:ext>
            </a:extLst>
          </p:cNvPr>
          <p:cNvSpPr txBox="1">
            <a:spLocks/>
          </p:cNvSpPr>
          <p:nvPr userDrawn="1"/>
        </p:nvSpPr>
        <p:spPr>
          <a:xfrm>
            <a:off x="1282919" y="6533598"/>
            <a:ext cx="2293494" cy="286332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171458" indent="-17145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Wingdings" panose="05000000000000000000" pitchFamily="2" charset="2"/>
              <a:buChar char="n"/>
              <a:defRPr sz="1400" kern="1200" baseline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kumimoji="1" lang="en-US" altLang="zh-TW" sz="600" b="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Subject to change without notice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kumimoji="1" lang="en-US" altLang="zh-TW" sz="600" b="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copyright </a:t>
            </a:r>
            <a:r>
              <a:rPr lang="en-US" altLang="zh-TW" sz="800" b="0" i="0" dirty="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© </a:t>
            </a:r>
            <a:r>
              <a:rPr kumimoji="1" lang="en-US" altLang="zh-TW" sz="600" b="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2025  Andes Technology</a:t>
            </a:r>
          </a:p>
        </p:txBody>
      </p:sp>
    </p:spTree>
    <p:extLst>
      <p:ext uri="{BB962C8B-B14F-4D97-AF65-F5344CB8AC3E}">
        <p14:creationId xmlns:p14="http://schemas.microsoft.com/office/powerpoint/2010/main" val="1955351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age3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419100"/>
            <a:ext cx="10972800" cy="5715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3600" b="1">
                <a:solidFill>
                  <a:srgbClr val="12355B"/>
                </a:solidFill>
              </a:defRPr>
            </a:lvl1pPr>
          </a:lstStyle>
          <a:p>
            <a:r>
              <a:rPr lang="zh-TW" altLang="en-US" dirty="0"/>
              <a:t>按一下以編輯標題</a:t>
            </a:r>
            <a:endParaRPr lang="en-US" dirty="0"/>
          </a:p>
        </p:txBody>
      </p:sp>
      <p:cxnSp>
        <p:nvCxnSpPr>
          <p:cNvPr id="7" name="Straight Connector 7"/>
          <p:cNvCxnSpPr/>
          <p:nvPr/>
        </p:nvCxnSpPr>
        <p:spPr>
          <a:xfrm>
            <a:off x="623392" y="1032621"/>
            <a:ext cx="10945216" cy="0"/>
          </a:xfrm>
          <a:prstGeom prst="line">
            <a:avLst/>
          </a:prstGeom>
          <a:ln w="38100">
            <a:solidFill>
              <a:srgbClr val="FFB31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圖片 5">
            <a:extLst>
              <a:ext uri="{FF2B5EF4-FFF2-40B4-BE49-F238E27FC236}">
                <a16:creationId xmlns:a16="http://schemas.microsoft.com/office/drawing/2014/main" id="{5AA0D0CF-2E10-14D1-1869-6379C227C85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0000"/>
          </a:blip>
          <a:srcRect l="23246" t="17716" r="5971" b="8764"/>
          <a:stretch/>
        </p:blipFill>
        <p:spPr>
          <a:xfrm>
            <a:off x="0" y="3968151"/>
            <a:ext cx="2937202" cy="2995914"/>
          </a:xfrm>
          <a:prstGeom prst="rect">
            <a:avLst/>
          </a:prstGeom>
        </p:spPr>
      </p:pic>
      <p:sp>
        <p:nvSpPr>
          <p:cNvPr id="3" name="文字方塊 8">
            <a:extLst>
              <a:ext uri="{FF2B5EF4-FFF2-40B4-BE49-F238E27FC236}">
                <a16:creationId xmlns:a16="http://schemas.microsoft.com/office/drawing/2014/main" id="{F85647F5-31DC-8B83-B2BC-50CAE659CA4D}"/>
              </a:ext>
            </a:extLst>
          </p:cNvPr>
          <p:cNvSpPr txBox="1"/>
          <p:nvPr userDrawn="1"/>
        </p:nvSpPr>
        <p:spPr>
          <a:xfrm>
            <a:off x="11629624" y="6519446"/>
            <a:ext cx="6814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838F01-448A-498C-AC18-01F8715B18A2}" type="slidenum">
              <a:rPr lang="en-US" altLang="zh-TW" sz="1600" b="1" i="0" smtClean="0">
                <a:solidFill>
                  <a:schemeClr val="tx1"/>
                </a:solidFill>
              </a:rPr>
              <a:pPr/>
              <a:t>‹#›</a:t>
            </a:fld>
            <a:endParaRPr lang="zh-TW" altLang="en-US" sz="1600" dirty="0"/>
          </a:p>
        </p:txBody>
      </p:sp>
      <p:sp>
        <p:nvSpPr>
          <p:cNvPr id="4" name="テキスト プレースホルダー 12">
            <a:extLst>
              <a:ext uri="{FF2B5EF4-FFF2-40B4-BE49-F238E27FC236}">
                <a16:creationId xmlns:a16="http://schemas.microsoft.com/office/drawing/2014/main" id="{9F67334B-561D-9D2E-6DBF-E6420FB98E61}"/>
              </a:ext>
            </a:extLst>
          </p:cNvPr>
          <p:cNvSpPr txBox="1">
            <a:spLocks/>
          </p:cNvSpPr>
          <p:nvPr userDrawn="1"/>
        </p:nvSpPr>
        <p:spPr>
          <a:xfrm>
            <a:off x="1291465" y="6372492"/>
            <a:ext cx="1935727" cy="286332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171458" indent="-17145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Wingdings" panose="05000000000000000000" pitchFamily="2" charset="2"/>
              <a:buChar char="n"/>
              <a:defRPr sz="1400" kern="1200" baseline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700"/>
              </a:lnSpc>
              <a:spcBef>
                <a:spcPts val="0"/>
              </a:spcBef>
              <a:buNone/>
            </a:pPr>
            <a:r>
              <a:rPr kumimoji="1" lang="en-US" altLang="zh-TW" sz="800" b="1" dirty="0">
                <a:solidFill>
                  <a:schemeClr val="bg1">
                    <a:lumMod val="50000"/>
                  </a:schemeClr>
                </a:solidFill>
                <a:ea typeface="Heiti TC Light" charset="-120"/>
                <a:cs typeface="Heiti TC Light" charset="-120"/>
              </a:rPr>
              <a:t>Confidential</a:t>
            </a:r>
            <a:endParaRPr kumimoji="1" lang="en-US" altLang="zh-TW" sz="1000" b="1" dirty="0">
              <a:solidFill>
                <a:schemeClr val="bg1">
                  <a:lumMod val="50000"/>
                </a:schemeClr>
              </a:solidFill>
              <a:ea typeface="Heiti TC Light" charset="-120"/>
              <a:cs typeface="Heiti TC Light" charset="-120"/>
            </a:endParaRPr>
          </a:p>
        </p:txBody>
      </p:sp>
      <p:sp>
        <p:nvSpPr>
          <p:cNvPr id="8" name="テキスト プレースホルダー 12">
            <a:extLst>
              <a:ext uri="{FF2B5EF4-FFF2-40B4-BE49-F238E27FC236}">
                <a16:creationId xmlns:a16="http://schemas.microsoft.com/office/drawing/2014/main" id="{D10C6917-1E80-3E1E-0202-201C52690693}"/>
              </a:ext>
            </a:extLst>
          </p:cNvPr>
          <p:cNvSpPr txBox="1">
            <a:spLocks/>
          </p:cNvSpPr>
          <p:nvPr userDrawn="1"/>
        </p:nvSpPr>
        <p:spPr>
          <a:xfrm>
            <a:off x="1282919" y="6533598"/>
            <a:ext cx="2293494" cy="286332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171458" indent="-17145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Wingdings" panose="05000000000000000000" pitchFamily="2" charset="2"/>
              <a:buChar char="n"/>
              <a:defRPr sz="1400" kern="1200" baseline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kumimoji="1" lang="en-US" altLang="zh-TW" sz="600" b="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Subject to change without notice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kumimoji="1" lang="en-US" altLang="zh-TW" sz="600" b="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copyright </a:t>
            </a:r>
            <a:r>
              <a:rPr lang="en-US" altLang="zh-TW" sz="800" b="0" i="0" dirty="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© </a:t>
            </a:r>
            <a:r>
              <a:rPr kumimoji="1" lang="en-US" altLang="zh-TW" sz="600" b="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2025</a:t>
            </a:r>
            <a:r>
              <a:rPr kumimoji="1" lang="zh-TW" altLang="en-US" sz="600" b="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TW" sz="600" b="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Andes Technology</a:t>
            </a:r>
          </a:p>
        </p:txBody>
      </p:sp>
      <p:sp>
        <p:nvSpPr>
          <p:cNvPr id="5" name="內容版面配置區 5">
            <a:extLst>
              <a:ext uri="{FF2B5EF4-FFF2-40B4-BE49-F238E27FC236}">
                <a16:creationId xmlns:a16="http://schemas.microsoft.com/office/drawing/2014/main" id="{CD459BB7-AA43-19EF-B57E-D1BD2C57F985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" y="1152525"/>
            <a:ext cx="10972800" cy="5121275"/>
          </a:xfrm>
          <a:prstGeom prst="rect">
            <a:avLst/>
          </a:prstGeom>
          <a:noFill/>
        </p:spPr>
        <p:txBody>
          <a:bodyPr/>
          <a:lstStyle>
            <a:lvl1pPr marL="182880" indent="-182880">
              <a:buClr>
                <a:schemeClr val="tx1"/>
              </a:buClr>
              <a:buSzPct val="100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</a:defRPr>
            </a:lvl1pPr>
            <a:lvl2pPr marL="741600" indent="-284400">
              <a:buClr>
                <a:schemeClr val="tx1"/>
              </a:buClr>
              <a:buSzPct val="10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</a:defRPr>
            </a:lvl2pPr>
            <a:lvl3pPr marL="1144800" indent="-230400">
              <a:buClr>
                <a:schemeClr val="tx1"/>
              </a:buClr>
              <a:buSzPct val="100000"/>
              <a:buFont typeface="Wingdings" panose="05000000000000000000" pitchFamily="2" charset="2"/>
              <a:buChar char="u"/>
              <a:defRPr sz="2000">
                <a:solidFill>
                  <a:schemeClr val="tx1"/>
                </a:solidFill>
              </a:defRPr>
            </a:lvl3pPr>
            <a:lvl4pPr marL="1602000" indent="-230400">
              <a:buClr>
                <a:schemeClr val="tx1"/>
              </a:buClr>
              <a:buFont typeface="Wingdings" panose="05000000000000000000" pitchFamily="2" charset="2"/>
              <a:buChar char="l"/>
              <a:defRPr sz="1800">
                <a:solidFill>
                  <a:schemeClr val="tx1"/>
                </a:solidFill>
              </a:defRPr>
            </a:lvl4pPr>
            <a:lvl5pPr marL="2059200" indent="-230400">
              <a:lnSpc>
                <a:spcPts val="24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zh-TW" altLang="en-US" dirty="0"/>
              <a:t>按一下以編輯文字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715417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age4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11BE22F5-4BA5-BD75-3A06-F1C7F61464AE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704658"/>
            <a:ext cx="0" cy="4876343"/>
          </a:xfrm>
          <a:prstGeom prst="line">
            <a:avLst/>
          </a:prstGeom>
          <a:ln w="25400">
            <a:solidFill>
              <a:schemeClr val="bg1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內容版面配置區 5">
            <a:extLst>
              <a:ext uri="{FF2B5EF4-FFF2-40B4-BE49-F238E27FC236}">
                <a16:creationId xmlns:a16="http://schemas.microsoft.com/office/drawing/2014/main" id="{28BDF2BC-E191-9072-2758-CD66EEB9E17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0400" y="1152526"/>
            <a:ext cx="5194300" cy="421640"/>
          </a:xfrm>
          <a:prstGeom prst="rect">
            <a:avLst/>
          </a:prstGeom>
          <a:noFill/>
        </p:spPr>
        <p:txBody>
          <a:bodyPr anchor="ctr"/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 dirty="0"/>
              <a:t>按一下以編輯文字</a:t>
            </a:r>
          </a:p>
        </p:txBody>
      </p:sp>
      <p:sp>
        <p:nvSpPr>
          <p:cNvPr id="17" name="內容版面配置區 5">
            <a:extLst>
              <a:ext uri="{FF2B5EF4-FFF2-40B4-BE49-F238E27FC236}">
                <a16:creationId xmlns:a16="http://schemas.microsoft.com/office/drawing/2014/main" id="{F9514897-37AA-C18D-0F80-C54064FE8BE9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337298" y="1152526"/>
            <a:ext cx="5194300" cy="421640"/>
          </a:xfrm>
          <a:prstGeom prst="rect">
            <a:avLst/>
          </a:prstGeom>
          <a:noFill/>
        </p:spPr>
        <p:txBody>
          <a:bodyPr anchor="ctr"/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 dirty="0"/>
              <a:t>按一下以編輯文字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8C89EE82-F32B-6D4B-5705-0E70DBE7A6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19100"/>
            <a:ext cx="10972800" cy="5715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3600" b="1">
                <a:solidFill>
                  <a:srgbClr val="12355B"/>
                </a:solidFill>
              </a:defRPr>
            </a:lvl1pPr>
          </a:lstStyle>
          <a:p>
            <a:r>
              <a:rPr lang="zh-TW" altLang="en-US" dirty="0"/>
              <a:t>按一下以編輯標題</a:t>
            </a:r>
            <a:endParaRPr lang="en-US" dirty="0"/>
          </a:p>
        </p:txBody>
      </p:sp>
      <p:cxnSp>
        <p:nvCxnSpPr>
          <p:cNvPr id="19" name="Straight Connector 7">
            <a:extLst>
              <a:ext uri="{FF2B5EF4-FFF2-40B4-BE49-F238E27FC236}">
                <a16:creationId xmlns:a16="http://schemas.microsoft.com/office/drawing/2014/main" id="{5A20A35E-18BF-6355-154A-835682508B47}"/>
              </a:ext>
            </a:extLst>
          </p:cNvPr>
          <p:cNvCxnSpPr/>
          <p:nvPr userDrawn="1"/>
        </p:nvCxnSpPr>
        <p:spPr>
          <a:xfrm>
            <a:off x="623392" y="1032621"/>
            <a:ext cx="10945216" cy="0"/>
          </a:xfrm>
          <a:prstGeom prst="line">
            <a:avLst/>
          </a:prstGeom>
          <a:ln w="38100">
            <a:solidFill>
              <a:srgbClr val="FFB31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字方塊 8">
            <a:extLst>
              <a:ext uri="{FF2B5EF4-FFF2-40B4-BE49-F238E27FC236}">
                <a16:creationId xmlns:a16="http://schemas.microsoft.com/office/drawing/2014/main" id="{5CC5F0F3-9CD0-6049-69C4-409CE52519FA}"/>
              </a:ext>
            </a:extLst>
          </p:cNvPr>
          <p:cNvSpPr txBox="1"/>
          <p:nvPr userDrawn="1"/>
        </p:nvSpPr>
        <p:spPr>
          <a:xfrm>
            <a:off x="11629624" y="6519446"/>
            <a:ext cx="6814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838F01-448A-498C-AC18-01F8715B18A2}" type="slidenum">
              <a:rPr lang="en-US" altLang="zh-TW" sz="1600" b="1" i="0" smtClean="0">
                <a:solidFill>
                  <a:schemeClr val="tx1"/>
                </a:solidFill>
              </a:rPr>
              <a:pPr/>
              <a:t>‹#›</a:t>
            </a:fld>
            <a:endParaRPr lang="zh-TW" altLang="en-US" sz="1600" dirty="0"/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2F9DB0A1-FB87-CED6-4AA2-9B35B6FF9C64}"/>
              </a:ext>
            </a:extLst>
          </p:cNvPr>
          <p:cNvSpPr txBox="1">
            <a:spLocks/>
          </p:cNvSpPr>
          <p:nvPr userDrawn="1"/>
        </p:nvSpPr>
        <p:spPr>
          <a:xfrm>
            <a:off x="1291465" y="6372492"/>
            <a:ext cx="1935727" cy="286332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171458" indent="-17145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Wingdings" panose="05000000000000000000" pitchFamily="2" charset="2"/>
              <a:buChar char="n"/>
              <a:defRPr sz="1400" kern="1200" baseline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700"/>
              </a:lnSpc>
              <a:spcBef>
                <a:spcPts val="0"/>
              </a:spcBef>
              <a:buNone/>
            </a:pPr>
            <a:r>
              <a:rPr kumimoji="1" lang="en-US" altLang="zh-TW" sz="800" b="1" dirty="0">
                <a:solidFill>
                  <a:schemeClr val="bg1">
                    <a:lumMod val="50000"/>
                  </a:schemeClr>
                </a:solidFill>
                <a:ea typeface="Heiti TC Light" charset="-120"/>
                <a:cs typeface="Heiti TC Light" charset="-120"/>
              </a:rPr>
              <a:t>Confidential</a:t>
            </a:r>
            <a:endParaRPr kumimoji="1" lang="en-US" altLang="zh-TW" sz="1000" b="1" dirty="0">
              <a:solidFill>
                <a:schemeClr val="bg1">
                  <a:lumMod val="50000"/>
                </a:schemeClr>
              </a:solidFill>
              <a:ea typeface="Heiti TC Light" charset="-120"/>
              <a:cs typeface="Heiti TC Light" charset="-120"/>
            </a:endParaRPr>
          </a:p>
        </p:txBody>
      </p:sp>
      <p:sp>
        <p:nvSpPr>
          <p:cNvPr id="4" name="テキスト プレースホルダー 12">
            <a:extLst>
              <a:ext uri="{FF2B5EF4-FFF2-40B4-BE49-F238E27FC236}">
                <a16:creationId xmlns:a16="http://schemas.microsoft.com/office/drawing/2014/main" id="{7350B4AB-B740-3AFD-49A8-1B3620CC9779}"/>
              </a:ext>
            </a:extLst>
          </p:cNvPr>
          <p:cNvSpPr txBox="1">
            <a:spLocks/>
          </p:cNvSpPr>
          <p:nvPr userDrawn="1"/>
        </p:nvSpPr>
        <p:spPr>
          <a:xfrm>
            <a:off x="1282919" y="6533598"/>
            <a:ext cx="2293494" cy="286332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171458" indent="-17145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Wingdings" panose="05000000000000000000" pitchFamily="2" charset="2"/>
              <a:buChar char="n"/>
              <a:defRPr sz="1400" kern="1200" baseline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kumimoji="1" lang="en-US" altLang="zh-TW" sz="600" b="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Subject to change without notice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kumimoji="1" lang="en-US" altLang="zh-TW" sz="600" b="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copyright </a:t>
            </a:r>
            <a:r>
              <a:rPr lang="en-US" altLang="zh-TW" sz="800" b="0" i="0" dirty="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© </a:t>
            </a:r>
            <a:r>
              <a:rPr kumimoji="1" lang="en-US" altLang="zh-TW" sz="600" b="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2025  Andes Technology</a:t>
            </a:r>
          </a:p>
        </p:txBody>
      </p:sp>
      <p:sp>
        <p:nvSpPr>
          <p:cNvPr id="5" name="內容版面配置區 5">
            <a:extLst>
              <a:ext uri="{FF2B5EF4-FFF2-40B4-BE49-F238E27FC236}">
                <a16:creationId xmlns:a16="http://schemas.microsoft.com/office/drawing/2014/main" id="{82BA5450-3C67-BAEC-3879-09A8305B859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56824" y="1685102"/>
            <a:ext cx="5194298" cy="5121275"/>
          </a:xfrm>
          <a:prstGeom prst="rect">
            <a:avLst/>
          </a:prstGeom>
          <a:noFill/>
        </p:spPr>
        <p:txBody>
          <a:bodyPr/>
          <a:lstStyle>
            <a:lvl1pPr marL="182880" indent="-182880">
              <a:buClr>
                <a:schemeClr val="tx1"/>
              </a:buClr>
              <a:buSzPct val="100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</a:defRPr>
            </a:lvl1pPr>
            <a:lvl2pPr marL="741600" indent="-284400">
              <a:buClr>
                <a:schemeClr val="tx1"/>
              </a:buClr>
              <a:buSzPct val="10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</a:defRPr>
            </a:lvl2pPr>
            <a:lvl3pPr marL="1144800" indent="-230400">
              <a:buClr>
                <a:schemeClr val="tx1"/>
              </a:buClr>
              <a:buSzPct val="100000"/>
              <a:buFont typeface="Wingdings" panose="05000000000000000000" pitchFamily="2" charset="2"/>
              <a:buChar char="u"/>
              <a:defRPr sz="2000">
                <a:solidFill>
                  <a:schemeClr val="tx1"/>
                </a:solidFill>
              </a:defRPr>
            </a:lvl3pPr>
            <a:lvl4pPr marL="1602000" indent="-230400">
              <a:buClr>
                <a:schemeClr val="tx1"/>
              </a:buClr>
              <a:buFont typeface="Wingdings" panose="05000000000000000000" pitchFamily="2" charset="2"/>
              <a:buChar char="l"/>
              <a:defRPr sz="1800">
                <a:solidFill>
                  <a:schemeClr val="tx1"/>
                </a:solidFill>
              </a:defRPr>
            </a:lvl4pPr>
            <a:lvl5pPr marL="2059200" indent="-230400">
              <a:lnSpc>
                <a:spcPts val="24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zh-TW" altLang="en-US" dirty="0"/>
              <a:t>按一下以編輯文字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6967F73-934D-4099-DE96-81EFF199595F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337300" y="1736725"/>
            <a:ext cx="5194298" cy="5121275"/>
          </a:xfrm>
          <a:prstGeom prst="rect">
            <a:avLst/>
          </a:prstGeom>
          <a:noFill/>
        </p:spPr>
        <p:txBody>
          <a:bodyPr/>
          <a:lstStyle>
            <a:lvl1pPr marL="182880" indent="-182880">
              <a:buClr>
                <a:schemeClr val="tx1"/>
              </a:buClr>
              <a:buSzPct val="100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</a:defRPr>
            </a:lvl1pPr>
            <a:lvl2pPr marL="741600" indent="-284400">
              <a:buClr>
                <a:schemeClr val="tx1"/>
              </a:buClr>
              <a:buSzPct val="10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</a:defRPr>
            </a:lvl2pPr>
            <a:lvl3pPr marL="1144800" indent="-230400">
              <a:buClr>
                <a:schemeClr val="tx1"/>
              </a:buClr>
              <a:buSzPct val="100000"/>
              <a:buFont typeface="Wingdings" panose="05000000000000000000" pitchFamily="2" charset="2"/>
              <a:buChar char="u"/>
              <a:defRPr sz="2000">
                <a:solidFill>
                  <a:schemeClr val="tx1"/>
                </a:solidFill>
              </a:defRPr>
            </a:lvl3pPr>
            <a:lvl4pPr marL="1602000" indent="-230400">
              <a:buClr>
                <a:schemeClr val="tx1"/>
              </a:buClr>
              <a:buFont typeface="Wingdings" panose="05000000000000000000" pitchFamily="2" charset="2"/>
              <a:buChar char="l"/>
              <a:defRPr sz="1800">
                <a:solidFill>
                  <a:schemeClr val="tx1"/>
                </a:solidFill>
              </a:defRPr>
            </a:lvl4pPr>
            <a:lvl5pPr marL="2059200" indent="-230400">
              <a:lnSpc>
                <a:spcPts val="2400"/>
              </a:lnSpc>
              <a:buClr>
                <a:schemeClr val="tx1"/>
              </a:buClr>
              <a:buFont typeface="Wingdings" panose="05000000000000000000" pitchFamily="2" charset="2"/>
              <a:buChar char="Ø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zh-TW" altLang="en-US" dirty="0"/>
              <a:t>按一下以編輯文字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7962954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ing page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422E8DA7-319F-DFD6-94EE-379B6E61E7A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</a:blip>
          <a:srcRect l="23247" t="10480" r="7646" b="8842"/>
          <a:stretch/>
        </p:blipFill>
        <p:spPr>
          <a:xfrm>
            <a:off x="0" y="2401909"/>
            <a:ext cx="3450566" cy="3955759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1B5E327-A352-E8ED-10E6-ACF12AAE4046}"/>
              </a:ext>
            </a:extLst>
          </p:cNvPr>
          <p:cNvSpPr txBox="1"/>
          <p:nvPr userDrawn="1"/>
        </p:nvSpPr>
        <p:spPr>
          <a:xfrm>
            <a:off x="4337345" y="2967487"/>
            <a:ext cx="351731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TW" sz="4400" b="1" dirty="0"/>
              <a:t>Thank you!!</a:t>
            </a:r>
            <a:endParaRPr lang="zh-TW" altLang="en-US" sz="4400" b="1" dirty="0"/>
          </a:p>
        </p:txBody>
      </p:sp>
      <p:sp>
        <p:nvSpPr>
          <p:cNvPr id="5" name="文字方塊 8">
            <a:extLst>
              <a:ext uri="{FF2B5EF4-FFF2-40B4-BE49-F238E27FC236}">
                <a16:creationId xmlns:a16="http://schemas.microsoft.com/office/drawing/2014/main" id="{7550E451-3C72-9DDC-39D9-ECF296837538}"/>
              </a:ext>
            </a:extLst>
          </p:cNvPr>
          <p:cNvSpPr txBox="1"/>
          <p:nvPr userDrawn="1"/>
        </p:nvSpPr>
        <p:spPr>
          <a:xfrm>
            <a:off x="11629624" y="6519446"/>
            <a:ext cx="6814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838F01-448A-498C-AC18-01F8715B18A2}" type="slidenum">
              <a:rPr lang="en-US" altLang="zh-TW" sz="1600" b="1" i="0" smtClean="0">
                <a:solidFill>
                  <a:schemeClr val="tx1"/>
                </a:solidFill>
              </a:rPr>
              <a:pPr/>
              <a:t>‹#›</a:t>
            </a:fld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21096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emf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4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CCB60EE5-7B7B-688E-AE53-0B9F9E6C9ECB}"/>
              </a:ext>
            </a:extLst>
          </p:cNvPr>
          <p:cNvSpPr/>
          <p:nvPr userDrawn="1"/>
        </p:nvSpPr>
        <p:spPr>
          <a:xfrm>
            <a:off x="1" y="0"/>
            <a:ext cx="12191998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DF512F4B-4D59-9389-B1C4-C7CEAB270DB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/>
          <a:srcRect t="-4107" r="2631" b="31063"/>
          <a:stretch/>
        </p:blipFill>
        <p:spPr>
          <a:xfrm>
            <a:off x="6787698" y="4960619"/>
            <a:ext cx="5404302" cy="1897381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EF01D674-4124-1E25-1107-C735691F8894}"/>
              </a:ext>
            </a:extLst>
          </p:cNvPr>
          <p:cNvSpPr/>
          <p:nvPr userDrawn="1"/>
        </p:nvSpPr>
        <p:spPr>
          <a:xfrm>
            <a:off x="6600898" y="4610548"/>
            <a:ext cx="5591101" cy="2247452"/>
          </a:xfrm>
          <a:prstGeom prst="rect">
            <a:avLst/>
          </a:prstGeom>
          <a:solidFill>
            <a:schemeClr val="bg1">
              <a:lumMod val="9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zh-TW" altLang="en-US" sz="1800" dirty="0">
              <a:solidFill>
                <a:schemeClr val="tx1"/>
              </a:solidFill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A6876FB6-646C-1541-DABF-2C74D2D574FA}"/>
              </a:ext>
            </a:extLst>
          </p:cNvPr>
          <p:cNvGrpSpPr/>
          <p:nvPr userDrawn="1"/>
        </p:nvGrpSpPr>
        <p:grpSpPr>
          <a:xfrm rot="10800000">
            <a:off x="-8546" y="366071"/>
            <a:ext cx="302316" cy="2617673"/>
            <a:chOff x="11592467" y="3221501"/>
            <a:chExt cx="302316" cy="2617673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3DA3487-6024-944E-56D7-71C5DCE40F45}"/>
                </a:ext>
              </a:extLst>
            </p:cNvPr>
            <p:cNvSpPr/>
            <p:nvPr userDrawn="1"/>
          </p:nvSpPr>
          <p:spPr>
            <a:xfrm flipH="1">
              <a:off x="11592467" y="3420455"/>
              <a:ext cx="295835" cy="2418719"/>
            </a:xfrm>
            <a:prstGeom prst="rect">
              <a:avLst/>
            </a:prstGeom>
            <a:solidFill>
              <a:schemeClr val="accent3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FA95A22B-690D-4D66-1BE3-D490F8A8BD9B}"/>
                </a:ext>
              </a:extLst>
            </p:cNvPr>
            <p:cNvSpPr txBox="1"/>
            <p:nvPr userDrawn="1"/>
          </p:nvSpPr>
          <p:spPr>
            <a:xfrm rot="16200000">
              <a:off x="11419445" y="5363835"/>
              <a:ext cx="6736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zh-TW" sz="1200" dirty="0">
                  <a:solidFill>
                    <a:schemeClr val="bg1"/>
                  </a:solidFill>
                  <a:latin typeface="Aptos" panose="020B0004020202020204" pitchFamily="34" charset="0"/>
                  <a:ea typeface="+mj-ea"/>
                </a:rPr>
                <a:t>Taking</a:t>
              </a:r>
              <a:endParaRPr lang="zh-TW" altLang="en-US" sz="1200" dirty="0">
                <a:solidFill>
                  <a:schemeClr val="bg1"/>
                </a:solidFill>
                <a:latin typeface="Aptos" panose="020B0004020202020204" pitchFamily="34" charset="0"/>
                <a:ea typeface="+mj-ea"/>
              </a:endParaRPr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21B5125B-0286-E084-AA3A-D3A96479032E}"/>
                </a:ext>
              </a:extLst>
            </p:cNvPr>
            <p:cNvSpPr txBox="1"/>
            <p:nvPr userDrawn="1"/>
          </p:nvSpPr>
          <p:spPr>
            <a:xfrm rot="16200000">
              <a:off x="11180512" y="3658773"/>
              <a:ext cx="115154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zh-TW" sz="1200" dirty="0">
                  <a:solidFill>
                    <a:schemeClr val="bg1"/>
                  </a:solidFill>
                  <a:latin typeface="Aptos" panose="020B0004020202020204" pitchFamily="34" charset="0"/>
                  <a:ea typeface="+mj-ea"/>
                </a:rPr>
                <a:t>Mainstream</a:t>
              </a:r>
              <a:endParaRPr lang="zh-TW" altLang="en-US" sz="1200" dirty="0">
                <a:solidFill>
                  <a:schemeClr val="bg1"/>
                </a:solidFill>
                <a:latin typeface="Aptos" panose="020B0004020202020204" pitchFamily="34" charset="0"/>
                <a:ea typeface="+mj-ea"/>
              </a:endParaRPr>
            </a:p>
          </p:txBody>
        </p:sp>
      </p:grpSp>
      <p:pic>
        <p:nvPicPr>
          <p:cNvPr id="9" name="圖片 8" descr="一張含有 圖形, 字型, 平面設計, 標誌 的圖片&#10;&#10;AI 產生的內容可能不正確。">
            <a:extLst>
              <a:ext uri="{FF2B5EF4-FFF2-40B4-BE49-F238E27FC236}">
                <a16:creationId xmlns:a16="http://schemas.microsoft.com/office/drawing/2014/main" id="{E46C9D78-3644-3659-C1A9-E5647A470E46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110" y="6395436"/>
            <a:ext cx="1035809" cy="350543"/>
          </a:xfrm>
          <a:prstGeom prst="rect">
            <a:avLst/>
          </a:prstGeom>
        </p:spPr>
      </p:pic>
      <p:pic>
        <p:nvPicPr>
          <p:cNvPr id="8" name="圖片 7" descr="一張含有 字型, 圖形, 文字, 標誌 的圖片&#10;&#10;AI 產生的內容可能不正確。">
            <a:extLst>
              <a:ext uri="{FF2B5EF4-FFF2-40B4-BE49-F238E27FC236}">
                <a16:creationId xmlns:a16="http://schemas.microsoft.com/office/drawing/2014/main" id="{7915CA97-8DF4-50AF-D529-A55ED938AEC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292863" y="1341843"/>
            <a:ext cx="845631" cy="127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789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9" r:id="rId4"/>
    <p:sldLayoutId id="2147483748" r:id="rId5"/>
    <p:sldLayoutId id="2147483750" r:id="rId6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3600" b="1" kern="1200" spc="-100" baseline="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spcBef>
          <a:spcPct val="20000"/>
        </a:spcBef>
        <a:buClr>
          <a:schemeClr val="accent1"/>
        </a:buClr>
        <a:buSzPct val="9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3716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4E65D875-3648-EEB7-55E7-41697C92A4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SRAM PPA Analysis</a:t>
            </a:r>
            <a:endParaRPr lang="zh-TW" altLang="en-US" dirty="0"/>
          </a:p>
        </p:txBody>
      </p:sp>
      <p:sp>
        <p:nvSpPr>
          <p:cNvPr id="7" name="副標題 6">
            <a:extLst>
              <a:ext uri="{FF2B5EF4-FFF2-40B4-BE49-F238E27FC236}">
                <a16:creationId xmlns:a16="http://schemas.microsoft.com/office/drawing/2014/main" id="{5EB2FA5F-B069-986F-33FC-8111075CD4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RD-CA/Brian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19150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D59D0-FB47-15A8-ECEE-A7F786D92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0F1483-AB86-5176-9960-839759160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PPA</a:t>
            </a:r>
            <a:r>
              <a:rPr lang="zh-TW" altLang="en-US" dirty="0"/>
              <a:t> </a:t>
            </a:r>
            <a:r>
              <a:rPr lang="en-US" altLang="zh-TW" dirty="0"/>
              <a:t>Analysis</a:t>
            </a:r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53B7181-7F95-AD54-7E9A-43EE2534E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9222920"/>
              </p:ext>
            </p:extLst>
          </p:nvPr>
        </p:nvGraphicFramePr>
        <p:xfrm>
          <a:off x="756744" y="2414028"/>
          <a:ext cx="10678512" cy="2767719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969608">
                  <a:extLst>
                    <a:ext uri="{9D8B030D-6E8A-4147-A177-3AD203B41FA5}">
                      <a16:colId xmlns:a16="http://schemas.microsoft.com/office/drawing/2014/main" val="96818044"/>
                    </a:ext>
                  </a:extLst>
                </a:gridCol>
                <a:gridCol w="1010897">
                  <a:extLst>
                    <a:ext uri="{9D8B030D-6E8A-4147-A177-3AD203B41FA5}">
                      <a16:colId xmlns:a16="http://schemas.microsoft.com/office/drawing/2014/main" val="2360074420"/>
                    </a:ext>
                  </a:extLst>
                </a:gridCol>
                <a:gridCol w="1110143">
                  <a:extLst>
                    <a:ext uri="{9D8B030D-6E8A-4147-A177-3AD203B41FA5}">
                      <a16:colId xmlns:a16="http://schemas.microsoft.com/office/drawing/2014/main" val="3635829885"/>
                    </a:ext>
                  </a:extLst>
                </a:gridCol>
                <a:gridCol w="1104754">
                  <a:extLst>
                    <a:ext uri="{9D8B030D-6E8A-4147-A177-3AD203B41FA5}">
                      <a16:colId xmlns:a16="http://schemas.microsoft.com/office/drawing/2014/main" val="3195096923"/>
                    </a:ext>
                  </a:extLst>
                </a:gridCol>
                <a:gridCol w="1096622">
                  <a:extLst>
                    <a:ext uri="{9D8B030D-6E8A-4147-A177-3AD203B41FA5}">
                      <a16:colId xmlns:a16="http://schemas.microsoft.com/office/drawing/2014/main" val="3946665689"/>
                    </a:ext>
                  </a:extLst>
                </a:gridCol>
                <a:gridCol w="1096622">
                  <a:extLst>
                    <a:ext uri="{9D8B030D-6E8A-4147-A177-3AD203B41FA5}">
                      <a16:colId xmlns:a16="http://schemas.microsoft.com/office/drawing/2014/main" val="312759420"/>
                    </a:ext>
                  </a:extLst>
                </a:gridCol>
                <a:gridCol w="1096622">
                  <a:extLst>
                    <a:ext uri="{9D8B030D-6E8A-4147-A177-3AD203B41FA5}">
                      <a16:colId xmlns:a16="http://schemas.microsoft.com/office/drawing/2014/main" val="653579063"/>
                    </a:ext>
                  </a:extLst>
                </a:gridCol>
                <a:gridCol w="1096622">
                  <a:extLst>
                    <a:ext uri="{9D8B030D-6E8A-4147-A177-3AD203B41FA5}">
                      <a16:colId xmlns:a16="http://schemas.microsoft.com/office/drawing/2014/main" val="2240192512"/>
                    </a:ext>
                  </a:extLst>
                </a:gridCol>
                <a:gridCol w="1096622">
                  <a:extLst>
                    <a:ext uri="{9D8B030D-6E8A-4147-A177-3AD203B41FA5}">
                      <a16:colId xmlns:a16="http://schemas.microsoft.com/office/drawing/2014/main" val="235171348"/>
                    </a:ext>
                  </a:extLst>
                </a:gridCol>
              </a:tblGrid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Bitwidth</a:t>
                      </a:r>
                      <a:endParaRPr lang="zh-TW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64</a:t>
                      </a:r>
                      <a:endParaRPr lang="zh-TW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128</a:t>
                      </a:r>
                      <a:endParaRPr lang="zh-TW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256</a:t>
                      </a:r>
                      <a:endParaRPr lang="zh-TW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512</a:t>
                      </a:r>
                      <a:endParaRPr lang="zh-TW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799574"/>
                  </a:ext>
                </a:extLst>
              </a:tr>
              <a:tr h="454425">
                <a:tc rowSpan="3">
                  <a:txBody>
                    <a:bodyPr/>
                    <a:lstStyle/>
                    <a:p>
                      <a:pPr algn="ctr"/>
                      <a:endParaRPr lang="en-US" altLang="zh-TW" dirty="0"/>
                    </a:p>
                    <a:p>
                      <a:pPr algn="ctr"/>
                      <a:endParaRPr lang="en-US" altLang="zh-TW" dirty="0"/>
                    </a:p>
                    <a:p>
                      <a:pPr algn="ctr"/>
                      <a:r>
                        <a:rPr lang="en-US" altLang="zh-TW" dirty="0"/>
                        <a:t>Bank size</a:t>
                      </a:r>
                    </a:p>
                    <a:p>
                      <a:pPr algn="ctr"/>
                      <a:r>
                        <a:rPr lang="en-US" altLang="zh-TW" dirty="0"/>
                        <a:t>(Byte)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8192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16384</a:t>
                      </a:r>
                      <a:endParaRPr lang="zh-TW" altLang="en-US" dirty="0"/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8192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16384</a:t>
                      </a:r>
                      <a:endParaRPr lang="zh-TW" altLang="en-US" dirty="0"/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8192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16384</a:t>
                      </a:r>
                      <a:endParaRPr lang="zh-TW" altLang="en-US" dirty="0"/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8192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16384</a:t>
                      </a:r>
                      <a:endParaRPr lang="zh-TW" altLang="en-US" dirty="0"/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1715096"/>
                  </a:ext>
                </a:extLst>
              </a:tr>
              <a:tr h="649178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32768</a:t>
                      </a:r>
                      <a:endParaRPr lang="zh-TW" altLang="en-US" dirty="0"/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65536</a:t>
                      </a:r>
                      <a:endParaRPr lang="zh-TW" altLang="en-US" dirty="0"/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32768</a:t>
                      </a:r>
                      <a:endParaRPr lang="zh-TW" altLang="en-US" dirty="0"/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65536</a:t>
                      </a:r>
                      <a:endParaRPr lang="zh-TW" altLang="en-US" dirty="0"/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32768</a:t>
                      </a:r>
                      <a:endParaRPr lang="zh-TW" altLang="en-US" dirty="0"/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65536</a:t>
                      </a:r>
                      <a:endParaRPr lang="zh-TW" altLang="en-US" dirty="0"/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32768</a:t>
                      </a:r>
                      <a:endParaRPr lang="zh-TW" altLang="en-US" dirty="0"/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65536</a:t>
                      </a:r>
                      <a:endParaRPr lang="zh-TW" altLang="en-US" dirty="0"/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8769186"/>
                  </a:ext>
                </a:extLst>
              </a:tr>
              <a:tr h="649178">
                <a:tc vMerge="1"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131072</a:t>
                      </a:r>
                      <a:endParaRPr lang="zh-TW" altLang="en-US" dirty="0"/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marL="9525" marR="9525" marT="9525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131072</a:t>
                      </a:r>
                      <a:endParaRPr lang="zh-TW" altLang="en-US" dirty="0"/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marL="9525" marR="9525" marT="9525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131072</a:t>
                      </a:r>
                      <a:endParaRPr lang="zh-TW" altLang="en-US" dirty="0"/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marL="9525" marR="9525" marT="9525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131072</a:t>
                      </a:r>
                      <a:endParaRPr lang="zh-TW" altLang="en-US" dirty="0"/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06031173"/>
                  </a:ext>
                </a:extLst>
              </a:tr>
              <a:tr h="64917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Frequency(MHz)</a:t>
                      </a:r>
                      <a:endParaRPr lang="zh-TW" altLang="en-US" dirty="0"/>
                    </a:p>
                    <a:p>
                      <a:pPr algn="ctr"/>
                      <a:endParaRPr lang="zh-TW" altLang="en-US" dirty="0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500</a:t>
                      </a:r>
                      <a:endParaRPr lang="zh-TW" altLang="en-US" dirty="0"/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/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/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/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7436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2113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281B2-9869-5B25-D0A0-016673334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3E0B32-6B2B-36CF-8828-EFDDE9152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PPA</a:t>
            </a:r>
            <a:r>
              <a:rPr lang="zh-TW" altLang="en-US" dirty="0"/>
              <a:t> </a:t>
            </a:r>
            <a:r>
              <a:rPr lang="en-US" altLang="zh-TW" dirty="0"/>
              <a:t>Analysis – </a:t>
            </a:r>
            <a:r>
              <a:rPr lang="en-US" altLang="zh-TW" dirty="0" err="1"/>
              <a:t>bitwidth</a:t>
            </a:r>
            <a:r>
              <a:rPr lang="en-US" altLang="zh-TW" dirty="0"/>
              <a:t> 64</a:t>
            </a:r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82DE5D9-BD74-6F42-6116-6FA86E799F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4921932"/>
              </p:ext>
            </p:extLst>
          </p:nvPr>
        </p:nvGraphicFramePr>
        <p:xfrm>
          <a:off x="328590" y="1095703"/>
          <a:ext cx="11534819" cy="54864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574402">
                  <a:extLst>
                    <a:ext uri="{9D8B030D-6E8A-4147-A177-3AD203B41FA5}">
                      <a16:colId xmlns:a16="http://schemas.microsoft.com/office/drawing/2014/main" val="96818044"/>
                    </a:ext>
                  </a:extLst>
                </a:gridCol>
                <a:gridCol w="1671525">
                  <a:extLst>
                    <a:ext uri="{9D8B030D-6E8A-4147-A177-3AD203B41FA5}">
                      <a16:colId xmlns:a16="http://schemas.microsoft.com/office/drawing/2014/main" val="2360074420"/>
                    </a:ext>
                  </a:extLst>
                </a:gridCol>
                <a:gridCol w="1835629">
                  <a:extLst>
                    <a:ext uri="{9D8B030D-6E8A-4147-A177-3AD203B41FA5}">
                      <a16:colId xmlns:a16="http://schemas.microsoft.com/office/drawing/2014/main" val="3635829885"/>
                    </a:ext>
                  </a:extLst>
                </a:gridCol>
                <a:gridCol w="1826719">
                  <a:extLst>
                    <a:ext uri="{9D8B030D-6E8A-4147-A177-3AD203B41FA5}">
                      <a16:colId xmlns:a16="http://schemas.microsoft.com/office/drawing/2014/main" val="3195096923"/>
                    </a:ext>
                  </a:extLst>
                </a:gridCol>
                <a:gridCol w="1813272">
                  <a:extLst>
                    <a:ext uri="{9D8B030D-6E8A-4147-A177-3AD203B41FA5}">
                      <a16:colId xmlns:a16="http://schemas.microsoft.com/office/drawing/2014/main" val="3946665689"/>
                    </a:ext>
                  </a:extLst>
                </a:gridCol>
                <a:gridCol w="1813272">
                  <a:extLst>
                    <a:ext uri="{9D8B030D-6E8A-4147-A177-3AD203B41FA5}">
                      <a16:colId xmlns:a16="http://schemas.microsoft.com/office/drawing/2014/main" val="312759420"/>
                    </a:ext>
                  </a:extLst>
                </a:gridCol>
              </a:tblGrid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Bank size(Byte)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8192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16384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32768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65536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131072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799574"/>
                  </a:ext>
                </a:extLst>
              </a:tr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Depth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1024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2048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4096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8192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16384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0022636"/>
                  </a:ext>
                </a:extLst>
              </a:tr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Number of banks</a:t>
                      </a:r>
                      <a:endParaRPr lang="zh-TW" altLang="en-US" dirty="0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</a:t>
                      </a:r>
                      <a:endParaRPr lang="zh-TW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210179"/>
                  </a:ext>
                </a:extLst>
              </a:tr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Bitwidth </a:t>
                      </a:r>
                      <a:endParaRPr lang="zh-TW" altLang="en-US" dirty="0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64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3144412"/>
                  </a:ext>
                </a:extLst>
              </a:tr>
              <a:tr h="267554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Configuration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1024x64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1024x64*2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4096*64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4096x64*2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4096x64*4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1189713"/>
                  </a:ext>
                </a:extLst>
              </a:tr>
              <a:tr h="324589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Memory module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ts1n28hpcplvtb1024x64m4swasod_180a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ts1n28hpcplvtb1024x64m4swasod_180a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ts1n28hpcplvtb4096x64m4swasod_180a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ts1n28hpcplvtb4096x64m4swasod_180a.v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ts1n28hpcplvtb4096x64m4swasod_180a.v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9624425"/>
                  </a:ext>
                </a:extLst>
              </a:tr>
              <a:tr h="45442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Total memory area (mm^2)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0.289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0.414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0.628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1.091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2.018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91935179"/>
                  </a:ext>
                </a:extLst>
              </a:tr>
              <a:tr h="45442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Dynamic power (uW)</a:t>
                      </a:r>
                    </a:p>
                    <a:p>
                      <a:pPr algn="ctr"/>
                      <a:r>
                        <a:rPr lang="en-US" altLang="zh-TW" dirty="0"/>
                        <a:t>(bank0)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4031.993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4290.666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7578.507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7855.289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8402.816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1715096"/>
                  </a:ext>
                </a:extLst>
              </a:tr>
              <a:tr h="649178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Dynamic power (</a:t>
                      </a:r>
                      <a:r>
                        <a:rPr lang="en-US" altLang="zh-TW" dirty="0" err="1"/>
                        <a:t>uW</a:t>
                      </a:r>
                      <a:r>
                        <a:rPr lang="en-US" altLang="zh-TW" dirty="0"/>
                        <a:t>)</a:t>
                      </a:r>
                    </a:p>
                    <a:p>
                      <a:pPr algn="ctr"/>
                      <a:r>
                        <a:rPr lang="en-US" altLang="zh-TW" dirty="0"/>
                        <a:t>(other bank)</a:t>
                      </a:r>
                      <a:endParaRPr lang="zh-TW" altLang="en-US" dirty="0"/>
                    </a:p>
                    <a:p>
                      <a:pPr algn="ctr"/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230.918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489.481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275.051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551.797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1090.420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8769186"/>
                  </a:ext>
                </a:extLst>
              </a:tr>
              <a:tr h="45442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Leakage Power/bank(uW)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100.675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201.545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388.626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777.448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1554.73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49223442"/>
                  </a:ext>
                </a:extLst>
              </a:tr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Frequency(MHz)</a:t>
                      </a:r>
                      <a:endParaRPr lang="zh-TW" altLang="en-US" dirty="0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500</a:t>
                      </a:r>
                      <a:endParaRPr lang="zh-TW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31303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9609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14F1D-FCBD-ED6E-D08E-9CD1CA2EC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658F73-B00B-9AE9-84A8-1C42EFD10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PPA</a:t>
            </a:r>
            <a:r>
              <a:rPr lang="zh-TW" altLang="en-US" dirty="0"/>
              <a:t> </a:t>
            </a:r>
            <a:r>
              <a:rPr lang="en-US" altLang="zh-TW" dirty="0"/>
              <a:t>Analysis – </a:t>
            </a:r>
            <a:r>
              <a:rPr lang="en-US" altLang="zh-TW" dirty="0" err="1"/>
              <a:t>bitwidth</a:t>
            </a:r>
            <a:r>
              <a:rPr lang="en-US" altLang="zh-TW" dirty="0"/>
              <a:t> 128</a:t>
            </a:r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B382656-4D75-430B-A807-AAC45F9F29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9303003"/>
              </p:ext>
            </p:extLst>
          </p:nvPr>
        </p:nvGraphicFramePr>
        <p:xfrm>
          <a:off x="328590" y="1095703"/>
          <a:ext cx="11534819" cy="54864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574402">
                  <a:extLst>
                    <a:ext uri="{9D8B030D-6E8A-4147-A177-3AD203B41FA5}">
                      <a16:colId xmlns:a16="http://schemas.microsoft.com/office/drawing/2014/main" val="96818044"/>
                    </a:ext>
                  </a:extLst>
                </a:gridCol>
                <a:gridCol w="1671525">
                  <a:extLst>
                    <a:ext uri="{9D8B030D-6E8A-4147-A177-3AD203B41FA5}">
                      <a16:colId xmlns:a16="http://schemas.microsoft.com/office/drawing/2014/main" val="2360074420"/>
                    </a:ext>
                  </a:extLst>
                </a:gridCol>
                <a:gridCol w="1835629">
                  <a:extLst>
                    <a:ext uri="{9D8B030D-6E8A-4147-A177-3AD203B41FA5}">
                      <a16:colId xmlns:a16="http://schemas.microsoft.com/office/drawing/2014/main" val="3635829885"/>
                    </a:ext>
                  </a:extLst>
                </a:gridCol>
                <a:gridCol w="1826719">
                  <a:extLst>
                    <a:ext uri="{9D8B030D-6E8A-4147-A177-3AD203B41FA5}">
                      <a16:colId xmlns:a16="http://schemas.microsoft.com/office/drawing/2014/main" val="3195096923"/>
                    </a:ext>
                  </a:extLst>
                </a:gridCol>
                <a:gridCol w="1813272">
                  <a:extLst>
                    <a:ext uri="{9D8B030D-6E8A-4147-A177-3AD203B41FA5}">
                      <a16:colId xmlns:a16="http://schemas.microsoft.com/office/drawing/2014/main" val="3946665689"/>
                    </a:ext>
                  </a:extLst>
                </a:gridCol>
                <a:gridCol w="1813272">
                  <a:extLst>
                    <a:ext uri="{9D8B030D-6E8A-4147-A177-3AD203B41FA5}">
                      <a16:colId xmlns:a16="http://schemas.microsoft.com/office/drawing/2014/main" val="312759420"/>
                    </a:ext>
                  </a:extLst>
                </a:gridCol>
              </a:tblGrid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Bank size(Byte)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8192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16384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32768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65536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131072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799574"/>
                  </a:ext>
                </a:extLst>
              </a:tr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Depth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512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1024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2048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4096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8192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0022636"/>
                  </a:ext>
                </a:extLst>
              </a:tr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Number of banks</a:t>
                      </a:r>
                      <a:endParaRPr lang="zh-TW" altLang="en-US" dirty="0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</a:t>
                      </a:r>
                      <a:endParaRPr lang="zh-TW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210179"/>
                  </a:ext>
                </a:extLst>
              </a:tr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Bitwidth </a:t>
                      </a:r>
                      <a:endParaRPr lang="zh-TW" altLang="en-US" dirty="0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128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3144412"/>
                  </a:ext>
                </a:extLst>
              </a:tr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Configuration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512x128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1024x128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2048x128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2048x128*2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2048x128*4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1189713"/>
                  </a:ext>
                </a:extLst>
              </a:tr>
              <a:tr h="324589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Memory module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ts1n28hpcplvtb512x128m4swasod_180a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ts1n28hpcplvtb1024x128m4swasod_180a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ts1n28hpcplvtb2048x128m4swasod_180a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ts1n28hpcplvtb2048x128m4swasod_180a.v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ts1n28hpcplvtb2048x128m4swasod_180a.v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9624425"/>
                  </a:ext>
                </a:extLst>
              </a:tr>
              <a:tr h="45442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Total memory area (mm^2)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0.31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0.399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0.637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1.109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2.054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91935179"/>
                  </a:ext>
                </a:extLst>
              </a:tr>
              <a:tr h="45442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Dynamic power (uW)</a:t>
                      </a:r>
                    </a:p>
                    <a:p>
                      <a:pPr algn="ctr"/>
                      <a:r>
                        <a:rPr lang="en-US" altLang="zh-TW" dirty="0"/>
                        <a:t>(bank0)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3448.894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4080.052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6287.861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6928.438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7550.144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1715096"/>
                  </a:ext>
                </a:extLst>
              </a:tr>
              <a:tr h="649178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Dynamic power (</a:t>
                      </a:r>
                      <a:r>
                        <a:rPr lang="en-US" altLang="zh-TW" dirty="0" err="1"/>
                        <a:t>uW</a:t>
                      </a:r>
                      <a:r>
                        <a:rPr lang="en-US" altLang="zh-TW" dirty="0"/>
                        <a:t>)</a:t>
                      </a:r>
                    </a:p>
                    <a:p>
                      <a:pPr algn="ctr"/>
                      <a:r>
                        <a:rPr lang="en-US" altLang="zh-TW" dirty="0"/>
                        <a:t>(other bank)</a:t>
                      </a:r>
                      <a:endParaRPr lang="zh-TW" altLang="en-US" dirty="0"/>
                    </a:p>
                    <a:p>
                      <a:pPr algn="ctr"/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602.118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446.514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701.315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1336.373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2698.504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8769186"/>
                  </a:ext>
                </a:extLst>
              </a:tr>
              <a:tr h="45442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Leakage Power/bank(uW)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144.219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162.953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400.449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801.277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1602.25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49223442"/>
                  </a:ext>
                </a:extLst>
              </a:tr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Frequency(MHz)</a:t>
                      </a:r>
                      <a:endParaRPr lang="zh-TW" altLang="en-US" dirty="0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500</a:t>
                      </a:r>
                      <a:endParaRPr lang="zh-TW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31303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82348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A1BC8-4744-2175-F4DC-275686E7F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E32A0F-9618-710F-0921-BB9A86F54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PPA</a:t>
            </a:r>
            <a:r>
              <a:rPr lang="zh-TW" altLang="en-US" dirty="0"/>
              <a:t> </a:t>
            </a:r>
            <a:r>
              <a:rPr lang="en-US" altLang="zh-TW" dirty="0"/>
              <a:t>Analysis – </a:t>
            </a:r>
            <a:r>
              <a:rPr lang="en-US" altLang="zh-TW" dirty="0" err="1"/>
              <a:t>bitwidth</a:t>
            </a:r>
            <a:r>
              <a:rPr lang="en-US" altLang="zh-TW" dirty="0"/>
              <a:t> 256</a:t>
            </a:r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F0665E4-0654-9A6A-AAA4-E0200A99ED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638856"/>
              </p:ext>
            </p:extLst>
          </p:nvPr>
        </p:nvGraphicFramePr>
        <p:xfrm>
          <a:off x="328590" y="1095703"/>
          <a:ext cx="11534819" cy="54864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574402">
                  <a:extLst>
                    <a:ext uri="{9D8B030D-6E8A-4147-A177-3AD203B41FA5}">
                      <a16:colId xmlns:a16="http://schemas.microsoft.com/office/drawing/2014/main" val="96818044"/>
                    </a:ext>
                  </a:extLst>
                </a:gridCol>
                <a:gridCol w="1671525">
                  <a:extLst>
                    <a:ext uri="{9D8B030D-6E8A-4147-A177-3AD203B41FA5}">
                      <a16:colId xmlns:a16="http://schemas.microsoft.com/office/drawing/2014/main" val="2360074420"/>
                    </a:ext>
                  </a:extLst>
                </a:gridCol>
                <a:gridCol w="1835629">
                  <a:extLst>
                    <a:ext uri="{9D8B030D-6E8A-4147-A177-3AD203B41FA5}">
                      <a16:colId xmlns:a16="http://schemas.microsoft.com/office/drawing/2014/main" val="3635829885"/>
                    </a:ext>
                  </a:extLst>
                </a:gridCol>
                <a:gridCol w="1826719">
                  <a:extLst>
                    <a:ext uri="{9D8B030D-6E8A-4147-A177-3AD203B41FA5}">
                      <a16:colId xmlns:a16="http://schemas.microsoft.com/office/drawing/2014/main" val="3195096923"/>
                    </a:ext>
                  </a:extLst>
                </a:gridCol>
                <a:gridCol w="1813272">
                  <a:extLst>
                    <a:ext uri="{9D8B030D-6E8A-4147-A177-3AD203B41FA5}">
                      <a16:colId xmlns:a16="http://schemas.microsoft.com/office/drawing/2014/main" val="3946665689"/>
                    </a:ext>
                  </a:extLst>
                </a:gridCol>
                <a:gridCol w="1813272">
                  <a:extLst>
                    <a:ext uri="{9D8B030D-6E8A-4147-A177-3AD203B41FA5}">
                      <a16:colId xmlns:a16="http://schemas.microsoft.com/office/drawing/2014/main" val="312759420"/>
                    </a:ext>
                  </a:extLst>
                </a:gridCol>
              </a:tblGrid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Bank size(Byte)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8192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16384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32768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65536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131072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799574"/>
                  </a:ext>
                </a:extLst>
              </a:tr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Depth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256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512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1024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2048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4096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0022636"/>
                  </a:ext>
                </a:extLst>
              </a:tr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Number of banks</a:t>
                      </a:r>
                      <a:endParaRPr lang="zh-TW" altLang="en-US" dirty="0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</a:t>
                      </a:r>
                      <a:endParaRPr lang="zh-TW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210179"/>
                  </a:ext>
                </a:extLst>
              </a:tr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Bitwidth </a:t>
                      </a:r>
                      <a:endParaRPr lang="zh-TW" altLang="en-US" dirty="0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256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3144412"/>
                  </a:ext>
                </a:extLst>
              </a:tr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Configuration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256x128</a:t>
                      </a:r>
                      <a:r>
                        <a:rPr lang="zh-TW" altLang="en-US" dirty="0"/>
                        <a:t>*</a:t>
                      </a:r>
                      <a:r>
                        <a:rPr lang="en-US" altLang="zh-TW" dirty="0"/>
                        <a:t>2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512x128</a:t>
                      </a:r>
                      <a:r>
                        <a:rPr lang="zh-TW" altLang="en-US" dirty="0"/>
                        <a:t>*</a:t>
                      </a:r>
                      <a:r>
                        <a:rPr lang="en-US" altLang="zh-TW" dirty="0"/>
                        <a:t>2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1024x128</a:t>
                      </a:r>
                      <a:r>
                        <a:rPr lang="zh-TW" altLang="en-US" dirty="0"/>
                        <a:t>*</a:t>
                      </a:r>
                      <a:r>
                        <a:rPr lang="en-US" altLang="zh-TW" dirty="0"/>
                        <a:t>2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2048x128*2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2048x128*4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1189713"/>
                  </a:ext>
                </a:extLst>
              </a:tr>
              <a:tr h="324589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Memory module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ts1n28hpcplvtb256x128m4swasod_180a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ts1n28hpcplvtb512x128m4swasod_180a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ts1n28hpcplvtb1024x128m4swasod_180a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ts1n28hpcplvtb2048x128m4swasod_180a.v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ts1n28hpcplvtb2048x128m4swasod_180a.v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9624425"/>
                  </a:ext>
                </a:extLst>
              </a:tr>
              <a:tr h="45442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Total memory area (mm^2)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0.368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0.455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0.634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1.109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2.054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91935179"/>
                  </a:ext>
                </a:extLst>
              </a:tr>
              <a:tr h="45442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Dynamic power (uW)</a:t>
                      </a:r>
                    </a:p>
                    <a:p>
                      <a:pPr algn="ctr"/>
                      <a:r>
                        <a:rPr lang="en-US" altLang="zh-TW" dirty="0"/>
                        <a:t>(bank0)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3103.05394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3412.5788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4241.70174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6209.0523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7004.7428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1715096"/>
                  </a:ext>
                </a:extLst>
              </a:tr>
              <a:tr h="649178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Dynamic power (</a:t>
                      </a:r>
                      <a:r>
                        <a:rPr lang="en-US" altLang="zh-TW" dirty="0" err="1"/>
                        <a:t>uW</a:t>
                      </a:r>
                      <a:r>
                        <a:rPr lang="en-US" altLang="zh-TW" dirty="0"/>
                        <a:t>)</a:t>
                      </a:r>
                    </a:p>
                    <a:p>
                      <a:pPr algn="ctr"/>
                      <a:r>
                        <a:rPr lang="en-US" altLang="zh-TW" dirty="0"/>
                        <a:t>(other bank)</a:t>
                      </a:r>
                      <a:endParaRPr lang="zh-TW" altLang="en-US" dirty="0"/>
                    </a:p>
                    <a:p>
                      <a:pPr algn="ctr"/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631.311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570.71386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625.22756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631.045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1426.0758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8769186"/>
                  </a:ext>
                </a:extLst>
              </a:tr>
              <a:tr h="45442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Leakage Power/bank(uW)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269.778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288.387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325.86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800.861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1602.48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49223442"/>
                  </a:ext>
                </a:extLst>
              </a:tr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Frequency(MHz)</a:t>
                      </a:r>
                      <a:endParaRPr lang="zh-TW" altLang="en-US" dirty="0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500</a:t>
                      </a:r>
                      <a:endParaRPr lang="zh-TW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31303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29518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73462-76A8-3E06-64A6-491A5E724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0E4101-F5C8-D3BC-95F7-CFAB3583B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PPA</a:t>
            </a:r>
            <a:r>
              <a:rPr lang="zh-TW" altLang="en-US" dirty="0"/>
              <a:t> </a:t>
            </a:r>
            <a:r>
              <a:rPr lang="en-US" altLang="zh-TW" dirty="0"/>
              <a:t>Analysis – </a:t>
            </a:r>
            <a:r>
              <a:rPr lang="en-US" altLang="zh-TW" dirty="0" err="1"/>
              <a:t>bitwidth</a:t>
            </a:r>
            <a:r>
              <a:rPr lang="en-US" altLang="zh-TW" dirty="0"/>
              <a:t> 512</a:t>
            </a:r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802E69E5-B8B8-7551-C247-8CC0BD71AB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196314"/>
              </p:ext>
            </p:extLst>
          </p:nvPr>
        </p:nvGraphicFramePr>
        <p:xfrm>
          <a:off x="328590" y="1095703"/>
          <a:ext cx="11534819" cy="54864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574402">
                  <a:extLst>
                    <a:ext uri="{9D8B030D-6E8A-4147-A177-3AD203B41FA5}">
                      <a16:colId xmlns:a16="http://schemas.microsoft.com/office/drawing/2014/main" val="96818044"/>
                    </a:ext>
                  </a:extLst>
                </a:gridCol>
                <a:gridCol w="1671525">
                  <a:extLst>
                    <a:ext uri="{9D8B030D-6E8A-4147-A177-3AD203B41FA5}">
                      <a16:colId xmlns:a16="http://schemas.microsoft.com/office/drawing/2014/main" val="2360074420"/>
                    </a:ext>
                  </a:extLst>
                </a:gridCol>
                <a:gridCol w="1835629">
                  <a:extLst>
                    <a:ext uri="{9D8B030D-6E8A-4147-A177-3AD203B41FA5}">
                      <a16:colId xmlns:a16="http://schemas.microsoft.com/office/drawing/2014/main" val="3635829885"/>
                    </a:ext>
                  </a:extLst>
                </a:gridCol>
                <a:gridCol w="1826719">
                  <a:extLst>
                    <a:ext uri="{9D8B030D-6E8A-4147-A177-3AD203B41FA5}">
                      <a16:colId xmlns:a16="http://schemas.microsoft.com/office/drawing/2014/main" val="3195096923"/>
                    </a:ext>
                  </a:extLst>
                </a:gridCol>
                <a:gridCol w="1813272">
                  <a:extLst>
                    <a:ext uri="{9D8B030D-6E8A-4147-A177-3AD203B41FA5}">
                      <a16:colId xmlns:a16="http://schemas.microsoft.com/office/drawing/2014/main" val="3946665689"/>
                    </a:ext>
                  </a:extLst>
                </a:gridCol>
                <a:gridCol w="1813272">
                  <a:extLst>
                    <a:ext uri="{9D8B030D-6E8A-4147-A177-3AD203B41FA5}">
                      <a16:colId xmlns:a16="http://schemas.microsoft.com/office/drawing/2014/main" val="312759420"/>
                    </a:ext>
                  </a:extLst>
                </a:gridCol>
              </a:tblGrid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Bank size(Byte)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8192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16384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32768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65536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131072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799574"/>
                  </a:ext>
                </a:extLst>
              </a:tr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Depth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128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256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512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1024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2048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0022636"/>
                  </a:ext>
                </a:extLst>
              </a:tr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Number of banks</a:t>
                      </a:r>
                      <a:endParaRPr lang="zh-TW" altLang="en-US" dirty="0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</a:t>
                      </a:r>
                      <a:endParaRPr lang="zh-TW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210179"/>
                  </a:ext>
                </a:extLst>
              </a:tr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Bitwidth </a:t>
                      </a:r>
                      <a:endParaRPr lang="zh-TW" altLang="en-US" dirty="0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512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3144412"/>
                  </a:ext>
                </a:extLst>
              </a:tr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Configuration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128x128</a:t>
                      </a:r>
                      <a:r>
                        <a:rPr lang="zh-TW" altLang="en-US" dirty="0"/>
                        <a:t>*</a:t>
                      </a:r>
                      <a:r>
                        <a:rPr lang="en-US" altLang="zh-TW" dirty="0"/>
                        <a:t>4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256x128</a:t>
                      </a:r>
                      <a:r>
                        <a:rPr lang="zh-TW" altLang="en-US" dirty="0"/>
                        <a:t>*</a:t>
                      </a:r>
                      <a:r>
                        <a:rPr lang="en-US" altLang="zh-TW" dirty="0"/>
                        <a:t>4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512x128</a:t>
                      </a:r>
                      <a:r>
                        <a:rPr lang="zh-TW" altLang="en-US" dirty="0"/>
                        <a:t>*</a:t>
                      </a:r>
                      <a:r>
                        <a:rPr lang="en-US" altLang="zh-TW" dirty="0"/>
                        <a:t>4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1024x128*4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2048x128*4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1189713"/>
                  </a:ext>
                </a:extLst>
              </a:tr>
              <a:tr h="324589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Memory module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ts1n28hpcplvtb128x128m4swasod_180a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ts1n28hpcplvtb256x128m4swasod_180a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ts1n28hpcplvtb512x128m4swasod_180a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ts1n28hpcplvtb1024x128m4swasod_180a.v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ts1n28hpcplvtb2048x128m4swasod_180a.v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9624425"/>
                  </a:ext>
                </a:extLst>
              </a:tr>
              <a:tr h="45442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Total memory area (mm^2)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0.849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0.936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1.112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1.469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2.419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91935179"/>
                  </a:ext>
                </a:extLst>
              </a:tr>
              <a:tr h="45442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Dynamic power (uW)</a:t>
                      </a:r>
                    </a:p>
                    <a:p>
                      <a:pPr algn="ctr"/>
                      <a:r>
                        <a:rPr lang="en-US" altLang="zh-TW" dirty="0"/>
                        <a:t>(bank0)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2663.474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3094.036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3615.055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5553.754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6435.748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1715096"/>
                  </a:ext>
                </a:extLst>
              </a:tr>
              <a:tr h="649178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Dynamic power (</a:t>
                      </a:r>
                      <a:r>
                        <a:rPr lang="en-US" altLang="zh-TW" dirty="0" err="1"/>
                        <a:t>uW</a:t>
                      </a:r>
                      <a:r>
                        <a:rPr lang="en-US" altLang="zh-TW" dirty="0"/>
                        <a:t>)</a:t>
                      </a:r>
                    </a:p>
                    <a:p>
                      <a:pPr algn="ctr"/>
                      <a:r>
                        <a:rPr lang="en-US" altLang="zh-TW" dirty="0"/>
                        <a:t>(other bank)</a:t>
                      </a:r>
                      <a:endParaRPr lang="zh-TW" altLang="en-US" dirty="0"/>
                    </a:p>
                    <a:p>
                      <a:pPr algn="ctr"/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1180.62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1302.36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1930.2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2329.1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2580.51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8769186"/>
                  </a:ext>
                </a:extLst>
              </a:tr>
              <a:tr h="45442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Leakage Power/bank(uW)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521.052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539.537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576.2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651.462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1600.408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49223442"/>
                  </a:ext>
                </a:extLst>
              </a:tr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Frequency(MHz)</a:t>
                      </a:r>
                      <a:endParaRPr lang="zh-TW" altLang="en-US" dirty="0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500</a:t>
                      </a:r>
                      <a:endParaRPr lang="zh-TW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31303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98899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06495-A895-A0CE-E1EA-1CEE41180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611AF0-92C1-84BB-9821-9DD4D78A0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Compare power with different </a:t>
            </a:r>
            <a:r>
              <a:rPr lang="en-US" altLang="zh-TW" dirty="0" err="1"/>
              <a:t>bitwidth</a:t>
            </a:r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D7D6BCED-5FDF-C1B0-AD3B-275346E742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8936379"/>
              </p:ext>
            </p:extLst>
          </p:nvPr>
        </p:nvGraphicFramePr>
        <p:xfrm>
          <a:off x="395265" y="2470267"/>
          <a:ext cx="11534819" cy="1917465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574401">
                  <a:extLst>
                    <a:ext uri="{9D8B030D-6E8A-4147-A177-3AD203B41FA5}">
                      <a16:colId xmlns:a16="http://schemas.microsoft.com/office/drawing/2014/main" val="96818044"/>
                    </a:ext>
                  </a:extLst>
                </a:gridCol>
                <a:gridCol w="1671525">
                  <a:extLst>
                    <a:ext uri="{9D8B030D-6E8A-4147-A177-3AD203B41FA5}">
                      <a16:colId xmlns:a16="http://schemas.microsoft.com/office/drawing/2014/main" val="2360074420"/>
                    </a:ext>
                  </a:extLst>
                </a:gridCol>
                <a:gridCol w="1835629">
                  <a:extLst>
                    <a:ext uri="{9D8B030D-6E8A-4147-A177-3AD203B41FA5}">
                      <a16:colId xmlns:a16="http://schemas.microsoft.com/office/drawing/2014/main" val="3635829885"/>
                    </a:ext>
                  </a:extLst>
                </a:gridCol>
                <a:gridCol w="1826720">
                  <a:extLst>
                    <a:ext uri="{9D8B030D-6E8A-4147-A177-3AD203B41FA5}">
                      <a16:colId xmlns:a16="http://schemas.microsoft.com/office/drawing/2014/main" val="3195096923"/>
                    </a:ext>
                  </a:extLst>
                </a:gridCol>
                <a:gridCol w="1813272">
                  <a:extLst>
                    <a:ext uri="{9D8B030D-6E8A-4147-A177-3AD203B41FA5}">
                      <a16:colId xmlns:a16="http://schemas.microsoft.com/office/drawing/2014/main" val="3946665689"/>
                    </a:ext>
                  </a:extLst>
                </a:gridCol>
                <a:gridCol w="1813272">
                  <a:extLst>
                    <a:ext uri="{9D8B030D-6E8A-4147-A177-3AD203B41FA5}">
                      <a16:colId xmlns:a16="http://schemas.microsoft.com/office/drawing/2014/main" val="312759420"/>
                    </a:ext>
                  </a:extLst>
                </a:gridCol>
              </a:tblGrid>
              <a:tr h="259671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8192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16384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32768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65536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131072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799574"/>
                  </a:ext>
                </a:extLst>
              </a:tr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64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4031.993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4290.666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7578.507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7855.289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8402.816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70022636"/>
                  </a:ext>
                </a:extLst>
              </a:tr>
              <a:tr h="25967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128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3448.894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4080.052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6287.861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6928.438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7550.144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1189713"/>
                  </a:ext>
                </a:extLst>
              </a:tr>
              <a:tr h="324589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256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3103.05394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3412.5788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4241.70174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6209.0523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新細明體" panose="02020500000000000000" pitchFamily="18" charset="-120"/>
                        </a:rPr>
                        <a:t>7004.7428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09624425"/>
                  </a:ext>
                </a:extLst>
              </a:tr>
              <a:tr h="45442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512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2663.474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3094.036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3615.055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5553.754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6435.748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91935179"/>
                  </a:ext>
                </a:extLst>
              </a:tr>
            </a:tbl>
          </a:graphicData>
        </a:graphic>
      </p:graphicFrame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6882472A-CE6E-7254-8BB8-647180094B90}"/>
              </a:ext>
            </a:extLst>
          </p:cNvPr>
          <p:cNvCxnSpPr>
            <a:cxnSpLocks/>
          </p:cNvCxnSpPr>
          <p:nvPr/>
        </p:nvCxnSpPr>
        <p:spPr>
          <a:xfrm>
            <a:off x="328590" y="1095703"/>
            <a:ext cx="2582776" cy="354725"/>
          </a:xfrm>
          <a:prstGeom prst="line">
            <a:avLst/>
          </a:prstGeom>
          <a:ln>
            <a:solidFill>
              <a:schemeClr val="bg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793FC6E1-DFC7-72CE-9CAF-FC8ABE512B1F}"/>
              </a:ext>
            </a:extLst>
          </p:cNvPr>
          <p:cNvCxnSpPr/>
          <p:nvPr/>
        </p:nvCxnSpPr>
        <p:spPr>
          <a:xfrm>
            <a:off x="395265" y="2470267"/>
            <a:ext cx="2576535" cy="342783"/>
          </a:xfrm>
          <a:prstGeom prst="line">
            <a:avLst/>
          </a:prstGeom>
          <a:ln>
            <a:solidFill>
              <a:schemeClr val="bg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E9FB58C-306E-C050-21EA-D2DE589A509D}"/>
              </a:ext>
            </a:extLst>
          </p:cNvPr>
          <p:cNvSpPr txBox="1"/>
          <p:nvPr/>
        </p:nvSpPr>
        <p:spPr>
          <a:xfrm>
            <a:off x="1567248" y="2432535"/>
            <a:ext cx="14045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TW" sz="1200" b="1" dirty="0">
                <a:solidFill>
                  <a:schemeClr val="bg1"/>
                </a:solidFill>
              </a:rPr>
              <a:t>Bank size(Byte)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95E46127-28BE-9279-2F26-0858224CE0A8}"/>
              </a:ext>
            </a:extLst>
          </p:cNvPr>
          <p:cNvSpPr txBox="1"/>
          <p:nvPr/>
        </p:nvSpPr>
        <p:spPr>
          <a:xfrm>
            <a:off x="531733" y="2573783"/>
            <a:ext cx="841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TW" sz="1200" b="1" dirty="0" err="1">
                <a:solidFill>
                  <a:schemeClr val="bg1"/>
                </a:solidFill>
              </a:rPr>
              <a:t>Bitwidth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063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410937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ndes_2024_Internal Version">
  <a:themeElements>
    <a:clrScheme name="ANDE5">
      <a:dk1>
        <a:sysClr val="windowText" lastClr="000000"/>
      </a:dk1>
      <a:lt1>
        <a:sysClr val="window" lastClr="FFFFFF"/>
      </a:lt1>
      <a:dk2>
        <a:srgbClr val="9F5A25"/>
      </a:dk2>
      <a:lt2>
        <a:srgbClr val="62929E"/>
      </a:lt2>
      <a:accent1>
        <a:srgbClr val="1C2E62"/>
      </a:accent1>
      <a:accent2>
        <a:srgbClr val="2E8839"/>
      </a:accent2>
      <a:accent3>
        <a:srgbClr val="E5A62B"/>
      </a:accent3>
      <a:accent4>
        <a:srgbClr val="DC6130"/>
      </a:accent4>
      <a:accent5>
        <a:srgbClr val="E62323"/>
      </a:accent5>
      <a:accent6>
        <a:srgbClr val="058ED9"/>
      </a:accent6>
      <a:hlink>
        <a:srgbClr val="0563C1"/>
      </a:hlink>
      <a:folHlink>
        <a:srgbClr val="B05FC9"/>
      </a:folHlink>
    </a:clrScheme>
    <a:fontScheme name="自訂 2">
      <a:majorFont>
        <a:latin typeface="Tahoma"/>
        <a:ea typeface="Tahoma"/>
        <a:cs typeface=""/>
      </a:majorFont>
      <a:minorFont>
        <a:latin typeface="Tahoma"/>
        <a:ea typeface="Tahoma"/>
        <a:cs typeface=""/>
      </a:minorFont>
    </a:fontScheme>
    <a:fmtScheme name="清晰度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5000"/>
                <a:satMod val="180000"/>
              </a:schemeClr>
            </a:gs>
            <a:gs pos="40000">
              <a:schemeClr val="phClr">
                <a:tint val="95000"/>
                <a:shade val="85000"/>
                <a:satMod val="150000"/>
              </a:schemeClr>
            </a:gs>
            <a:gs pos="100000">
              <a:schemeClr val="phClr">
                <a:shade val="45000"/>
                <a:satMod val="2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55000"/>
              </a:schemeClr>
              <a:schemeClr val="phClr">
                <a:tint val="97000"/>
                <a:satMod val="95000"/>
              </a:schemeClr>
            </a:duotone>
          </a:blip>
          <a:tile tx="0" ty="0" sx="70000" sy="70000" flip="none" algn="tl"/>
        </a:blipFill>
      </a:bgFillStyleLst>
    </a:fmtScheme>
  </a:themeElements>
  <a:objectDefaults>
    <a:spDef>
      <a:spPr>
        <a:solidFill>
          <a:schemeClr val="bg1"/>
        </a:solidFill>
        <a:ln>
          <a:solidFill>
            <a:schemeClr val="tx1"/>
          </a:solidFill>
        </a:ln>
      </a:spPr>
      <a:bodyPr rtlCol="0" anchor="ctr"/>
      <a:lstStyle>
        <a:defPPr algn="l">
          <a:defRPr sz="18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ANDES_ppt_template_Internal _confidential" id="{12889649-E221-4A44-A48C-61191F2A3002}" vid="{E08B3115-1067-41D6-A53B-B2DDC9918905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ANDES_ppt_template_Internal _confidential</Template>
  <TotalTime>82407</TotalTime>
  <Words>545</Words>
  <Application>Microsoft Office PowerPoint</Application>
  <PresentationFormat>寬螢幕</PresentationFormat>
  <Paragraphs>300</Paragraphs>
  <Slides>8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5" baseType="lpstr">
      <vt:lpstr>Heiti TC Light</vt:lpstr>
      <vt:lpstr>Aptos</vt:lpstr>
      <vt:lpstr>Arial</vt:lpstr>
      <vt:lpstr>Calibri</vt:lpstr>
      <vt:lpstr>Tahoma</vt:lpstr>
      <vt:lpstr>Wingdings</vt:lpstr>
      <vt:lpstr>Andes_2024_Internal Version</vt:lpstr>
      <vt:lpstr>SRAM PPA Analysis</vt:lpstr>
      <vt:lpstr>PPA Analysis</vt:lpstr>
      <vt:lpstr>PPA Analysis – bitwidth 64</vt:lpstr>
      <vt:lpstr>PPA Analysis – bitwidth 128</vt:lpstr>
      <vt:lpstr>PPA Analysis – bitwidth 256</vt:lpstr>
      <vt:lpstr>PPA Analysis – bitwidth 512</vt:lpstr>
      <vt:lpstr>Compare power with different bitwidth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Sandra Chin-Hsun Sung(宋芷薰)</dc:creator>
  <cp:lastModifiedBy>Brian Po-Hsun Tseng(曾柏勳)</cp:lastModifiedBy>
  <cp:revision>153</cp:revision>
  <dcterms:created xsi:type="dcterms:W3CDTF">2025-04-17T02:28:54Z</dcterms:created>
  <dcterms:modified xsi:type="dcterms:W3CDTF">2026-01-27T02:50:13Z</dcterms:modified>
</cp:coreProperties>
</file>