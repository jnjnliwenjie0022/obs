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77" r:id="rId4"/>
    <p:sldId id="270" r:id="rId5"/>
    <p:sldId id="264" r:id="rId6"/>
    <p:sldId id="265" r:id="rId7"/>
    <p:sldId id="268" r:id="rId8"/>
    <p:sldId id="275" r:id="rId9"/>
    <p:sldId id="276" r:id="rId10"/>
    <p:sldId id="269" r:id="rId11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-1944" y="-28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162D-484D-46B9-BA16-9C30565665E7}" type="datetimeFigureOut">
              <a:rPr lang="zh-TW" altLang="en-US" smtClean="0"/>
              <a:t>2019/5/29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75413-3329-4170-9019-70029E8DFB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036580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162D-484D-46B9-BA16-9C30565665E7}" type="datetimeFigureOut">
              <a:rPr lang="zh-TW" altLang="en-US" smtClean="0"/>
              <a:t>2019/5/29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75413-3329-4170-9019-70029E8DFB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20160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162D-484D-46B9-BA16-9C30565665E7}" type="datetimeFigureOut">
              <a:rPr lang="zh-TW" altLang="en-US" smtClean="0"/>
              <a:t>2019/5/29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75413-3329-4170-9019-70029E8DFB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2350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162D-484D-46B9-BA16-9C30565665E7}" type="datetimeFigureOut">
              <a:rPr lang="zh-TW" altLang="en-US" smtClean="0"/>
              <a:t>2019/5/29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75413-3329-4170-9019-70029E8DFB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7155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162D-484D-46B9-BA16-9C30565665E7}" type="datetimeFigureOut">
              <a:rPr lang="zh-TW" altLang="en-US" smtClean="0"/>
              <a:t>2019/5/29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75413-3329-4170-9019-70029E8DFB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5597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162D-484D-46B9-BA16-9C30565665E7}" type="datetimeFigureOut">
              <a:rPr lang="zh-TW" altLang="en-US" smtClean="0"/>
              <a:t>2019/5/29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75413-3329-4170-9019-70029E8DFB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37670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162D-484D-46B9-BA16-9C30565665E7}" type="datetimeFigureOut">
              <a:rPr lang="zh-TW" altLang="en-US" smtClean="0"/>
              <a:t>2019/5/29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75413-3329-4170-9019-70029E8DFB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278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162D-484D-46B9-BA16-9C30565665E7}" type="datetimeFigureOut">
              <a:rPr lang="zh-TW" altLang="en-US" smtClean="0"/>
              <a:t>2019/5/29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75413-3329-4170-9019-70029E8DFB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614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162D-484D-46B9-BA16-9C30565665E7}" type="datetimeFigureOut">
              <a:rPr lang="zh-TW" altLang="en-US" smtClean="0"/>
              <a:t>2019/5/29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75413-3329-4170-9019-70029E8DFB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8250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162D-484D-46B9-BA16-9C30565665E7}" type="datetimeFigureOut">
              <a:rPr lang="zh-TW" altLang="en-US" smtClean="0"/>
              <a:t>2019/5/29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75413-3329-4170-9019-70029E8DFB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07047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162D-484D-46B9-BA16-9C30565665E7}" type="datetimeFigureOut">
              <a:rPr lang="zh-TW" altLang="en-US" smtClean="0"/>
              <a:t>2019/5/29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75413-3329-4170-9019-70029E8DFB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3882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162D-484D-46B9-BA16-9C30565665E7}" type="datetimeFigureOut">
              <a:rPr lang="zh-TW" altLang="en-US" smtClean="0"/>
              <a:t>2019/5/29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975413-3329-4170-9019-70029E8DFB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7364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/>
            </a:r>
            <a:br>
              <a:rPr lang="en-US" altLang="zh-TW" dirty="0" smtClean="0"/>
            </a:br>
            <a:r>
              <a:rPr lang="en-US" altLang="zh-TW" dirty="0" smtClean="0"/>
              <a:t>MP Low Power Flow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5800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2067119" y="3861048"/>
            <a:ext cx="3281689" cy="43204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ACU &amp; L2</a:t>
            </a:r>
            <a:endParaRPr lang="zh-TW" altLang="en-US" dirty="0"/>
          </a:p>
        </p:txBody>
      </p:sp>
      <p:sp>
        <p:nvSpPr>
          <p:cNvPr id="2" name="矩形 1"/>
          <p:cNvSpPr/>
          <p:nvPr/>
        </p:nvSpPr>
        <p:spPr>
          <a:xfrm>
            <a:off x="2236401" y="2348880"/>
            <a:ext cx="1183471" cy="100811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Core 0</a:t>
            </a:r>
          </a:p>
          <a:p>
            <a:pPr algn="ctr"/>
            <a:endParaRPr lang="en-US" altLang="zh-TW" sz="1400" b="1" dirty="0" smtClean="0"/>
          </a:p>
          <a:p>
            <a:pPr algn="ctr"/>
            <a:endParaRPr lang="zh-TW" altLang="en-US" sz="1400" b="1" dirty="0"/>
          </a:p>
        </p:txBody>
      </p:sp>
      <p:sp>
        <p:nvSpPr>
          <p:cNvPr id="16" name="矩形 15"/>
          <p:cNvSpPr/>
          <p:nvPr/>
        </p:nvSpPr>
        <p:spPr>
          <a:xfrm>
            <a:off x="2339753" y="2856434"/>
            <a:ext cx="973104" cy="360040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err="1" smtClean="0"/>
              <a:t>Dtag</a:t>
            </a:r>
            <a:r>
              <a:rPr lang="en-US" altLang="zh-TW" sz="1400" b="1" dirty="0" smtClean="0"/>
              <a:t>  0</a:t>
            </a:r>
          </a:p>
        </p:txBody>
      </p:sp>
      <p:grpSp>
        <p:nvGrpSpPr>
          <p:cNvPr id="24" name="群組 23"/>
          <p:cNvGrpSpPr/>
          <p:nvPr/>
        </p:nvGrpSpPr>
        <p:grpSpPr>
          <a:xfrm>
            <a:off x="3887191" y="2360762"/>
            <a:ext cx="1183471" cy="1008112"/>
            <a:chOff x="2236401" y="1268760"/>
            <a:chExt cx="1183471" cy="1008112"/>
          </a:xfrm>
        </p:grpSpPr>
        <p:sp>
          <p:nvSpPr>
            <p:cNvPr id="25" name="矩形 24"/>
            <p:cNvSpPr/>
            <p:nvPr/>
          </p:nvSpPr>
          <p:spPr>
            <a:xfrm>
              <a:off x="2236401" y="1268760"/>
              <a:ext cx="1183471" cy="1008112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b="1" dirty="0" smtClean="0"/>
                <a:t>Core 1</a:t>
              </a:r>
            </a:p>
            <a:p>
              <a:pPr algn="ctr"/>
              <a:endParaRPr lang="en-US" altLang="zh-TW" sz="1400" b="1" dirty="0" smtClean="0"/>
            </a:p>
            <a:p>
              <a:pPr algn="ctr"/>
              <a:endParaRPr lang="zh-TW" altLang="en-US" sz="1400" b="1" dirty="0"/>
            </a:p>
          </p:txBody>
        </p:sp>
        <p:sp>
          <p:nvSpPr>
            <p:cNvPr id="26" name="矩形 25"/>
            <p:cNvSpPr/>
            <p:nvPr/>
          </p:nvSpPr>
          <p:spPr>
            <a:xfrm>
              <a:off x="2339753" y="1776314"/>
              <a:ext cx="973104" cy="360040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sz="1400" b="1" dirty="0" err="1" smtClean="0"/>
                <a:t>Dtag</a:t>
              </a:r>
              <a:r>
                <a:rPr lang="en-US" altLang="zh-TW" sz="1400" b="1" dirty="0" smtClean="0"/>
                <a:t>  1</a:t>
              </a:r>
            </a:p>
          </p:txBody>
        </p:sp>
      </p:grpSp>
      <p:sp>
        <p:nvSpPr>
          <p:cNvPr id="29" name="上-下雙向箭號 28"/>
          <p:cNvSpPr/>
          <p:nvPr/>
        </p:nvSpPr>
        <p:spPr>
          <a:xfrm>
            <a:off x="4427984" y="3452625"/>
            <a:ext cx="157123" cy="37542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矩形 30"/>
          <p:cNvSpPr/>
          <p:nvPr/>
        </p:nvSpPr>
        <p:spPr>
          <a:xfrm>
            <a:off x="6660232" y="2527182"/>
            <a:ext cx="967447" cy="9326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SMU</a:t>
            </a:r>
          </a:p>
        </p:txBody>
      </p:sp>
      <p:sp>
        <p:nvSpPr>
          <p:cNvPr id="33" name="矩形 32"/>
          <p:cNvSpPr/>
          <p:nvPr/>
        </p:nvSpPr>
        <p:spPr>
          <a:xfrm>
            <a:off x="1835696" y="1988840"/>
            <a:ext cx="3672408" cy="2592288"/>
          </a:xfrm>
          <a:prstGeom prst="rect">
            <a:avLst/>
          </a:prstGeom>
          <a:noFill/>
          <a:ln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上-下雙向箭號 33"/>
          <p:cNvSpPr/>
          <p:nvPr/>
        </p:nvSpPr>
        <p:spPr>
          <a:xfrm rot="5400000" flipH="1" flipV="1">
            <a:off x="5994279" y="2560443"/>
            <a:ext cx="179778" cy="864096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文字方塊 34"/>
          <p:cNvSpPr txBox="1"/>
          <p:nvPr/>
        </p:nvSpPr>
        <p:spPr>
          <a:xfrm>
            <a:off x="5667722" y="2475161"/>
            <a:ext cx="864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 smtClean="0"/>
              <a:t>Sleep Handshake</a:t>
            </a:r>
            <a:endParaRPr lang="zh-TW" altLang="en-US" sz="1200" dirty="0"/>
          </a:p>
        </p:txBody>
      </p:sp>
      <p:sp>
        <p:nvSpPr>
          <p:cNvPr id="39" name="文字方塊 38"/>
          <p:cNvSpPr txBox="1"/>
          <p:nvPr/>
        </p:nvSpPr>
        <p:spPr>
          <a:xfrm>
            <a:off x="5712990" y="4111357"/>
            <a:ext cx="8640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 smtClean="0"/>
              <a:t>clock</a:t>
            </a:r>
            <a:endParaRPr lang="zh-TW" altLang="en-US" sz="1200" dirty="0"/>
          </a:p>
        </p:txBody>
      </p:sp>
      <p:cxnSp>
        <p:nvCxnSpPr>
          <p:cNvPr id="42" name="肘形接點 41"/>
          <p:cNvCxnSpPr>
            <a:stCxn id="45" idx="2"/>
            <a:endCxn id="31" idx="3"/>
          </p:cNvCxnSpPr>
          <p:nvPr/>
        </p:nvCxnSpPr>
        <p:spPr>
          <a:xfrm rot="5400000" flipH="1" flipV="1">
            <a:off x="4531946" y="2133468"/>
            <a:ext cx="2235685" cy="3955779"/>
          </a:xfrm>
          <a:prstGeom prst="bentConnector4">
            <a:avLst>
              <a:gd name="adj1" fmla="val -10225"/>
              <a:gd name="adj2" fmla="val 105779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字方塊 42"/>
          <p:cNvSpPr txBox="1"/>
          <p:nvPr/>
        </p:nvSpPr>
        <p:spPr>
          <a:xfrm>
            <a:off x="5348808" y="5589240"/>
            <a:ext cx="11544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 smtClean="0"/>
              <a:t>Power Control </a:t>
            </a:r>
            <a:r>
              <a:rPr lang="en-US" altLang="zh-TW" sz="1200" dirty="0"/>
              <a:t>R</a:t>
            </a:r>
            <a:r>
              <a:rPr lang="en-US" altLang="zh-TW" sz="1200" dirty="0" smtClean="0"/>
              <a:t>egister  R/W</a:t>
            </a:r>
            <a:endParaRPr lang="zh-TW" altLang="en-US" sz="1200" dirty="0"/>
          </a:p>
        </p:txBody>
      </p:sp>
      <p:sp>
        <p:nvSpPr>
          <p:cNvPr id="45" name="矩形 44"/>
          <p:cNvSpPr/>
          <p:nvPr/>
        </p:nvSpPr>
        <p:spPr>
          <a:xfrm>
            <a:off x="1835696" y="4797152"/>
            <a:ext cx="3672407" cy="432048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Bus Decode</a:t>
            </a:r>
            <a:endParaRPr lang="zh-TW" altLang="en-US" dirty="0"/>
          </a:p>
        </p:txBody>
      </p:sp>
      <p:sp>
        <p:nvSpPr>
          <p:cNvPr id="47" name="上-下雙向箭號 46"/>
          <p:cNvSpPr/>
          <p:nvPr/>
        </p:nvSpPr>
        <p:spPr>
          <a:xfrm>
            <a:off x="2828136" y="3450615"/>
            <a:ext cx="157123" cy="37542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矩形 49"/>
          <p:cNvSpPr/>
          <p:nvPr/>
        </p:nvSpPr>
        <p:spPr>
          <a:xfrm>
            <a:off x="6660230" y="3843905"/>
            <a:ext cx="967447" cy="466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Clock gen</a:t>
            </a:r>
          </a:p>
        </p:txBody>
      </p:sp>
      <p:cxnSp>
        <p:nvCxnSpPr>
          <p:cNvPr id="52" name="直線單箭頭接點 51"/>
          <p:cNvCxnSpPr>
            <a:stCxn id="31" idx="2"/>
            <a:endCxn id="50" idx="0"/>
          </p:cNvCxnSpPr>
          <p:nvPr/>
        </p:nvCxnSpPr>
        <p:spPr>
          <a:xfrm flipH="1">
            <a:off x="7143954" y="3459848"/>
            <a:ext cx="2" cy="384057"/>
          </a:xfrm>
          <a:prstGeom prst="straightConnector1">
            <a:avLst/>
          </a:prstGeom>
          <a:ln w="3810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單箭頭接點 56"/>
          <p:cNvCxnSpPr>
            <a:stCxn id="50" idx="1"/>
            <a:endCxn id="6" idx="3"/>
          </p:cNvCxnSpPr>
          <p:nvPr/>
        </p:nvCxnSpPr>
        <p:spPr>
          <a:xfrm flipH="1">
            <a:off x="5348808" y="4077072"/>
            <a:ext cx="1311422" cy="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 57"/>
          <p:cNvSpPr/>
          <p:nvPr/>
        </p:nvSpPr>
        <p:spPr>
          <a:xfrm>
            <a:off x="6608557" y="4581128"/>
            <a:ext cx="483723" cy="466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err="1" smtClean="0"/>
              <a:t>Xtal</a:t>
            </a:r>
            <a:endParaRPr lang="en-US" altLang="zh-TW" sz="1400" b="1" dirty="0" smtClean="0"/>
          </a:p>
        </p:txBody>
      </p:sp>
      <p:sp>
        <p:nvSpPr>
          <p:cNvPr id="59" name="矩形 58"/>
          <p:cNvSpPr/>
          <p:nvPr/>
        </p:nvSpPr>
        <p:spPr>
          <a:xfrm>
            <a:off x="7184621" y="4581128"/>
            <a:ext cx="483723" cy="46633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PLL</a:t>
            </a:r>
          </a:p>
        </p:txBody>
      </p:sp>
      <p:cxnSp>
        <p:nvCxnSpPr>
          <p:cNvPr id="61" name="直線單箭頭接點 60"/>
          <p:cNvCxnSpPr/>
          <p:nvPr/>
        </p:nvCxnSpPr>
        <p:spPr>
          <a:xfrm flipV="1">
            <a:off x="6850418" y="4299948"/>
            <a:ext cx="1" cy="281180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單箭頭接點 61"/>
          <p:cNvCxnSpPr/>
          <p:nvPr/>
        </p:nvCxnSpPr>
        <p:spPr>
          <a:xfrm flipV="1">
            <a:off x="7426480" y="4299949"/>
            <a:ext cx="1" cy="281179"/>
          </a:xfrm>
          <a:prstGeom prst="straightConnector1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標題 6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MP System</a:t>
            </a:r>
            <a:endParaRPr lang="zh-TW" altLang="en-US" dirty="0"/>
          </a:p>
        </p:txBody>
      </p:sp>
      <p:cxnSp>
        <p:nvCxnSpPr>
          <p:cNvPr id="72" name="直線單箭頭接點 71"/>
          <p:cNvCxnSpPr>
            <a:stCxn id="33" idx="2"/>
            <a:endCxn id="45" idx="0"/>
          </p:cNvCxnSpPr>
          <p:nvPr/>
        </p:nvCxnSpPr>
        <p:spPr>
          <a:xfrm>
            <a:off x="3671900" y="4581128"/>
            <a:ext cx="0" cy="216024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字方塊 72"/>
          <p:cNvSpPr txBox="1"/>
          <p:nvPr/>
        </p:nvSpPr>
        <p:spPr>
          <a:xfrm>
            <a:off x="7195630" y="3499825"/>
            <a:ext cx="10487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 smtClean="0"/>
              <a:t>Clock enable</a:t>
            </a:r>
            <a:endParaRPr lang="zh-TW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878283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直線單箭頭接點 43"/>
          <p:cNvCxnSpPr/>
          <p:nvPr/>
        </p:nvCxnSpPr>
        <p:spPr>
          <a:xfrm>
            <a:off x="2023678" y="2132856"/>
            <a:ext cx="1406513" cy="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矩形 74"/>
          <p:cNvSpPr/>
          <p:nvPr/>
        </p:nvSpPr>
        <p:spPr>
          <a:xfrm>
            <a:off x="3430191" y="1889874"/>
            <a:ext cx="1080120" cy="13951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PCS </a:t>
            </a:r>
            <a:r>
              <a:rPr lang="en-US" altLang="zh-TW" sz="1400" b="1" dirty="0"/>
              <a:t>I</a:t>
            </a:r>
            <a:r>
              <a:rPr lang="en-US" altLang="zh-TW" sz="1400" b="1" dirty="0" smtClean="0"/>
              <a:t>nterface</a:t>
            </a:r>
          </a:p>
        </p:txBody>
      </p:sp>
      <p:sp>
        <p:nvSpPr>
          <p:cNvPr id="87" name="標題 8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Low Power Signals</a:t>
            </a:r>
            <a:endParaRPr lang="zh-TW" altLang="en-US" dirty="0"/>
          </a:p>
        </p:txBody>
      </p:sp>
      <p:cxnSp>
        <p:nvCxnSpPr>
          <p:cNvPr id="43" name="直線單箭頭接點 42"/>
          <p:cNvCxnSpPr/>
          <p:nvPr/>
        </p:nvCxnSpPr>
        <p:spPr>
          <a:xfrm>
            <a:off x="2123728" y="2580561"/>
            <a:ext cx="1306463" cy="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字方塊 44"/>
          <p:cNvSpPr txBox="1"/>
          <p:nvPr/>
        </p:nvSpPr>
        <p:spPr>
          <a:xfrm>
            <a:off x="2051720" y="2303562"/>
            <a:ext cx="14397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err="1" smtClean="0"/>
              <a:t>rdy_for_snoop</a:t>
            </a:r>
            <a:r>
              <a:rPr lang="en-US" altLang="zh-TW" sz="1200" dirty="0" smtClean="0"/>
              <a:t>[3:0]</a:t>
            </a:r>
            <a:endParaRPr lang="zh-TW" altLang="en-US" sz="1200" dirty="0"/>
          </a:p>
        </p:txBody>
      </p:sp>
      <p:cxnSp>
        <p:nvCxnSpPr>
          <p:cNvPr id="46" name="直線單箭頭接點 45"/>
          <p:cNvCxnSpPr/>
          <p:nvPr/>
        </p:nvCxnSpPr>
        <p:spPr>
          <a:xfrm>
            <a:off x="4510311" y="2165741"/>
            <a:ext cx="1213817" cy="0"/>
          </a:xfrm>
          <a:prstGeom prst="straightConnector1">
            <a:avLst/>
          </a:prstGeom>
          <a:ln w="19050"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字方塊 46"/>
          <p:cNvSpPr txBox="1"/>
          <p:nvPr/>
        </p:nvSpPr>
        <p:spPr>
          <a:xfrm>
            <a:off x="4510311" y="1888742"/>
            <a:ext cx="11517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err="1" smtClean="0"/>
              <a:t>sleep_req</a:t>
            </a:r>
            <a:r>
              <a:rPr lang="en-US" altLang="zh-TW" sz="1200" dirty="0" smtClean="0"/>
              <a:t>[3:0]</a:t>
            </a:r>
            <a:endParaRPr lang="zh-TW" altLang="en-US" sz="1200" dirty="0"/>
          </a:p>
        </p:txBody>
      </p:sp>
      <p:cxnSp>
        <p:nvCxnSpPr>
          <p:cNvPr id="48" name="直線單箭頭接點 47"/>
          <p:cNvCxnSpPr/>
          <p:nvPr/>
        </p:nvCxnSpPr>
        <p:spPr>
          <a:xfrm>
            <a:off x="4510311" y="2636912"/>
            <a:ext cx="1213817" cy="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字方塊 49"/>
          <p:cNvSpPr txBox="1"/>
          <p:nvPr/>
        </p:nvSpPr>
        <p:spPr>
          <a:xfrm>
            <a:off x="4510311" y="2353558"/>
            <a:ext cx="12858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err="1" smtClean="0"/>
              <a:t>sleep_ok</a:t>
            </a:r>
            <a:r>
              <a:rPr lang="en-US" altLang="zh-TW" sz="1200" dirty="0" smtClean="0"/>
              <a:t>[3:0]</a:t>
            </a:r>
            <a:endParaRPr lang="zh-TW" altLang="en-US" sz="1200" dirty="0"/>
          </a:p>
        </p:txBody>
      </p:sp>
      <p:graphicFrame>
        <p:nvGraphicFramePr>
          <p:cNvPr id="51" name="表格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7063004"/>
              </p:ext>
            </p:extLst>
          </p:nvPr>
        </p:nvGraphicFramePr>
        <p:xfrm>
          <a:off x="755576" y="4149080"/>
          <a:ext cx="6120848" cy="2036244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505549"/>
                <a:gridCol w="3615299"/>
              </a:tblGrid>
              <a:tr h="378042">
                <a:tc>
                  <a:txBody>
                    <a:bodyPr/>
                    <a:lstStyle/>
                    <a:p>
                      <a:r>
                        <a:rPr lang="en-US" altLang="zh-TW" b="1" dirty="0" err="1" smtClean="0"/>
                        <a:t>core_wfi_mode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core</a:t>
                      </a:r>
                      <a:r>
                        <a:rPr lang="en-US" altLang="zh-TW" b="1" baseline="0" dirty="0" smtClean="0"/>
                        <a:t> is in wait for interrupt mode</a:t>
                      </a:r>
                      <a:endParaRPr lang="zh-TW" altLang="en-US" b="1" dirty="0"/>
                    </a:p>
                  </a:txBody>
                  <a:tcPr/>
                </a:tc>
              </a:tr>
              <a:tr h="378042">
                <a:tc>
                  <a:txBody>
                    <a:bodyPr/>
                    <a:lstStyle/>
                    <a:p>
                      <a:r>
                        <a:rPr lang="en-US" altLang="zh-TW" b="1" dirty="0" err="1" smtClean="0"/>
                        <a:t>rdy_for_snoop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D$</a:t>
                      </a:r>
                      <a:r>
                        <a:rPr lang="en-US" altLang="zh-TW" b="1" baseline="0" dirty="0" smtClean="0"/>
                        <a:t> &amp; </a:t>
                      </a:r>
                      <a:r>
                        <a:rPr lang="en-US" altLang="zh-TW" b="1" baseline="0" dirty="0" err="1" smtClean="0"/>
                        <a:t>Dtag</a:t>
                      </a:r>
                      <a:r>
                        <a:rPr lang="en-US" altLang="zh-TW" b="1" baseline="0" dirty="0" smtClean="0"/>
                        <a:t> initial done and can accept snoop request</a:t>
                      </a:r>
                      <a:endParaRPr lang="zh-TW" altLang="en-US" b="1" dirty="0"/>
                    </a:p>
                  </a:txBody>
                  <a:tcPr/>
                </a:tc>
              </a:tr>
              <a:tr h="378042">
                <a:tc>
                  <a:txBody>
                    <a:bodyPr/>
                    <a:lstStyle/>
                    <a:p>
                      <a:r>
                        <a:rPr lang="en-US" altLang="zh-TW" b="1" dirty="0" err="1" smtClean="0"/>
                        <a:t>sleep_req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Request</a:t>
                      </a:r>
                      <a:r>
                        <a:rPr lang="en-US" altLang="zh-TW" b="1" baseline="0" dirty="0" smtClean="0"/>
                        <a:t> core 0 to quit SMP and enter sleep mode</a:t>
                      </a:r>
                      <a:endParaRPr lang="zh-TW" altLang="en-US" b="1" dirty="0"/>
                    </a:p>
                  </a:txBody>
                  <a:tcPr/>
                </a:tc>
              </a:tr>
              <a:tr h="378042">
                <a:tc>
                  <a:txBody>
                    <a:bodyPr/>
                    <a:lstStyle/>
                    <a:p>
                      <a:r>
                        <a:rPr lang="en-US" altLang="zh-TW" b="1" dirty="0" err="1" smtClean="0"/>
                        <a:t>sleep_ok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Core 0 is</a:t>
                      </a:r>
                      <a:r>
                        <a:rPr lang="en-US" altLang="zh-TW" b="1" baseline="0" dirty="0" smtClean="0"/>
                        <a:t> ready to enter sleep mode</a:t>
                      </a:r>
                      <a:endParaRPr lang="zh-TW" altLang="en-US" b="1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矩形 12"/>
          <p:cNvSpPr/>
          <p:nvPr/>
        </p:nvSpPr>
        <p:spPr>
          <a:xfrm>
            <a:off x="971600" y="1340768"/>
            <a:ext cx="4608512" cy="24482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TW" dirty="0" smtClean="0">
              <a:solidFill>
                <a:schemeClr val="tx1"/>
              </a:solidFill>
            </a:endParaRPr>
          </a:p>
          <a:p>
            <a:pPr algn="ctr"/>
            <a:endParaRPr lang="en-US" altLang="zh-TW" dirty="0">
              <a:solidFill>
                <a:schemeClr val="tx1"/>
              </a:solidFill>
            </a:endParaRPr>
          </a:p>
          <a:p>
            <a:pPr algn="ctr"/>
            <a:endParaRPr lang="en-US" altLang="zh-TW" dirty="0" smtClean="0">
              <a:solidFill>
                <a:schemeClr val="tx1"/>
              </a:solidFill>
            </a:endParaRPr>
          </a:p>
          <a:p>
            <a:pPr algn="ctr"/>
            <a:endParaRPr lang="en-US" altLang="zh-TW" dirty="0">
              <a:solidFill>
                <a:schemeClr val="tx1"/>
              </a:solidFill>
            </a:endParaRPr>
          </a:p>
          <a:p>
            <a:pPr algn="ctr"/>
            <a:endParaRPr lang="en-US" altLang="zh-TW" dirty="0" smtClean="0">
              <a:solidFill>
                <a:schemeClr val="tx1"/>
              </a:solidFill>
            </a:endParaRPr>
          </a:p>
          <a:p>
            <a:pPr algn="ctr"/>
            <a:endParaRPr lang="en-US" altLang="zh-TW" dirty="0">
              <a:solidFill>
                <a:schemeClr val="tx1"/>
              </a:solidFill>
            </a:endParaRPr>
          </a:p>
          <a:p>
            <a:pPr algn="ctr"/>
            <a:r>
              <a:rPr lang="en-US" altLang="zh-TW" dirty="0" err="1" smtClean="0">
                <a:solidFill>
                  <a:schemeClr val="tx1"/>
                </a:solidFill>
              </a:rPr>
              <a:t>Mpcore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1296058" y="1916832"/>
            <a:ext cx="611646" cy="6021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Core</a:t>
            </a:r>
          </a:p>
        </p:txBody>
      </p:sp>
      <p:sp>
        <p:nvSpPr>
          <p:cNvPr id="54" name="矩形 53"/>
          <p:cNvSpPr/>
          <p:nvPr/>
        </p:nvSpPr>
        <p:spPr>
          <a:xfrm>
            <a:off x="1412032" y="2040398"/>
            <a:ext cx="611646" cy="6021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Core</a:t>
            </a:r>
          </a:p>
        </p:txBody>
      </p:sp>
      <p:sp>
        <p:nvSpPr>
          <p:cNvPr id="55" name="矩形 54"/>
          <p:cNvSpPr/>
          <p:nvPr/>
        </p:nvSpPr>
        <p:spPr>
          <a:xfrm>
            <a:off x="1512082" y="2192798"/>
            <a:ext cx="611646" cy="6021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Core</a:t>
            </a:r>
          </a:p>
        </p:txBody>
      </p:sp>
      <p:cxnSp>
        <p:nvCxnSpPr>
          <p:cNvPr id="17" name="肘形接點 16"/>
          <p:cNvCxnSpPr/>
          <p:nvPr/>
        </p:nvCxnSpPr>
        <p:spPr>
          <a:xfrm flipV="1">
            <a:off x="2726934" y="1700808"/>
            <a:ext cx="2997194" cy="432048"/>
          </a:xfrm>
          <a:prstGeom prst="bentConnector3">
            <a:avLst>
              <a:gd name="adj1" fmla="val -161"/>
            </a:avLst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字方塊 62"/>
          <p:cNvSpPr txBox="1"/>
          <p:nvPr/>
        </p:nvSpPr>
        <p:spPr>
          <a:xfrm>
            <a:off x="4212345" y="1423809"/>
            <a:ext cx="14397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err="1"/>
              <a:t>c</a:t>
            </a:r>
            <a:r>
              <a:rPr lang="en-US" altLang="zh-TW" sz="1200" dirty="0" err="1" smtClean="0"/>
              <a:t>ore_wfi_mode</a:t>
            </a:r>
            <a:r>
              <a:rPr lang="en-US" altLang="zh-TW" sz="1200" dirty="0" smtClean="0"/>
              <a:t>[3:0]</a:t>
            </a:r>
            <a:endParaRPr lang="zh-TW" altLang="en-US" sz="1200" dirty="0"/>
          </a:p>
        </p:txBody>
      </p:sp>
      <p:sp>
        <p:nvSpPr>
          <p:cNvPr id="64" name="矩形 63"/>
          <p:cNvSpPr/>
          <p:nvPr/>
        </p:nvSpPr>
        <p:spPr>
          <a:xfrm>
            <a:off x="5724128" y="1556792"/>
            <a:ext cx="967447" cy="111099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SMU</a:t>
            </a:r>
          </a:p>
        </p:txBody>
      </p:sp>
      <p:cxnSp>
        <p:nvCxnSpPr>
          <p:cNvPr id="58" name="直線單箭頭接點 57"/>
          <p:cNvCxnSpPr/>
          <p:nvPr/>
        </p:nvCxnSpPr>
        <p:spPr>
          <a:xfrm>
            <a:off x="2147156" y="2924944"/>
            <a:ext cx="1283035" cy="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字方塊 76"/>
          <p:cNvSpPr txBox="1"/>
          <p:nvPr/>
        </p:nvSpPr>
        <p:spPr>
          <a:xfrm>
            <a:off x="2339752" y="2708920"/>
            <a:ext cx="10184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smtClean="0"/>
              <a:t>L2_IDLE</a:t>
            </a:r>
            <a:endParaRPr lang="zh-TW" altLang="en-US" sz="1200" dirty="0"/>
          </a:p>
        </p:txBody>
      </p:sp>
      <p:sp>
        <p:nvSpPr>
          <p:cNvPr id="78" name="矩形 77"/>
          <p:cNvSpPr/>
          <p:nvPr/>
        </p:nvSpPr>
        <p:spPr>
          <a:xfrm>
            <a:off x="1535510" y="2879945"/>
            <a:ext cx="611646" cy="6021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b="1" dirty="0" smtClean="0"/>
              <a:t>L2C</a:t>
            </a:r>
          </a:p>
        </p:txBody>
      </p:sp>
      <p:sp>
        <p:nvSpPr>
          <p:cNvPr id="82" name="文字方塊 81"/>
          <p:cNvSpPr txBox="1"/>
          <p:nvPr/>
        </p:nvSpPr>
        <p:spPr>
          <a:xfrm>
            <a:off x="2051720" y="2924944"/>
            <a:ext cx="14397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200" dirty="0" err="1" smtClean="0"/>
              <a:t>s</a:t>
            </a:r>
            <a:r>
              <a:rPr lang="en-US" altLang="zh-TW" sz="1200" dirty="0" err="1" smtClean="0"/>
              <a:t>rrep_done</a:t>
            </a:r>
            <a:r>
              <a:rPr lang="en-US" altLang="zh-TW" sz="1200" dirty="0" smtClean="0"/>
              <a:t>[3:0</a:t>
            </a:r>
            <a:r>
              <a:rPr lang="en-US" altLang="zh-TW" sz="1200" dirty="0" smtClean="0"/>
              <a:t>]</a:t>
            </a:r>
            <a:endParaRPr lang="zh-TW" altLang="en-US" sz="1200" dirty="0"/>
          </a:p>
        </p:txBody>
      </p:sp>
      <p:cxnSp>
        <p:nvCxnSpPr>
          <p:cNvPr id="84" name="直線單箭頭接點 83"/>
          <p:cNvCxnSpPr/>
          <p:nvPr/>
        </p:nvCxnSpPr>
        <p:spPr>
          <a:xfrm>
            <a:off x="2123728" y="3181806"/>
            <a:ext cx="1283035" cy="0"/>
          </a:xfrm>
          <a:prstGeom prst="straightConnector1">
            <a:avLst/>
          </a:prstGeom>
          <a:ln w="19050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61262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Core Low Power Mode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52095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Power Mode</a:t>
            </a:r>
            <a:endParaRPr lang="zh-TW" altLang="en-US" dirty="0"/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5464268"/>
              </p:ext>
            </p:extLst>
          </p:nvPr>
        </p:nvGraphicFramePr>
        <p:xfrm>
          <a:off x="1475656" y="1556792"/>
          <a:ext cx="6402706" cy="165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0150"/>
                <a:gridCol w="1016000"/>
                <a:gridCol w="1277366"/>
                <a:gridCol w="1209485"/>
                <a:gridCol w="144970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Power Mode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Normal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Standby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LightSleep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err="1" smtClean="0"/>
                        <a:t>DeepSleep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Core 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active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clock gated</a:t>
                      </a:r>
                      <a:endParaRPr lang="zh-TW" altLang="en-US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dirty="0" smtClean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dirty="0" smtClean="0"/>
                    </a:p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clock off</a:t>
                      </a:r>
                      <a:endParaRPr lang="zh-TW" altLang="en-US" dirty="0" smtClean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en-US" altLang="zh-TW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power off</a:t>
                      </a:r>
                      <a:endParaRPr lang="zh-TW" altLang="en-US" dirty="0" smtClean="0"/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altLang="zh-TW" dirty="0" smtClean="0"/>
                    </a:p>
                    <a:p>
                      <a:r>
                        <a:rPr lang="en-US" altLang="zh-TW" dirty="0" smtClean="0"/>
                        <a:t>D$ &amp; </a:t>
                      </a:r>
                      <a:r>
                        <a:rPr lang="en-US" altLang="zh-TW" dirty="0" err="1" smtClean="0"/>
                        <a:t>Dtag</a:t>
                      </a:r>
                      <a:endParaRPr lang="en-US" altLang="zh-TW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TW" dirty="0" smtClean="0"/>
                    </a:p>
                    <a:p>
                      <a:r>
                        <a:rPr lang="en-US" altLang="zh-TW" dirty="0" smtClean="0"/>
                        <a:t>active</a:t>
                      </a:r>
                      <a:endParaRPr lang="zh-TW" altLang="en-US" dirty="0"/>
                    </a:p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altLang="zh-TW" dirty="0" smtClean="0"/>
                    </a:p>
                    <a:p>
                      <a:r>
                        <a:rPr lang="en-US" altLang="zh-TW" dirty="0" smtClean="0"/>
                        <a:t>active</a:t>
                      </a:r>
                      <a:endParaRPr lang="zh-TW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 smtClean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dirty="0" smtClean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7178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Standby Mode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</a:t>
            </a:r>
            <a:r>
              <a:rPr lang="en-US" altLang="zh-TW" dirty="0" smtClean="0"/>
              <a:t>tandby: core executes WFI instruction and state of SMU is active, D</a:t>
            </a:r>
            <a:r>
              <a:rPr lang="en-US" altLang="zh-TW" dirty="0" smtClean="0"/>
              <a:t>$ &amp; </a:t>
            </a:r>
            <a:r>
              <a:rPr lang="en-US" altLang="zh-TW" dirty="0" err="1" smtClean="0"/>
              <a:t>Dtag</a:t>
            </a:r>
            <a:r>
              <a:rPr lang="en-US" altLang="zh-TW" dirty="0" smtClean="0"/>
              <a:t> </a:t>
            </a:r>
            <a:r>
              <a:rPr lang="en-US" altLang="zh-TW" dirty="0" smtClean="0"/>
              <a:t>are </a:t>
            </a:r>
            <a:r>
              <a:rPr lang="en-US" altLang="zh-TW" dirty="0" smtClean="0"/>
              <a:t>still active  </a:t>
            </a:r>
          </a:p>
          <a:p>
            <a:pPr marL="0" indent="0">
              <a:buNone/>
            </a:pPr>
            <a:endParaRPr lang="en-US" altLang="zh-TW" dirty="0" smtClean="0"/>
          </a:p>
          <a:p>
            <a:pPr marL="0" indent="0">
              <a:buNone/>
            </a:pP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6766254"/>
              </p:ext>
            </p:extLst>
          </p:nvPr>
        </p:nvGraphicFramePr>
        <p:xfrm>
          <a:off x="1043608" y="3717032"/>
          <a:ext cx="3456384" cy="18542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016224"/>
                <a:gridCol w="144016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err="1" smtClean="0"/>
                        <a:t>Pcs_sleep_req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0</a:t>
                      </a:r>
                      <a:endParaRPr lang="zh-TW" altLang="en-US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err="1" smtClean="0"/>
                        <a:t>Pcs_sleep_ok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0</a:t>
                      </a:r>
                      <a:endParaRPr lang="zh-TW" altLang="en-US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err="1" smtClean="0"/>
                        <a:t>Core_wfi_mode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1</a:t>
                      </a:r>
                      <a:endParaRPr lang="zh-TW" altLang="en-US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Pcs Status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Active</a:t>
                      </a:r>
                      <a:endParaRPr lang="zh-TW" altLang="en-US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Pcs</a:t>
                      </a:r>
                      <a:r>
                        <a:rPr lang="en-US" altLang="zh-TW" b="1" baseline="0" dirty="0" smtClean="0"/>
                        <a:t> sleep mode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x</a:t>
                      </a:r>
                      <a:endParaRPr lang="zh-TW" altLang="en-US" b="1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8523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Light Sleep Mode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/>
              <a:t>LightSleep</a:t>
            </a:r>
            <a:r>
              <a:rPr lang="en-US" altLang="zh-TW" dirty="0" smtClean="0"/>
              <a:t>: core execute WFI instruction and state of SMU is sleep, all circuit of core is not active </a:t>
            </a:r>
          </a:p>
          <a:p>
            <a:pPr marL="0" indent="0">
              <a:buNone/>
            </a:pP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1622110"/>
              </p:ext>
            </p:extLst>
          </p:nvPr>
        </p:nvGraphicFramePr>
        <p:xfrm>
          <a:off x="1043608" y="3717032"/>
          <a:ext cx="3456384" cy="18542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016224"/>
                <a:gridCol w="144016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err="1" smtClean="0"/>
                        <a:t>Pcs_sleep_req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1</a:t>
                      </a:r>
                      <a:endParaRPr lang="zh-TW" altLang="en-US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err="1" smtClean="0"/>
                        <a:t>Pcs_sleep_ok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1</a:t>
                      </a:r>
                      <a:endParaRPr lang="zh-TW" altLang="en-US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err="1" smtClean="0"/>
                        <a:t>Core_wfi_mode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1</a:t>
                      </a:r>
                      <a:endParaRPr lang="zh-TW" altLang="en-US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Pcs Status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Sleep</a:t>
                      </a:r>
                      <a:endParaRPr lang="zh-TW" altLang="en-US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Pcs  sleep mode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err="1" smtClean="0"/>
                        <a:t>Light</a:t>
                      </a:r>
                      <a:r>
                        <a:rPr lang="en-US" altLang="zh-TW" b="1" baseline="0" dirty="0" err="1" smtClean="0"/>
                        <a:t>Sleep</a:t>
                      </a:r>
                      <a:endParaRPr lang="zh-TW" altLang="en-US" b="1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5764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Light Sleep Mode</a:t>
            </a:r>
            <a:endParaRPr lang="zh-TW" altLang="en-US" dirty="0"/>
          </a:p>
        </p:txBody>
      </p:sp>
      <p:sp>
        <p:nvSpPr>
          <p:cNvPr id="5" name="矩形 4"/>
          <p:cNvSpPr/>
          <p:nvPr/>
        </p:nvSpPr>
        <p:spPr>
          <a:xfrm>
            <a:off x="1446336" y="1484784"/>
            <a:ext cx="6438032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en-US" altLang="zh-TW" sz="1100" dirty="0"/>
              <a:t>Get IPI</a:t>
            </a:r>
            <a:endParaRPr lang="zh-TW" altLang="zh-TW" sz="1100" dirty="0"/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en-US" altLang="zh-TW" sz="1100" dirty="0"/>
              <a:t>disable local interrupt to prevent from exiting </a:t>
            </a:r>
            <a:r>
              <a:rPr lang="en-US" altLang="zh-TW" sz="1100" dirty="0" err="1"/>
              <a:t>wfi</a:t>
            </a:r>
            <a:r>
              <a:rPr lang="en-US" altLang="zh-TW" sz="1100" dirty="0"/>
              <a:t> mode (or prevent from the interrupt)</a:t>
            </a:r>
          </a:p>
          <a:p>
            <a:pPr marL="628650" lvl="1" indent="-171450"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TW" sz="1100" dirty="0"/>
              <a:t> set </a:t>
            </a:r>
            <a:r>
              <a:rPr lang="en-US" altLang="zh-TW" sz="1100" dirty="0" err="1"/>
              <a:t>xtie</a:t>
            </a:r>
            <a:r>
              <a:rPr lang="en-US" altLang="zh-TW" sz="1100" dirty="0"/>
              <a:t>/</a:t>
            </a:r>
            <a:r>
              <a:rPr lang="en-US" altLang="zh-TW" sz="1100" dirty="0" err="1"/>
              <a:t>xeie</a:t>
            </a:r>
            <a:r>
              <a:rPr lang="en-US" altLang="zh-TW" sz="1100" dirty="0"/>
              <a:t> as 0 and set </a:t>
            </a:r>
            <a:r>
              <a:rPr lang="en-US" altLang="zh-TW" sz="1100" dirty="0" err="1"/>
              <a:t>xsie</a:t>
            </a:r>
            <a:r>
              <a:rPr lang="en-US" altLang="zh-TW" sz="1100" dirty="0"/>
              <a:t> as 1</a:t>
            </a:r>
            <a:endParaRPr lang="zh-TW" altLang="zh-TW" sz="1100" dirty="0"/>
          </a:p>
          <a:p>
            <a:pPr marL="628650" lvl="1" indent="-171450"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TW" sz="1100" dirty="0"/>
              <a:t>set </a:t>
            </a:r>
            <a:r>
              <a:rPr lang="en-US" altLang="zh-TW" sz="1100" dirty="0" err="1"/>
              <a:t>meie</a:t>
            </a:r>
            <a:r>
              <a:rPr lang="en-US" altLang="zh-TW" sz="1100" dirty="0"/>
              <a:t>/</a:t>
            </a:r>
            <a:r>
              <a:rPr lang="en-US" altLang="zh-TW" sz="1100" dirty="0" err="1"/>
              <a:t>mtie</a:t>
            </a:r>
            <a:r>
              <a:rPr lang="en-US" altLang="zh-TW" sz="1100" dirty="0"/>
              <a:t> as 0 and set </a:t>
            </a:r>
            <a:r>
              <a:rPr lang="en-US" altLang="zh-TW" sz="1100" dirty="0" err="1"/>
              <a:t>msie</a:t>
            </a:r>
            <a:r>
              <a:rPr lang="en-US" altLang="zh-TW" sz="1100" dirty="0"/>
              <a:t> as 1, if </a:t>
            </a:r>
            <a:r>
              <a:rPr lang="en-US" altLang="zh-TW" sz="1100" dirty="0" err="1"/>
              <a:t>wfi</a:t>
            </a:r>
            <a:r>
              <a:rPr lang="en-US" altLang="zh-TW" sz="1100" dirty="0"/>
              <a:t> executes in S mode</a:t>
            </a:r>
            <a:endParaRPr lang="zh-TW" altLang="zh-TW" sz="1100" dirty="0"/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en-US" altLang="zh-TW" sz="1100" dirty="0"/>
              <a:t>to prevent from dirty </a:t>
            </a:r>
            <a:r>
              <a:rPr lang="en-US" altLang="zh-TW" sz="1100" dirty="0" err="1"/>
              <a:t>dcache</a:t>
            </a:r>
            <a:endParaRPr lang="zh-TW" altLang="zh-TW" sz="1100" dirty="0"/>
          </a:p>
          <a:p>
            <a:pPr marL="628650" lvl="1" indent="-171450"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TW" sz="1100" dirty="0"/>
              <a:t> </a:t>
            </a:r>
            <a:r>
              <a:rPr lang="en-US" altLang="zh-TW" sz="1100" dirty="0" err="1"/>
              <a:t>xstatus.xie</a:t>
            </a:r>
            <a:r>
              <a:rPr lang="en-US" altLang="zh-TW" sz="1100" dirty="0"/>
              <a:t>=0</a:t>
            </a:r>
            <a:endParaRPr lang="zh-TW" altLang="zh-TW" sz="1100" dirty="0"/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en-US" altLang="zh-TW" sz="1100" dirty="0"/>
              <a:t>set SMU wakeup enable &amp; MISC control</a:t>
            </a:r>
            <a:endParaRPr lang="zh-TW" altLang="zh-TW" sz="1100" dirty="0"/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en-US" altLang="zh-TW" sz="1100" dirty="0"/>
              <a:t>set SMU light sleep </a:t>
            </a:r>
            <a:r>
              <a:rPr lang="en-US" altLang="zh-TW" sz="1100" dirty="0" smtClean="0"/>
              <a:t>command   </a:t>
            </a:r>
            <a:r>
              <a:rPr lang="en-US" altLang="zh-TW" sz="1100" b="1" dirty="0" smtClean="0">
                <a:solidFill>
                  <a:srgbClr val="FF0000"/>
                </a:solidFill>
                <a:sym typeface="Wingdings" pitchFamily="2" charset="2"/>
              </a:rPr>
              <a:t> </a:t>
            </a:r>
            <a:r>
              <a:rPr lang="en-US" altLang="zh-TW" sz="1100" b="1" dirty="0" err="1" smtClean="0">
                <a:solidFill>
                  <a:srgbClr val="FF0000"/>
                </a:solidFill>
                <a:sym typeface="Wingdings" pitchFamily="2" charset="2"/>
              </a:rPr>
              <a:t>sleep_req</a:t>
            </a:r>
            <a:r>
              <a:rPr lang="en-US" altLang="zh-TW" sz="1100" b="1" dirty="0" smtClean="0">
                <a:solidFill>
                  <a:srgbClr val="FF0000"/>
                </a:solidFill>
                <a:sym typeface="Wingdings" pitchFamily="2" charset="2"/>
              </a:rPr>
              <a:t> asserted </a:t>
            </a:r>
            <a:r>
              <a:rPr lang="en-US" altLang="zh-TW" sz="1100" dirty="0" smtClean="0">
                <a:sym typeface="Wingdings" pitchFamily="2" charset="2"/>
              </a:rPr>
              <a:t> </a:t>
            </a:r>
            <a:endParaRPr lang="zh-TW" altLang="zh-TW" sz="1100" dirty="0"/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en-US" altLang="zh-TW" sz="1100" dirty="0"/>
              <a:t>to let DMA/MAC access memory correctly for snoop</a:t>
            </a:r>
            <a:endParaRPr lang="zh-TW" altLang="zh-TW" sz="1100" dirty="0"/>
          </a:p>
          <a:p>
            <a:pPr marL="628650" lvl="1" indent="-171450"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TW" sz="1100" dirty="0"/>
              <a:t>flush </a:t>
            </a:r>
            <a:r>
              <a:rPr lang="en-US" altLang="zh-TW" sz="1100" dirty="0" err="1"/>
              <a:t>dcache</a:t>
            </a:r>
            <a:r>
              <a:rPr lang="en-US" altLang="zh-TW" sz="1100" dirty="0"/>
              <a:t> (CCTL)</a:t>
            </a:r>
            <a:endParaRPr lang="zh-TW" altLang="zh-TW" sz="1100" dirty="0"/>
          </a:p>
          <a:p>
            <a:pPr marL="628650" lvl="1" indent="-171450">
              <a:spcAft>
                <a:spcPts val="0"/>
              </a:spcAft>
              <a:buFont typeface="Arial" pitchFamily="34" charset="0"/>
              <a:buChar char="•"/>
            </a:pPr>
            <a:r>
              <a:rPr lang="en-US" altLang="zh-TW" sz="1100" dirty="0"/>
              <a:t> </a:t>
            </a:r>
            <a:r>
              <a:rPr lang="en-US" altLang="zh-TW" sz="1100" dirty="0" err="1"/>
              <a:t>dcache</a:t>
            </a:r>
            <a:r>
              <a:rPr lang="en-US" altLang="zh-TW" sz="1100" dirty="0"/>
              <a:t> off</a:t>
            </a:r>
            <a:endParaRPr lang="zh-TW" altLang="zh-TW" sz="1100" dirty="0"/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en-US" altLang="zh-TW" sz="1100" dirty="0" err="1" smtClean="0"/>
              <a:t>wfi</a:t>
            </a:r>
            <a:r>
              <a:rPr lang="en-US" altLang="zh-TW" sz="1100" b="1" dirty="0" smtClean="0">
                <a:solidFill>
                  <a:srgbClr val="FF0000"/>
                </a:solidFill>
              </a:rPr>
              <a:t> </a:t>
            </a:r>
            <a:r>
              <a:rPr lang="en-US" altLang="zh-TW" sz="1100" b="1" dirty="0" smtClean="0">
                <a:solidFill>
                  <a:srgbClr val="FF0000"/>
                </a:solidFill>
                <a:sym typeface="Wingdings" pitchFamily="2" charset="2"/>
              </a:rPr>
              <a:t> l2 stop send snoop request to core &amp; wait all snoop response returned, than </a:t>
            </a:r>
            <a:r>
              <a:rPr lang="en-US" altLang="zh-TW" sz="1100" b="1" dirty="0" err="1" smtClean="0">
                <a:solidFill>
                  <a:srgbClr val="FF0000"/>
                </a:solidFill>
                <a:sym typeface="Wingdings" pitchFamily="2" charset="2"/>
              </a:rPr>
              <a:t>sleep_ok</a:t>
            </a:r>
            <a:r>
              <a:rPr lang="en-US" altLang="zh-TW" sz="1100" b="1" dirty="0" smtClean="0">
                <a:solidFill>
                  <a:srgbClr val="FF0000"/>
                </a:solidFill>
                <a:sym typeface="Wingdings" pitchFamily="2" charset="2"/>
              </a:rPr>
              <a:t> asserted</a:t>
            </a:r>
            <a:r>
              <a:rPr lang="en-US" altLang="zh-TW" sz="1100" b="1" dirty="0">
                <a:solidFill>
                  <a:srgbClr val="FF0000"/>
                </a:solidFill>
                <a:sym typeface="Wingdings" pitchFamily="2" charset="2"/>
              </a:rPr>
              <a:t>.</a:t>
            </a:r>
            <a:endParaRPr lang="zh-TW" altLang="zh-TW" sz="11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2136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Light Sleep Mode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2411760" y="1610544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b="1" dirty="0">
                <a:solidFill>
                  <a:srgbClr val="FF0000"/>
                </a:solidFill>
              </a:rPr>
              <a:t>1</a:t>
            </a:r>
            <a:endParaRPr lang="zh-TW" altLang="en-US" sz="1400" b="1" dirty="0">
              <a:solidFill>
                <a:srgbClr val="FF0000"/>
              </a:solidFill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2355710"/>
              </p:ext>
            </p:extLst>
          </p:nvPr>
        </p:nvGraphicFramePr>
        <p:xfrm>
          <a:off x="1080120" y="3613543"/>
          <a:ext cx="6876257" cy="2846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616"/>
                <a:gridCol w="1916286"/>
                <a:gridCol w="3844355"/>
              </a:tblGrid>
              <a:tr h="298671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Step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Signal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Condition</a:t>
                      </a:r>
                      <a:endParaRPr lang="zh-TW" altLang="en-US" sz="1200" dirty="0"/>
                    </a:p>
                  </a:txBody>
                  <a:tcPr/>
                </a:tc>
              </a:tr>
              <a:tr h="298671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0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err="1" smtClean="0"/>
                        <a:t>rdy_for_snoop</a:t>
                      </a:r>
                      <a:r>
                        <a:rPr lang="en-US" altLang="zh-TW" sz="1200" dirty="0" smtClean="0"/>
                        <a:t> assert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D$ &amp; </a:t>
                      </a:r>
                      <a:r>
                        <a:rPr lang="en-US" altLang="zh-TW" sz="1200" dirty="0" err="1" smtClean="0"/>
                        <a:t>Dtag</a:t>
                      </a:r>
                      <a:r>
                        <a:rPr lang="en-US" altLang="zh-TW" sz="1200" dirty="0" smtClean="0"/>
                        <a:t> </a:t>
                      </a:r>
                      <a:r>
                        <a:rPr lang="en-US" altLang="zh-TW" sz="1200" dirty="0" err="1" smtClean="0"/>
                        <a:t>initail</a:t>
                      </a:r>
                      <a:r>
                        <a:rPr lang="en-US" altLang="zh-TW" sz="1200" dirty="0" smtClean="0"/>
                        <a:t> done</a:t>
                      </a:r>
                      <a:endParaRPr lang="zh-TW" altLang="en-US" sz="1200" dirty="0"/>
                    </a:p>
                  </a:txBody>
                  <a:tcPr/>
                </a:tc>
              </a:tr>
              <a:tr h="298671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1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err="1" smtClean="0"/>
                        <a:t>Smpen</a:t>
                      </a:r>
                      <a:r>
                        <a:rPr lang="en-US" altLang="zh-TW" sz="1200" dirty="0" smtClean="0"/>
                        <a:t> </a:t>
                      </a:r>
                      <a:r>
                        <a:rPr lang="en-US" altLang="zh-TW" sz="1200" dirty="0" err="1" smtClean="0"/>
                        <a:t>asserrt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(</a:t>
                      </a:r>
                      <a:r>
                        <a:rPr lang="en-US" altLang="zh-TW" sz="1200" dirty="0" err="1" smtClean="0"/>
                        <a:t>rdy_snoop</a:t>
                      </a:r>
                      <a:r>
                        <a:rPr lang="en-US" altLang="zh-TW" sz="1200" dirty="0" smtClean="0"/>
                        <a:t> =1) &amp; ~(</a:t>
                      </a:r>
                      <a:r>
                        <a:rPr lang="en-US" altLang="zh-TW" sz="1200" dirty="0" err="1" smtClean="0"/>
                        <a:t>sleep_req</a:t>
                      </a:r>
                      <a:r>
                        <a:rPr lang="en-US" altLang="zh-TW" sz="1200" baseline="0" dirty="0" smtClean="0"/>
                        <a:t> &amp; </a:t>
                      </a:r>
                      <a:r>
                        <a:rPr lang="en-US" altLang="zh-TW" sz="1200" baseline="0" dirty="0" err="1" smtClean="0"/>
                        <a:t>wfi</a:t>
                      </a:r>
                      <a:r>
                        <a:rPr lang="en-US" altLang="zh-TW" sz="1200" dirty="0" smtClean="0"/>
                        <a:t>)</a:t>
                      </a:r>
                      <a:endParaRPr lang="zh-TW" altLang="en-US" sz="1200" dirty="0"/>
                    </a:p>
                  </a:txBody>
                  <a:tcPr/>
                </a:tc>
              </a:tr>
              <a:tr h="298671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2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err="1" smtClean="0"/>
                        <a:t>Sleep_req</a:t>
                      </a:r>
                      <a:r>
                        <a:rPr lang="en-US" altLang="zh-TW" sz="1200" dirty="0" smtClean="0"/>
                        <a:t> assert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Set SMU light sleep command</a:t>
                      </a:r>
                      <a:endParaRPr lang="zh-TW" altLang="en-US" sz="1200" dirty="0"/>
                    </a:p>
                  </a:txBody>
                  <a:tcPr/>
                </a:tc>
              </a:tr>
              <a:tr h="298671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3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err="1" smtClean="0"/>
                        <a:t>core_wfi_mode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Core </a:t>
                      </a:r>
                      <a:r>
                        <a:rPr lang="en-US" altLang="zh-TW" sz="1200" dirty="0" smtClean="0"/>
                        <a:t>executes WFI instruction &amp; all bus request is done</a:t>
                      </a:r>
                      <a:endParaRPr lang="zh-TW" altLang="en-US" sz="1200" dirty="0"/>
                    </a:p>
                  </a:txBody>
                  <a:tcPr/>
                </a:tc>
              </a:tr>
              <a:tr h="29867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 smtClean="0"/>
                        <a:t>4</a:t>
                      </a:r>
                      <a:endParaRPr lang="zh-TW" altLang="en-US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 err="1" smtClean="0"/>
                        <a:t>Smpen</a:t>
                      </a:r>
                      <a:r>
                        <a:rPr lang="en-US" altLang="zh-TW" sz="1200" dirty="0" smtClean="0"/>
                        <a:t> </a:t>
                      </a:r>
                      <a:r>
                        <a:rPr lang="en-US" altLang="zh-TW" sz="1200" dirty="0" err="1" smtClean="0"/>
                        <a:t>deasserrt</a:t>
                      </a:r>
                      <a:endParaRPr lang="zh-TW" altLang="en-US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dirty="0" err="1" smtClean="0"/>
                        <a:t>sleep_req</a:t>
                      </a:r>
                      <a:r>
                        <a:rPr lang="en-US" altLang="zh-TW" sz="1200" baseline="0" dirty="0" smtClean="0"/>
                        <a:t> &amp; </a:t>
                      </a:r>
                      <a:r>
                        <a:rPr lang="en-US" altLang="zh-TW" sz="1200" baseline="0" dirty="0" err="1" smtClean="0"/>
                        <a:t>wfi</a:t>
                      </a:r>
                      <a:endParaRPr lang="zh-TW" altLang="en-US" sz="1200" dirty="0" smtClean="0"/>
                    </a:p>
                  </a:txBody>
                  <a:tcPr/>
                </a:tc>
              </a:tr>
              <a:tr h="368224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5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err="1" smtClean="0"/>
                        <a:t>Sleep_ok</a:t>
                      </a:r>
                      <a:r>
                        <a:rPr lang="en-US" altLang="zh-TW" sz="1200" dirty="0" smtClean="0"/>
                        <a:t> assert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err="1" smtClean="0"/>
                        <a:t>Core_wfi</a:t>
                      </a:r>
                      <a:r>
                        <a:rPr lang="en-US" altLang="zh-TW" sz="1200" baseline="0" dirty="0" err="1" smtClean="0"/>
                        <a:t>_mode</a:t>
                      </a:r>
                      <a:r>
                        <a:rPr lang="en-US" altLang="zh-TW" sz="1200" baseline="0" dirty="0" smtClean="0"/>
                        <a:t> </a:t>
                      </a:r>
                      <a:r>
                        <a:rPr lang="en-US" altLang="zh-TW" sz="1200" baseline="0" dirty="0" smtClean="0"/>
                        <a:t>=1 &amp; </a:t>
                      </a:r>
                      <a:r>
                        <a:rPr lang="en-US" altLang="zh-TW" sz="1200" baseline="0" dirty="0" err="1" smtClean="0"/>
                        <a:t>sleep_req</a:t>
                      </a:r>
                      <a:r>
                        <a:rPr lang="en-US" altLang="zh-TW" sz="1200" baseline="0" dirty="0" smtClean="0"/>
                        <a:t>=1 </a:t>
                      </a:r>
                      <a:r>
                        <a:rPr lang="en-US" altLang="zh-TW" sz="1200" baseline="0" dirty="0" smtClean="0"/>
                        <a:t>&amp; all </a:t>
                      </a:r>
                      <a:r>
                        <a:rPr lang="en-US" altLang="zh-TW" sz="1200" baseline="0" dirty="0" err="1" smtClean="0"/>
                        <a:t>srresp</a:t>
                      </a:r>
                      <a:r>
                        <a:rPr lang="en-US" altLang="zh-TW" sz="1200" baseline="0" dirty="0" smtClean="0"/>
                        <a:t> has been returned</a:t>
                      </a:r>
                      <a:endParaRPr lang="zh-TW" altLang="en-US" sz="1200" dirty="0"/>
                    </a:p>
                  </a:txBody>
                  <a:tcPr/>
                </a:tc>
              </a:tr>
              <a:tr h="298671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6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err="1" smtClean="0"/>
                        <a:t>Ipi</a:t>
                      </a:r>
                      <a:r>
                        <a:rPr lang="en-US" altLang="zh-TW" sz="1200" dirty="0" smtClean="0"/>
                        <a:t> assert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Inter process</a:t>
                      </a:r>
                      <a:r>
                        <a:rPr lang="en-US" altLang="zh-TW" sz="1200" baseline="0" dirty="0" smtClean="0"/>
                        <a:t> interrupt to wakeup core</a:t>
                      </a:r>
                      <a:endParaRPr lang="zh-TW" altLang="en-US" sz="1200" dirty="0"/>
                    </a:p>
                  </a:txBody>
                  <a:tcPr/>
                </a:tc>
              </a:tr>
              <a:tr h="298671">
                <a:tc>
                  <a:txBody>
                    <a:bodyPr/>
                    <a:lstStyle/>
                    <a:p>
                      <a:r>
                        <a:rPr lang="en-US" altLang="zh-TW" sz="1200" dirty="0" smtClean="0"/>
                        <a:t>7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err="1" smtClean="0"/>
                        <a:t>Sleep_o</a:t>
                      </a:r>
                      <a:r>
                        <a:rPr lang="en-US" altLang="zh-TW" sz="1200" baseline="0" dirty="0" err="1" smtClean="0"/>
                        <a:t>k</a:t>
                      </a:r>
                      <a:r>
                        <a:rPr lang="en-US" altLang="zh-TW" sz="1200" baseline="0" dirty="0" smtClean="0"/>
                        <a:t> </a:t>
                      </a:r>
                      <a:r>
                        <a:rPr lang="en-US" altLang="zh-TW" sz="1200" baseline="0" dirty="0" err="1" smtClean="0"/>
                        <a:t>deassert</a:t>
                      </a:r>
                      <a:endParaRPr lang="zh-TW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200" dirty="0" err="1" smtClean="0"/>
                        <a:t>Sleep_req</a:t>
                      </a:r>
                      <a:r>
                        <a:rPr lang="en-US" altLang="zh-TW" sz="1200" dirty="0" smtClean="0"/>
                        <a:t> is </a:t>
                      </a:r>
                      <a:r>
                        <a:rPr lang="en-US" altLang="zh-TW" sz="1200" dirty="0" err="1" smtClean="0"/>
                        <a:t>deassert</a:t>
                      </a:r>
                      <a:endParaRPr lang="zh-TW" altLang="en-US" sz="12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5" name="圖片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496" y="908720"/>
            <a:ext cx="9144000" cy="2286000"/>
          </a:xfrm>
          <a:prstGeom prst="rect">
            <a:avLst/>
          </a:prstGeom>
        </p:spPr>
      </p:pic>
      <p:sp>
        <p:nvSpPr>
          <p:cNvPr id="16" name="文字方塊 15"/>
          <p:cNvSpPr txBox="1"/>
          <p:nvPr/>
        </p:nvSpPr>
        <p:spPr>
          <a:xfrm>
            <a:off x="3131840" y="1878831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b="1" dirty="0" smtClean="0">
                <a:solidFill>
                  <a:srgbClr val="FF0000"/>
                </a:solidFill>
              </a:rPr>
              <a:t>3</a:t>
            </a:r>
            <a:endParaRPr lang="zh-TW" altLang="en-US" sz="1400" b="1" dirty="0">
              <a:solidFill>
                <a:srgbClr val="FF0000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2726482" y="2359819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b="1" dirty="0" smtClean="0">
                <a:solidFill>
                  <a:srgbClr val="FF0000"/>
                </a:solidFill>
              </a:rPr>
              <a:t>2</a:t>
            </a:r>
            <a:endParaRPr lang="zh-TW" altLang="en-US" sz="1400" b="1" dirty="0">
              <a:solidFill>
                <a:srgbClr val="FF0000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4139952" y="2114600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b="1" dirty="0" smtClean="0">
                <a:solidFill>
                  <a:srgbClr val="FF0000"/>
                </a:solidFill>
              </a:rPr>
              <a:t>4</a:t>
            </a:r>
            <a:endParaRPr lang="zh-TW" altLang="en-US" sz="1400" b="1" dirty="0">
              <a:solidFill>
                <a:srgbClr val="FF000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4737348" y="2402632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b="1" dirty="0" smtClean="0">
                <a:solidFill>
                  <a:srgbClr val="FF0000"/>
                </a:solidFill>
              </a:rPr>
              <a:t>5</a:t>
            </a:r>
            <a:endParaRPr lang="zh-TW" altLang="en-US" sz="1400" b="1" dirty="0">
              <a:solidFill>
                <a:srgbClr val="FF0000"/>
              </a:solidFill>
            </a:endParaRPr>
          </a:p>
        </p:txBody>
      </p:sp>
      <p:sp>
        <p:nvSpPr>
          <p:cNvPr id="20" name="文字方塊 19"/>
          <p:cNvSpPr txBox="1"/>
          <p:nvPr/>
        </p:nvSpPr>
        <p:spPr>
          <a:xfrm>
            <a:off x="4860032" y="2653854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b="1" dirty="0" smtClean="0">
                <a:solidFill>
                  <a:srgbClr val="FF0000"/>
                </a:solidFill>
              </a:rPr>
              <a:t>6</a:t>
            </a:r>
            <a:endParaRPr lang="zh-TW" altLang="en-US" sz="1400" b="1" dirty="0">
              <a:solidFill>
                <a:srgbClr val="FF0000"/>
              </a:solidFill>
            </a:endParaRPr>
          </a:p>
        </p:txBody>
      </p:sp>
      <p:sp>
        <p:nvSpPr>
          <p:cNvPr id="21" name="文字方塊 20"/>
          <p:cNvSpPr txBox="1"/>
          <p:nvPr/>
        </p:nvSpPr>
        <p:spPr>
          <a:xfrm>
            <a:off x="6228184" y="2886943"/>
            <a:ext cx="2880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b="1" dirty="0" smtClean="0">
                <a:solidFill>
                  <a:srgbClr val="FF0000"/>
                </a:solidFill>
              </a:rPr>
              <a:t>7</a:t>
            </a:r>
            <a:endParaRPr lang="zh-TW" altLang="en-US" sz="1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57861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Deep Sleep Mode</a:t>
            </a:r>
            <a:endParaRPr lang="zh-TW" altLang="en-US" dirty="0"/>
          </a:p>
        </p:txBody>
      </p:sp>
      <p:sp>
        <p:nvSpPr>
          <p:cNvPr id="4" name="內容版面配置區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/>
              <a:t>DeepSleep</a:t>
            </a:r>
            <a:r>
              <a:rPr lang="en-US" altLang="zh-TW" dirty="0" smtClean="0"/>
              <a:t>: core execute WFI instruction and state of SMU is sleep, all circuit of core is </a:t>
            </a:r>
            <a:r>
              <a:rPr lang="en-US" altLang="zh-TW" dirty="0" smtClean="0"/>
              <a:t>power off</a:t>
            </a:r>
            <a:endParaRPr lang="en-US" altLang="zh-TW" dirty="0" smtClean="0"/>
          </a:p>
          <a:p>
            <a:pPr marL="0" indent="0">
              <a:buNone/>
            </a:pP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5590301"/>
              </p:ext>
            </p:extLst>
          </p:nvPr>
        </p:nvGraphicFramePr>
        <p:xfrm>
          <a:off x="1043608" y="3717032"/>
          <a:ext cx="3456384" cy="18542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2016224"/>
                <a:gridCol w="144016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err="1" smtClean="0"/>
                        <a:t>Pcs_sleep_req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1</a:t>
                      </a:r>
                      <a:endParaRPr lang="zh-TW" altLang="en-US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err="1" smtClean="0"/>
                        <a:t>Pcs_sleep_ok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1</a:t>
                      </a:r>
                      <a:endParaRPr lang="zh-TW" altLang="en-US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err="1" smtClean="0"/>
                        <a:t>Core_wfi_mode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1</a:t>
                      </a:r>
                      <a:endParaRPr lang="zh-TW" altLang="en-US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Pcs Status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smtClean="0"/>
                        <a:t>Sleep</a:t>
                      </a:r>
                      <a:endParaRPr lang="zh-TW" altLang="en-US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Pcs  sleep mode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b="1" dirty="0" err="1" smtClean="0"/>
                        <a:t>Deep</a:t>
                      </a:r>
                      <a:r>
                        <a:rPr lang="en-US" altLang="zh-TW" b="1" baseline="0" dirty="0" err="1" smtClean="0"/>
                        <a:t>Sleep</a:t>
                      </a:r>
                      <a:endParaRPr lang="zh-TW" altLang="en-US" b="1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99781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Atomic Acces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Atomic Access</Template>
  <TotalTime>11082</TotalTime>
  <Words>420</Words>
  <Application>Microsoft Office PowerPoint</Application>
  <PresentationFormat>如螢幕大小 (4:3)</PresentationFormat>
  <Paragraphs>150</Paragraphs>
  <Slides>10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1" baseType="lpstr">
      <vt:lpstr>Atomic Access</vt:lpstr>
      <vt:lpstr> MP Low Power Flow</vt:lpstr>
      <vt:lpstr>MP System</vt:lpstr>
      <vt:lpstr>Low Power Signals</vt:lpstr>
      <vt:lpstr>Core Low Power Mode</vt:lpstr>
      <vt:lpstr>Power Mode</vt:lpstr>
      <vt:lpstr>Standby Mode</vt:lpstr>
      <vt:lpstr>Light Sleep Mode</vt:lpstr>
      <vt:lpstr>Light Sleep Mode</vt:lpstr>
      <vt:lpstr>Light Sleep Mode</vt:lpstr>
      <vt:lpstr>Deep Sleep Mode</vt:lpstr>
    </vt:vector>
  </TitlesOfParts>
  <Company>Andes Technology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Mpcore Low power</dc:title>
  <dc:creator>Jimmy Chun-Min Huang(黃軍閔)</dc:creator>
  <cp:lastModifiedBy>Jimmy Chun-Min Huang(黃軍閔)</cp:lastModifiedBy>
  <cp:revision>54</cp:revision>
  <dcterms:created xsi:type="dcterms:W3CDTF">2019-04-23T02:19:51Z</dcterms:created>
  <dcterms:modified xsi:type="dcterms:W3CDTF">2019-05-29T03:40:35Z</dcterms:modified>
</cp:coreProperties>
</file>