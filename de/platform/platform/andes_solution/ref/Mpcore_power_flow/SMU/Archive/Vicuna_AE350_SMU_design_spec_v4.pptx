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8"/>
  </p:notesMasterIdLst>
  <p:handoutMasterIdLst>
    <p:handoutMasterId r:id="rId39"/>
  </p:handoutMasterIdLst>
  <p:sldIdLst>
    <p:sldId id="525" r:id="rId2"/>
    <p:sldId id="984" r:id="rId3"/>
    <p:sldId id="1000" r:id="rId4"/>
    <p:sldId id="1023" r:id="rId5"/>
    <p:sldId id="998" r:id="rId6"/>
    <p:sldId id="986" r:id="rId7"/>
    <p:sldId id="1026" r:id="rId8"/>
    <p:sldId id="1015" r:id="rId9"/>
    <p:sldId id="1024" r:id="rId10"/>
    <p:sldId id="1003" r:id="rId11"/>
    <p:sldId id="1004" r:id="rId12"/>
    <p:sldId id="1011" r:id="rId13"/>
    <p:sldId id="1022" r:id="rId14"/>
    <p:sldId id="1007" r:id="rId15"/>
    <p:sldId id="988" r:id="rId16"/>
    <p:sldId id="1012" r:id="rId17"/>
    <p:sldId id="989" r:id="rId18"/>
    <p:sldId id="1019" r:id="rId19"/>
    <p:sldId id="994" r:id="rId20"/>
    <p:sldId id="1017" r:id="rId21"/>
    <p:sldId id="995" r:id="rId22"/>
    <p:sldId id="1025" r:id="rId23"/>
    <p:sldId id="1020" r:id="rId24"/>
    <p:sldId id="1008" r:id="rId25"/>
    <p:sldId id="1027" r:id="rId26"/>
    <p:sldId id="1013" r:id="rId27"/>
    <p:sldId id="1014" r:id="rId28"/>
    <p:sldId id="1016" r:id="rId29"/>
    <p:sldId id="1029" r:id="rId30"/>
    <p:sldId id="1021" r:id="rId31"/>
    <p:sldId id="1009" r:id="rId32"/>
    <p:sldId id="997" r:id="rId33"/>
    <p:sldId id="1028" r:id="rId34"/>
    <p:sldId id="1030" r:id="rId35"/>
    <p:sldId id="1031" r:id="rId36"/>
    <p:sldId id="1010" r:id="rId37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9F090"/>
    <a:srgbClr val="8BFFA7"/>
    <a:srgbClr val="1C71A6"/>
    <a:srgbClr val="000066"/>
    <a:srgbClr val="FFF78F"/>
    <a:srgbClr val="78A4C7"/>
    <a:srgbClr val="AEC8DD"/>
    <a:srgbClr val="32AECB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6" autoAdjust="0"/>
    <p:restoredTop sz="88087" autoAdjust="0"/>
  </p:normalViewPr>
  <p:slideViewPr>
    <p:cSldViewPr snapToGrid="0">
      <p:cViewPr varScale="1">
        <p:scale>
          <a:sx n="102" d="100"/>
          <a:sy n="102" d="100"/>
        </p:scale>
        <p:origin x="-20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2019/3/11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SMU</a:t>
            </a:r>
            <a:r>
              <a:rPr lang="en-US" altLang="zh-TW" baseline="0" dirty="0" smtClean="0"/>
              <a:t> 5 channel : 1 DVFS , 4 Power Switch Clock Switch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4282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SMU address mapping=0xF0100000~0xF01FFFFF</a:t>
            </a:r>
            <a:endParaRPr lang="zh-TW" altLang="en-US" dirty="0" smtClean="0"/>
          </a:p>
          <a:p>
            <a:r>
              <a:rPr lang="en-US" altLang="zh-TW" dirty="0" smtClean="0"/>
              <a:t>Only</a:t>
            </a:r>
            <a:r>
              <a:rPr lang="en-US" altLang="zh-TW" baseline="0" dirty="0" smtClean="0"/>
              <a:t> one core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44902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PLIC:</a:t>
            </a:r>
          </a:p>
          <a:p>
            <a:r>
              <a:rPr lang="en-US" altLang="zh-TW" dirty="0" smtClean="0"/>
              <a:t>11268:assign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[1]  =  </a:t>
            </a:r>
            <a:r>
              <a:rPr lang="en-US" altLang="zh-TW" dirty="0" err="1" smtClean="0"/>
              <a:t>rtc_int_period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11269:assign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[2]  =  </a:t>
            </a:r>
            <a:r>
              <a:rPr lang="en-US" altLang="zh-TW" dirty="0" err="1" smtClean="0"/>
              <a:t>rtc_int_alarm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[3]  =  </a:t>
            </a:r>
            <a:r>
              <a:rPr lang="en-US" altLang="zh-TW" dirty="0" err="1" smtClean="0"/>
              <a:t>pit_intr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[4]  =  spi1_int;</a:t>
            </a:r>
          </a:p>
          <a:p>
            <a:r>
              <a:rPr lang="en-US" altLang="zh-TW" dirty="0" smtClean="0"/>
              <a:t>11272:assign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[5]  =  spi2_int;</a:t>
            </a:r>
          </a:p>
          <a:p>
            <a:r>
              <a:rPr lang="en-US" altLang="zh-TW" dirty="0" smtClean="0"/>
              <a:t>11273:assign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[6]  =  i2c_int;</a:t>
            </a:r>
          </a:p>
          <a:p>
            <a:r>
              <a:rPr lang="en-US" altLang="zh-TW" dirty="0" smtClean="0"/>
              <a:t>11274:assign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[7]  =  </a:t>
            </a:r>
            <a:r>
              <a:rPr lang="en-US" altLang="zh-TW" dirty="0" err="1" smtClean="0"/>
              <a:t>gpio_intr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[8]  =  uart1_int;</a:t>
            </a:r>
          </a:p>
          <a:p>
            <a:r>
              <a:rPr lang="en-US" altLang="zh-TW" dirty="0" smtClean="0"/>
              <a:t>11276:assign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[9]  =  uart2_int;</a:t>
            </a:r>
          </a:p>
          <a:p>
            <a:r>
              <a:rPr lang="en-US" altLang="zh-TW" dirty="0" smtClean="0"/>
              <a:t>11277:assign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[10] =  </a:t>
            </a:r>
            <a:r>
              <a:rPr lang="en-US" altLang="zh-TW" dirty="0" err="1" smtClean="0"/>
              <a:t>dma_int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11278:assign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[11] =  1'b0;</a:t>
            </a:r>
          </a:p>
          <a:p>
            <a:r>
              <a:rPr lang="en-US" altLang="zh-TW" dirty="0" smtClean="0"/>
              <a:t>11279:assign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[12] =  1'b0;</a:t>
            </a:r>
          </a:p>
          <a:p>
            <a:r>
              <a:rPr lang="en-US" altLang="zh-TW" dirty="0" smtClean="0"/>
              <a:t>11280:assign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[13] =  1'b0;</a:t>
            </a:r>
          </a:p>
          <a:p>
            <a:r>
              <a:rPr lang="en-US" altLang="zh-TW" dirty="0" smtClean="0"/>
              <a:t>11281:assign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[14] =  1'b0;</a:t>
            </a:r>
          </a:p>
          <a:p>
            <a:r>
              <a:rPr lang="en-US" altLang="zh-TW" dirty="0" smtClean="0"/>
              <a:t>11282:assign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[15] =  1'b0;</a:t>
            </a:r>
          </a:p>
          <a:p>
            <a:r>
              <a:rPr lang="en-US" altLang="zh-TW" dirty="0" smtClean="0"/>
              <a:t>11283:assign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[16] =  1'b0;</a:t>
            </a:r>
          </a:p>
          <a:p>
            <a:r>
              <a:rPr lang="en-US" altLang="zh-TW" dirty="0" smtClean="0"/>
              <a:t>11284:assign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[17] =  </a:t>
            </a:r>
            <a:r>
              <a:rPr lang="en-US" altLang="zh-TW" dirty="0" err="1" smtClean="0"/>
              <a:t>ssp_intr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[18] =  </a:t>
            </a:r>
            <a:r>
              <a:rPr lang="en-US" altLang="zh-TW" dirty="0" err="1" smtClean="0"/>
              <a:t>sdc_int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[19] =  </a:t>
            </a:r>
            <a:r>
              <a:rPr lang="en-US" altLang="zh-TW" dirty="0" err="1" smtClean="0"/>
              <a:t>mac_int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[20] =  </a:t>
            </a:r>
            <a:r>
              <a:rPr lang="en-US" altLang="zh-TW" dirty="0" err="1" smtClean="0"/>
              <a:t>lcd_intr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11288:assign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[21] =  1'b0;</a:t>
            </a:r>
          </a:p>
          <a:p>
            <a:r>
              <a:rPr lang="en-US" altLang="zh-TW" dirty="0" smtClean="0"/>
              <a:t>11289:assign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[22] =  1'b0;</a:t>
            </a:r>
          </a:p>
          <a:p>
            <a:r>
              <a:rPr lang="en-US" altLang="zh-TW" dirty="0" smtClean="0"/>
              <a:t>11290:assign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[23] =  1'b0;</a:t>
            </a:r>
          </a:p>
          <a:p>
            <a:r>
              <a:rPr lang="en-US" altLang="zh-TW" dirty="0" smtClean="0"/>
              <a:t>11291:assign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[24] =  1'b0;</a:t>
            </a:r>
          </a:p>
          <a:p>
            <a:r>
              <a:rPr lang="en-US" altLang="zh-TW" dirty="0" smtClean="0"/>
              <a:t>11292:assign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[25] =  1'b0;</a:t>
            </a:r>
          </a:p>
          <a:p>
            <a:r>
              <a:rPr lang="en-US" altLang="zh-TW" dirty="0" smtClean="0"/>
              <a:t>11293:assign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[26] =  smu2core_standby_req;</a:t>
            </a:r>
          </a:p>
          <a:p>
            <a:r>
              <a:rPr lang="en-US" altLang="zh-TW" dirty="0" smtClean="0"/>
              <a:t>11294:assign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[27] =  smu2core_wakeup_ok;</a:t>
            </a:r>
          </a:p>
          <a:p>
            <a:r>
              <a:rPr lang="en-US" altLang="zh-TW" dirty="0" smtClean="0"/>
              <a:t>11295:assign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[28] =  1'b0;</a:t>
            </a:r>
          </a:p>
          <a:p>
            <a:r>
              <a:rPr lang="en-US" altLang="zh-TW" dirty="0" smtClean="0"/>
              <a:t>11296:assign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[29] =  1'b0;</a:t>
            </a:r>
          </a:p>
          <a:p>
            <a:r>
              <a:rPr lang="en-US" altLang="zh-TW" dirty="0" smtClean="0"/>
              <a:t>11297:assign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[30] =  1'b0;</a:t>
            </a:r>
          </a:p>
          <a:p>
            <a:r>
              <a:rPr lang="en-US" altLang="zh-TW" dirty="0" smtClean="0"/>
              <a:t>11298:assign </a:t>
            </a:r>
            <a:r>
              <a:rPr lang="en-US" altLang="zh-TW" dirty="0" err="1" smtClean="0"/>
              <a:t>int_src</a:t>
            </a:r>
            <a:r>
              <a:rPr lang="en-US" altLang="zh-TW" dirty="0" smtClean="0"/>
              <a:t>[31] =  1'b0;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4635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Power</a:t>
            </a:r>
            <a:r>
              <a:rPr lang="en-US" altLang="zh-TW" baseline="0" dirty="0" smtClean="0"/>
              <a:t> switch may be in power domain.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4885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19183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Assert</a:t>
            </a:r>
            <a:r>
              <a:rPr lang="en-US" altLang="zh-TW" baseline="0" dirty="0" smtClean="0"/>
              <a:t> SMU interrupt without command for DVFS only</a:t>
            </a:r>
          </a:p>
          <a:p>
            <a:r>
              <a:rPr lang="en-US" altLang="zh-TW" baseline="0" dirty="0" smtClean="0"/>
              <a:t>DVFS channel has high clock priority to other channels</a:t>
            </a:r>
          </a:p>
          <a:p>
            <a:endParaRPr lang="en-US" altLang="zh-TW" baseline="0" dirty="0" smtClean="0"/>
          </a:p>
          <a:p>
            <a:r>
              <a:rPr lang="en-US" altLang="zh-TW" baseline="0" dirty="0" smtClean="0"/>
              <a:t>*Osban review L2C email</a:t>
            </a:r>
          </a:p>
          <a:p>
            <a:r>
              <a:rPr lang="en-US" altLang="zh-TW" baseline="0" dirty="0" smtClean="0"/>
              <a:t>*SMU interrupt is claimed by only one core in PLIC.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77525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Vicuna AE350 SMU Design </a:t>
            </a:r>
            <a:r>
              <a:rPr lang="en-US" altLang="zh-TW" sz="4400" dirty="0">
                <a:solidFill>
                  <a:srgbClr val="333333"/>
                </a:solidFill>
                <a:ea typeface="新細明體" charset="-120"/>
              </a:rPr>
              <a:t>S</a:t>
            </a: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pecification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Ellis Chen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2019-03-11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Feature of </a:t>
            </a:r>
            <a:r>
              <a:rPr lang="en-US" altLang="zh-TW" sz="2400" dirty="0" smtClean="0"/>
              <a:t>ae350_smu_pd</a:t>
            </a:r>
          </a:p>
          <a:p>
            <a:r>
              <a:rPr lang="en-US" altLang="zh-TW" sz="2400" dirty="0" smtClean="0"/>
              <a:t>ae350_rstgen</a:t>
            </a:r>
          </a:p>
          <a:p>
            <a:pPr lvl="1"/>
            <a:r>
              <a:rPr lang="en-US" altLang="zh-TW" sz="2000" dirty="0" smtClean="0"/>
              <a:t>Add path for reset core 0</a:t>
            </a:r>
          </a:p>
          <a:p>
            <a:r>
              <a:rPr lang="en-US" altLang="zh-TW" sz="2400" dirty="0" smtClean="0"/>
              <a:t>ae350_smu</a:t>
            </a:r>
          </a:p>
          <a:p>
            <a:pPr lvl="1"/>
            <a:r>
              <a:rPr lang="en-US" altLang="zh-TW" sz="2000" dirty="0" smtClean="0"/>
              <a:t>Old/New hierarchy block diagram</a:t>
            </a:r>
          </a:p>
          <a:p>
            <a:r>
              <a:rPr lang="en-US" altLang="zh-TW" sz="2400" dirty="0" smtClean="0"/>
              <a:t>ae350_smu_apbif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New register for power control</a:t>
            </a:r>
          </a:p>
          <a:p>
            <a:r>
              <a:rPr lang="en-US" altLang="zh-TW" sz="2400" dirty="0" smtClean="0"/>
              <a:t>ae350_smu_mpd (Main power domain)</a:t>
            </a:r>
          </a:p>
          <a:p>
            <a:pPr lvl="1"/>
            <a:r>
              <a:rPr lang="en-US" altLang="zh-TW" sz="2000" dirty="0" smtClean="0"/>
              <a:t>Remove core clock/power related logic</a:t>
            </a:r>
          </a:p>
          <a:p>
            <a:r>
              <a:rPr lang="en-US" altLang="zh-TW" sz="2400" dirty="0" smtClean="0"/>
              <a:t>ae350_smu_pd (Core/L2 power domain)</a:t>
            </a:r>
          </a:p>
          <a:p>
            <a:pPr lvl="1"/>
            <a:r>
              <a:rPr lang="en-US" altLang="zh-TW" sz="2000" dirty="0" smtClean="0"/>
              <a:t>Interface</a:t>
            </a:r>
          </a:p>
          <a:p>
            <a:pPr lvl="1"/>
            <a:r>
              <a:rPr lang="en-US" altLang="zh-TW" sz="2000" dirty="0" smtClean="0"/>
              <a:t>FSM for DVFS/power control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84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 of ae350_smu_pd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Two kinds of control mode configuration </a:t>
            </a:r>
          </a:p>
          <a:p>
            <a:pPr lvl="1"/>
            <a:r>
              <a:rPr lang="en-US" altLang="zh-TW" sz="2000" dirty="0" smtClean="0"/>
              <a:t>DVFS </a:t>
            </a:r>
          </a:p>
          <a:p>
            <a:pPr lvl="1"/>
            <a:r>
              <a:rPr lang="en-US" altLang="zh-TW" sz="2000" dirty="0" smtClean="0"/>
              <a:t>Power 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a </a:t>
            </a:r>
            <a:r>
              <a:rPr lang="en-US" altLang="zh-TW" sz="2400" dirty="0" smtClean="0"/>
              <a:t>power/clock domain control 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source</a:t>
            </a:r>
          </a:p>
          <a:p>
            <a:pPr lvl="1"/>
            <a:r>
              <a:rPr lang="en-US" altLang="zh-TW" sz="2000" dirty="0" smtClean="0"/>
              <a:t>Clock source</a:t>
            </a:r>
          </a:p>
          <a:p>
            <a:pPr lvl="1"/>
            <a:r>
              <a:rPr lang="en-US" altLang="zh-TW" sz="2000" dirty="0" smtClean="0"/>
              <a:t>Isolation cell</a:t>
            </a:r>
          </a:p>
          <a:p>
            <a:pPr lvl="1"/>
            <a:r>
              <a:rPr lang="en-US" altLang="zh-TW" sz="2000" dirty="0" smtClean="0"/>
              <a:t>Retention cell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wakeup event mask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</a:t>
            </a:r>
            <a:r>
              <a:rPr lang="en-US" altLang="zh-TW" sz="2400" dirty="0" smtClean="0"/>
              <a:t>light sleep/deep sleep </a:t>
            </a:r>
            <a:r>
              <a:rPr lang="en-US" altLang="zh-TW" sz="2400" dirty="0"/>
              <a:t>modes </a:t>
            </a:r>
            <a:endParaRPr lang="en-US" altLang="zh-TW" sz="2400" dirty="0" smtClean="0"/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dynamic voltage frequency scaling (DVFS)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00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Assumption for simplification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Only one clock source and voltage source</a:t>
            </a:r>
          </a:p>
          <a:p>
            <a:pPr lvl="1"/>
            <a:r>
              <a:rPr lang="en-US" altLang="zh-TW" dirty="0" smtClean="0"/>
              <a:t>Simplify multi-core DVFS flow</a:t>
            </a:r>
          </a:p>
          <a:p>
            <a:r>
              <a:rPr lang="en-US" altLang="zh-TW" dirty="0" smtClean="0"/>
              <a:t>Clock/Power scaling and on/off are control by different channel</a:t>
            </a:r>
          </a:p>
          <a:p>
            <a:pPr lvl="1"/>
            <a:r>
              <a:rPr lang="en-US" altLang="zh-TW" dirty="0" smtClean="0"/>
              <a:t>1 channel for DVFS</a:t>
            </a:r>
          </a:p>
          <a:p>
            <a:pPr lvl="1"/>
            <a:r>
              <a:rPr lang="en-US" altLang="zh-TW" dirty="0" smtClean="0"/>
              <a:t>4 channel for light sleep (clock-gated) and deep sleep (power off)</a:t>
            </a:r>
          </a:p>
        </p:txBody>
      </p:sp>
    </p:spTree>
    <p:extLst>
      <p:ext uri="{BB962C8B-B14F-4D97-AF65-F5344CB8AC3E}">
        <p14:creationId xmlns:p14="http://schemas.microsoft.com/office/powerpoint/2010/main" val="420133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ae350_rstgen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ae350_rstgen, </a:t>
            </a:r>
            <a:r>
              <a:rPr lang="en-US" altLang="zh-TW" dirty="0" smtClean="0"/>
              <a:t>core0_resetn is </a:t>
            </a:r>
            <a:r>
              <a:rPr lang="en-US" altLang="zh-TW" dirty="0"/>
              <a:t>controlled by </a:t>
            </a:r>
            <a:r>
              <a:rPr lang="en-US" altLang="zh-TW" dirty="0" err="1" smtClean="0"/>
              <a:t>aresetn_src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ore[1~3]_</a:t>
            </a:r>
            <a:r>
              <a:rPr lang="en-US" altLang="zh-TW" dirty="0" err="1" smtClean="0"/>
              <a:t>resetn</a:t>
            </a:r>
            <a:r>
              <a:rPr lang="en-US" altLang="zh-TW" dirty="0" smtClean="0"/>
              <a:t> </a:t>
            </a:r>
            <a:r>
              <a:rPr lang="en-US" altLang="zh-TW" dirty="0"/>
              <a:t>is controlled by </a:t>
            </a:r>
            <a:r>
              <a:rPr lang="en-US" altLang="zh-TW" dirty="0" smtClean="0"/>
              <a:t>SMU.</a:t>
            </a:r>
          </a:p>
          <a:p>
            <a:r>
              <a:rPr lang="en-US" altLang="zh-TW" dirty="0" smtClean="0"/>
              <a:t>Add a </a:t>
            </a:r>
            <a:r>
              <a:rPr lang="en-US" altLang="zh-TW" dirty="0"/>
              <a:t>path for reset core </a:t>
            </a:r>
            <a:r>
              <a:rPr lang="en-US" altLang="zh-TW" dirty="0" smtClean="0"/>
              <a:t>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018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/>
            <a:r>
              <a:rPr lang="en-US" altLang="zh-TW" dirty="0" smtClean="0"/>
              <a:t>Old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 in AE350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686175" y="5688568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ae350_smu_aopd_top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686175" y="1176814"/>
            <a:ext cx="4552949" cy="488108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174" y="5957769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990366" y="2939892"/>
            <a:ext cx="2343383" cy="2890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FSM for power mode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30" name="矩形 29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1" name="矩形 30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2" name="矩形 31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34" name="矩形 33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Synchronizer for RTC signal</a:t>
            </a:r>
            <a:endParaRPr lang="zh-TW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14050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</a:t>
            </a:r>
            <a:r>
              <a:rPr lang="en-US" altLang="zh-TW" dirty="0" smtClean="0"/>
              <a:t>block diagram for power control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 bwMode="auto">
          <a:xfrm>
            <a:off x="2093811" y="961054"/>
            <a:ext cx="4260396" cy="536354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effectLst/>
              <a:latin typeface="Arial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93810" y="5957769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ae350_smu(Always-on region)</a:t>
            </a:r>
            <a:endParaRPr lang="zh-TW" altLang="en-US" dirty="0"/>
          </a:p>
        </p:txBody>
      </p:sp>
      <p:grpSp>
        <p:nvGrpSpPr>
          <p:cNvPr id="44" name="群組 43"/>
          <p:cNvGrpSpPr/>
          <p:nvPr/>
        </p:nvGrpSpPr>
        <p:grpSpPr>
          <a:xfrm>
            <a:off x="3347528" y="3927753"/>
            <a:ext cx="2595126" cy="2030016"/>
            <a:chOff x="1658617" y="3927753"/>
            <a:chExt cx="2595126" cy="1710914"/>
          </a:xfrm>
        </p:grpSpPr>
        <p:sp>
          <p:nvSpPr>
            <p:cNvPr id="5" name="矩形 4"/>
            <p:cNvSpPr/>
            <p:nvPr/>
          </p:nvSpPr>
          <p:spPr bwMode="auto">
            <a:xfrm>
              <a:off x="1977551" y="4251961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1880936" y="4139565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7" name="矩形 6"/>
            <p:cNvSpPr/>
            <p:nvPr/>
          </p:nvSpPr>
          <p:spPr bwMode="auto">
            <a:xfrm>
              <a:off x="1772918" y="4032528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1677668" y="3927753"/>
              <a:ext cx="1895476" cy="1096447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658617" y="4768517"/>
              <a:ext cx="1848583" cy="276999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TW" sz="1200" dirty="0" smtClean="0"/>
                <a:t>ae350_smu_pd(Power)</a:t>
              </a:r>
              <a:endParaRPr lang="zh-TW" altLang="en-US" sz="12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1725487" y="5300113"/>
              <a:ext cx="2528256" cy="33855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Core 0 and L2/Core 1~3</a:t>
              </a:r>
              <a:endParaRPr lang="zh-TW" altLang="en-US" sz="1600" dirty="0"/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1772918" y="4023003"/>
              <a:ext cx="1714501" cy="2142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1200" b="0" dirty="0" smtClean="0"/>
                <a:t>FSM for power mode</a:t>
              </a:r>
              <a:endParaRPr lang="zh-TW" altLang="en-US" sz="1200" b="0" dirty="0"/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3346595" y="1051776"/>
            <a:ext cx="2215342" cy="2464794"/>
            <a:chOff x="897045" y="2699460"/>
            <a:chExt cx="2215342" cy="2025174"/>
          </a:xfrm>
        </p:grpSpPr>
        <p:sp>
          <p:nvSpPr>
            <p:cNvPr id="12" name="矩形 11"/>
            <p:cNvSpPr/>
            <p:nvPr/>
          </p:nvSpPr>
          <p:spPr bwMode="auto">
            <a:xfrm>
              <a:off x="897978" y="2699460"/>
              <a:ext cx="2214409" cy="2025174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97045" y="4435183"/>
              <a:ext cx="2064989" cy="260957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TW" sz="1400" dirty="0" smtClean="0"/>
                <a:t>ae350_smu_pd(DVFS)</a:t>
              </a:r>
              <a:endParaRPr lang="zh-TW" altLang="en-US" sz="1400" dirty="0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1012279" y="2794710"/>
              <a:ext cx="2003494" cy="200093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TW" sz="1200" b="0" dirty="0" smtClean="0"/>
                <a:t>FSM for DVFS mode</a:t>
              </a:r>
              <a:endParaRPr lang="zh-TW" altLang="en-US" sz="1200" b="0" dirty="0"/>
            </a:p>
          </p:txBody>
        </p:sp>
      </p:grpSp>
      <p:cxnSp>
        <p:nvCxnSpPr>
          <p:cNvPr id="18" name="直線單箭頭接點 17"/>
          <p:cNvCxnSpPr/>
          <p:nvPr/>
        </p:nvCxnSpPr>
        <p:spPr bwMode="auto">
          <a:xfrm flipV="1">
            <a:off x="2880169" y="2310044"/>
            <a:ext cx="466426" cy="15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1" name="直線單箭頭接點 20"/>
          <p:cNvCxnSpPr>
            <a:endCxn id="22" idx="1"/>
          </p:cNvCxnSpPr>
          <p:nvPr/>
        </p:nvCxnSpPr>
        <p:spPr bwMode="auto">
          <a:xfrm>
            <a:off x="5561937" y="1350074"/>
            <a:ext cx="100098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2" name="矩形 21"/>
          <p:cNvSpPr/>
          <p:nvPr/>
        </p:nvSpPr>
        <p:spPr>
          <a:xfrm>
            <a:off x="6562920" y="121157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23" name="矩形 22"/>
          <p:cNvSpPr/>
          <p:nvPr/>
        </p:nvSpPr>
        <p:spPr>
          <a:xfrm>
            <a:off x="6562920" y="2006611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24" name="矩形 23"/>
          <p:cNvSpPr/>
          <p:nvPr/>
        </p:nvSpPr>
        <p:spPr>
          <a:xfrm>
            <a:off x="6562920" y="147658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25" name="矩形 24"/>
          <p:cNvSpPr/>
          <p:nvPr/>
        </p:nvSpPr>
        <p:spPr>
          <a:xfrm>
            <a:off x="6562920" y="174159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26" name="矩形 25"/>
          <p:cNvSpPr/>
          <p:nvPr/>
        </p:nvSpPr>
        <p:spPr>
          <a:xfrm>
            <a:off x="6562920" y="227162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27" name="矩形 26"/>
          <p:cNvSpPr/>
          <p:nvPr/>
        </p:nvSpPr>
        <p:spPr>
          <a:xfrm>
            <a:off x="6562920" y="253663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28" name="矩形 27"/>
          <p:cNvSpPr/>
          <p:nvPr/>
        </p:nvSpPr>
        <p:spPr>
          <a:xfrm>
            <a:off x="6562920" y="280164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30" name="矩形 29"/>
          <p:cNvSpPr/>
          <p:nvPr/>
        </p:nvSpPr>
        <p:spPr>
          <a:xfrm>
            <a:off x="6562920" y="3066661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31" name="矩形 30"/>
          <p:cNvSpPr/>
          <p:nvPr/>
        </p:nvSpPr>
        <p:spPr>
          <a:xfrm>
            <a:off x="6562920" y="4898337"/>
            <a:ext cx="1140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pd_clk_off0~3</a:t>
            </a:r>
          </a:p>
        </p:txBody>
      </p:sp>
      <p:sp>
        <p:nvSpPr>
          <p:cNvPr id="36" name="矩形 35"/>
          <p:cNvSpPr/>
          <p:nvPr/>
        </p:nvSpPr>
        <p:spPr>
          <a:xfrm>
            <a:off x="6562920" y="4220538"/>
            <a:ext cx="12362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pd_standby0~3</a:t>
            </a:r>
            <a:endParaRPr lang="zh-TW" altLang="en-US" sz="1200" b="0" dirty="0"/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4273076" y="3517944"/>
            <a:ext cx="0" cy="3885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矩形 37"/>
          <p:cNvSpPr/>
          <p:nvPr/>
        </p:nvSpPr>
        <p:spPr>
          <a:xfrm>
            <a:off x="6562920" y="4672404"/>
            <a:ext cx="1133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pd_ret_en0~3</a:t>
            </a:r>
            <a:endParaRPr lang="en-US" altLang="zh-TW" sz="1200" b="0" dirty="0"/>
          </a:p>
        </p:txBody>
      </p:sp>
      <p:sp>
        <p:nvSpPr>
          <p:cNvPr id="39" name="矩形 38"/>
          <p:cNvSpPr/>
          <p:nvPr/>
        </p:nvSpPr>
        <p:spPr>
          <a:xfrm>
            <a:off x="6562920" y="4446471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pd_iso_en0~3</a:t>
            </a:r>
          </a:p>
        </p:txBody>
      </p:sp>
      <p:cxnSp>
        <p:nvCxnSpPr>
          <p:cNvPr id="40" name="直線接點 39"/>
          <p:cNvCxnSpPr/>
          <p:nvPr/>
        </p:nvCxnSpPr>
        <p:spPr bwMode="auto">
          <a:xfrm flipH="1">
            <a:off x="4212777" y="3660679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矩形 44"/>
          <p:cNvSpPr/>
          <p:nvPr/>
        </p:nvSpPr>
        <p:spPr>
          <a:xfrm>
            <a:off x="6562920" y="5124272"/>
            <a:ext cx="11998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pd_pwr_off0~3</a:t>
            </a:r>
          </a:p>
        </p:txBody>
      </p:sp>
      <p:grpSp>
        <p:nvGrpSpPr>
          <p:cNvPr id="50" name="群組 49"/>
          <p:cNvGrpSpPr/>
          <p:nvPr/>
        </p:nvGrpSpPr>
        <p:grpSpPr>
          <a:xfrm rot="5400000">
            <a:off x="586130" y="3053562"/>
            <a:ext cx="4220364" cy="369333"/>
            <a:chOff x="-2317150" y="3582745"/>
            <a:chExt cx="2821002" cy="369333"/>
          </a:xfrm>
        </p:grpSpPr>
        <p:sp>
          <p:nvSpPr>
            <p:cNvPr id="48" name="矩形 47"/>
            <p:cNvSpPr/>
            <p:nvPr/>
          </p:nvSpPr>
          <p:spPr bwMode="auto">
            <a:xfrm>
              <a:off x="-2314577" y="3582745"/>
              <a:ext cx="2818429" cy="369332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1800" b="1" i="0" u="none" strike="noStrike" cap="none" normalizeH="0" baseline="0" smtClean="0">
                <a:ln>
                  <a:noFill/>
                </a:ln>
                <a:effectLst/>
                <a:latin typeface="Arial" charset="0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-2317150" y="3582746"/>
              <a:ext cx="282100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ae350_smu_apbif</a:t>
              </a:r>
              <a:endParaRPr lang="zh-TW" altLang="en-US" dirty="0"/>
            </a:p>
          </p:txBody>
        </p:sp>
      </p:grpSp>
      <p:cxnSp>
        <p:nvCxnSpPr>
          <p:cNvPr id="55" name="直線單箭頭接點 54"/>
          <p:cNvCxnSpPr>
            <a:endCxn id="24" idx="1"/>
          </p:cNvCxnSpPr>
          <p:nvPr/>
        </p:nvCxnSpPr>
        <p:spPr bwMode="auto">
          <a:xfrm>
            <a:off x="5561938" y="1615087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8" name="直線單箭頭接點 57"/>
          <p:cNvCxnSpPr/>
          <p:nvPr/>
        </p:nvCxnSpPr>
        <p:spPr bwMode="auto">
          <a:xfrm>
            <a:off x="5561937" y="2422108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直線單箭頭接點 58"/>
          <p:cNvCxnSpPr/>
          <p:nvPr/>
        </p:nvCxnSpPr>
        <p:spPr bwMode="auto">
          <a:xfrm>
            <a:off x="5560116" y="1893698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0" name="直線單箭頭接點 59"/>
          <p:cNvCxnSpPr/>
          <p:nvPr/>
        </p:nvCxnSpPr>
        <p:spPr bwMode="auto">
          <a:xfrm>
            <a:off x="5561938" y="215790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1" name="直線單箭頭接點 60"/>
          <p:cNvCxnSpPr/>
          <p:nvPr/>
        </p:nvCxnSpPr>
        <p:spPr bwMode="auto">
          <a:xfrm>
            <a:off x="5561938" y="268631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直線單箭頭接點 61"/>
          <p:cNvCxnSpPr/>
          <p:nvPr/>
        </p:nvCxnSpPr>
        <p:spPr bwMode="auto">
          <a:xfrm>
            <a:off x="5560116" y="2950518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3" name="直線單箭頭接點 62"/>
          <p:cNvCxnSpPr/>
          <p:nvPr/>
        </p:nvCxnSpPr>
        <p:spPr bwMode="auto">
          <a:xfrm>
            <a:off x="5561938" y="321472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4" name="直線單箭頭接點 63"/>
          <p:cNvCxnSpPr/>
          <p:nvPr/>
        </p:nvCxnSpPr>
        <p:spPr bwMode="auto">
          <a:xfrm>
            <a:off x="5561938" y="437198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65" name="直線單箭頭接點 64"/>
          <p:cNvCxnSpPr/>
          <p:nvPr/>
        </p:nvCxnSpPr>
        <p:spPr bwMode="auto">
          <a:xfrm>
            <a:off x="5560116" y="4590296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直線單箭頭接點 66"/>
          <p:cNvCxnSpPr/>
          <p:nvPr/>
        </p:nvCxnSpPr>
        <p:spPr bwMode="auto">
          <a:xfrm>
            <a:off x="5561938" y="4818523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8" name="直線單箭頭接點 67"/>
          <p:cNvCxnSpPr/>
          <p:nvPr/>
        </p:nvCxnSpPr>
        <p:spPr bwMode="auto">
          <a:xfrm>
            <a:off x="5560116" y="5036836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直線單箭頭接點 68"/>
          <p:cNvCxnSpPr/>
          <p:nvPr/>
        </p:nvCxnSpPr>
        <p:spPr bwMode="auto">
          <a:xfrm>
            <a:off x="5560116" y="5271817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6" name="矩形 65"/>
          <p:cNvSpPr/>
          <p:nvPr/>
        </p:nvSpPr>
        <p:spPr>
          <a:xfrm>
            <a:off x="3148054" y="3612107"/>
            <a:ext cx="11180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pd_clk_off_all</a:t>
            </a:r>
            <a:endParaRPr lang="en-US" altLang="zh-TW" sz="1200" b="0" dirty="0" smtClean="0"/>
          </a:p>
        </p:txBody>
      </p:sp>
      <p:cxnSp>
        <p:nvCxnSpPr>
          <p:cNvPr id="70" name="直線單箭頭接點 69"/>
          <p:cNvCxnSpPr/>
          <p:nvPr/>
        </p:nvCxnSpPr>
        <p:spPr bwMode="auto">
          <a:xfrm flipV="1">
            <a:off x="2880169" y="4631384"/>
            <a:ext cx="466426" cy="15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1" name="直線單箭頭接點 70"/>
          <p:cNvCxnSpPr/>
          <p:nvPr/>
        </p:nvCxnSpPr>
        <p:spPr bwMode="auto">
          <a:xfrm flipV="1">
            <a:off x="1623060" y="3195393"/>
            <a:ext cx="887124" cy="335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72" name="矩形 71"/>
          <p:cNvSpPr/>
          <p:nvPr/>
        </p:nvSpPr>
        <p:spPr>
          <a:xfrm>
            <a:off x="1027976" y="3067623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APB</a:t>
            </a:r>
          </a:p>
        </p:txBody>
      </p:sp>
      <p:sp>
        <p:nvSpPr>
          <p:cNvPr id="74" name="矩形 73"/>
          <p:cNvSpPr/>
          <p:nvPr/>
        </p:nvSpPr>
        <p:spPr>
          <a:xfrm>
            <a:off x="6562920" y="967797"/>
            <a:ext cx="12137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pd_all_standby</a:t>
            </a:r>
            <a:endParaRPr lang="zh-TW" altLang="en-US" sz="1200" b="0" dirty="0"/>
          </a:p>
        </p:txBody>
      </p:sp>
      <p:cxnSp>
        <p:nvCxnSpPr>
          <p:cNvPr id="75" name="直線單箭頭接點 74"/>
          <p:cNvCxnSpPr/>
          <p:nvPr/>
        </p:nvCxnSpPr>
        <p:spPr bwMode="auto">
          <a:xfrm>
            <a:off x="5561938" y="1119242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76" name="直線接點 75"/>
          <p:cNvCxnSpPr/>
          <p:nvPr/>
        </p:nvCxnSpPr>
        <p:spPr bwMode="auto">
          <a:xfrm flipH="1">
            <a:off x="6062430" y="4294994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直線接點 76"/>
          <p:cNvCxnSpPr/>
          <p:nvPr/>
        </p:nvCxnSpPr>
        <p:spPr bwMode="auto">
          <a:xfrm flipH="1">
            <a:off x="6062430" y="4515898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直線接點 77"/>
          <p:cNvCxnSpPr/>
          <p:nvPr/>
        </p:nvCxnSpPr>
        <p:spPr bwMode="auto">
          <a:xfrm flipH="1">
            <a:off x="6062430" y="4728958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直線接點 78"/>
          <p:cNvCxnSpPr/>
          <p:nvPr/>
        </p:nvCxnSpPr>
        <p:spPr bwMode="auto">
          <a:xfrm flipH="1">
            <a:off x="6062430" y="4949862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直線接點 79"/>
          <p:cNvCxnSpPr/>
          <p:nvPr/>
        </p:nvCxnSpPr>
        <p:spPr bwMode="auto">
          <a:xfrm flipH="1">
            <a:off x="6053874" y="5189872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直線接點 80"/>
          <p:cNvCxnSpPr/>
          <p:nvPr/>
        </p:nvCxnSpPr>
        <p:spPr bwMode="auto">
          <a:xfrm flipH="1">
            <a:off x="1941933" y="3117384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直線接點 81"/>
          <p:cNvCxnSpPr/>
          <p:nvPr/>
        </p:nvCxnSpPr>
        <p:spPr bwMode="auto">
          <a:xfrm flipH="1">
            <a:off x="3113382" y="2227002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直線接點 82"/>
          <p:cNvCxnSpPr/>
          <p:nvPr/>
        </p:nvCxnSpPr>
        <p:spPr bwMode="auto">
          <a:xfrm flipH="1">
            <a:off x="3121918" y="4551069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線單箭頭接點 72"/>
          <p:cNvCxnSpPr/>
          <p:nvPr/>
        </p:nvCxnSpPr>
        <p:spPr bwMode="auto">
          <a:xfrm>
            <a:off x="5561939" y="5525230"/>
            <a:ext cx="100098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4" name="直線接點 83"/>
          <p:cNvCxnSpPr/>
          <p:nvPr/>
        </p:nvCxnSpPr>
        <p:spPr bwMode="auto">
          <a:xfrm flipH="1">
            <a:off x="6055697" y="5443285"/>
            <a:ext cx="30088" cy="1638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5" name="矩形 84"/>
          <p:cNvSpPr/>
          <p:nvPr/>
        </p:nvSpPr>
        <p:spPr>
          <a:xfrm>
            <a:off x="6558363" y="5377968"/>
            <a:ext cx="1636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smu_interrupt_pd0~3</a:t>
            </a:r>
          </a:p>
        </p:txBody>
      </p:sp>
      <p:cxnSp>
        <p:nvCxnSpPr>
          <p:cNvPr id="86" name="直線單箭頭接點 85"/>
          <p:cNvCxnSpPr>
            <a:endCxn id="87" idx="1"/>
          </p:cNvCxnSpPr>
          <p:nvPr/>
        </p:nvCxnSpPr>
        <p:spPr bwMode="auto">
          <a:xfrm>
            <a:off x="5561938" y="3461587"/>
            <a:ext cx="100098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矩形 86"/>
          <p:cNvSpPr/>
          <p:nvPr/>
        </p:nvSpPr>
        <p:spPr>
          <a:xfrm>
            <a:off x="6562921" y="3323088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smu_interupt_dvfs</a:t>
            </a:r>
            <a:endParaRPr lang="en-US" altLang="zh-TW" sz="1200" b="0" dirty="0"/>
          </a:p>
        </p:txBody>
      </p:sp>
    </p:spTree>
    <p:extLst>
      <p:ext uri="{BB962C8B-B14F-4D97-AF65-F5344CB8AC3E}">
        <p14:creationId xmlns:p14="http://schemas.microsoft.com/office/powerpoint/2010/main" val="9364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Macro and parameter </a:t>
            </a:r>
            <a:r>
              <a:rPr lang="en-US" altLang="zh-TW" dirty="0"/>
              <a:t>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100924"/>
              </p:ext>
            </p:extLst>
          </p:nvPr>
        </p:nvGraphicFramePr>
        <p:xfrm>
          <a:off x="197044" y="1332839"/>
          <a:ext cx="8589179" cy="2270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8556"/>
                <a:gridCol w="4052771"/>
                <a:gridCol w="18378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PD_NUM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Number of power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domain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1~4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CYCLE_WIDTH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Bit width for </a:t>
                      </a: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ret_cyc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and </a:t>
                      </a:r>
                      <a:r>
                        <a:rPr lang="en-US" altLang="zh-TW" sz="1600" baseline="0" dirty="0" err="1" smtClean="0">
                          <a:solidFill>
                            <a:schemeClr val="tx1"/>
                          </a:solidFill>
                        </a:rPr>
                        <a:t>iso_cyc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DISALBE_INIT_WIDTH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Bit width for </a:t>
                      </a: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disable_init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Single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core: 2</a:t>
                      </a:r>
                    </a:p>
                    <a:p>
                      <a:pPr algn="l"/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Multi-core: 2*N+1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FIX_VOLTAGE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Hardwired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voltage related control to 0 in FPGA flow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97044" y="96785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Parameter</a:t>
            </a:r>
            <a:endParaRPr lang="en-US" altLang="zh-TW" dirty="0"/>
          </a:p>
        </p:txBody>
      </p:sp>
      <p:sp>
        <p:nvSpPr>
          <p:cNvPr id="7" name="矩形 6"/>
          <p:cNvSpPr/>
          <p:nvPr/>
        </p:nvSpPr>
        <p:spPr>
          <a:xfrm>
            <a:off x="197044" y="3685667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Marco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059860"/>
              </p:ext>
            </p:extLst>
          </p:nvPr>
        </p:nvGraphicFramePr>
        <p:xfrm>
          <a:off x="197044" y="4033712"/>
          <a:ext cx="8589179" cy="1193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91689"/>
                <a:gridCol w="3959638"/>
                <a:gridCol w="183785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Value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NDS_IO_PD1</a:t>
                      </a:r>
                      <a:br>
                        <a:rPr lang="en-US" altLang="zh-TW" sz="1600" dirty="0" smtClean="0"/>
                      </a:br>
                      <a:r>
                        <a:rPr lang="en-US" altLang="zh-TW" sz="1600" dirty="0" smtClean="0"/>
                        <a:t>NDS_IO_PD2</a:t>
                      </a:r>
                    </a:p>
                    <a:p>
                      <a:r>
                        <a:rPr lang="en-US" altLang="zh-TW" sz="1600" dirty="0" smtClean="0"/>
                        <a:t>NDS_IO_PD3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I/O port for multi-cores 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none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59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Macro and parameter </a:t>
            </a:r>
            <a:r>
              <a:rPr lang="en-US" altLang="zh-TW" dirty="0"/>
              <a:t>for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12357"/>
              </p:ext>
            </p:extLst>
          </p:nvPr>
        </p:nvGraphicFramePr>
        <p:xfrm>
          <a:off x="197044" y="1332839"/>
          <a:ext cx="8589179" cy="1320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698556"/>
                <a:gridCol w="3589176"/>
                <a:gridCol w="230144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DVFS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Indicate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this channel is for </a:t>
                      </a: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DVFS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yes: DVFS channel</a:t>
                      </a:r>
                    </a:p>
                    <a:p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no:</a:t>
                      </a:r>
                      <a:r>
                        <a:rPr lang="en-US" altLang="zh-TW" sz="1600" baseline="0" dirty="0" smtClean="0">
                          <a:solidFill>
                            <a:schemeClr val="tx1"/>
                          </a:solidFill>
                        </a:rPr>
                        <a:t> Power channel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WAKEUP_WIDTH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Bit width for </a:t>
                      </a:r>
                      <a:r>
                        <a:rPr lang="en-US" altLang="zh-TW" sz="1600" dirty="0" err="1" smtClean="0">
                          <a:solidFill>
                            <a:schemeClr val="tx1"/>
                          </a:solidFill>
                        </a:rPr>
                        <a:t>wakeup_event</a:t>
                      </a:r>
                      <a:endParaRPr lang="zh-TW" alt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6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97044" y="96785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 smtClean="0"/>
              <a:t>Parameter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217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CSR for ae350_smu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9308" y="1044059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Cycle Register (PMCR) (0x100)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73150"/>
              </p:ext>
            </p:extLst>
          </p:nvPr>
        </p:nvGraphicFramePr>
        <p:xfrm>
          <a:off x="129308" y="1432441"/>
          <a:ext cx="8779302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99959"/>
                <a:gridCol w="2641600"/>
                <a:gridCol w="787400"/>
                <a:gridCol w="3353638"/>
                <a:gridCol w="7967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Name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Bit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Type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Description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Reset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ret_cyc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CYCLE_WIDTH-1:0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RW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Cycles for retention state 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0x0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iso_cyc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CYCLE_WIDTH+15:16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RW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Cycles for isolation state waiting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 smtClean="0"/>
                        <a:t>0x0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29308" y="3012563"/>
            <a:ext cx="6635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</a:t>
            </a:r>
            <a:r>
              <a:rPr lang="en-US" altLang="zh-TW" dirty="0"/>
              <a:t>Disable </a:t>
            </a:r>
            <a:r>
              <a:rPr lang="en-US" altLang="zh-TW" dirty="0" smtClean="0"/>
              <a:t>Initialization Register (PMDIR) (0x104)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37285"/>
              </p:ext>
            </p:extLst>
          </p:nvPr>
        </p:nvGraphicFramePr>
        <p:xfrm>
          <a:off x="129308" y="3400945"/>
          <a:ext cx="8770249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50759"/>
                <a:gridCol w="2650066"/>
                <a:gridCol w="736600"/>
                <a:gridCol w="3234267"/>
                <a:gridCol w="89855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disable_init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DISALBE_INIT_WIDTH-1:0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Control disable init for</a:t>
                      </a:r>
                      <a:r>
                        <a:rPr lang="en-US" altLang="zh-TW" sz="1600" baseline="0" dirty="0" smtClean="0"/>
                        <a:t> memories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6030091" y="2544538"/>
            <a:ext cx="2916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*Cycle time is SMU clock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137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5780" y="2720999"/>
            <a:ext cx="4185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Status </a:t>
            </a:r>
            <a:r>
              <a:rPr lang="en-US" altLang="zh-TW" dirty="0" smtClean="0"/>
              <a:t>Register (PSR) (0x204)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759838"/>
              </p:ext>
            </p:extLst>
          </p:nvPr>
        </p:nvGraphicFramePr>
        <p:xfrm>
          <a:off x="175780" y="3056463"/>
          <a:ext cx="8732830" cy="1955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82087"/>
                <a:gridCol w="1964266"/>
                <a:gridCol w="745067"/>
                <a:gridCol w="3729135"/>
                <a:gridCol w="91227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pd_status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3:0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RO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Power </a:t>
                      </a:r>
                      <a:r>
                        <a:rPr lang="en-US" altLang="zh-TW" sz="1400" dirty="0" smtClean="0"/>
                        <a:t>status for each power</a:t>
                      </a:r>
                      <a:r>
                        <a:rPr lang="en-US" altLang="zh-TW" sz="1400" baseline="0" dirty="0" smtClean="0"/>
                        <a:t> domain</a:t>
                      </a:r>
                      <a:endParaRPr lang="en-US" altLang="zh-TW" sz="1400" dirty="0" smtClean="0"/>
                    </a:p>
                    <a:p>
                      <a:r>
                        <a:rPr lang="en-US" altLang="zh-TW" sz="1400" dirty="0" smtClean="0"/>
                        <a:t>0x0:ACTIVE</a:t>
                      </a:r>
                    </a:p>
                    <a:p>
                      <a:r>
                        <a:rPr lang="en-US" altLang="zh-TW" sz="1400" dirty="0" smtClean="0"/>
                        <a:t>0x1:DVFS</a:t>
                      </a:r>
                    </a:p>
                    <a:p>
                      <a:r>
                        <a:rPr lang="en-US" altLang="zh-TW" sz="1400" dirty="0" smtClean="0"/>
                        <a:t>0x2:ISOLATION</a:t>
                      </a:r>
                    </a:p>
                    <a:p>
                      <a:r>
                        <a:rPr lang="en-US" altLang="zh-TW" sz="1400" dirty="0" smtClean="0"/>
                        <a:t>0x3:RETENTION</a:t>
                      </a:r>
                    </a:p>
                    <a:p>
                      <a:r>
                        <a:rPr lang="en-US" altLang="zh-TW" sz="1400" dirty="0" smtClean="0"/>
                        <a:t>0x4:LIGHTSLEEP</a:t>
                      </a:r>
                    </a:p>
                    <a:p>
                      <a:r>
                        <a:rPr lang="en-US" altLang="zh-TW" sz="1400" dirty="0" smtClean="0"/>
                        <a:t>0x5:DEEPSLEEP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175780" y="4996336"/>
            <a:ext cx="5446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</a:t>
            </a:r>
            <a:r>
              <a:rPr lang="en-US" altLang="zh-TW" dirty="0" smtClean="0"/>
              <a:t>Wakeup Record Register (PWRR) (0x208)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812083"/>
              </p:ext>
            </p:extLst>
          </p:nvPr>
        </p:nvGraphicFramePr>
        <p:xfrm>
          <a:off x="175780" y="5340267"/>
          <a:ext cx="8723776" cy="889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353"/>
                <a:gridCol w="1820334"/>
                <a:gridCol w="685800"/>
                <a:gridCol w="3556000"/>
                <a:gridCol w="8392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pd_wakeup_record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WAKEUP_WIDTH-1:0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RW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Record</a:t>
                      </a:r>
                      <a:r>
                        <a:rPr lang="en-US" altLang="zh-TW" sz="1400" baseline="0" dirty="0" smtClean="0"/>
                        <a:t> </a:t>
                      </a:r>
                      <a:r>
                        <a:rPr lang="en-US" altLang="zh-TW" sz="1400" dirty="0" err="1" smtClean="0"/>
                        <a:t>pd_wakeup_event</a:t>
                      </a:r>
                      <a:r>
                        <a:rPr lang="en-US" altLang="zh-TW" sz="1400" dirty="0" smtClean="0"/>
                        <a:t> with </a:t>
                      </a:r>
                      <a:r>
                        <a:rPr lang="en-US" altLang="zh-TW" sz="1400" dirty="0" err="1" smtClean="0"/>
                        <a:t>wakeup_en</a:t>
                      </a:r>
                      <a:r>
                        <a:rPr lang="zh-TW" altLang="en-US" sz="1400" baseline="0" dirty="0" smtClean="0"/>
                        <a:t> </a:t>
                      </a:r>
                      <a:r>
                        <a:rPr lang="en-US" altLang="zh-TW" sz="1400" baseline="0" dirty="0" smtClean="0"/>
                        <a:t>mask when power command is finished</a:t>
                      </a:r>
                      <a:endParaRPr lang="zh-TW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75780" y="889984"/>
            <a:ext cx="5237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D</a:t>
            </a:r>
            <a:r>
              <a:rPr lang="en-US" altLang="zh-TW" dirty="0" smtClean="0"/>
              <a:t>omain Select Register (PDSR) (0x200)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564412"/>
              </p:ext>
            </p:extLst>
          </p:nvPr>
        </p:nvGraphicFramePr>
        <p:xfrm>
          <a:off x="175780" y="1225448"/>
          <a:ext cx="8723776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26683"/>
                <a:gridCol w="1826537"/>
                <a:gridCol w="804333"/>
                <a:gridCol w="3725679"/>
                <a:gridCol w="94054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Name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Bit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Type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Description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Reset</a:t>
                      </a:r>
                      <a:endParaRPr lang="zh-TW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dirty="0" err="1" smtClean="0"/>
                        <a:t>pd_select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3:0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400" dirty="0" smtClean="0"/>
                        <a:t>RW</a:t>
                      </a:r>
                      <a:endParaRPr lang="zh-TW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 smtClean="0"/>
                        <a:t>Select</a:t>
                      </a:r>
                      <a:r>
                        <a:rPr lang="en-US" altLang="zh-TW" sz="1400" baseline="0" dirty="0" smtClean="0"/>
                        <a:t> power domain for power 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 smtClean="0"/>
                        <a:t>0x0</a:t>
                      </a:r>
                      <a:endParaRPr lang="zh-TW" alt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1267361" y="1996750"/>
            <a:ext cx="778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*Software lock is required while accessing SMU in multi-core system.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6680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91110" y="2485292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Control Register </a:t>
            </a:r>
            <a:r>
              <a:rPr lang="en-US" altLang="zh-TW" dirty="0" smtClean="0"/>
              <a:t>(PCR) (0x210)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037805"/>
              </p:ext>
            </p:extLst>
          </p:nvPr>
        </p:nvGraphicFramePr>
        <p:xfrm>
          <a:off x="91110" y="2845099"/>
          <a:ext cx="8741883" cy="2423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6287"/>
                <a:gridCol w="728737"/>
                <a:gridCol w="914727"/>
                <a:gridCol w="4022721"/>
                <a:gridCol w="11094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pd_ctrl_cmd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3:0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Power control command</a:t>
                      </a:r>
                    </a:p>
                    <a:p>
                      <a:r>
                        <a:rPr lang="en-US" altLang="zh-TW" sz="1600" dirty="0" smtClean="0"/>
                        <a:t>0: No action</a:t>
                      </a:r>
                    </a:p>
                    <a:p>
                      <a:r>
                        <a:rPr lang="en-US" altLang="zh-TW" sz="1600" dirty="0" smtClean="0"/>
                        <a:t>1: DVFS</a:t>
                      </a:r>
                    </a:p>
                    <a:p>
                      <a:r>
                        <a:rPr lang="en-US" altLang="zh-TW" sz="1600" dirty="0" smtClean="0"/>
                        <a:t>2: Light Sleep </a:t>
                      </a:r>
                    </a:p>
                    <a:p>
                      <a:r>
                        <a:rPr lang="en-US" altLang="zh-TW" sz="1600" dirty="0" smtClean="0"/>
                        <a:t>3: Deep</a:t>
                      </a:r>
                      <a:r>
                        <a:rPr lang="en-US" altLang="zh-TW" sz="1600" baseline="0" dirty="0" smtClean="0"/>
                        <a:t> Sleep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pd_ctrl_frq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7:4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Frequency</a:t>
                      </a:r>
                      <a:r>
                        <a:rPr lang="en-US" altLang="zh-TW" sz="1600" baseline="0" dirty="0" smtClean="0"/>
                        <a:t> vector for DVFS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pd_ctrl_vol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11:8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RO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Reserved</a:t>
                      </a:r>
                      <a:r>
                        <a:rPr lang="en-US" altLang="zh-TW" sz="1600" baseline="0" dirty="0" smtClean="0"/>
                        <a:t> for</a:t>
                      </a:r>
                      <a:r>
                        <a:rPr lang="en-US" altLang="zh-TW" sz="1600" dirty="0" smtClean="0"/>
                        <a:t> voltage</a:t>
                      </a:r>
                      <a:r>
                        <a:rPr lang="en-US" altLang="zh-TW" sz="1600" baseline="0" dirty="0" smtClean="0"/>
                        <a:t> vector for DVFS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1110" y="922954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Wakeup Enable </a:t>
            </a:r>
            <a:r>
              <a:rPr lang="en-US" altLang="zh-TW" dirty="0" smtClean="0"/>
              <a:t>Register (WER) (0x20C)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743531"/>
              </p:ext>
            </p:extLst>
          </p:nvPr>
        </p:nvGraphicFramePr>
        <p:xfrm>
          <a:off x="91110" y="1319313"/>
          <a:ext cx="8741883" cy="11938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822357"/>
                <a:gridCol w="2192866"/>
                <a:gridCol w="982133"/>
                <a:gridCol w="2593538"/>
                <a:gridCol w="115098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err="1" smtClean="0"/>
                        <a:t>pd_wakeup_en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WAKEUP_WIDTH-1:0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Wake</a:t>
                      </a:r>
                      <a:r>
                        <a:rPr lang="en-US" altLang="zh-TW" sz="1600" baseline="0" dirty="0" smtClean="0"/>
                        <a:t>up event enable </a:t>
                      </a:r>
                    </a:p>
                    <a:p>
                      <a:r>
                        <a:rPr lang="en-US" altLang="zh-TW" sz="1600" baseline="0" dirty="0" smtClean="0"/>
                        <a:t>0:Disable wakeup event</a:t>
                      </a:r>
                    </a:p>
                    <a:p>
                      <a:r>
                        <a:rPr lang="en-US" altLang="zh-TW" sz="1600" baseline="0" dirty="0" smtClean="0"/>
                        <a:t>1:Enable wakeup event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0xffffffff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3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8044" y="901963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</a:t>
            </a:r>
            <a:r>
              <a:rPr lang="en-US" altLang="zh-TW" dirty="0" smtClean="0"/>
              <a:t>Interrupt </a:t>
            </a:r>
            <a:r>
              <a:rPr lang="en-US" altLang="zh-TW" dirty="0"/>
              <a:t>Register </a:t>
            </a:r>
            <a:r>
              <a:rPr lang="en-US" altLang="zh-TW" dirty="0" smtClean="0"/>
              <a:t>(PIR) (0x214)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18852"/>
              </p:ext>
            </p:extLst>
          </p:nvPr>
        </p:nvGraphicFramePr>
        <p:xfrm>
          <a:off x="108044" y="1261770"/>
          <a:ext cx="8741883" cy="2016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66287"/>
                <a:gridCol w="728737"/>
                <a:gridCol w="914727"/>
                <a:gridCol w="4022721"/>
                <a:gridCol w="110941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Name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Bit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Type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Description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smtClean="0"/>
                        <a:t>Reset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/>
                        <a:t>pd_ctrl_int_en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0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Assert SMU interrupt for</a:t>
                      </a:r>
                      <a:r>
                        <a:rPr lang="en-US" altLang="zh-TW" sz="1600" baseline="0" dirty="0" smtClean="0"/>
                        <a:t> this power domain</a:t>
                      </a:r>
                      <a:r>
                        <a:rPr lang="en-US" altLang="zh-TW" sz="1600" dirty="0" smtClean="0"/>
                        <a:t> after power command is done.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/>
                        <a:t>This bit is automatically asserted when </a:t>
                      </a:r>
                      <a:r>
                        <a:rPr lang="en-US" altLang="zh-TW" sz="1600" dirty="0" err="1" smtClean="0"/>
                        <a:t>pd_ctrl_cmd</a:t>
                      </a:r>
                      <a:r>
                        <a:rPr lang="zh-TW" altLang="en-US" sz="1600" baseline="0" dirty="0" smtClean="0"/>
                        <a:t> </a:t>
                      </a:r>
                      <a:r>
                        <a:rPr lang="en-US" altLang="zh-TW" sz="1600" baseline="0" dirty="0" smtClean="0"/>
                        <a:t>is DVFS.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err="1" smtClean="0"/>
                        <a:t>pd_ctrl_int_pending</a:t>
                      </a:r>
                      <a:endParaRPr lang="zh-TW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1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RW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SMU interrupt pending bit</a:t>
                      </a:r>
                    </a:p>
                    <a:p>
                      <a:r>
                        <a:rPr lang="en-US" altLang="zh-TW" sz="1600" dirty="0" smtClean="0"/>
                        <a:t>Write 0 to clear interrupt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/>
                        <a:t>0x0</a:t>
                      </a:r>
                      <a:endParaRPr lang="zh-TW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91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 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DVFS</a:t>
            </a:r>
          </a:p>
          <a:p>
            <a:pPr lvl="1"/>
            <a:r>
              <a:rPr lang="en-US" altLang="zh-TW" sz="2000" dirty="0"/>
              <a:t>Purpose: </a:t>
            </a:r>
            <a:r>
              <a:rPr lang="en-US" altLang="zh-TW" sz="2000" dirty="0" smtClean="0"/>
              <a:t>Dynamic change power for workload requirement</a:t>
            </a:r>
          </a:p>
          <a:p>
            <a:pPr lvl="1"/>
            <a:r>
              <a:rPr lang="en-US" altLang="zh-TW" sz="2000" dirty="0" smtClean="0"/>
              <a:t>Function</a:t>
            </a:r>
            <a:r>
              <a:rPr lang="en-US" altLang="zh-TW" sz="2000" dirty="0"/>
              <a:t>: Change </a:t>
            </a:r>
            <a:r>
              <a:rPr lang="en-US" altLang="zh-TW" sz="2000" dirty="0" smtClean="0"/>
              <a:t>voltage and frequency</a:t>
            </a:r>
          </a:p>
          <a:p>
            <a:pPr lvl="1"/>
            <a:r>
              <a:rPr lang="en-US" altLang="zh-TW" sz="2000" dirty="0"/>
              <a:t>Latency: For voltage/clock source, it might takes </a:t>
            </a:r>
            <a:r>
              <a:rPr lang="en-US" altLang="zh-TW" sz="2000" dirty="0" err="1"/>
              <a:t>ms</a:t>
            </a:r>
            <a:r>
              <a:rPr lang="en-US" altLang="zh-TW" sz="2000" dirty="0"/>
              <a:t> scale for </a:t>
            </a:r>
            <a:r>
              <a:rPr lang="en-US" altLang="zh-TW" sz="2000" dirty="0" smtClean="0"/>
              <a:t>scaling </a:t>
            </a:r>
            <a:r>
              <a:rPr lang="en-US" altLang="zh-TW" sz="2000" dirty="0"/>
              <a:t>and stable. </a:t>
            </a:r>
          </a:p>
          <a:p>
            <a:r>
              <a:rPr lang="en-US" altLang="zh-TW" sz="2400" dirty="0" smtClean="0"/>
              <a:t>Light </a:t>
            </a:r>
            <a:r>
              <a:rPr lang="en-US" altLang="zh-TW" sz="2400" dirty="0"/>
              <a:t>Sleep </a:t>
            </a:r>
            <a:endParaRPr lang="en-US" altLang="zh-TW" sz="2400" dirty="0" smtClean="0"/>
          </a:p>
          <a:p>
            <a:pPr lvl="1"/>
            <a:r>
              <a:rPr lang="en-US" altLang="zh-TW" sz="2000" dirty="0"/>
              <a:t>Purpose: Fast response for </a:t>
            </a:r>
            <a:r>
              <a:rPr lang="en-US" altLang="zh-TW" sz="2000" dirty="0" smtClean="0"/>
              <a:t>interrupt and save power</a:t>
            </a:r>
          </a:p>
          <a:p>
            <a:pPr lvl="1"/>
            <a:r>
              <a:rPr lang="en-US" altLang="zh-TW" sz="2000" dirty="0" smtClean="0"/>
              <a:t>Function: Core and RAM are </a:t>
            </a:r>
            <a:r>
              <a:rPr lang="en-US" altLang="zh-TW" sz="2000" dirty="0"/>
              <a:t>clock-gated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 smtClean="0"/>
              <a:t>Latency: fast for enabling clock switch</a:t>
            </a:r>
          </a:p>
          <a:p>
            <a:r>
              <a:rPr lang="en-US" altLang="zh-TW" sz="2400" dirty="0" smtClean="0"/>
              <a:t>Deep Sleep</a:t>
            </a:r>
          </a:p>
          <a:p>
            <a:pPr lvl="1"/>
            <a:r>
              <a:rPr lang="en-US" altLang="zh-TW" sz="2000" dirty="0"/>
              <a:t>Purpose</a:t>
            </a:r>
            <a:r>
              <a:rPr lang="en-US" altLang="zh-TW" sz="2000" dirty="0" smtClean="0"/>
              <a:t>: Stop core and save most power</a:t>
            </a:r>
            <a:endParaRPr lang="en-US" altLang="zh-TW" sz="2000" dirty="0"/>
          </a:p>
          <a:p>
            <a:pPr lvl="1"/>
            <a:r>
              <a:rPr lang="en-US" altLang="zh-TW" sz="2000" dirty="0"/>
              <a:t>Function: Core and RAM </a:t>
            </a:r>
            <a:r>
              <a:rPr lang="en-US" altLang="zh-TW" sz="2000" dirty="0" smtClean="0"/>
              <a:t>are </a:t>
            </a:r>
            <a:r>
              <a:rPr lang="en-US" altLang="zh-TW" sz="2000" dirty="0"/>
              <a:t>powered off</a:t>
            </a:r>
            <a:r>
              <a:rPr lang="en-US" altLang="zh-TW" sz="2000" dirty="0" smtClean="0"/>
              <a:t>.</a:t>
            </a:r>
          </a:p>
          <a:p>
            <a:pPr lvl="1"/>
            <a:r>
              <a:rPr lang="en-US" altLang="zh-TW" sz="2000" dirty="0"/>
              <a:t>Latency: </a:t>
            </a:r>
            <a:r>
              <a:rPr lang="en-US" altLang="zh-TW" sz="2000" dirty="0" smtClean="0"/>
              <a:t>For voltage/clock source, it might takes </a:t>
            </a:r>
            <a:r>
              <a:rPr lang="en-US" altLang="zh-TW" sz="2000" dirty="0" err="1" smtClean="0"/>
              <a:t>ms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scale for turn-on and stable. 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4870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Remove </a:t>
            </a:r>
            <a:r>
              <a:rPr lang="en-US" altLang="zh-TW" dirty="0"/>
              <a:t>core clock/power related </a:t>
            </a:r>
            <a:r>
              <a:rPr lang="en-US" altLang="zh-TW" dirty="0" smtClean="0"/>
              <a:t>logic</a:t>
            </a:r>
          </a:p>
          <a:p>
            <a:pPr lvl="1"/>
            <a:r>
              <a:rPr lang="en-US" altLang="zh-TW" dirty="0" smtClean="0"/>
              <a:t>standby </a:t>
            </a:r>
            <a:r>
              <a:rPr lang="en-US" altLang="zh-TW" dirty="0"/>
              <a:t>state machine</a:t>
            </a:r>
          </a:p>
          <a:p>
            <a:pPr lvl="1"/>
            <a:r>
              <a:rPr lang="en-US" altLang="zh-TW" dirty="0" smtClean="0"/>
              <a:t>smu2core_standby_req</a:t>
            </a:r>
            <a:endParaRPr lang="en-US" altLang="zh-TW" dirty="0"/>
          </a:p>
          <a:p>
            <a:pPr lvl="1"/>
            <a:r>
              <a:rPr lang="en-US" altLang="zh-TW" dirty="0" smtClean="0"/>
              <a:t>smu2core_wakeup_ok</a:t>
            </a:r>
            <a:endParaRPr lang="en-US" altLang="zh-TW" dirty="0"/>
          </a:p>
          <a:p>
            <a:pPr lvl="1"/>
            <a:r>
              <a:rPr lang="en-US" altLang="zh-TW" dirty="0" smtClean="0"/>
              <a:t>core2smu_wfi_mode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0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Global signal for all power domain</a:t>
            </a:r>
          </a:p>
          <a:p>
            <a:pPr lvl="1"/>
            <a:r>
              <a:rPr lang="en-US" altLang="zh-TW" sz="1800" dirty="0" err="1" smtClean="0"/>
              <a:t>smu_disable_init</a:t>
            </a:r>
            <a:r>
              <a:rPr lang="en-US" altLang="zh-TW" sz="1800" dirty="0" smtClean="0"/>
              <a:t>[31:0</a:t>
            </a:r>
            <a:r>
              <a:rPr lang="en-US" altLang="zh-TW" sz="1800" dirty="0"/>
              <a:t>](input): Indicate signal which is </a:t>
            </a:r>
            <a:r>
              <a:rPr lang="en-US" altLang="zh-TW" sz="1800" dirty="0" smtClean="0"/>
              <a:t>asserted by </a:t>
            </a:r>
            <a:r>
              <a:rPr lang="en-US" altLang="zh-TW" sz="1800" dirty="0"/>
              <a:t>PMDIR</a:t>
            </a:r>
            <a:r>
              <a:rPr lang="en-US" altLang="zh-TW" sz="1800" dirty="0" smtClean="0"/>
              <a:t> </a:t>
            </a:r>
          </a:p>
          <a:p>
            <a:pPr lvl="2"/>
            <a:r>
              <a:rPr lang="en-US" altLang="zh-TW" sz="1800" dirty="0" smtClean="0"/>
              <a:t>For </a:t>
            </a:r>
            <a:r>
              <a:rPr lang="en-US" altLang="zh-TW" sz="1800" dirty="0" err="1" smtClean="0"/>
              <a:t>icache_disable_init</a:t>
            </a:r>
            <a:r>
              <a:rPr lang="en-US" altLang="zh-TW" sz="1800" dirty="0" smtClean="0"/>
              <a:t>/</a:t>
            </a:r>
            <a:r>
              <a:rPr lang="en-US" altLang="zh-TW" sz="1800" dirty="0" err="1" smtClean="0"/>
              <a:t>dcache_disable_init</a:t>
            </a:r>
            <a:r>
              <a:rPr lang="en-US" altLang="zh-TW" sz="1800" dirty="0" smtClean="0"/>
              <a:t>/l2_disable_init</a:t>
            </a:r>
          </a:p>
          <a:p>
            <a:pPr lvl="1"/>
            <a:r>
              <a:rPr lang="en-US" altLang="zh-TW" sz="1800" dirty="0" err="1" smtClean="0"/>
              <a:t>debug_wakeup</a:t>
            </a:r>
            <a:r>
              <a:rPr lang="en-US" altLang="zh-TW" sz="1800" dirty="0" smtClean="0"/>
              <a:t>(input</a:t>
            </a:r>
            <a:r>
              <a:rPr lang="en-US" altLang="zh-TW" sz="1800" dirty="0"/>
              <a:t>): When </a:t>
            </a:r>
            <a:r>
              <a:rPr lang="en-US" altLang="zh-TW" sz="1800" dirty="0" err="1" smtClean="0"/>
              <a:t>debug_wakeup</a:t>
            </a:r>
            <a:r>
              <a:rPr lang="en-US" altLang="zh-TW" sz="1800" dirty="0" smtClean="0"/>
              <a:t> is </a:t>
            </a:r>
            <a:r>
              <a:rPr lang="en-US" altLang="zh-TW" sz="1800" dirty="0"/>
              <a:t>asserted, the </a:t>
            </a:r>
            <a:r>
              <a:rPr lang="en-US" altLang="zh-TW" sz="1800" dirty="0" smtClean="0"/>
              <a:t>bus power and clock </a:t>
            </a:r>
            <a:r>
              <a:rPr lang="en-US" altLang="zh-TW" sz="1800" dirty="0"/>
              <a:t>will be </a:t>
            </a:r>
            <a:r>
              <a:rPr lang="en-US" altLang="zh-TW" sz="1800" dirty="0" smtClean="0"/>
              <a:t>on for debug module access.</a:t>
            </a:r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7467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</a:t>
            </a:r>
            <a:r>
              <a:rPr lang="en-US" altLang="zh-TW" dirty="0"/>
              <a:t>signal </a:t>
            </a:r>
            <a:r>
              <a:rPr lang="en-US" altLang="zh-TW" dirty="0" smtClean="0"/>
              <a:t>from power domain </a:t>
            </a:r>
            <a:r>
              <a:rPr lang="en-US" altLang="zh-TW" sz="1800" dirty="0" smtClean="0"/>
              <a:t>(with synchronizer)</a:t>
            </a:r>
          </a:p>
          <a:p>
            <a:pPr lvl="1"/>
            <a:r>
              <a:rPr lang="en-US" altLang="zh-TW" sz="2000" dirty="0" err="1" smtClean="0"/>
              <a:t>pd_standby</a:t>
            </a:r>
            <a:r>
              <a:rPr lang="en-US" altLang="zh-TW" sz="2000" dirty="0" smtClean="0"/>
              <a:t>(input): Indicate this power domain is ready for power change</a:t>
            </a:r>
          </a:p>
          <a:p>
            <a:pPr lvl="2"/>
            <a:r>
              <a:rPr lang="en-US" altLang="zh-TW" sz="1600" dirty="0" smtClean="0"/>
              <a:t>Connect to </a:t>
            </a:r>
            <a:r>
              <a:rPr lang="en-US" altLang="zh-TW" sz="1600" dirty="0" err="1" smtClean="0"/>
              <a:t>core_wfi_mode</a:t>
            </a:r>
            <a:r>
              <a:rPr lang="en-US" altLang="zh-TW" sz="1600" dirty="0" smtClean="0"/>
              <a:t> that core ready for power change</a:t>
            </a:r>
          </a:p>
          <a:p>
            <a:pPr lvl="1"/>
            <a:r>
              <a:rPr lang="en-US" altLang="zh-TW" sz="2000" dirty="0" err="1" smtClean="0"/>
              <a:t>pd_all_standby</a:t>
            </a:r>
            <a:r>
              <a:rPr lang="en-US" altLang="zh-TW" sz="2000" dirty="0" smtClean="0"/>
              <a:t>(input</a:t>
            </a:r>
            <a:r>
              <a:rPr lang="en-US" altLang="zh-TW" sz="2000" dirty="0"/>
              <a:t>): Indicate </a:t>
            </a:r>
            <a:r>
              <a:rPr lang="en-US" altLang="zh-TW" sz="2000" dirty="0" smtClean="0"/>
              <a:t>all </a:t>
            </a:r>
            <a:r>
              <a:rPr lang="en-US" altLang="zh-TW" sz="2000" dirty="0"/>
              <a:t>power </a:t>
            </a:r>
            <a:r>
              <a:rPr lang="en-US" altLang="zh-TW" sz="2000" dirty="0" smtClean="0"/>
              <a:t>domains are standby</a:t>
            </a:r>
            <a:endParaRPr lang="en-US" altLang="zh-TW" sz="2000" dirty="0"/>
          </a:p>
          <a:p>
            <a:pPr lvl="1"/>
            <a:r>
              <a:rPr lang="en-US" altLang="zh-TW" sz="1800" dirty="0" err="1" smtClean="0"/>
              <a:t>pd_wakeup_event</a:t>
            </a:r>
            <a:r>
              <a:rPr lang="en-US" altLang="zh-TW" sz="1800" dirty="0" smtClean="0"/>
              <a:t>[WAKEUP_WIDTH-1:0](input</a:t>
            </a:r>
            <a:r>
              <a:rPr lang="en-US" altLang="zh-TW" sz="1800" dirty="0"/>
              <a:t>): Indicate this power </a:t>
            </a:r>
            <a:r>
              <a:rPr lang="en-US" altLang="zh-TW" sz="1800" dirty="0" smtClean="0"/>
              <a:t>domain should be wakeup</a:t>
            </a:r>
          </a:p>
          <a:p>
            <a:pPr lvl="2"/>
            <a:r>
              <a:rPr lang="en-US" altLang="zh-TW" sz="1600" dirty="0" smtClean="0"/>
              <a:t>Connect </a:t>
            </a:r>
            <a:r>
              <a:rPr lang="en-US" altLang="zh-TW" sz="1600" dirty="0"/>
              <a:t>to </a:t>
            </a:r>
            <a:r>
              <a:rPr lang="en-US" altLang="zh-TW" sz="1600" dirty="0" err="1" smtClean="0"/>
              <a:t>msip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meip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mtip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rtc_alarm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wi</a:t>
            </a:r>
            <a:r>
              <a:rPr lang="en-US" altLang="zh-TW" sz="1600" dirty="0" smtClean="0"/>
              <a:t>/</a:t>
            </a:r>
            <a:r>
              <a:rPr lang="en-US" altLang="zh-TW" sz="1600" dirty="0" err="1" smtClean="0"/>
              <a:t>smu</a:t>
            </a:r>
            <a:r>
              <a:rPr lang="en-US" altLang="zh-TW" sz="1600" dirty="0" smtClean="0"/>
              <a:t> </a:t>
            </a:r>
            <a:r>
              <a:rPr lang="en-US" altLang="zh-TW" sz="1600" dirty="0"/>
              <a:t>for cores wakeup </a:t>
            </a:r>
            <a:r>
              <a:rPr lang="en-US" altLang="zh-TW" sz="1600" dirty="0" smtClean="0"/>
              <a:t>event</a:t>
            </a:r>
          </a:p>
          <a:p>
            <a:pPr lvl="2"/>
            <a:endParaRPr lang="en-US" altLang="zh-TW" sz="1400" dirty="0" smtClean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2025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signal with ae350_smu_apbif</a:t>
            </a:r>
          </a:p>
          <a:p>
            <a:pPr lvl="1"/>
            <a:r>
              <a:rPr lang="en-US" altLang="zh-TW" sz="1400" dirty="0" err="1" smtClean="0"/>
              <a:t>smu_ret_cyc_we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Indicate </a:t>
            </a:r>
            <a:r>
              <a:rPr lang="en-US" altLang="zh-TW" sz="1400" dirty="0" err="1"/>
              <a:t>smu_ret_cyc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</a:p>
          <a:p>
            <a:pPr lvl="1"/>
            <a:r>
              <a:rPr lang="en-US" altLang="zh-TW" sz="1400" dirty="0" err="1" smtClean="0"/>
              <a:t>smu_ret_cyc</a:t>
            </a:r>
            <a:r>
              <a:rPr lang="en-US" altLang="zh-TW" sz="1400" dirty="0" smtClean="0"/>
              <a:t>[CYCLE_WIDTH-1:0](</a:t>
            </a:r>
            <a:r>
              <a:rPr lang="en-US" altLang="zh-TW" sz="1400" dirty="0"/>
              <a:t>input): Indicate </a:t>
            </a:r>
            <a:r>
              <a:rPr lang="en-US" altLang="zh-TW" sz="1400" dirty="0" smtClean="0"/>
              <a:t>retention cycle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smu_iso_cyc_we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Indicate </a:t>
            </a:r>
            <a:r>
              <a:rPr lang="en-US" altLang="zh-TW" sz="1400" dirty="0" err="1" smtClean="0"/>
              <a:t>smu_iso_cyc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  <a:endParaRPr lang="zh-TW" altLang="en-US" sz="1400" dirty="0" smtClean="0"/>
          </a:p>
          <a:p>
            <a:pPr lvl="1"/>
            <a:r>
              <a:rPr lang="en-US" altLang="zh-TW" sz="1400" dirty="0" err="1" smtClean="0"/>
              <a:t>smu_iso_cyc</a:t>
            </a:r>
            <a:r>
              <a:rPr lang="en-US" altLang="zh-TW" sz="1400" dirty="0"/>
              <a:t>[CYCLE_WIDTH-1:0](input): Indicate </a:t>
            </a:r>
            <a:r>
              <a:rPr lang="en-US" altLang="zh-TW" sz="1400" dirty="0" smtClean="0"/>
              <a:t>isolation cycle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smu_wakeup_enable_we</a:t>
            </a:r>
            <a:r>
              <a:rPr lang="en-US" altLang="zh-TW" sz="1400" dirty="0" smtClean="0"/>
              <a:t>(input</a:t>
            </a:r>
            <a:r>
              <a:rPr lang="en-US" altLang="zh-TW" sz="1400" dirty="0"/>
              <a:t>): </a:t>
            </a:r>
            <a:r>
              <a:rPr lang="en-US" altLang="zh-TW" sz="1400" dirty="0" smtClean="0"/>
              <a:t>Indicate </a:t>
            </a:r>
            <a:r>
              <a:rPr lang="en-US" altLang="zh-TW" sz="1400" dirty="0" err="1" smtClean="0"/>
              <a:t>smu_wakeup_enable</a:t>
            </a:r>
            <a:r>
              <a:rPr lang="en-US" altLang="zh-TW" sz="1400" dirty="0" smtClean="0"/>
              <a:t> is updated</a:t>
            </a:r>
          </a:p>
          <a:p>
            <a:pPr lvl="1"/>
            <a:r>
              <a:rPr lang="en-US" altLang="zh-TW" sz="1400" dirty="0" err="1"/>
              <a:t>smu_wakeup_enable</a:t>
            </a:r>
            <a:r>
              <a:rPr lang="en-US" altLang="zh-TW" sz="1400" dirty="0"/>
              <a:t>[WAKEUP_WIDTH:0](input): Indicate </a:t>
            </a:r>
            <a:r>
              <a:rPr lang="en-US" altLang="zh-TW" sz="1400" dirty="0" err="1" smtClean="0"/>
              <a:t>pd_wakeup_event</a:t>
            </a:r>
            <a:r>
              <a:rPr lang="en-US" altLang="zh-TW" sz="1400" dirty="0" smtClean="0"/>
              <a:t> is valid for wakeup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 smtClean="0"/>
              <a:t>smu_pwr_ctrl_cmd_</a:t>
            </a:r>
            <a:r>
              <a:rPr lang="en-US" altLang="zh-TW" sz="1400" dirty="0" err="1"/>
              <a:t>we</a:t>
            </a:r>
            <a:r>
              <a:rPr lang="en-US" altLang="zh-TW" sz="1400" dirty="0"/>
              <a:t>(input): Indicate smu_pwr_ctrl</a:t>
            </a:r>
            <a:r>
              <a:rPr lang="en-US" altLang="zh-TW" sz="1400" dirty="0" smtClean="0"/>
              <a:t>_* </a:t>
            </a:r>
            <a:r>
              <a:rPr lang="en-US" altLang="zh-TW" sz="1400" dirty="0"/>
              <a:t>is </a:t>
            </a:r>
            <a:r>
              <a:rPr lang="en-US" altLang="zh-TW" sz="1400" dirty="0" smtClean="0"/>
              <a:t>updated</a:t>
            </a:r>
          </a:p>
          <a:p>
            <a:pPr lvl="1"/>
            <a:r>
              <a:rPr lang="en-US" altLang="zh-TW" sz="1400" dirty="0" err="1"/>
              <a:t>smu_pwr_ctrl_cmd</a:t>
            </a:r>
            <a:r>
              <a:rPr lang="en-US" altLang="zh-TW" sz="1400" dirty="0"/>
              <a:t>[3:0] (input): Indicate power </a:t>
            </a:r>
            <a:r>
              <a:rPr lang="en-US" altLang="zh-TW" sz="1400" dirty="0" smtClean="0"/>
              <a:t>command</a:t>
            </a:r>
          </a:p>
          <a:p>
            <a:pPr lvl="1"/>
            <a:r>
              <a:rPr lang="en-US" altLang="zh-TW" sz="1400" dirty="0" err="1" smtClean="0"/>
              <a:t>smu_pwr_ctrl_frq</a:t>
            </a:r>
            <a:r>
              <a:rPr lang="en-US" altLang="zh-TW" sz="1400" dirty="0" smtClean="0"/>
              <a:t>[3:0]</a:t>
            </a:r>
            <a:r>
              <a:rPr lang="en-US" altLang="zh-TW" sz="1400" dirty="0"/>
              <a:t> (input): Indicate </a:t>
            </a:r>
            <a:r>
              <a:rPr lang="en-US" altLang="zh-TW" sz="1400" dirty="0" smtClean="0"/>
              <a:t>frequency vector</a:t>
            </a:r>
          </a:p>
          <a:p>
            <a:pPr lvl="1"/>
            <a:r>
              <a:rPr lang="en-US" altLang="zh-TW" sz="1400" dirty="0" err="1"/>
              <a:t>smu_</a:t>
            </a:r>
            <a:r>
              <a:rPr lang="en-US" altLang="zh-TW" sz="1400" dirty="0" err="1" smtClean="0"/>
              <a:t>pwr_ctrl_vol</a:t>
            </a:r>
            <a:r>
              <a:rPr lang="en-US" altLang="zh-TW" sz="1400" dirty="0" smtClean="0"/>
              <a:t>[3:0]</a:t>
            </a:r>
            <a:r>
              <a:rPr lang="en-US" altLang="zh-TW" sz="1400" dirty="0"/>
              <a:t> (input): Indicate </a:t>
            </a:r>
            <a:r>
              <a:rPr lang="en-US" altLang="zh-TW" sz="1400" dirty="0" smtClean="0"/>
              <a:t>voltage vector</a:t>
            </a:r>
          </a:p>
          <a:p>
            <a:pPr lvl="1"/>
            <a:endParaRPr lang="en-US" altLang="zh-TW" sz="1400" dirty="0"/>
          </a:p>
          <a:p>
            <a:pPr lvl="1"/>
            <a:r>
              <a:rPr lang="en-US" altLang="zh-TW" sz="1400" dirty="0" err="1"/>
              <a:t>smu_pwr_ctrl_cmd_pending</a:t>
            </a:r>
            <a:r>
              <a:rPr lang="en-US" altLang="zh-TW" sz="1400" dirty="0" smtClean="0"/>
              <a:t>[3:0] (output</a:t>
            </a:r>
            <a:r>
              <a:rPr lang="en-US" altLang="zh-TW" sz="1400" dirty="0"/>
              <a:t>): Indicate power </a:t>
            </a:r>
            <a:r>
              <a:rPr lang="en-US" altLang="zh-TW" sz="1400" dirty="0" smtClean="0"/>
              <a:t>command pending </a:t>
            </a:r>
            <a:r>
              <a:rPr lang="en-US" altLang="zh-TW" sz="1400" dirty="0"/>
              <a:t>in ae350_smu_pd</a:t>
            </a:r>
            <a:endParaRPr lang="en-US" altLang="zh-TW" sz="1400" dirty="0" smtClean="0"/>
          </a:p>
          <a:p>
            <a:pPr lvl="1"/>
            <a:r>
              <a:rPr lang="en-US" altLang="zh-TW" sz="1400" dirty="0" err="1" smtClean="0"/>
              <a:t>smu_pwr_status</a:t>
            </a:r>
            <a:r>
              <a:rPr lang="en-US" altLang="zh-TW" sz="1400" dirty="0" smtClean="0"/>
              <a:t>[3:0</a:t>
            </a:r>
            <a:r>
              <a:rPr lang="en-US" altLang="zh-TW" sz="1400" dirty="0"/>
              <a:t>] </a:t>
            </a:r>
            <a:r>
              <a:rPr lang="en-US" altLang="zh-TW" sz="1400" dirty="0" smtClean="0"/>
              <a:t>(output</a:t>
            </a:r>
            <a:r>
              <a:rPr lang="en-US" altLang="zh-TW" sz="1400" dirty="0"/>
              <a:t>): Indicate power </a:t>
            </a:r>
            <a:r>
              <a:rPr lang="en-US" altLang="zh-TW" sz="1400" dirty="0" smtClean="0"/>
              <a:t>status</a:t>
            </a:r>
            <a:endParaRPr lang="en-US" altLang="zh-TW" sz="1400" dirty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38276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control signal with voltage/clock source</a:t>
            </a:r>
          </a:p>
          <a:p>
            <a:pPr lvl="1"/>
            <a:r>
              <a:rPr lang="en-US" altLang="zh-TW" sz="1500" dirty="0" err="1" smtClean="0"/>
              <a:t>pd_vol_stable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Voltage </a:t>
            </a:r>
            <a:r>
              <a:rPr lang="en-US" altLang="zh-TW" sz="1500" dirty="0" smtClean="0"/>
              <a:t>is stable </a:t>
            </a:r>
            <a:r>
              <a:rPr lang="en-US" altLang="zh-TW" sz="1500" dirty="0"/>
              <a:t>for the power </a:t>
            </a:r>
            <a:r>
              <a:rPr lang="en-US" altLang="zh-TW" sz="1500" dirty="0" smtClean="0"/>
              <a:t>domain </a:t>
            </a:r>
            <a:r>
              <a:rPr lang="en-US" altLang="zh-TW" sz="1500" dirty="0"/>
              <a:t>from </a:t>
            </a:r>
            <a:r>
              <a:rPr lang="en-US" altLang="zh-TW" sz="1500" dirty="0" smtClean="0"/>
              <a:t>voltage regulator</a:t>
            </a:r>
          </a:p>
          <a:p>
            <a:pPr lvl="1"/>
            <a:r>
              <a:rPr lang="en-US" altLang="zh-TW" sz="1500" dirty="0" err="1"/>
              <a:t>pd_vol_scale_req</a:t>
            </a:r>
            <a:r>
              <a:rPr lang="en-US" altLang="zh-TW" sz="1500" dirty="0"/>
              <a:t>(output): Voltage scaling vector require to voltage regulator</a:t>
            </a:r>
          </a:p>
          <a:p>
            <a:pPr lvl="1"/>
            <a:r>
              <a:rPr lang="en-US" altLang="zh-TW" sz="1500" dirty="0" err="1"/>
              <a:t>pd_vol_scale</a:t>
            </a:r>
            <a:r>
              <a:rPr lang="en-US" altLang="zh-TW" sz="1500" dirty="0"/>
              <a:t>(output): Voltage scaling vector to voltage regulator</a:t>
            </a:r>
          </a:p>
          <a:p>
            <a:pPr lvl="1"/>
            <a:r>
              <a:rPr lang="en-US" altLang="zh-TW" sz="1500" dirty="0" err="1"/>
              <a:t>pd_vol_scale_ack</a:t>
            </a:r>
            <a:r>
              <a:rPr lang="en-US" altLang="zh-TW" sz="1500" dirty="0"/>
              <a:t>(input): Voltage scaling vector </a:t>
            </a:r>
            <a:r>
              <a:rPr lang="en-US" altLang="zh-TW" sz="1500" dirty="0" err="1"/>
              <a:t>ack</a:t>
            </a:r>
            <a:r>
              <a:rPr lang="en-US" altLang="zh-TW" sz="1500" dirty="0"/>
              <a:t> from voltage </a:t>
            </a:r>
            <a:r>
              <a:rPr lang="en-US" altLang="zh-TW" sz="1500" dirty="0" smtClean="0"/>
              <a:t>regulator</a:t>
            </a:r>
          </a:p>
          <a:p>
            <a:pPr lvl="1"/>
            <a:endParaRPr lang="en-US" altLang="zh-TW" sz="1500" dirty="0" smtClean="0"/>
          </a:p>
          <a:p>
            <a:pPr lvl="1"/>
            <a:r>
              <a:rPr lang="en-US" altLang="zh-TW" sz="1500" dirty="0" err="1" smtClean="0"/>
              <a:t>pd_frq_stable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Frequency</a:t>
            </a:r>
            <a:r>
              <a:rPr lang="en-US" altLang="zh-TW" sz="1500" dirty="0" smtClean="0"/>
              <a:t> </a:t>
            </a:r>
            <a:r>
              <a:rPr lang="en-US" altLang="zh-TW" sz="1500" dirty="0"/>
              <a:t>is stable for the power domain from clock generator</a:t>
            </a:r>
          </a:p>
          <a:p>
            <a:pPr lvl="1"/>
            <a:r>
              <a:rPr lang="en-US" altLang="zh-TW" sz="1500" dirty="0" err="1" smtClean="0"/>
              <a:t>pd_frq_scale_req</a:t>
            </a:r>
            <a:r>
              <a:rPr lang="en-US" altLang="zh-TW" sz="1500" dirty="0" smtClean="0"/>
              <a:t>(output</a:t>
            </a:r>
            <a:r>
              <a:rPr lang="en-US" altLang="zh-TW" sz="1500" dirty="0"/>
              <a:t>): Frequency scaling vector </a:t>
            </a:r>
            <a:r>
              <a:rPr lang="en-US" altLang="zh-TW" sz="1500" dirty="0" smtClean="0"/>
              <a:t>require to </a:t>
            </a:r>
            <a:r>
              <a:rPr lang="en-US" altLang="zh-TW" sz="1500" dirty="0"/>
              <a:t>clock </a:t>
            </a:r>
            <a:r>
              <a:rPr lang="en-US" altLang="zh-TW" sz="1500" dirty="0" smtClean="0"/>
              <a:t>generator</a:t>
            </a:r>
          </a:p>
          <a:p>
            <a:pPr lvl="1"/>
            <a:r>
              <a:rPr lang="en-US" altLang="zh-TW" sz="1500" dirty="0" err="1"/>
              <a:t>pd_frq_scale</a:t>
            </a:r>
            <a:r>
              <a:rPr lang="en-US" altLang="zh-TW" sz="1500" dirty="0"/>
              <a:t>(output): Frequency scaling vector to clock </a:t>
            </a:r>
            <a:r>
              <a:rPr lang="en-US" altLang="zh-TW" sz="1500" dirty="0" smtClean="0"/>
              <a:t>generator</a:t>
            </a:r>
            <a:endParaRPr lang="en-US" altLang="zh-TW" sz="1500" dirty="0"/>
          </a:p>
          <a:p>
            <a:pPr lvl="1"/>
            <a:r>
              <a:rPr lang="en-US" altLang="zh-TW" sz="1500" dirty="0" err="1" smtClean="0"/>
              <a:t>pd_frq_scale_ack</a:t>
            </a:r>
            <a:r>
              <a:rPr lang="en-US" altLang="zh-TW" sz="1500" dirty="0" smtClean="0"/>
              <a:t>(input</a:t>
            </a:r>
            <a:r>
              <a:rPr lang="en-US" altLang="zh-TW" sz="1500" dirty="0"/>
              <a:t>): Frequency scaling vector </a:t>
            </a:r>
            <a:r>
              <a:rPr lang="en-US" altLang="zh-TW" sz="1500" dirty="0" err="1"/>
              <a:t>ack</a:t>
            </a:r>
            <a:r>
              <a:rPr lang="en-US" altLang="zh-TW" sz="1500" dirty="0"/>
              <a:t> </a:t>
            </a:r>
            <a:r>
              <a:rPr lang="en-US" altLang="zh-TW" sz="1500" dirty="0" smtClean="0"/>
              <a:t>from clock generator</a:t>
            </a:r>
          </a:p>
          <a:p>
            <a:r>
              <a:rPr lang="en-US" altLang="zh-TW" dirty="0" smtClean="0"/>
              <a:t>Power </a:t>
            </a:r>
            <a:r>
              <a:rPr lang="en-US" altLang="zh-TW" dirty="0"/>
              <a:t>control signal </a:t>
            </a:r>
            <a:r>
              <a:rPr lang="en-US" altLang="zh-TW" dirty="0" smtClean="0"/>
              <a:t>for </a:t>
            </a:r>
            <a:r>
              <a:rPr lang="en-US" altLang="zh-TW" dirty="0"/>
              <a:t>power </a:t>
            </a:r>
            <a:r>
              <a:rPr lang="en-US" altLang="zh-TW" dirty="0" smtClean="0"/>
              <a:t>domain</a:t>
            </a:r>
            <a:endParaRPr lang="en-US" altLang="zh-TW" sz="2000" dirty="0" smtClean="0"/>
          </a:p>
          <a:p>
            <a:pPr lvl="1"/>
            <a:r>
              <a:rPr lang="en-US" altLang="zh-TW" sz="1600" dirty="0" err="1" smtClean="0"/>
              <a:t>pd_iso_en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Isolation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pd_ret_en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Retention </a:t>
            </a:r>
            <a:r>
              <a:rPr lang="en-US" altLang="zh-TW" sz="1600" dirty="0" smtClean="0"/>
              <a:t>indicator</a:t>
            </a:r>
          </a:p>
          <a:p>
            <a:pPr lvl="1"/>
            <a:r>
              <a:rPr lang="en-US" altLang="zh-TW" sz="1600" dirty="0" err="1" smtClean="0"/>
              <a:t>pd_clk_off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Clock shut-off </a:t>
            </a:r>
            <a:r>
              <a:rPr lang="en-US" altLang="zh-TW" sz="1600" dirty="0"/>
              <a:t>indicator </a:t>
            </a:r>
          </a:p>
          <a:p>
            <a:pPr lvl="1"/>
            <a:r>
              <a:rPr lang="en-US" altLang="zh-TW" sz="1600" dirty="0" err="1" smtClean="0"/>
              <a:t>pd_pwr_off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region </a:t>
            </a:r>
            <a:r>
              <a:rPr lang="en-US" altLang="zh-TW" sz="1600" dirty="0"/>
              <a:t>shut-off indicator </a:t>
            </a:r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81536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List of wakeup event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RISC-V</a:t>
            </a:r>
          </a:p>
          <a:p>
            <a:pPr lvl="1"/>
            <a:r>
              <a:rPr lang="en-US" altLang="zh-TW" dirty="0" smtClean="0"/>
              <a:t>Software PLIC: </a:t>
            </a:r>
            <a:r>
              <a:rPr lang="en-US" altLang="zh-TW" dirty="0" err="1" smtClean="0"/>
              <a:t>msip</a:t>
            </a:r>
            <a:endParaRPr lang="en-US" altLang="zh-TW" dirty="0"/>
          </a:p>
          <a:p>
            <a:pPr lvl="1"/>
            <a:r>
              <a:rPr lang="en-US" altLang="zh-TW" dirty="0" smtClean="0"/>
              <a:t>PLIC: </a:t>
            </a:r>
            <a:r>
              <a:rPr lang="en-US" altLang="zh-TW" dirty="0" err="1" smtClean="0"/>
              <a:t>meip</a:t>
            </a:r>
            <a:endParaRPr lang="en-US" altLang="zh-TW" dirty="0"/>
          </a:p>
          <a:p>
            <a:pPr lvl="1"/>
            <a:r>
              <a:rPr lang="en-US" altLang="zh-TW" dirty="0" smtClean="0"/>
              <a:t>PLMT: </a:t>
            </a:r>
            <a:r>
              <a:rPr lang="en-US" altLang="zh-TW" dirty="0" err="1" smtClean="0"/>
              <a:t>mtip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Debug mode: debugint (Not maskable)</a:t>
            </a:r>
          </a:p>
          <a:p>
            <a:r>
              <a:rPr lang="en-US" altLang="zh-TW" dirty="0" smtClean="0"/>
              <a:t>Platform</a:t>
            </a:r>
          </a:p>
          <a:p>
            <a:pPr lvl="1"/>
            <a:r>
              <a:rPr lang="en-US" altLang="zh-TW" dirty="0" smtClean="0"/>
              <a:t>RTC: </a:t>
            </a:r>
            <a:r>
              <a:rPr lang="en-US" altLang="zh-TW" dirty="0" err="1" smtClean="0"/>
              <a:t>rtc_alarm</a:t>
            </a:r>
            <a:endParaRPr lang="en-US" altLang="zh-TW" dirty="0" smtClean="0"/>
          </a:p>
          <a:p>
            <a:pPr lvl="1"/>
            <a:r>
              <a:rPr lang="en-US" altLang="zh-TW" dirty="0"/>
              <a:t>SMU: </a:t>
            </a:r>
            <a:r>
              <a:rPr lang="en-US" altLang="zh-TW" dirty="0" err="1" smtClean="0"/>
              <a:t>smu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External event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04340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 bwMode="auto">
          <a:xfrm>
            <a:off x="47675" y="4134028"/>
            <a:ext cx="2227217" cy="199516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7675" y="1637120"/>
            <a:ext cx="2227217" cy="2496908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矩形 73"/>
          <p:cNvSpPr/>
          <p:nvPr/>
        </p:nvSpPr>
        <p:spPr bwMode="auto">
          <a:xfrm>
            <a:off x="2274893" y="1637120"/>
            <a:ext cx="6676490" cy="4492076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4614803" y="3136075"/>
            <a:ext cx="4336580" cy="2993121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single core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3206987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Clock Generator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246629" y="1794678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246629" y="3587722"/>
            <a:ext cx="1771652" cy="16303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Power domain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6378795" y="4227208"/>
            <a:ext cx="1628776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Isolation cell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459218" y="4724110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Retention cell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直線單箭頭接點 14"/>
          <p:cNvCxnSpPr/>
          <p:nvPr/>
        </p:nvCxnSpPr>
        <p:spPr bwMode="auto">
          <a:xfrm>
            <a:off x="4218038" y="4394241"/>
            <a:ext cx="103252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直線單箭頭接點 28"/>
          <p:cNvCxnSpPr>
            <a:stCxn id="5" idx="2"/>
          </p:cNvCxnSpPr>
          <p:nvPr/>
        </p:nvCxnSpPr>
        <p:spPr bwMode="auto">
          <a:xfrm flipH="1">
            <a:off x="6132454" y="2804381"/>
            <a:ext cx="1" cy="7849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線單箭頭接點 32"/>
          <p:cNvCxnSpPr>
            <a:endCxn id="13" idx="2"/>
          </p:cNvCxnSpPr>
          <p:nvPr/>
        </p:nvCxnSpPr>
        <p:spPr bwMode="auto">
          <a:xfrm flipV="1">
            <a:off x="6132455" y="5073915"/>
            <a:ext cx="0" cy="3743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直線單箭頭接點 35"/>
          <p:cNvCxnSpPr>
            <a:endCxn id="12" idx="3"/>
          </p:cNvCxnSpPr>
          <p:nvPr/>
        </p:nvCxnSpPr>
        <p:spPr bwMode="auto">
          <a:xfrm flipV="1">
            <a:off x="7193183" y="5216499"/>
            <a:ext cx="0" cy="3743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/>
          <p:nvPr/>
        </p:nvCxnSpPr>
        <p:spPr bwMode="auto">
          <a:xfrm flipV="1">
            <a:off x="5018029" y="264400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3596115" y="392652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>
            <a:off x="3592180" y="4188465"/>
            <a:ext cx="23253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3592180" y="445040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5021964" y="1884596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5021964" y="2146533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5018029" y="240847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9" name="矩形 48"/>
          <p:cNvSpPr/>
          <p:nvPr/>
        </p:nvSpPr>
        <p:spPr>
          <a:xfrm>
            <a:off x="5085335" y="5579545"/>
            <a:ext cx="9765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pd_standby</a:t>
            </a:r>
            <a:endParaRPr lang="zh-TW" altLang="en-US" sz="1200" b="0" dirty="0"/>
          </a:p>
        </p:txBody>
      </p:sp>
      <p:cxnSp>
        <p:nvCxnSpPr>
          <p:cNvPr id="50" name="直線單箭頭接點 49"/>
          <p:cNvCxnSpPr/>
          <p:nvPr/>
        </p:nvCxnSpPr>
        <p:spPr bwMode="auto">
          <a:xfrm>
            <a:off x="5496194" y="5218106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3692860" y="2514844"/>
            <a:ext cx="940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pd_pwr_off</a:t>
            </a:r>
            <a:endParaRPr lang="en-US" altLang="zh-TW" sz="1200" b="0" dirty="0"/>
          </a:p>
        </p:txBody>
      </p:sp>
      <p:sp>
        <p:nvSpPr>
          <p:cNvPr id="54" name="矩形 53"/>
          <p:cNvSpPr/>
          <p:nvPr/>
        </p:nvSpPr>
        <p:spPr>
          <a:xfrm>
            <a:off x="5695476" y="5387310"/>
            <a:ext cx="873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pd_ret_en</a:t>
            </a:r>
            <a:endParaRPr lang="en-US" altLang="zh-TW" sz="1200" b="0" dirty="0"/>
          </a:p>
        </p:txBody>
      </p:sp>
      <p:sp>
        <p:nvSpPr>
          <p:cNvPr id="55" name="矩形 54"/>
          <p:cNvSpPr/>
          <p:nvPr/>
        </p:nvSpPr>
        <p:spPr>
          <a:xfrm>
            <a:off x="6793454" y="5537302"/>
            <a:ext cx="889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pd_iso_en</a:t>
            </a:r>
            <a:endParaRPr lang="en-US" altLang="zh-TW" sz="1200" b="0" dirty="0" smtClean="0"/>
          </a:p>
        </p:txBody>
      </p:sp>
      <p:cxnSp>
        <p:nvCxnSpPr>
          <p:cNvPr id="56" name="直線單箭頭接點 55"/>
          <p:cNvCxnSpPr/>
          <p:nvPr/>
        </p:nvCxnSpPr>
        <p:spPr bwMode="auto">
          <a:xfrm flipV="1">
            <a:off x="7018281" y="231560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3696722" y="174767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7201616" y="2158995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3689021" y="2007387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3693167" y="2269971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2274892" y="3791684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2267191" y="405139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2271337" y="4313976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69" name="矩形 68"/>
          <p:cNvSpPr/>
          <p:nvPr/>
        </p:nvSpPr>
        <p:spPr>
          <a:xfrm>
            <a:off x="4547234" y="4098929"/>
            <a:ext cx="7553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core_clk</a:t>
            </a:r>
            <a:endParaRPr lang="zh-TW" altLang="en-US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5697580" y="3144080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vout</a:t>
            </a:r>
            <a:endParaRPr lang="zh-TW" altLang="en-US" sz="1200" b="0" dirty="0"/>
          </a:p>
        </p:txBody>
      </p:sp>
      <p:sp>
        <p:nvSpPr>
          <p:cNvPr id="57" name="矩形 56"/>
          <p:cNvSpPr/>
          <p:nvPr/>
        </p:nvSpPr>
        <p:spPr bwMode="auto">
          <a:xfrm>
            <a:off x="5459218" y="4375928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SRAM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327085" y="4820054"/>
            <a:ext cx="1771652" cy="37153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SMU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327085" y="2327029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PLIC</a:t>
            </a:r>
          </a:p>
        </p:txBody>
      </p:sp>
      <p:sp>
        <p:nvSpPr>
          <p:cNvPr id="77" name="矩形 76"/>
          <p:cNvSpPr/>
          <p:nvPr/>
        </p:nvSpPr>
        <p:spPr bwMode="auto">
          <a:xfrm>
            <a:off x="327085" y="1809568"/>
            <a:ext cx="1771652" cy="37153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PLMT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327085" y="5355358"/>
            <a:ext cx="1771652" cy="3655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Debug System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674" y="575425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2314173" y="575986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5717480" y="575274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 (</a:t>
            </a:r>
            <a:r>
              <a:rPr lang="en-US" altLang="zh-TW" dirty="0" err="1" smtClean="0"/>
              <a:t>cpu_core_top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 bwMode="auto">
          <a:xfrm>
            <a:off x="327085" y="2838518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Software PLIC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27085" y="4290724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RTC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47675" y="378183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330240" y="3350007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AXI</a:t>
            </a:r>
          </a:p>
        </p:txBody>
      </p:sp>
      <p:cxnSp>
        <p:nvCxnSpPr>
          <p:cNvPr id="81" name="直線單箭頭接點 80"/>
          <p:cNvCxnSpPr/>
          <p:nvPr/>
        </p:nvCxnSpPr>
        <p:spPr bwMode="auto">
          <a:xfrm flipV="1">
            <a:off x="4021376" y="3265927"/>
            <a:ext cx="0" cy="321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3450234" y="3037189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85" name="矩形 84"/>
          <p:cNvSpPr/>
          <p:nvPr/>
        </p:nvSpPr>
        <p:spPr>
          <a:xfrm>
            <a:off x="2267518" y="4561750"/>
            <a:ext cx="8819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pd_clk_en</a:t>
            </a:r>
            <a:endParaRPr lang="en-US" altLang="zh-TW" sz="1200" b="0" dirty="0" smtClean="0"/>
          </a:p>
        </p:txBody>
      </p:sp>
      <p:cxnSp>
        <p:nvCxnSpPr>
          <p:cNvPr id="72" name="直線單箭頭接點 71"/>
          <p:cNvCxnSpPr/>
          <p:nvPr/>
        </p:nvCxnSpPr>
        <p:spPr bwMode="auto">
          <a:xfrm>
            <a:off x="3596115" y="4714435"/>
            <a:ext cx="23253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9575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 bwMode="auto">
          <a:xfrm>
            <a:off x="47675" y="4134028"/>
            <a:ext cx="2227217" cy="229868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47675" y="1637120"/>
            <a:ext cx="2227217" cy="2496908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矩形 73"/>
          <p:cNvSpPr/>
          <p:nvPr/>
        </p:nvSpPr>
        <p:spPr bwMode="auto">
          <a:xfrm>
            <a:off x="2274893" y="1637120"/>
            <a:ext cx="6676490" cy="4795595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4514850" y="3136076"/>
            <a:ext cx="4436533" cy="3296640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multi-core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3206987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Clock Generator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787649" y="1794678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5" name="直線單箭頭接點 14"/>
          <p:cNvCxnSpPr>
            <a:stCxn id="5" idx="2"/>
          </p:cNvCxnSpPr>
          <p:nvPr/>
        </p:nvCxnSpPr>
        <p:spPr bwMode="auto">
          <a:xfrm>
            <a:off x="6673475" y="2804381"/>
            <a:ext cx="0" cy="4560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3596115" y="3986634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>
            <a:off x="3596115" y="4248571"/>
            <a:ext cx="2286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3592180" y="4510509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5562984" y="189314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5562984" y="2155079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5559049" y="241701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56" name="直線單箭頭接點 55"/>
          <p:cNvCxnSpPr/>
          <p:nvPr/>
        </p:nvCxnSpPr>
        <p:spPr bwMode="auto">
          <a:xfrm flipV="1">
            <a:off x="7559301" y="231560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4237742" y="175622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7742636" y="2158995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pd_vol_stable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4230041" y="200055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4234187" y="224487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2274892" y="3851791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2267191" y="411149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2271337" y="437408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5966246" y="2897691"/>
            <a:ext cx="7516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vout0~3</a:t>
            </a:r>
            <a:endParaRPr lang="zh-TW" altLang="en-US" sz="1200" b="0" dirty="0"/>
          </a:p>
        </p:txBody>
      </p:sp>
      <p:sp>
        <p:nvSpPr>
          <p:cNvPr id="75" name="矩形 74"/>
          <p:cNvSpPr/>
          <p:nvPr/>
        </p:nvSpPr>
        <p:spPr bwMode="auto">
          <a:xfrm>
            <a:off x="327085" y="4820054"/>
            <a:ext cx="1771652" cy="37153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SMU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327085" y="2327029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PLIC</a:t>
            </a:r>
          </a:p>
        </p:txBody>
      </p:sp>
      <p:sp>
        <p:nvSpPr>
          <p:cNvPr id="77" name="矩形 76"/>
          <p:cNvSpPr/>
          <p:nvPr/>
        </p:nvSpPr>
        <p:spPr bwMode="auto">
          <a:xfrm>
            <a:off x="327085" y="1809568"/>
            <a:ext cx="1771652" cy="37153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PLMT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327085" y="5355358"/>
            <a:ext cx="1771652" cy="3655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Debug System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7674" y="605905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2211532" y="606466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5691849" y="607278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 (</a:t>
            </a:r>
            <a:r>
              <a:rPr lang="en-US" altLang="zh-TW" dirty="0" err="1" smtClean="0"/>
              <a:t>cpu_core_top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 bwMode="auto">
          <a:xfrm>
            <a:off x="327085" y="2838518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Software PLIC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27085" y="4290724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RTC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47675" y="378183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330240" y="3350007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AXI</a:t>
            </a:r>
          </a:p>
        </p:txBody>
      </p:sp>
      <p:cxnSp>
        <p:nvCxnSpPr>
          <p:cNvPr id="81" name="直線單箭頭接點 80"/>
          <p:cNvCxnSpPr/>
          <p:nvPr/>
        </p:nvCxnSpPr>
        <p:spPr bwMode="auto">
          <a:xfrm flipV="1">
            <a:off x="4021376" y="3265927"/>
            <a:ext cx="0" cy="3217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矩形 81"/>
          <p:cNvSpPr/>
          <p:nvPr/>
        </p:nvSpPr>
        <p:spPr>
          <a:xfrm>
            <a:off x="3450234" y="3037189"/>
            <a:ext cx="12337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pd_clk_stable</a:t>
            </a:r>
            <a:endParaRPr lang="en-US" altLang="zh-TW" sz="1200" b="0" dirty="0"/>
          </a:p>
        </p:txBody>
      </p:sp>
      <p:sp>
        <p:nvSpPr>
          <p:cNvPr id="85" name="矩形 84"/>
          <p:cNvSpPr/>
          <p:nvPr/>
        </p:nvSpPr>
        <p:spPr>
          <a:xfrm>
            <a:off x="2268934" y="4636042"/>
            <a:ext cx="114050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pd_clk_off0~3</a:t>
            </a:r>
          </a:p>
        </p:txBody>
      </p:sp>
      <p:cxnSp>
        <p:nvCxnSpPr>
          <p:cNvPr id="72" name="直線單箭頭接點 71"/>
          <p:cNvCxnSpPr/>
          <p:nvPr/>
        </p:nvCxnSpPr>
        <p:spPr bwMode="auto">
          <a:xfrm>
            <a:off x="3596115" y="4789115"/>
            <a:ext cx="22860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直線接點 10"/>
          <p:cNvCxnSpPr/>
          <p:nvPr/>
        </p:nvCxnSpPr>
        <p:spPr bwMode="auto">
          <a:xfrm flipH="1">
            <a:off x="3676321" y="4733390"/>
            <a:ext cx="21394" cy="105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0" name="群組 19"/>
          <p:cNvGrpSpPr/>
          <p:nvPr/>
        </p:nvGrpSpPr>
        <p:grpSpPr>
          <a:xfrm>
            <a:off x="5804062" y="3260411"/>
            <a:ext cx="2447229" cy="2318961"/>
            <a:chOff x="7201616" y="3382108"/>
            <a:chExt cx="2447229" cy="2318961"/>
          </a:xfrm>
        </p:grpSpPr>
        <p:sp>
          <p:nvSpPr>
            <p:cNvPr id="90" name="矩形 89"/>
            <p:cNvSpPr/>
            <p:nvPr/>
          </p:nvSpPr>
          <p:spPr bwMode="auto">
            <a:xfrm>
              <a:off x="7443461" y="3646396"/>
              <a:ext cx="2205384" cy="205467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TW" dirty="0" smtClean="0"/>
            </a:p>
          </p:txBody>
        </p:sp>
        <p:sp>
          <p:nvSpPr>
            <p:cNvPr id="89" name="矩形 88"/>
            <p:cNvSpPr/>
            <p:nvPr/>
          </p:nvSpPr>
          <p:spPr bwMode="auto">
            <a:xfrm>
              <a:off x="7362846" y="3558300"/>
              <a:ext cx="2205384" cy="205467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TW" dirty="0" smtClean="0"/>
            </a:p>
          </p:txBody>
        </p:sp>
        <p:sp>
          <p:nvSpPr>
            <p:cNvPr id="88" name="矩形 87"/>
            <p:cNvSpPr/>
            <p:nvPr/>
          </p:nvSpPr>
          <p:spPr bwMode="auto">
            <a:xfrm>
              <a:off x="7282231" y="3470204"/>
              <a:ext cx="2205384" cy="205467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TW" dirty="0" smtClean="0"/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7201616" y="3382108"/>
              <a:ext cx="2205384" cy="2054673"/>
              <a:chOff x="9123788" y="3400616"/>
              <a:chExt cx="2205384" cy="2054673"/>
            </a:xfrm>
          </p:grpSpPr>
          <p:sp>
            <p:nvSpPr>
              <p:cNvPr id="86" name="矩形 85"/>
              <p:cNvSpPr/>
              <p:nvPr/>
            </p:nvSpPr>
            <p:spPr bwMode="auto">
              <a:xfrm>
                <a:off x="9123788" y="3400616"/>
                <a:ext cx="2205384" cy="2054673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zh-TW" dirty="0" smtClean="0"/>
              </a:p>
            </p:txBody>
          </p:sp>
          <p:sp>
            <p:nvSpPr>
              <p:cNvPr id="9" name="矩形 8"/>
              <p:cNvSpPr/>
              <p:nvPr/>
            </p:nvSpPr>
            <p:spPr bwMode="auto">
              <a:xfrm>
                <a:off x="9165350" y="3454394"/>
                <a:ext cx="1771652" cy="1965508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zh-TW" dirty="0" smtClean="0"/>
              </a:p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dirty="0" smtClean="0"/>
                  <a:t>Power domain</a:t>
                </a:r>
                <a:endParaRPr kumimoji="0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 bwMode="auto">
              <a:xfrm rot="5400000">
                <a:off x="10130741" y="4262236"/>
                <a:ext cx="1962325" cy="34980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dirty="0" smtClean="0"/>
                  <a:t>Isolation cell</a:t>
                </a:r>
                <a:endParaRPr kumimoji="0" lang="zh-TW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 bwMode="auto">
              <a:xfrm>
                <a:off x="9377939" y="4925912"/>
                <a:ext cx="1346474" cy="34980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sz="1400" dirty="0" smtClean="0"/>
                  <a:t>Retention cell</a:t>
                </a:r>
                <a:endParaRPr kumimoji="0" lang="zh-TW" altLang="en-U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 bwMode="auto">
              <a:xfrm>
                <a:off x="9377939" y="4577730"/>
                <a:ext cx="1346474" cy="349805"/>
              </a:xfrm>
              <a:prstGeom prst="rect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zh-TW" sz="1400" dirty="0" smtClean="0"/>
                  <a:t>SRAM</a:t>
                </a:r>
                <a:endParaRPr kumimoji="0" lang="zh-TW" altLang="en-US" sz="1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p:grpSp>
      </p:grpSp>
      <p:cxnSp>
        <p:nvCxnSpPr>
          <p:cNvPr id="91" name="直線單箭頭接點 90"/>
          <p:cNvCxnSpPr/>
          <p:nvPr/>
        </p:nvCxnSpPr>
        <p:spPr bwMode="auto">
          <a:xfrm>
            <a:off x="4218038" y="4428947"/>
            <a:ext cx="157469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2" name="直線接點 91"/>
          <p:cNvCxnSpPr/>
          <p:nvPr/>
        </p:nvCxnSpPr>
        <p:spPr bwMode="auto">
          <a:xfrm flipH="1">
            <a:off x="4994570" y="4372221"/>
            <a:ext cx="21394" cy="105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矩形 92"/>
          <p:cNvSpPr/>
          <p:nvPr/>
        </p:nvSpPr>
        <p:spPr>
          <a:xfrm>
            <a:off x="4476695" y="4142980"/>
            <a:ext cx="10150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core_clk0~3</a:t>
            </a:r>
          </a:p>
        </p:txBody>
      </p:sp>
      <p:cxnSp>
        <p:nvCxnSpPr>
          <p:cNvPr id="83" name="直線單箭頭接點 82"/>
          <p:cNvCxnSpPr/>
          <p:nvPr/>
        </p:nvCxnSpPr>
        <p:spPr bwMode="auto">
          <a:xfrm flipV="1">
            <a:off x="7196121" y="5593346"/>
            <a:ext cx="0" cy="1681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7" name="直線單箭頭接點 86"/>
          <p:cNvCxnSpPr/>
          <p:nvPr/>
        </p:nvCxnSpPr>
        <p:spPr bwMode="auto">
          <a:xfrm flipV="1">
            <a:off x="8148014" y="5590170"/>
            <a:ext cx="0" cy="1776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4" name="矩形 93"/>
          <p:cNvSpPr/>
          <p:nvPr/>
        </p:nvSpPr>
        <p:spPr>
          <a:xfrm>
            <a:off x="5569319" y="5735778"/>
            <a:ext cx="12362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pd_standby0~3</a:t>
            </a:r>
            <a:endParaRPr lang="zh-TW" altLang="en-US" sz="1200" b="0" dirty="0"/>
          </a:p>
        </p:txBody>
      </p:sp>
      <p:cxnSp>
        <p:nvCxnSpPr>
          <p:cNvPr id="95" name="直線單箭頭接點 94"/>
          <p:cNvCxnSpPr/>
          <p:nvPr/>
        </p:nvCxnSpPr>
        <p:spPr bwMode="auto">
          <a:xfrm>
            <a:off x="6169294" y="5586707"/>
            <a:ext cx="0" cy="1811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6" name="矩形 95"/>
          <p:cNvSpPr/>
          <p:nvPr/>
        </p:nvSpPr>
        <p:spPr>
          <a:xfrm>
            <a:off x="6663297" y="5724695"/>
            <a:ext cx="11336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pd_ret_en0~3</a:t>
            </a:r>
            <a:endParaRPr lang="en-US" altLang="zh-TW" sz="1200" b="0" dirty="0"/>
          </a:p>
        </p:txBody>
      </p:sp>
      <p:sp>
        <p:nvSpPr>
          <p:cNvPr id="97" name="矩形 96"/>
          <p:cNvSpPr/>
          <p:nvPr/>
        </p:nvSpPr>
        <p:spPr>
          <a:xfrm>
            <a:off x="7716555" y="5718035"/>
            <a:ext cx="114967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pd_iso_en0~3</a:t>
            </a:r>
          </a:p>
        </p:txBody>
      </p:sp>
      <p:cxnSp>
        <p:nvCxnSpPr>
          <p:cNvPr id="98" name="直線單箭頭接點 97"/>
          <p:cNvCxnSpPr/>
          <p:nvPr/>
        </p:nvCxnSpPr>
        <p:spPr bwMode="auto">
          <a:xfrm flipV="1">
            <a:off x="5564129" y="2626915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9" name="矩形 98"/>
          <p:cNvSpPr/>
          <p:nvPr/>
        </p:nvSpPr>
        <p:spPr>
          <a:xfrm>
            <a:off x="4228402" y="2489206"/>
            <a:ext cx="11998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smtClean="0"/>
              <a:t>pd_pwr_off0~3</a:t>
            </a:r>
            <a:endParaRPr lang="en-US" altLang="zh-TW" sz="1200" b="0" dirty="0"/>
          </a:p>
        </p:txBody>
      </p:sp>
      <p:cxnSp>
        <p:nvCxnSpPr>
          <p:cNvPr id="100" name="直線接點 99"/>
          <p:cNvCxnSpPr/>
          <p:nvPr/>
        </p:nvCxnSpPr>
        <p:spPr bwMode="auto">
          <a:xfrm flipH="1">
            <a:off x="6108995" y="5615142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直線接點 101"/>
          <p:cNvCxnSpPr/>
          <p:nvPr/>
        </p:nvCxnSpPr>
        <p:spPr bwMode="auto">
          <a:xfrm flipH="1">
            <a:off x="7135943" y="5691733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直線接點 102"/>
          <p:cNvCxnSpPr/>
          <p:nvPr/>
        </p:nvCxnSpPr>
        <p:spPr bwMode="auto">
          <a:xfrm flipH="1">
            <a:off x="8087836" y="5691733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4" name="直線接點 103"/>
          <p:cNvCxnSpPr/>
          <p:nvPr/>
        </p:nvCxnSpPr>
        <p:spPr bwMode="auto">
          <a:xfrm flipH="1">
            <a:off x="6611095" y="2994996"/>
            <a:ext cx="120355" cy="526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直線接點 68"/>
          <p:cNvCxnSpPr/>
          <p:nvPr/>
        </p:nvCxnSpPr>
        <p:spPr bwMode="auto">
          <a:xfrm flipH="1">
            <a:off x="5621800" y="2579197"/>
            <a:ext cx="21394" cy="1052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31175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Sample block diagram for power domain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4" t="5170" r="57059" b="2266"/>
          <a:stretch/>
        </p:blipFill>
        <p:spPr bwMode="auto">
          <a:xfrm>
            <a:off x="2433659" y="921660"/>
            <a:ext cx="4767261" cy="5614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69517" y="1386619"/>
            <a:ext cx="2311733" cy="374937"/>
          </a:xfrm>
          <a:prstGeom prst="rect">
            <a:avLst/>
          </a:prstGeom>
          <a:solidFill>
            <a:srgbClr val="8BFFA7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9516" y="1017287"/>
            <a:ext cx="2311734" cy="369332"/>
          </a:xfrm>
          <a:prstGeom prst="rect">
            <a:avLst/>
          </a:prstGeom>
          <a:solidFill>
            <a:srgbClr val="D9F090">
              <a:alpha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9517" y="1761556"/>
            <a:ext cx="2311733" cy="363727"/>
          </a:xfrm>
          <a:prstGeom prst="rect">
            <a:avLst/>
          </a:prstGeom>
          <a:solidFill>
            <a:schemeClr val="accent6">
              <a:lumMod val="40000"/>
              <a:lumOff val="60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9517" y="2125284"/>
            <a:ext cx="2311733" cy="369332"/>
          </a:xfrm>
          <a:prstGeom prst="rect">
            <a:avLst/>
          </a:prstGeom>
          <a:solidFill>
            <a:schemeClr val="tx2">
              <a:lumMod val="25000"/>
              <a:lumOff val="75000"/>
              <a:alpha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9517" y="1392224"/>
            <a:ext cx="2311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69516" y="1761556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9517" y="212528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69516" y="1017287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 bwMode="auto">
          <a:xfrm>
            <a:off x="2459822" y="921660"/>
            <a:ext cx="4657258" cy="5588980"/>
          </a:xfrm>
          <a:prstGeom prst="rect">
            <a:avLst/>
          </a:prstGeom>
          <a:solidFill>
            <a:srgbClr val="D9F090">
              <a:alpha val="2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4010025" y="5350669"/>
            <a:ext cx="674687" cy="214311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278346" y="5350669"/>
            <a:ext cx="674687" cy="214311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847976" y="2174083"/>
            <a:ext cx="502444" cy="231117"/>
          </a:xfrm>
          <a:prstGeom prst="rect">
            <a:avLst/>
          </a:prstGeom>
          <a:solidFill>
            <a:srgbClr val="8BFFA7">
              <a:alpha val="35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3559477" y="1576890"/>
            <a:ext cx="3168983" cy="1882590"/>
          </a:xfrm>
          <a:prstGeom prst="rect">
            <a:avLst/>
          </a:prstGeom>
          <a:solidFill>
            <a:schemeClr val="tx2">
              <a:lumMod val="25000"/>
              <a:lumOff val="75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12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for power mode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154117" y="3800525"/>
            <a:ext cx="1647730" cy="1285592"/>
            <a:chOff x="3690430" y="1014104"/>
            <a:chExt cx="1647730" cy="1285592"/>
          </a:xfrm>
        </p:grpSpPr>
        <p:sp>
          <p:nvSpPr>
            <p:cNvPr id="4" name="橢圓 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932273" y="3800525"/>
            <a:ext cx="1739495" cy="1285592"/>
            <a:chOff x="3690430" y="1014104"/>
            <a:chExt cx="1739495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768123" y="1472234"/>
              <a:ext cx="16618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ST_ISOLATION</a:t>
              </a: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802193" y="3800525"/>
            <a:ext cx="1742785" cy="1285592"/>
            <a:chOff x="3682398" y="1014104"/>
            <a:chExt cx="1742785" cy="1285592"/>
          </a:xfrm>
        </p:grpSpPr>
        <p:sp>
          <p:nvSpPr>
            <p:cNvPr id="11" name="橢圓 10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682398" y="1472234"/>
              <a:ext cx="17427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ST_RETENTION</a:t>
              </a: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055294" y="1757193"/>
            <a:ext cx="1845377" cy="1285592"/>
            <a:chOff x="3615723" y="1014104"/>
            <a:chExt cx="1845377" cy="1285592"/>
          </a:xfrm>
        </p:grpSpPr>
        <p:sp>
          <p:nvSpPr>
            <p:cNvPr id="14" name="橢圓 1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15723" y="1500809"/>
              <a:ext cx="18453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ST_LIGHTSLEEP</a:t>
              </a:r>
              <a:endParaRPr lang="en-US" altLang="zh-TW" sz="1600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6559098" y="3800525"/>
            <a:ext cx="1786066" cy="1285592"/>
            <a:chOff x="3625248" y="1014104"/>
            <a:chExt cx="1786066" cy="1285592"/>
          </a:xfrm>
        </p:grpSpPr>
        <p:sp>
          <p:nvSpPr>
            <p:cNvPr id="17" name="橢圓 16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3625248" y="1472234"/>
              <a:ext cx="17860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ST_DEEPSLEEP</a:t>
              </a:r>
            </a:p>
          </p:txBody>
        </p:sp>
      </p:grpSp>
      <p:sp>
        <p:nvSpPr>
          <p:cNvPr id="32" name="弧形 31"/>
          <p:cNvSpPr/>
          <p:nvPr/>
        </p:nvSpPr>
        <p:spPr bwMode="auto">
          <a:xfrm rot="5024736">
            <a:off x="2616883" y="3726786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弧形 32"/>
          <p:cNvSpPr/>
          <p:nvPr/>
        </p:nvSpPr>
        <p:spPr bwMode="auto">
          <a:xfrm rot="5024736">
            <a:off x="4432552" y="3793775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弧形 33"/>
          <p:cNvSpPr/>
          <p:nvPr/>
        </p:nvSpPr>
        <p:spPr bwMode="auto">
          <a:xfrm rot="15524233">
            <a:off x="2634189" y="463300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弧形 35"/>
          <p:cNvSpPr/>
          <p:nvPr/>
        </p:nvSpPr>
        <p:spPr bwMode="auto">
          <a:xfrm rot="15524233">
            <a:off x="4449858" y="459413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292698" y="337909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pd_standby</a:t>
            </a:r>
            <a:r>
              <a:rPr lang="en-US" altLang="zh-TW" sz="1000" dirty="0" smtClean="0"/>
              <a:t>==1&amp;&amp;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==DEEPSLEEP</a:t>
            </a:r>
            <a:endParaRPr lang="zh-TW" altLang="en-US" sz="1000" dirty="0"/>
          </a:p>
        </p:txBody>
      </p:sp>
      <p:sp>
        <p:nvSpPr>
          <p:cNvPr id="46" name="矩形 45"/>
          <p:cNvSpPr/>
          <p:nvPr/>
        </p:nvSpPr>
        <p:spPr>
          <a:xfrm>
            <a:off x="391788" y="2988810"/>
            <a:ext cx="14013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 smtClean="0"/>
              <a:t>pd_standby</a:t>
            </a:r>
            <a:r>
              <a:rPr lang="en-US" altLang="zh-TW" sz="1000" dirty="0" smtClean="0"/>
              <a:t>==</a:t>
            </a:r>
            <a:r>
              <a:rPr lang="en-US" altLang="zh-TW" sz="1000" dirty="0"/>
              <a:t>1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==LIGHTSLEEP</a:t>
            </a:r>
            <a:endParaRPr lang="zh-TW" altLang="en-US" sz="1000" dirty="0"/>
          </a:p>
        </p:txBody>
      </p:sp>
      <p:sp>
        <p:nvSpPr>
          <p:cNvPr id="47" name="矩形 46"/>
          <p:cNvSpPr/>
          <p:nvPr/>
        </p:nvSpPr>
        <p:spPr>
          <a:xfrm>
            <a:off x="5938461" y="3574558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ret_cyc</a:t>
            </a:r>
            <a:endParaRPr lang="zh-TW" altLang="en-US" sz="1000" dirty="0"/>
          </a:p>
        </p:txBody>
      </p:sp>
      <p:sp>
        <p:nvSpPr>
          <p:cNvPr id="50" name="矩形 49"/>
          <p:cNvSpPr/>
          <p:nvPr/>
        </p:nvSpPr>
        <p:spPr>
          <a:xfrm>
            <a:off x="4053322" y="3571533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1" name="矩形 50"/>
          <p:cNvSpPr/>
          <p:nvPr/>
        </p:nvSpPr>
        <p:spPr>
          <a:xfrm>
            <a:off x="2308472" y="5076678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2" name="矩形 51"/>
          <p:cNvSpPr/>
          <p:nvPr/>
        </p:nvSpPr>
        <p:spPr>
          <a:xfrm>
            <a:off x="4063741" y="5060991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/>
              <a:t>counter&gt;=</a:t>
            </a:r>
            <a:r>
              <a:rPr lang="en-US" altLang="zh-TW" sz="1000" dirty="0" err="1"/>
              <a:t>ret_cyc</a:t>
            </a:r>
            <a:endParaRPr lang="zh-TW" altLang="en-US" sz="1000" dirty="0"/>
          </a:p>
        </p:txBody>
      </p:sp>
      <p:cxnSp>
        <p:nvCxnSpPr>
          <p:cNvPr id="44" name="直線單箭頭接點 43"/>
          <p:cNvCxnSpPr/>
          <p:nvPr/>
        </p:nvCxnSpPr>
        <p:spPr bwMode="auto">
          <a:xfrm>
            <a:off x="1728992" y="3118032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>
            <a:off x="2167142" y="3106156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3" name="文字方塊 52"/>
          <p:cNvSpPr txBox="1"/>
          <p:nvPr/>
        </p:nvSpPr>
        <p:spPr>
          <a:xfrm>
            <a:off x="2113747" y="2969028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pd_clk_stable</a:t>
            </a:r>
            <a:endParaRPr lang="en-US" altLang="zh-TW" sz="1000" dirty="0"/>
          </a:p>
        </p:txBody>
      </p:sp>
      <p:sp>
        <p:nvSpPr>
          <p:cNvPr id="54" name="弧形 53"/>
          <p:cNvSpPr/>
          <p:nvPr/>
        </p:nvSpPr>
        <p:spPr bwMode="auto">
          <a:xfrm rot="5024736">
            <a:off x="6288456" y="379377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弧形 54"/>
          <p:cNvSpPr/>
          <p:nvPr/>
        </p:nvSpPr>
        <p:spPr bwMode="auto">
          <a:xfrm rot="15524233">
            <a:off x="6305762" y="4594133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9823" y="5061739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&amp;&amp;</a:t>
            </a:r>
            <a:endParaRPr lang="en-US" altLang="zh-TW" sz="1000" dirty="0"/>
          </a:p>
          <a:p>
            <a:r>
              <a:rPr lang="en-US" altLang="zh-TW" sz="1000" dirty="0" err="1" smtClean="0"/>
              <a:t>pd_pwr_stable</a:t>
            </a:r>
            <a:endParaRPr lang="en-US" altLang="zh-TW" sz="1000" dirty="0"/>
          </a:p>
        </p:txBody>
      </p:sp>
    </p:spTree>
    <p:extLst>
      <p:ext uri="{BB962C8B-B14F-4D97-AF65-F5344CB8AC3E}">
        <p14:creationId xmlns:p14="http://schemas.microsoft.com/office/powerpoint/2010/main" val="103851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for DVFS mode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700640" y="2165360"/>
            <a:ext cx="1647730" cy="1285592"/>
            <a:chOff x="3690430" y="1014104"/>
            <a:chExt cx="1647730" cy="1285592"/>
          </a:xfrm>
        </p:grpSpPr>
        <p:sp>
          <p:nvSpPr>
            <p:cNvPr id="5" name="橢圓 4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3700640" y="4302665"/>
            <a:ext cx="1647730" cy="1285592"/>
            <a:chOff x="3690430" y="1014104"/>
            <a:chExt cx="1647730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958623" y="1491284"/>
              <a:ext cx="11047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ST_DVFS</a:t>
              </a:r>
              <a:endParaRPr lang="zh-TW" altLang="en-US" sz="1600" dirty="0"/>
            </a:p>
          </p:txBody>
        </p:sp>
      </p:grpSp>
      <p:cxnSp>
        <p:nvCxnSpPr>
          <p:cNvPr id="10" name="直線單箭頭接點 9"/>
          <p:cNvCxnSpPr/>
          <p:nvPr/>
        </p:nvCxnSpPr>
        <p:spPr bwMode="auto">
          <a:xfrm>
            <a:off x="4292684" y="3533696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直線單箭頭接點 10"/>
          <p:cNvCxnSpPr/>
          <p:nvPr/>
        </p:nvCxnSpPr>
        <p:spPr bwMode="auto">
          <a:xfrm>
            <a:off x="4730834" y="3521820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12" name="文字方塊 11"/>
          <p:cNvSpPr txBox="1"/>
          <p:nvPr/>
        </p:nvSpPr>
        <p:spPr>
          <a:xfrm>
            <a:off x="2635099" y="3645692"/>
            <a:ext cx="1790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pd_all_standby</a:t>
            </a:r>
            <a:r>
              <a:rPr lang="en-US" altLang="zh-TW" sz="1200" dirty="0" smtClean="0"/>
              <a:t>==1&amp;&amp;</a:t>
            </a:r>
          </a:p>
          <a:p>
            <a:r>
              <a:rPr lang="en-US" altLang="zh-TW" sz="1200" dirty="0" err="1" smtClean="0"/>
              <a:t>cmd</a:t>
            </a:r>
            <a:r>
              <a:rPr lang="en-US" altLang="zh-TW" sz="1200" dirty="0" smtClean="0"/>
              <a:t>==DVFS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4852116" y="3645692"/>
            <a:ext cx="3998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err="1" smtClean="0"/>
              <a:t>pd_frq_scale_ack</a:t>
            </a:r>
            <a:r>
              <a:rPr lang="en-US" altLang="zh-TW" sz="1200" dirty="0" smtClean="0"/>
              <a:t> if (</a:t>
            </a:r>
            <a:r>
              <a:rPr lang="en-US" altLang="zh-TW" sz="1200" dirty="0" err="1" smtClean="0"/>
              <a:t>new_frq_scale</a:t>
            </a:r>
            <a:r>
              <a:rPr lang="en-US" altLang="zh-TW" sz="1200" dirty="0" smtClean="0"/>
              <a:t>!=</a:t>
            </a:r>
            <a:r>
              <a:rPr lang="en-US" altLang="zh-TW" sz="1200" dirty="0" err="1" smtClean="0"/>
              <a:t>old_</a:t>
            </a:r>
            <a:r>
              <a:rPr lang="en-US" altLang="zh-TW" sz="1200" dirty="0" err="1"/>
              <a:t>frq_scale</a:t>
            </a:r>
            <a:r>
              <a:rPr lang="en-US" altLang="zh-TW" sz="1200" dirty="0" smtClean="0"/>
              <a:t>)</a:t>
            </a:r>
          </a:p>
          <a:p>
            <a:r>
              <a:rPr lang="en-US" altLang="zh-TW" sz="1200" dirty="0" err="1" smtClean="0"/>
              <a:t>pd_vol_scale_ack</a:t>
            </a:r>
            <a:r>
              <a:rPr lang="en-US" altLang="zh-TW" sz="1200" dirty="0" smtClean="0"/>
              <a:t> if (</a:t>
            </a:r>
            <a:r>
              <a:rPr lang="en-US" altLang="zh-TW" sz="1200" dirty="0" err="1" smtClean="0"/>
              <a:t>new_vol_scale</a:t>
            </a:r>
            <a:r>
              <a:rPr lang="en-US" altLang="zh-TW" sz="1200" dirty="0"/>
              <a:t>!=</a:t>
            </a:r>
            <a:r>
              <a:rPr lang="en-US" altLang="zh-TW" sz="1200" dirty="0" err="1" smtClean="0"/>
              <a:t>old_vol_scale</a:t>
            </a:r>
            <a:r>
              <a:rPr lang="en-US" altLang="zh-TW" sz="1200" dirty="0" smtClean="0"/>
              <a:t>)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2164732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Single core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wants to do DVFS by itself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send power command to </a:t>
            </a:r>
            <a:r>
              <a:rPr lang="en-US" altLang="zh-TW" dirty="0" smtClean="0"/>
              <a:t>SMU</a:t>
            </a:r>
          </a:p>
          <a:p>
            <a:pPr lvl="1"/>
            <a:r>
              <a:rPr lang="en-US" altLang="zh-TW" dirty="0" smtClean="0"/>
              <a:t>Core </a:t>
            </a:r>
            <a:r>
              <a:rPr lang="en-US" altLang="zh-TW" dirty="0"/>
              <a:t>setup SMU interrupt enable</a:t>
            </a:r>
          </a:p>
          <a:p>
            <a:pPr lvl="1"/>
            <a:r>
              <a:rPr lang="en-US" altLang="zh-TW" dirty="0" smtClean="0"/>
              <a:t>Core executes </a:t>
            </a:r>
            <a:r>
              <a:rPr lang="en-US" altLang="zh-TW" dirty="0"/>
              <a:t>WFI</a:t>
            </a:r>
          </a:p>
          <a:p>
            <a:pPr lvl="1"/>
            <a:r>
              <a:rPr lang="en-US" altLang="zh-TW" dirty="0"/>
              <a:t>SMU handles </a:t>
            </a:r>
            <a:r>
              <a:rPr lang="en-US" altLang="zh-TW" dirty="0" smtClean="0"/>
              <a:t>power command</a:t>
            </a:r>
          </a:p>
          <a:p>
            <a:pPr lvl="1"/>
            <a:r>
              <a:rPr lang="en-US" altLang="zh-TW" dirty="0" smtClean="0"/>
              <a:t>SMU asserts in interrupt to Core</a:t>
            </a:r>
          </a:p>
          <a:p>
            <a:pPr lvl="1"/>
            <a:r>
              <a:rPr lang="en-US" altLang="zh-TW" dirty="0" smtClean="0"/>
              <a:t>Core exits WFI mode</a:t>
            </a:r>
            <a:endParaRPr lang="zh-TW" altLang="en-US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3854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Core to Core wakeup </a:t>
            </a:r>
            <a:r>
              <a:rPr lang="en-US" altLang="zh-TW" dirty="0"/>
              <a:t>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0 asks Core 1 to deep sleep mode</a:t>
            </a:r>
          </a:p>
          <a:p>
            <a:pPr lvl="1"/>
            <a:r>
              <a:rPr lang="en-US" altLang="zh-TW" dirty="0" smtClean="0"/>
              <a:t>Core 0 send power command to SMU for Core 1</a:t>
            </a:r>
          </a:p>
          <a:p>
            <a:pPr lvl="1"/>
            <a:r>
              <a:rPr lang="en-US" altLang="zh-TW" dirty="0" smtClean="0"/>
              <a:t>Core 0 </a:t>
            </a:r>
            <a:r>
              <a:rPr lang="en-US" altLang="zh-TW" dirty="0"/>
              <a:t>inform other C</a:t>
            </a:r>
            <a:r>
              <a:rPr lang="en-US" altLang="zh-TW" dirty="0" smtClean="0"/>
              <a:t>ore 1 </a:t>
            </a:r>
            <a:r>
              <a:rPr lang="en-US" altLang="zh-TW" dirty="0"/>
              <a:t>to enter WFI mode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SMU handles power command</a:t>
            </a:r>
          </a:p>
          <a:p>
            <a:pPr lvl="1"/>
            <a:r>
              <a:rPr lang="en-US" altLang="zh-TW" dirty="0"/>
              <a:t>Core </a:t>
            </a:r>
            <a:r>
              <a:rPr lang="en-US" altLang="zh-TW" dirty="0" smtClean="0"/>
              <a:t>1 enters deep sleep mode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en-US" altLang="zh-TW" dirty="0" smtClean="0"/>
              <a:t>Core 1 wakeup by Core 0 by Software PLIC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277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Multi-Core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Cluster executes frequency change</a:t>
            </a:r>
          </a:p>
          <a:p>
            <a:pPr lvl="1"/>
            <a:r>
              <a:rPr lang="en-US" altLang="zh-TW" sz="2000" dirty="0" smtClean="0"/>
              <a:t>Core 0 lock SMU access</a:t>
            </a:r>
          </a:p>
          <a:p>
            <a:pPr lvl="1"/>
            <a:r>
              <a:rPr lang="en-US" altLang="zh-TW" sz="2000" dirty="0"/>
              <a:t>Core 0 </a:t>
            </a:r>
            <a:r>
              <a:rPr lang="en-US" altLang="zh-TW" sz="2000" dirty="0" smtClean="0"/>
              <a:t>setup DVFS command to SMU</a:t>
            </a:r>
          </a:p>
          <a:p>
            <a:pPr lvl="1"/>
            <a:r>
              <a:rPr lang="en-US" altLang="zh-TW" sz="2000" dirty="0" smtClean="0"/>
              <a:t>Core </a:t>
            </a:r>
            <a:r>
              <a:rPr lang="en-US" altLang="zh-TW" sz="2000" dirty="0"/>
              <a:t>0 </a:t>
            </a:r>
            <a:r>
              <a:rPr lang="en-US" altLang="zh-TW" sz="2000" dirty="0" smtClean="0"/>
              <a:t>inform other cores </a:t>
            </a:r>
            <a:r>
              <a:rPr lang="en-US" altLang="zh-TW" sz="2000" dirty="0"/>
              <a:t>to </a:t>
            </a:r>
            <a:r>
              <a:rPr lang="en-US" altLang="zh-TW" sz="2000" dirty="0" smtClean="0"/>
              <a:t>execute WFI</a:t>
            </a:r>
          </a:p>
          <a:p>
            <a:pPr lvl="1"/>
            <a:r>
              <a:rPr lang="en-US" altLang="zh-TW" sz="2000" dirty="0" smtClean="0"/>
              <a:t>Core 0 executes WFI</a:t>
            </a:r>
          </a:p>
          <a:p>
            <a:pPr lvl="1"/>
            <a:r>
              <a:rPr lang="en-US" altLang="zh-TW" sz="2000" dirty="0" smtClean="0"/>
              <a:t>SMU wait all power domains are in standby mode</a:t>
            </a:r>
          </a:p>
          <a:p>
            <a:pPr lvl="1"/>
            <a:r>
              <a:rPr lang="en-US" altLang="zh-TW" sz="2000" dirty="0" smtClean="0"/>
              <a:t>SMU handles DVFS command to all cores</a:t>
            </a:r>
          </a:p>
          <a:p>
            <a:pPr lvl="1"/>
            <a:r>
              <a:rPr lang="en-US" altLang="zh-TW" sz="2000" dirty="0" smtClean="0"/>
              <a:t>PD0 is wakeup by SMU interrupt</a:t>
            </a:r>
          </a:p>
          <a:p>
            <a:pPr lvl="2"/>
            <a:r>
              <a:rPr lang="en-US" altLang="zh-TW" sz="1600" dirty="0" smtClean="0"/>
              <a:t>SMU interrupt is automatically asserted by DVFS command.</a:t>
            </a:r>
          </a:p>
          <a:p>
            <a:pPr lvl="1"/>
            <a:r>
              <a:rPr lang="en-US" altLang="zh-TW" sz="2000" dirty="0"/>
              <a:t>Core 0 </a:t>
            </a:r>
            <a:r>
              <a:rPr lang="en-US" altLang="zh-TW" sz="2000" dirty="0" smtClean="0"/>
              <a:t>send SMU </a:t>
            </a:r>
            <a:r>
              <a:rPr lang="en-US" altLang="zh-TW" sz="2000" dirty="0"/>
              <a:t>interrupt </a:t>
            </a:r>
            <a:r>
              <a:rPr lang="en-US" altLang="zh-TW" sz="2000" dirty="0" smtClean="0"/>
              <a:t>to wakeup </a:t>
            </a:r>
            <a:r>
              <a:rPr lang="en-US" altLang="zh-TW" sz="2000" dirty="0"/>
              <a:t>other </a:t>
            </a:r>
            <a:r>
              <a:rPr lang="en-US" altLang="zh-TW" sz="2000" dirty="0" smtClean="0"/>
              <a:t>cores</a:t>
            </a:r>
          </a:p>
          <a:p>
            <a:pPr lvl="1"/>
            <a:endParaRPr lang="en-US" altLang="zh-TW" sz="2000" dirty="0"/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66811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Issue: Interrupt occur during DVFS flow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Method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</a:p>
          <a:p>
            <a:pPr lvl="1"/>
            <a:r>
              <a:rPr lang="en-US" altLang="zh-TW" dirty="0" smtClean="0"/>
              <a:t>Disable all interrupt source</a:t>
            </a:r>
          </a:p>
          <a:p>
            <a:pPr lvl="1"/>
            <a:r>
              <a:rPr lang="en-US" altLang="zh-TW" dirty="0" smtClean="0"/>
              <a:t>Cons: Long latency for interrupt response</a:t>
            </a:r>
          </a:p>
          <a:p>
            <a:r>
              <a:rPr lang="en-US" altLang="zh-TW" dirty="0" smtClean="0"/>
              <a:t>Method 2	</a:t>
            </a:r>
          </a:p>
          <a:p>
            <a:pPr lvl="1"/>
            <a:r>
              <a:rPr lang="en-US" altLang="zh-TW" dirty="0" smtClean="0"/>
              <a:t>Abort DVFS command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28056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Debug module and SMU interactive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</a:t>
            </a:r>
            <a:r>
              <a:rPr lang="en-US" altLang="zh-TW" dirty="0" smtClean="0"/>
              <a:t>ebug module supported </a:t>
            </a:r>
            <a:r>
              <a:rPr lang="en-US" altLang="zh-TW" dirty="0"/>
              <a:t>bus access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Wakeup bus when </a:t>
            </a:r>
            <a:r>
              <a:rPr lang="en-US" altLang="zh-TW" dirty="0" err="1" smtClean="0"/>
              <a:t>debug_wakeup</a:t>
            </a:r>
            <a:r>
              <a:rPr lang="en-US" altLang="zh-TW" dirty="0" smtClean="0"/>
              <a:t> is asserted by debug module</a:t>
            </a:r>
          </a:p>
          <a:p>
            <a:pPr lvl="2"/>
            <a:r>
              <a:rPr lang="en-US" altLang="zh-TW" dirty="0" smtClean="0"/>
              <a:t>In AE350 SMU design, enable main bus clock.</a:t>
            </a:r>
          </a:p>
          <a:p>
            <a:pPr lvl="1"/>
            <a:r>
              <a:rPr lang="en-US" altLang="zh-TW" dirty="0" smtClean="0"/>
              <a:t>Debug module wakeup a core by SMU interrupt</a:t>
            </a:r>
          </a:p>
          <a:p>
            <a:r>
              <a:rPr lang="en-US" altLang="zh-TW" dirty="0"/>
              <a:t>D</a:t>
            </a:r>
            <a:r>
              <a:rPr lang="en-US" altLang="zh-TW" dirty="0" smtClean="0"/>
              <a:t>ebug </a:t>
            </a:r>
            <a:r>
              <a:rPr lang="en-US" altLang="zh-TW" dirty="0"/>
              <a:t>module </a:t>
            </a:r>
            <a:r>
              <a:rPr lang="en-US" altLang="zh-TW" dirty="0" smtClean="0"/>
              <a:t>is not supported </a:t>
            </a:r>
            <a:r>
              <a:rPr lang="en-US" altLang="zh-TW" dirty="0"/>
              <a:t>bus access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Wakeup core 0 for debug</a:t>
            </a:r>
          </a:p>
          <a:p>
            <a:pPr lvl="2"/>
            <a:r>
              <a:rPr lang="en-US" altLang="zh-TW" dirty="0" smtClean="0"/>
              <a:t>An additional wakeup source debugint is required. 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2157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Timing diagram for deep sleep mode</a:t>
            </a:r>
            <a:endParaRPr lang="zh-TW" altLang="en-US" dirty="0"/>
          </a:p>
        </p:txBody>
      </p:sp>
      <p:cxnSp>
        <p:nvCxnSpPr>
          <p:cNvPr id="4" name="肘形接點 3"/>
          <p:cNvCxnSpPr/>
          <p:nvPr/>
        </p:nvCxnSpPr>
        <p:spPr>
          <a:xfrm>
            <a:off x="3779912" y="4649696"/>
            <a:ext cx="4464496" cy="36004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779912" y="464969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H="1">
            <a:off x="1943708" y="5009736"/>
            <a:ext cx="18362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/>
          <p:cNvCxnSpPr/>
          <p:nvPr/>
        </p:nvCxnSpPr>
        <p:spPr>
          <a:xfrm>
            <a:off x="3167844" y="3929616"/>
            <a:ext cx="5076564" cy="360040"/>
          </a:xfrm>
          <a:prstGeom prst="bentConnector3">
            <a:avLst>
              <a:gd name="adj1" fmla="val 666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3167844" y="3929616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1943708" y="4289656"/>
            <a:ext cx="1224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/>
          <p:nvPr/>
        </p:nvCxnSpPr>
        <p:spPr>
          <a:xfrm>
            <a:off x="2771800" y="3137528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771800" y="313752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943708" y="3497568"/>
            <a:ext cx="8280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339752" y="241744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1943708" y="2777488"/>
            <a:ext cx="396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339752" y="2417448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139952" y="623747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Power off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80730" y="244460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pd_standby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80730" y="317115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pd_iso_en</a:t>
            </a:r>
            <a:endParaRPr lang="en-US" altLang="zh-TW" dirty="0" smtClean="0"/>
          </a:p>
        </p:txBody>
      </p:sp>
      <p:sp>
        <p:nvSpPr>
          <p:cNvPr id="21" name="文字方塊 20"/>
          <p:cNvSpPr txBox="1"/>
          <p:nvPr/>
        </p:nvSpPr>
        <p:spPr>
          <a:xfrm>
            <a:off x="580730" y="3945459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pd_ret_en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80730" y="4492508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pd_pwr_off</a:t>
            </a:r>
            <a:endParaRPr lang="en-US" altLang="zh-TW" dirty="0" smtClean="0"/>
          </a:p>
          <a:p>
            <a:r>
              <a:rPr lang="en-US" altLang="zh-TW" dirty="0" err="1" smtClean="0"/>
              <a:t>pd_clk_off</a:t>
            </a:r>
            <a:endParaRPr lang="en-US" altLang="zh-TW" dirty="0" smtClean="0"/>
          </a:p>
        </p:txBody>
      </p:sp>
      <p:sp>
        <p:nvSpPr>
          <p:cNvPr id="16" name="矩形 15"/>
          <p:cNvSpPr/>
          <p:nvPr/>
        </p:nvSpPr>
        <p:spPr>
          <a:xfrm>
            <a:off x="4139952" y="2165547"/>
            <a:ext cx="1368152" cy="4071926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4" name="群組 53"/>
          <p:cNvGrpSpPr/>
          <p:nvPr/>
        </p:nvGrpSpPr>
        <p:grpSpPr>
          <a:xfrm>
            <a:off x="2771800" y="2165547"/>
            <a:ext cx="4373880" cy="4071925"/>
            <a:chOff x="2771800" y="2165548"/>
            <a:chExt cx="4373880" cy="3240360"/>
          </a:xfrm>
        </p:grpSpPr>
        <p:cxnSp>
          <p:nvCxnSpPr>
            <p:cNvPr id="23" name="直線接點 22"/>
            <p:cNvCxnSpPr/>
            <p:nvPr/>
          </p:nvCxnSpPr>
          <p:spPr>
            <a:xfrm flipV="1">
              <a:off x="277180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/>
            <p:cNvCxnSpPr/>
            <p:nvPr/>
          </p:nvCxnSpPr>
          <p:spPr>
            <a:xfrm flipV="1">
              <a:off x="3167844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 flipV="1">
              <a:off x="3779912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/>
            <p:nvPr/>
          </p:nvCxnSpPr>
          <p:spPr>
            <a:xfrm flipV="1">
              <a:off x="6011688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 flipV="1">
              <a:off x="655132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 flipV="1">
              <a:off x="7145680" y="2165548"/>
              <a:ext cx="0" cy="324036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矩形 34"/>
          <p:cNvSpPr/>
          <p:nvPr/>
        </p:nvSpPr>
        <p:spPr>
          <a:xfrm>
            <a:off x="1561309" y="1783769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sp>
        <p:nvSpPr>
          <p:cNvPr id="36" name="矩形 35"/>
          <p:cNvSpPr/>
          <p:nvPr/>
        </p:nvSpPr>
        <p:spPr>
          <a:xfrm rot="5400000">
            <a:off x="2258053" y="1485231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37" name="矩形 36"/>
          <p:cNvSpPr/>
          <p:nvPr/>
        </p:nvSpPr>
        <p:spPr>
          <a:xfrm rot="5400000">
            <a:off x="2701519" y="1536302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38" name="矩形 37"/>
          <p:cNvSpPr/>
          <p:nvPr/>
        </p:nvSpPr>
        <p:spPr>
          <a:xfrm>
            <a:off x="4011197" y="1783769"/>
            <a:ext cx="1595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ST_DEEPSLEEP</a:t>
            </a:r>
            <a:endParaRPr lang="en-US" altLang="zh-TW" sz="1400" dirty="0"/>
          </a:p>
        </p:txBody>
      </p:sp>
      <p:sp>
        <p:nvSpPr>
          <p:cNvPr id="39" name="矩形 38"/>
          <p:cNvSpPr/>
          <p:nvPr/>
        </p:nvSpPr>
        <p:spPr>
          <a:xfrm rot="5400000">
            <a:off x="5498061" y="1519369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40" name="矩形 39"/>
          <p:cNvSpPr/>
          <p:nvPr/>
        </p:nvSpPr>
        <p:spPr>
          <a:xfrm rot="5400000">
            <a:off x="6162902" y="1469186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41" name="矩形 40"/>
          <p:cNvSpPr/>
          <p:nvPr/>
        </p:nvSpPr>
        <p:spPr>
          <a:xfrm>
            <a:off x="7177939" y="1783769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cxnSp>
        <p:nvCxnSpPr>
          <p:cNvPr id="42" name="肘形接點 41"/>
          <p:cNvCxnSpPr/>
          <p:nvPr/>
        </p:nvCxnSpPr>
        <p:spPr>
          <a:xfrm>
            <a:off x="2771800" y="2417370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580730" y="558799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core_resetn</a:t>
            </a:r>
            <a:endParaRPr lang="zh-TW" altLang="en-US" dirty="0"/>
          </a:p>
        </p:txBody>
      </p:sp>
      <p:cxnSp>
        <p:nvCxnSpPr>
          <p:cNvPr id="56" name="直線接點 55"/>
          <p:cNvCxnSpPr/>
          <p:nvPr/>
        </p:nvCxnSpPr>
        <p:spPr>
          <a:xfrm flipH="1">
            <a:off x="1940415" y="5619336"/>
            <a:ext cx="40712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接點 57"/>
          <p:cNvCxnSpPr/>
          <p:nvPr/>
        </p:nvCxnSpPr>
        <p:spPr>
          <a:xfrm flipV="1">
            <a:off x="6012160" y="5619336"/>
            <a:ext cx="2217296" cy="360038"/>
          </a:xfrm>
          <a:prstGeom prst="bentConnector3">
            <a:avLst>
              <a:gd name="adj1" fmla="val 511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/>
          <p:nvPr/>
        </p:nvCxnSpPr>
        <p:spPr>
          <a:xfrm flipH="1" flipV="1">
            <a:off x="6010319" y="5619337"/>
            <a:ext cx="1841" cy="360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42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control signal by FSM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02246"/>
              </p:ext>
            </p:extLst>
          </p:nvPr>
        </p:nvGraphicFramePr>
        <p:xfrm>
          <a:off x="381000" y="1208001"/>
          <a:ext cx="81745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894"/>
                <a:gridCol w="1563148"/>
                <a:gridCol w="1430962"/>
                <a:gridCol w="1518291"/>
                <a:gridCol w="1603229"/>
              </a:tblGrid>
              <a:tr h="370840"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pd_iso_en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pd_ret_en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pd_clk_off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pd_pwr_off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ST_DVFS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ST_ISOLATION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ST_LIGHTSLEEP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ST_DEEPSLEEP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4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L2C design request for power mode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For light sleep(clock-gated) mode and </a:t>
            </a:r>
            <a:r>
              <a:rPr lang="en-US" altLang="zh-TW" dirty="0" smtClean="0"/>
              <a:t>DVFS</a:t>
            </a:r>
            <a:endParaRPr lang="en-US" altLang="zh-TW" dirty="0"/>
          </a:p>
          <a:p>
            <a:pPr lvl="1"/>
            <a:r>
              <a:rPr lang="en-US" altLang="zh-TW" dirty="0" smtClean="0"/>
              <a:t>L2C </a:t>
            </a:r>
            <a:r>
              <a:rPr lang="en-US" altLang="zh-TW" dirty="0"/>
              <a:t>should stop snooping when cores are executing WFI separated</a:t>
            </a:r>
          </a:p>
          <a:p>
            <a:pPr lvl="1"/>
            <a:r>
              <a:rPr lang="en-US" altLang="zh-TW" dirty="0" smtClean="0"/>
              <a:t>L2C </a:t>
            </a:r>
            <a:r>
              <a:rPr lang="en-US" altLang="zh-TW" dirty="0"/>
              <a:t>should enter standby mode automatically after all cluster are in WFI mode</a:t>
            </a:r>
          </a:p>
          <a:p>
            <a:pPr lvl="2"/>
            <a:r>
              <a:rPr lang="en-US" altLang="zh-TW" dirty="0" smtClean="0"/>
              <a:t>Queue </a:t>
            </a:r>
            <a:r>
              <a:rPr lang="en-US" altLang="zh-TW" dirty="0"/>
              <a:t>in L2C should be empty</a:t>
            </a:r>
          </a:p>
          <a:p>
            <a:pPr lvl="1"/>
            <a:r>
              <a:rPr lang="en-US" altLang="zh-TW" dirty="0" smtClean="0"/>
              <a:t>Coherence </a:t>
            </a:r>
            <a:r>
              <a:rPr lang="en-US" altLang="zh-TW" dirty="0"/>
              <a:t>slave port should be disable while DVFS is doing or L2C is in light sleep mode</a:t>
            </a:r>
          </a:p>
          <a:p>
            <a:pPr lvl="2"/>
            <a:r>
              <a:rPr lang="en-US" altLang="zh-TW" dirty="0" smtClean="0"/>
              <a:t>Master </a:t>
            </a:r>
            <a:r>
              <a:rPr lang="en-US" altLang="zh-TW" dirty="0"/>
              <a:t>should know that coherence slave port is temporarily unavailable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In L2C standby </a:t>
            </a:r>
            <a:r>
              <a:rPr lang="en-US" altLang="zh-TW" dirty="0" smtClean="0"/>
              <a:t>mode</a:t>
            </a:r>
            <a:endParaRPr lang="en-US" altLang="zh-TW" dirty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output indicate that L2C is busy</a:t>
            </a:r>
          </a:p>
          <a:p>
            <a:pPr lvl="2"/>
            <a:r>
              <a:rPr lang="en-US" altLang="zh-TW" dirty="0" smtClean="0"/>
              <a:t>SMU </a:t>
            </a:r>
            <a:r>
              <a:rPr lang="en-US" altLang="zh-TW" dirty="0"/>
              <a:t>handles power change when L2C is not busy.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5090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Jimmy’s reply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L2C should stop snooping when cores are executing WFI separated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L2 </a:t>
            </a:r>
            <a:r>
              <a:rPr lang="en-US" altLang="zh-TW" dirty="0"/>
              <a:t>will stop snooping to the core when the its’ output port </a:t>
            </a:r>
            <a:r>
              <a:rPr lang="en-US" altLang="zh-TW" dirty="0" smtClean="0"/>
              <a:t>“</a:t>
            </a:r>
            <a:r>
              <a:rPr lang="en-US" altLang="zh-TW" dirty="0" err="1" smtClean="0"/>
              <a:t>ready_for_snoop</a:t>
            </a:r>
            <a:r>
              <a:rPr lang="en-US" altLang="zh-TW" dirty="0" smtClean="0"/>
              <a:t>” </a:t>
            </a:r>
            <a:r>
              <a:rPr lang="en-US" altLang="zh-TW" dirty="0"/>
              <a:t>is de-asserted. </a:t>
            </a:r>
            <a:endParaRPr lang="en-US" altLang="zh-TW" dirty="0" smtClean="0"/>
          </a:p>
          <a:p>
            <a:r>
              <a:rPr lang="en-US" altLang="zh-TW" dirty="0"/>
              <a:t>L2C should enter standby mode automatically after all cluster are in WFI mode.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L2 </a:t>
            </a:r>
            <a:r>
              <a:rPr lang="en-US" altLang="zh-TW" dirty="0"/>
              <a:t>will add one output port “l2_idle” and it should be asserted when all transactions in </a:t>
            </a:r>
            <a:r>
              <a:rPr lang="en-US" altLang="zh-TW" dirty="0" smtClean="0"/>
              <a:t>L2 </a:t>
            </a:r>
            <a:r>
              <a:rPr lang="en-US" altLang="zh-TW" dirty="0"/>
              <a:t>have been done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Coherence slave port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In </a:t>
            </a:r>
            <a:r>
              <a:rPr lang="en-US" altLang="zh-TW" dirty="0"/>
              <a:t>this situation, there is no clock in </a:t>
            </a:r>
            <a:r>
              <a:rPr lang="en-US" altLang="zh-TW" dirty="0" smtClean="0"/>
              <a:t>L2 </a:t>
            </a:r>
            <a:r>
              <a:rPr lang="en-US" altLang="zh-TW" dirty="0"/>
              <a:t>and perhaps we should handle this in system </a:t>
            </a:r>
            <a:r>
              <a:rPr lang="en-US" altLang="zh-TW" dirty="0" smtClean="0"/>
              <a:t>level by adding a wrapper.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774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Issue: debug when core power off before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Scenario</a:t>
            </a:r>
          </a:p>
          <a:p>
            <a:pPr lvl="1"/>
            <a:r>
              <a:rPr lang="en-US" altLang="zh-TW" dirty="0" smtClean="0"/>
              <a:t>Core 0 setup trigger module</a:t>
            </a:r>
          </a:p>
          <a:p>
            <a:pPr lvl="1"/>
            <a:r>
              <a:rPr lang="en-US" altLang="zh-TW" dirty="0" smtClean="0"/>
              <a:t>Core enter deep sleep mode</a:t>
            </a:r>
          </a:p>
          <a:p>
            <a:pPr lvl="1"/>
            <a:r>
              <a:rPr lang="en-US" altLang="zh-TW" dirty="0"/>
              <a:t>Core </a:t>
            </a:r>
            <a:r>
              <a:rPr lang="en-US" altLang="zh-TW" dirty="0" smtClean="0"/>
              <a:t>0 wakeup by interrupt</a:t>
            </a:r>
          </a:p>
          <a:p>
            <a:pPr marL="342900" lvl="1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In this case, Core 0 lose all setting in </a:t>
            </a:r>
            <a:r>
              <a:rPr lang="en-US" altLang="zh-TW" dirty="0"/>
              <a:t>trigger </a:t>
            </a:r>
            <a:r>
              <a:rPr lang="en-US" altLang="zh-TW" dirty="0" smtClean="0"/>
              <a:t>module</a:t>
            </a:r>
            <a:r>
              <a:rPr lang="zh-TW" altLang="en-US" dirty="0" smtClean="0"/>
              <a:t> </a:t>
            </a:r>
            <a:r>
              <a:rPr lang="en-US" altLang="zh-TW" dirty="0" smtClean="0"/>
              <a:t>and OpenOCD and debug module can’t detect this situation.</a:t>
            </a:r>
          </a:p>
          <a:p>
            <a:pPr marL="342900" lvl="1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Solution</a:t>
            </a:r>
          </a:p>
          <a:p>
            <a:pPr marL="74295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Use </a:t>
            </a:r>
            <a:r>
              <a:rPr lang="en-US" altLang="zh-TW" dirty="0"/>
              <a:t>retention </a:t>
            </a:r>
            <a:r>
              <a:rPr lang="en-US" altLang="zh-TW" dirty="0" smtClean="0"/>
              <a:t>cells or always-on region </a:t>
            </a:r>
            <a:r>
              <a:rPr lang="en-US" altLang="zh-TW" dirty="0"/>
              <a:t>for debug CSRs (HW solution)</a:t>
            </a:r>
          </a:p>
          <a:p>
            <a:pPr marL="74295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Backup </a:t>
            </a:r>
            <a:r>
              <a:rPr lang="en-US" altLang="zh-TW" dirty="0"/>
              <a:t>by other bus master</a:t>
            </a:r>
          </a:p>
          <a:p>
            <a:pPr marL="742950" lvl="2" indent="-342900">
              <a:buClr>
                <a:schemeClr val="tx2"/>
              </a:buClr>
              <a:buFont typeface="Wingdings" pitchFamily="2" charset="2"/>
              <a:buChar char="v"/>
            </a:pPr>
            <a:r>
              <a:rPr lang="en-US" altLang="zh-TW" dirty="0" smtClean="0"/>
              <a:t>Do </a:t>
            </a:r>
            <a:r>
              <a:rPr lang="en-US" altLang="zh-TW" dirty="0"/>
              <a:t>not backup debug </a:t>
            </a:r>
            <a:r>
              <a:rPr lang="en-US" altLang="zh-TW" dirty="0" smtClean="0"/>
              <a:t>CSRs and software handles this issue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34954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Core 0 and L2 are de-coupled in power domain.</a:t>
            </a:r>
          </a:p>
          <a:p>
            <a:r>
              <a:rPr lang="en-US" altLang="zh-TW" dirty="0" smtClean="0"/>
              <a:t>Power domain inside SMU for ultra-low power</a:t>
            </a:r>
          </a:p>
          <a:p>
            <a:r>
              <a:rPr lang="en-US" altLang="zh-TW" dirty="0" smtClean="0"/>
              <a:t>Different frequency between cores and L2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455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12304</TotalTime>
  <Words>2124</Words>
  <Application>Microsoft Office PowerPoint</Application>
  <PresentationFormat>如螢幕大小 (4:3)</PresentationFormat>
  <Paragraphs>597</Paragraphs>
  <Slides>36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37" baseType="lpstr">
      <vt:lpstr>Probation Review</vt:lpstr>
      <vt:lpstr>Vicuna AE350 SMU Design Specification</vt:lpstr>
      <vt:lpstr>Outline</vt:lpstr>
      <vt:lpstr>Feature of ae350_smu_pd</vt:lpstr>
      <vt:lpstr>Assumption for simplification</vt:lpstr>
      <vt:lpstr>ae350_rstgen</vt:lpstr>
      <vt:lpstr>Old hierarchy block diagram in AE350</vt:lpstr>
      <vt:lpstr>New block diagram for power control</vt:lpstr>
      <vt:lpstr>Macro and parameter for ae350_smu</vt:lpstr>
      <vt:lpstr>Macro and parameter for ae350_smu_pd</vt:lpstr>
      <vt:lpstr>New CSR for ae350_smu</vt:lpstr>
      <vt:lpstr>New CSR for ae350_smu</vt:lpstr>
      <vt:lpstr>New CSR for ae350_smu_pd</vt:lpstr>
      <vt:lpstr>New CSR for ae350_smu</vt:lpstr>
      <vt:lpstr>Power mode definition</vt:lpstr>
      <vt:lpstr>ae350_smu_mpd</vt:lpstr>
      <vt:lpstr>ae350_smu Interface</vt:lpstr>
      <vt:lpstr>ae350_smu_pd Interface</vt:lpstr>
      <vt:lpstr>ae350_smu_pd Interface</vt:lpstr>
      <vt:lpstr>ae350_smu_pd Interface</vt:lpstr>
      <vt:lpstr>List of wakeup event</vt:lpstr>
      <vt:lpstr>Sample block diagram for single core power domain</vt:lpstr>
      <vt:lpstr>Sample block diagram for multi-core power domain</vt:lpstr>
      <vt:lpstr>Sample block diagram for power domain</vt:lpstr>
      <vt:lpstr>FSM for power mode</vt:lpstr>
      <vt:lpstr>FSM for DVFS mode</vt:lpstr>
      <vt:lpstr>Single core DVFS flow</vt:lpstr>
      <vt:lpstr>Core to Core wakeup flow</vt:lpstr>
      <vt:lpstr>Multi-Core DVFS flow</vt:lpstr>
      <vt:lpstr>Issue: Interrupt occur during DVFS flow</vt:lpstr>
      <vt:lpstr>Debug module and SMU interactive</vt:lpstr>
      <vt:lpstr>Timing diagram for deep sleep mode</vt:lpstr>
      <vt:lpstr>Power control signal by FSM</vt:lpstr>
      <vt:lpstr>L2C design request for power mode</vt:lpstr>
      <vt:lpstr>Jimmy’s reply</vt:lpstr>
      <vt:lpstr>Issue: debug when core power off before</vt:lpstr>
      <vt:lpstr>Future work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Ellis Yu-Jui Chen(陳俞睿)</cp:lastModifiedBy>
  <cp:revision>620</cp:revision>
  <dcterms:created xsi:type="dcterms:W3CDTF">2017-03-02T07:26:01Z</dcterms:created>
  <dcterms:modified xsi:type="dcterms:W3CDTF">2019-03-11T07:45:03Z</dcterms:modified>
</cp:coreProperties>
</file>