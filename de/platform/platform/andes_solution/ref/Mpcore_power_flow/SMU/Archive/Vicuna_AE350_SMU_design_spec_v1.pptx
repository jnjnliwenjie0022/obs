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2"/>
  </p:notesMasterIdLst>
  <p:handoutMasterIdLst>
    <p:handoutMasterId r:id="rId23"/>
  </p:handoutMasterIdLst>
  <p:sldIdLst>
    <p:sldId id="525" r:id="rId2"/>
    <p:sldId id="984" r:id="rId3"/>
    <p:sldId id="1000" r:id="rId4"/>
    <p:sldId id="998" r:id="rId5"/>
    <p:sldId id="1002" r:id="rId6"/>
    <p:sldId id="986" r:id="rId7"/>
    <p:sldId id="987" r:id="rId8"/>
    <p:sldId id="991" r:id="rId9"/>
    <p:sldId id="985" r:id="rId10"/>
    <p:sldId id="988" r:id="rId11"/>
    <p:sldId id="989" r:id="rId12"/>
    <p:sldId id="994" r:id="rId13"/>
    <p:sldId id="995" r:id="rId14"/>
    <p:sldId id="996" r:id="rId15"/>
    <p:sldId id="990" r:id="rId16"/>
    <p:sldId id="999" r:id="rId17"/>
    <p:sldId id="997" r:id="rId18"/>
    <p:sldId id="1001" r:id="rId19"/>
    <p:sldId id="564" r:id="rId20"/>
    <p:sldId id="983" r:id="rId21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71A6"/>
    <a:srgbClr val="000066"/>
    <a:srgbClr val="FFF78F"/>
    <a:srgbClr val="78A4C7"/>
    <a:srgbClr val="AEC8DD"/>
    <a:srgbClr val="32AECB"/>
    <a:srgbClr val="00FFFF"/>
    <a:srgbClr val="D9F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9" autoAdjust="0"/>
    <p:restoredTop sz="90263" autoAdjust="0"/>
  </p:normalViewPr>
  <p:slideViewPr>
    <p:cSldViewPr snapToGrid="0">
      <p:cViewPr>
        <p:scale>
          <a:sx n="100" d="100"/>
          <a:sy n="100" d="100"/>
        </p:scale>
        <p:origin x="-2106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2496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E1479-1B44-46F7-B2B0-D9B1309EF560}" type="datetimeFigureOut">
              <a:rPr lang="zh-TW" altLang="en-US" smtClean="0"/>
              <a:t>2019/2/25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5F32-C31C-4AC4-8E45-5890523DDA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349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9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59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fld id="{C79FA509-B1DE-4A2A-816D-4E4A94353D1D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545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0941E5-DFE5-45FE-9949-0CAB0B51B56A}" type="slidenum">
              <a:rPr lang="zh-TW" altLang="en-US" smtClean="0"/>
              <a:pPr>
                <a:defRPr/>
              </a:pPr>
              <a:t>1</a:t>
            </a:fld>
            <a:endParaRPr lang="en-US" altLang="zh-TW" dirty="0" smtClean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48854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 Wake-up and Reset Status Register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57315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8DD757-109B-43B9-B605-064D5CE39788}" type="slidenum">
              <a:rPr lang="zh-TW" altLang="en-US" smtClean="0"/>
              <a:pPr>
                <a:defRPr/>
              </a:pPr>
              <a:t>19</a:t>
            </a:fld>
            <a:endParaRPr lang="en-US" altLang="zh-TW" dirty="0" smtClean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C8CCC-1454-49B8-B8EC-74F2C178A1FE}" type="slidenum">
              <a:rPr lang="zh-TW" altLang="en-US" smtClean="0"/>
              <a:pPr>
                <a:defRPr/>
              </a:pPr>
              <a:t>20</a:t>
            </a:fld>
            <a:endParaRPr lang="en-US" altLang="zh-TW" dirty="0" smtClean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6463"/>
            <a:ext cx="5435600" cy="4465637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des-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79388" y="188913"/>
            <a:ext cx="11334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7586663" y="6554788"/>
            <a:ext cx="1547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TW" sz="900" b="0" dirty="0">
                <a:solidFill>
                  <a:schemeClr val="bg1"/>
                </a:solidFill>
                <a:ea typeface="新細明體" pitchFamily="18" charset="-120"/>
              </a:rPr>
              <a:t>WWW.ANDESTECH.COM</a:t>
            </a:r>
          </a:p>
        </p:txBody>
      </p:sp>
      <p:pic>
        <p:nvPicPr>
          <p:cNvPr id="6" name="Picture 2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2976563"/>
            <a:ext cx="91440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Rectangle 1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90925" y="2286000"/>
            <a:ext cx="5324475" cy="381000"/>
          </a:xfrm>
          <a:prstGeom prst="rect">
            <a:avLst/>
          </a:prstGeom>
        </p:spPr>
        <p:txBody>
          <a:bodyPr/>
          <a:lstStyle>
            <a:lvl1pPr marL="0" indent="0" algn="r">
              <a:buFont typeface="Wingdings" pitchFamily="2" charset="2"/>
              <a:buNone/>
              <a:defRPr sz="2200">
                <a:solidFill>
                  <a:srgbClr val="000000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en-US" altLang="zh-TW" dirty="0"/>
          </a:p>
        </p:txBody>
      </p:sp>
      <p:sp>
        <p:nvSpPr>
          <p:cNvPr id="5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1905000" y="1447800"/>
            <a:ext cx="7010400" cy="762000"/>
          </a:xfrm>
          <a:effectLst>
            <a:outerShdw dist="17961" dir="2700000" algn="ctr" rotWithShape="0">
              <a:srgbClr val="C0C0C0"/>
            </a:outerShdw>
          </a:effectLst>
        </p:spPr>
        <p:txBody>
          <a:bodyPr/>
          <a:lstStyle>
            <a:lvl1pPr algn="r">
              <a:defRPr sz="3600" b="1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054100"/>
            <a:ext cx="8420100" cy="53314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2513"/>
            <a:ext cx="4133850" cy="533304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667250" y="1052513"/>
            <a:ext cx="4133850" cy="534828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381000" y="1052513"/>
            <a:ext cx="8420100" cy="533304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725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多媒體項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4099"/>
            <a:ext cx="4133850" cy="530575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媒體版面配置區 3"/>
          <p:cNvSpPr>
            <a:spLocks noGrp="1"/>
          </p:cNvSpPr>
          <p:nvPr>
            <p:ph type="media" sz="half" idx="2"/>
          </p:nvPr>
        </p:nvSpPr>
        <p:spPr>
          <a:xfrm>
            <a:off x="4667250" y="1054100"/>
            <a:ext cx="4133850" cy="5319404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按一下圖示以新增多媒體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1054100"/>
            <a:ext cx="5238750" cy="53194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68300" y="1054099"/>
            <a:ext cx="3097213" cy="53194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1052513"/>
            <a:ext cx="8420100" cy="5320991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72263" y="133350"/>
            <a:ext cx="2119312" cy="61817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142875"/>
            <a:ext cx="6205538" cy="61817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6" descr="Line Bar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975725" y="0"/>
            <a:ext cx="1793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8834" name="Rectangle 2"/>
          <p:cNvSpPr>
            <a:spLocks noChangeArrowheads="1"/>
          </p:cNvSpPr>
          <p:nvPr/>
        </p:nvSpPr>
        <p:spPr bwMode="gray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248841" name="Rectangle 9"/>
          <p:cNvSpPr>
            <a:spLocks noGrp="1" noChangeArrowheads="1"/>
          </p:cNvSpPr>
          <p:nvPr>
            <p:ph type="title"/>
          </p:nvPr>
        </p:nvSpPr>
        <p:spPr bwMode="gray">
          <a:xfrm>
            <a:off x="323850" y="142875"/>
            <a:ext cx="8658225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dirty="0" smtClean="0"/>
          </a:p>
        </p:txBody>
      </p:sp>
      <p:sp>
        <p:nvSpPr>
          <p:cNvPr id="248836" name="Freeform 4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00" y="0"/>
              </a:cxn>
              <a:cxn ang="0">
                <a:pos x="3456" y="428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81000" y="1052513"/>
            <a:ext cx="8420100" cy="527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pic>
        <p:nvPicPr>
          <p:cNvPr id="1031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050213" y="52388"/>
            <a:ext cx="10191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2" descr="andes-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763" y="6486525"/>
            <a:ext cx="989012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 noGrp="1"/>
          </p:cNvSpPr>
          <p:nvPr/>
        </p:nvSpPr>
        <p:spPr bwMode="gray">
          <a:xfrm>
            <a:off x="811213" y="6502400"/>
            <a:ext cx="1497012" cy="384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600" dirty="0">
                <a:solidFill>
                  <a:srgbClr val="002060"/>
                </a:solidFill>
                <a:latin typeface="Tahoma" pitchFamily="34" charset="0"/>
                <a:ea typeface="+mn-ea"/>
              </a:rPr>
              <a:t>Confidential</a:t>
            </a:r>
            <a:endParaRPr lang="en-US" altLang="zh-TW" sz="1200" dirty="0">
              <a:solidFill>
                <a:srgbClr val="00206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gray">
          <a:xfrm>
            <a:off x="6821488" y="6618288"/>
            <a:ext cx="2170112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altLang="zh-TW" sz="1100" dirty="0">
                <a:latin typeface="Verdana" pitchFamily="34" charset="0"/>
              </a:rPr>
              <a:t>Driving Innovations™</a:t>
            </a:r>
            <a:endParaRPr lang="en-US" altLang="zh-TW" sz="1000" dirty="0">
              <a:latin typeface="Verdana" pitchFamily="34" charset="0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gray">
          <a:xfrm>
            <a:off x="3924300" y="6597650"/>
            <a:ext cx="8382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538D94C5-BC46-4B0D-B46B-3E7F715B45EE}" type="slidenum">
              <a:rPr lang="zh-TW" altLang="en-US" sz="1000">
                <a:latin typeface="Verdana" pitchFamily="34" charset="0"/>
              </a:rPr>
              <a:pPr algn="ctr">
                <a:defRPr/>
              </a:pPr>
              <a:t>‹#›</a:t>
            </a:fld>
            <a:endParaRPr lang="en-US" altLang="zh-TW" sz="1000" dirty="0"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2" r:id="rId2"/>
    <p:sldLayoutId id="2147483743" r:id="rId3"/>
    <p:sldLayoutId id="2147483744" r:id="rId4"/>
    <p:sldLayoutId id="2147483751" r:id="rId5"/>
    <p:sldLayoutId id="2147483741" r:id="rId6"/>
    <p:sldLayoutId id="2147483748" r:id="rId7"/>
    <p:sldLayoutId id="2147483746" r:id="rId8"/>
    <p:sldLayoutId id="2147483745" r:id="rId9"/>
    <p:sldLayoutId id="2147483740" r:id="rId10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kumimoji="1" sz="2800">
          <a:solidFill>
            <a:schemeClr val="tx1"/>
          </a:solidFill>
          <a:latin typeface="Tahoma" pitchFamily="34" charset="0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n"/>
        <a:defRPr kumimoji="1" sz="2400">
          <a:solidFill>
            <a:schemeClr val="tx1"/>
          </a:solidFill>
          <a:latin typeface="Tahoma" pitchFamily="34" charset="0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u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l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63938" y="2290763"/>
            <a:ext cx="5324475" cy="381000"/>
          </a:xfrm>
        </p:spPr>
        <p:txBody>
          <a:bodyPr/>
          <a:lstStyle/>
          <a:p>
            <a:r>
              <a:rPr lang="en-US" altLang="zh-TW" sz="2800" dirty="0" smtClean="0">
                <a:ea typeface="新細明體" charset="-120"/>
              </a:rPr>
              <a:t>Driving Innovations™</a:t>
            </a:r>
            <a:endParaRPr lang="zh-TW" altLang="en-US" sz="2800" baseline="30000" smtClean="0">
              <a:ea typeface="新細明體" charset="-120"/>
            </a:endParaRPr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238" y="1106600"/>
            <a:ext cx="8666162" cy="762000"/>
          </a:xfrm>
        </p:spPr>
        <p:txBody>
          <a:bodyPr/>
          <a:lstStyle/>
          <a:p>
            <a:pPr>
              <a:defRPr/>
            </a:pP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Vicuna AE350 SMU Design </a:t>
            </a:r>
            <a:r>
              <a:rPr lang="en-US" altLang="zh-TW" sz="4400" dirty="0">
                <a:solidFill>
                  <a:srgbClr val="333333"/>
                </a:solidFill>
                <a:ea typeface="新細明體" charset="-120"/>
              </a:rPr>
              <a:t>S</a:t>
            </a: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pecification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7060565" y="5507354"/>
            <a:ext cx="2038350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Ellis Chen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en-US" altLang="zh-TW" smtClean="0">
                <a:solidFill>
                  <a:schemeClr val="bg1"/>
                </a:solidFill>
              </a:rPr>
              <a:t>2019-02-26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Feature of </a:t>
            </a:r>
            <a:r>
              <a:rPr lang="en-US" altLang="zh-TW" sz="2400" dirty="0" smtClean="0"/>
              <a:t>ae350_smu_pd</a:t>
            </a:r>
            <a:endParaRPr lang="en-US" altLang="zh-TW" sz="2400" dirty="0" smtClean="0"/>
          </a:p>
          <a:p>
            <a:r>
              <a:rPr lang="en-US" altLang="zh-TW" sz="2400" dirty="0" smtClean="0"/>
              <a:t>ae350_rstgen</a:t>
            </a:r>
          </a:p>
          <a:p>
            <a:pPr lvl="1"/>
            <a:r>
              <a:rPr lang="en-US" altLang="zh-TW" sz="2000" dirty="0" smtClean="0"/>
              <a:t>Add path for reset core 0</a:t>
            </a:r>
          </a:p>
          <a:p>
            <a:r>
              <a:rPr lang="en-US" altLang="zh-TW" sz="2400" dirty="0" smtClean="0"/>
              <a:t>ae350_smu</a:t>
            </a:r>
          </a:p>
          <a:p>
            <a:pPr lvl="1"/>
            <a:r>
              <a:rPr lang="en-US" altLang="zh-TW" sz="2000" dirty="0" smtClean="0"/>
              <a:t>Old/New hierarchy block diagram</a:t>
            </a:r>
          </a:p>
          <a:p>
            <a:r>
              <a:rPr lang="en-US" altLang="zh-TW" sz="2400" dirty="0" smtClean="0"/>
              <a:t>ae350_smu_apbif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New register for power control</a:t>
            </a:r>
          </a:p>
          <a:p>
            <a:r>
              <a:rPr lang="en-US" altLang="zh-TW" sz="2400" dirty="0" smtClean="0"/>
              <a:t>ae350_smu_mpd (Main power domain)</a:t>
            </a:r>
          </a:p>
          <a:p>
            <a:pPr lvl="1"/>
            <a:r>
              <a:rPr lang="en-US" altLang="zh-TW" sz="2000" dirty="0" smtClean="0"/>
              <a:t>Remove core clock/power related logic</a:t>
            </a:r>
          </a:p>
          <a:p>
            <a:r>
              <a:rPr lang="en-US" altLang="zh-TW" sz="2400" dirty="0" smtClean="0"/>
              <a:t>ae350_smu_pd </a:t>
            </a:r>
            <a:r>
              <a:rPr lang="en-US" altLang="zh-TW" sz="2400" dirty="0" smtClean="0"/>
              <a:t>(Core/L2 power domain)</a:t>
            </a:r>
          </a:p>
          <a:p>
            <a:pPr lvl="1"/>
            <a:r>
              <a:rPr lang="en-US" altLang="zh-TW" sz="2000" dirty="0" smtClean="0"/>
              <a:t>Interface</a:t>
            </a:r>
          </a:p>
          <a:p>
            <a:pPr lvl="1"/>
            <a:r>
              <a:rPr lang="en-US" altLang="zh-TW" sz="2000" dirty="0" smtClean="0"/>
              <a:t>FSM for power control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2841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Feature of </a:t>
            </a:r>
            <a:r>
              <a:rPr lang="en-US" altLang="zh-TW" dirty="0" smtClean="0"/>
              <a:t>ae350_smu_pd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Support for a </a:t>
            </a:r>
            <a:r>
              <a:rPr lang="en-US" altLang="zh-TW" sz="2400" dirty="0" smtClean="0"/>
              <a:t>power/clock domain control 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Power source</a:t>
            </a:r>
          </a:p>
          <a:p>
            <a:pPr lvl="1"/>
            <a:r>
              <a:rPr lang="en-US" altLang="zh-TW" sz="2000" dirty="0" smtClean="0"/>
              <a:t>Clock source</a:t>
            </a:r>
          </a:p>
          <a:p>
            <a:pPr lvl="1"/>
            <a:r>
              <a:rPr lang="en-US" altLang="zh-TW" sz="2000" dirty="0" smtClean="0"/>
              <a:t>Isolation cell</a:t>
            </a:r>
          </a:p>
          <a:p>
            <a:pPr lvl="1"/>
            <a:r>
              <a:rPr lang="en-US" altLang="zh-TW" sz="2000" dirty="0" smtClean="0"/>
              <a:t>Retention cell</a:t>
            </a:r>
          </a:p>
          <a:p>
            <a:pPr lvl="1"/>
            <a:r>
              <a:rPr lang="en-US" altLang="zh-TW" sz="2000" dirty="0" smtClean="0"/>
              <a:t>Memory region power source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wakeup event mask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</a:t>
            </a:r>
            <a:r>
              <a:rPr lang="en-US" altLang="zh-TW" sz="2400" dirty="0" smtClean="0"/>
              <a:t>sleep/shutdown </a:t>
            </a:r>
            <a:r>
              <a:rPr lang="en-US" altLang="zh-TW" sz="2400" dirty="0"/>
              <a:t>modes </a:t>
            </a:r>
            <a:endParaRPr lang="en-US" altLang="zh-TW" sz="2400" dirty="0" smtClean="0"/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dynamic voltage frequency scaling (DVFS)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04002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ae350_rstgen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ae350_rstgen, </a:t>
            </a:r>
            <a:r>
              <a:rPr lang="en-US" altLang="zh-TW" dirty="0" smtClean="0"/>
              <a:t>core0_resetn is </a:t>
            </a:r>
            <a:r>
              <a:rPr lang="en-US" altLang="zh-TW" dirty="0"/>
              <a:t>controlled by </a:t>
            </a:r>
            <a:r>
              <a:rPr lang="en-US" altLang="zh-TW" dirty="0" err="1" smtClean="0"/>
              <a:t>aresetn_src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c</a:t>
            </a:r>
            <a:r>
              <a:rPr lang="en-US" altLang="zh-TW" dirty="0" smtClean="0"/>
              <a:t>ore[1~3]_</a:t>
            </a:r>
            <a:r>
              <a:rPr lang="en-US" altLang="zh-TW" dirty="0" err="1" smtClean="0"/>
              <a:t>resetn</a:t>
            </a:r>
            <a:r>
              <a:rPr lang="en-US" altLang="zh-TW" dirty="0" smtClean="0"/>
              <a:t> </a:t>
            </a:r>
            <a:r>
              <a:rPr lang="en-US" altLang="zh-TW" dirty="0"/>
              <a:t>is controlled by </a:t>
            </a:r>
            <a:r>
              <a:rPr lang="en-US" altLang="zh-TW" dirty="0" smtClean="0"/>
              <a:t>SMU.</a:t>
            </a:r>
          </a:p>
          <a:p>
            <a:r>
              <a:rPr lang="en-US" altLang="zh-TW" dirty="0" smtClean="0"/>
              <a:t>Add a </a:t>
            </a:r>
            <a:r>
              <a:rPr lang="en-US" altLang="zh-TW" dirty="0"/>
              <a:t>path for reset core </a:t>
            </a:r>
            <a:r>
              <a:rPr lang="en-US" altLang="zh-TW" dirty="0" smtClean="0"/>
              <a:t>0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0181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Original design in AE210P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50" t="23596" r="59865" b="10109"/>
          <a:stretch/>
        </p:blipFill>
        <p:spPr bwMode="auto">
          <a:xfrm>
            <a:off x="2024063" y="933449"/>
            <a:ext cx="5095875" cy="56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92" t="17978" r="60105" b="76243"/>
          <a:stretch/>
        </p:blipFill>
        <p:spPr bwMode="auto">
          <a:xfrm>
            <a:off x="7129464" y="5972175"/>
            <a:ext cx="1776412" cy="534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0622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/>
            <a:r>
              <a:rPr lang="en-US" altLang="zh-TW" dirty="0" smtClean="0"/>
              <a:t>Old </a:t>
            </a:r>
            <a:r>
              <a:rPr lang="en-US" altLang="zh-TW" dirty="0"/>
              <a:t>hierarchy block </a:t>
            </a:r>
            <a:r>
              <a:rPr lang="en-US" altLang="zh-TW" dirty="0" smtClean="0"/>
              <a:t>diagram in AE350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638174" y="1051440"/>
            <a:ext cx="7762875" cy="52731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90574" y="1176814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0574" y="2261711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ae350_smu_apbif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1523" y="3883699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686175" y="5688568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ae350_smu_aopd_top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852861" y="168592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ae350_smu_aopd_core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852861" y="2570202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ae350_aopd_pin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52861" y="3432691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ae350_aopd_clkgen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838575" y="430899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ae350_aopd_rstgen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852861" y="5193626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ae350_aopd_testgen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790574" y="2798802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3686175" y="1176814"/>
            <a:ext cx="4552949" cy="488108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3838575" y="1323380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3838574" y="2207657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3852861" y="3070146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3852861" y="3961805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3852861" y="4831081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8174" y="5957769"/>
            <a:ext cx="14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 bwMode="auto">
          <a:xfrm>
            <a:off x="990367" y="1323380"/>
            <a:ext cx="2343383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/>
              <a:t>R</a:t>
            </a:r>
            <a:r>
              <a:rPr lang="en-US" altLang="zh-TW" sz="1400" b="0" dirty="0" smtClean="0"/>
              <a:t>egisters</a:t>
            </a:r>
            <a:endParaRPr lang="zh-TW" altLang="en-US" sz="1400" b="0" dirty="0"/>
          </a:p>
        </p:txBody>
      </p:sp>
      <p:sp>
        <p:nvSpPr>
          <p:cNvPr id="28" name="矩形 27"/>
          <p:cNvSpPr/>
          <p:nvPr/>
        </p:nvSpPr>
        <p:spPr bwMode="auto">
          <a:xfrm>
            <a:off x="990366" y="2939892"/>
            <a:ext cx="2343383" cy="2890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 smtClean="0"/>
              <a:t>FSM for power mode</a:t>
            </a:r>
            <a:endParaRPr lang="zh-TW" altLang="en-US" sz="1400" b="0" dirty="0"/>
          </a:p>
        </p:txBody>
      </p:sp>
      <p:sp>
        <p:nvSpPr>
          <p:cNvPr id="29" name="矩形 28"/>
          <p:cNvSpPr/>
          <p:nvPr/>
        </p:nvSpPr>
        <p:spPr bwMode="auto">
          <a:xfrm>
            <a:off x="3938375" y="4909572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Test signal connection</a:t>
            </a:r>
            <a:endParaRPr lang="zh-TW" altLang="en-US" sz="1400" b="0" dirty="0"/>
          </a:p>
        </p:txBody>
      </p:sp>
      <p:sp>
        <p:nvSpPr>
          <p:cNvPr id="30" name="矩形 29"/>
          <p:cNvSpPr/>
          <p:nvPr/>
        </p:nvSpPr>
        <p:spPr bwMode="auto">
          <a:xfrm>
            <a:off x="3938375" y="3159576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Clock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31" name="矩形 30"/>
          <p:cNvSpPr/>
          <p:nvPr/>
        </p:nvSpPr>
        <p:spPr bwMode="auto">
          <a:xfrm>
            <a:off x="3938375" y="4058840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Reset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32" name="矩形 31"/>
          <p:cNvSpPr/>
          <p:nvPr/>
        </p:nvSpPr>
        <p:spPr bwMode="auto">
          <a:xfrm>
            <a:off x="3976475" y="2348686"/>
            <a:ext cx="3653050" cy="2325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900" b="0" dirty="0" smtClean="0"/>
              <a:t>IO Pad for </a:t>
            </a:r>
            <a:r>
              <a:rPr lang="en-US" altLang="zh-TW" sz="900" b="0" dirty="0" err="1" smtClean="0"/>
              <a:t>aopd_porb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om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jtag_tck</a:t>
            </a:r>
            <a:r>
              <a:rPr lang="en-US" altLang="zh-TW" sz="900" b="0" dirty="0" smtClean="0"/>
              <a:t>/wakeup/</a:t>
            </a:r>
            <a:r>
              <a:rPr lang="en-US" altLang="zh-TW" sz="900" b="0" dirty="0" err="1" smtClean="0"/>
              <a:t>rtc_wakeup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mpd_pwr_pff</a:t>
            </a:r>
            <a:endParaRPr lang="zh-TW" altLang="en-US" sz="900" b="0" dirty="0"/>
          </a:p>
        </p:txBody>
      </p:sp>
      <p:sp>
        <p:nvSpPr>
          <p:cNvPr id="34" name="矩形 33"/>
          <p:cNvSpPr/>
          <p:nvPr/>
        </p:nvSpPr>
        <p:spPr bwMode="auto">
          <a:xfrm>
            <a:off x="3976475" y="1437680"/>
            <a:ext cx="2852740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Synchronizer for RTC signal</a:t>
            </a:r>
            <a:endParaRPr lang="zh-TW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314050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 bwMode="auto">
          <a:xfrm>
            <a:off x="1190624" y="4742736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1090457" y="4647844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993842" y="4535448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885824" y="4428411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New </a:t>
            </a:r>
            <a:r>
              <a:rPr lang="en-US" altLang="zh-TW" dirty="0"/>
              <a:t>hierarchy block </a:t>
            </a:r>
            <a:r>
              <a:rPr lang="en-US" altLang="zh-TW" dirty="0" smtClean="0"/>
              <a:t>diagram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638174" y="1051440"/>
            <a:ext cx="7762875" cy="52731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90574" y="1176814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0574" y="2261711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ae350_smu_apbif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1523" y="3883699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852861" y="168592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ae350_smu_aopd_core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852861" y="2570202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ae350_aopd_pin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52861" y="3432691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ae350_aopd_clkgen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838575" y="430899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ae350_aopd_rstgen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852861" y="5193626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ae350_aopd_testgen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790574" y="2798802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3838575" y="1323380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3838574" y="2207657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3852861" y="3070146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3852861" y="3961805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3852861" y="4831081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8174" y="5957769"/>
            <a:ext cx="3506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ae350_smu(</a:t>
            </a:r>
            <a:r>
              <a:rPr lang="en-US" altLang="zh-TW" dirty="0" smtClean="0">
                <a:solidFill>
                  <a:srgbClr val="FF0000"/>
                </a:solidFill>
              </a:rPr>
              <a:t>Always-on region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 bwMode="auto">
          <a:xfrm>
            <a:off x="990367" y="1323380"/>
            <a:ext cx="2343383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/>
              <a:t>R</a:t>
            </a:r>
            <a:r>
              <a:rPr lang="en-US" altLang="zh-TW" sz="1400" b="0" dirty="0" smtClean="0"/>
              <a:t>egisters</a:t>
            </a:r>
            <a:endParaRPr lang="zh-TW" altLang="en-US" sz="1400" b="0" dirty="0"/>
          </a:p>
        </p:txBody>
      </p:sp>
      <p:sp>
        <p:nvSpPr>
          <p:cNvPr id="24" name="矩形 23"/>
          <p:cNvSpPr/>
          <p:nvPr/>
        </p:nvSpPr>
        <p:spPr bwMode="auto">
          <a:xfrm>
            <a:off x="3938375" y="4909572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 smtClean="0"/>
              <a:t>Test signal connection</a:t>
            </a:r>
            <a:endParaRPr lang="zh-TW" altLang="en-US" sz="1400" b="0" dirty="0"/>
          </a:p>
        </p:txBody>
      </p:sp>
      <p:sp>
        <p:nvSpPr>
          <p:cNvPr id="25" name="矩形 24"/>
          <p:cNvSpPr/>
          <p:nvPr/>
        </p:nvSpPr>
        <p:spPr bwMode="auto">
          <a:xfrm>
            <a:off x="3938375" y="3159576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 smtClean="0"/>
              <a:t>Clock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26" name="矩形 25"/>
          <p:cNvSpPr/>
          <p:nvPr/>
        </p:nvSpPr>
        <p:spPr bwMode="auto">
          <a:xfrm>
            <a:off x="3938375" y="4058840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 smtClean="0"/>
              <a:t>Reset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27" name="矩形 26"/>
          <p:cNvSpPr/>
          <p:nvPr/>
        </p:nvSpPr>
        <p:spPr bwMode="auto">
          <a:xfrm>
            <a:off x="3976475" y="2348686"/>
            <a:ext cx="3653050" cy="2325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900" b="0" dirty="0" smtClean="0"/>
              <a:t>IO Pad for </a:t>
            </a:r>
            <a:r>
              <a:rPr lang="en-US" altLang="zh-TW" sz="900" b="0" dirty="0" err="1" smtClean="0"/>
              <a:t>aopd_porb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om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jtag_tck</a:t>
            </a:r>
            <a:r>
              <a:rPr lang="en-US" altLang="zh-TW" sz="900" b="0" dirty="0" smtClean="0"/>
              <a:t>/wakeup/</a:t>
            </a:r>
            <a:r>
              <a:rPr lang="en-US" altLang="zh-TW" sz="900" b="0" dirty="0" err="1" smtClean="0"/>
              <a:t>rtc_wakeup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mpd_pwr_pff</a:t>
            </a:r>
            <a:endParaRPr lang="zh-TW" altLang="en-US" sz="900" b="0" dirty="0"/>
          </a:p>
        </p:txBody>
      </p:sp>
      <p:sp>
        <p:nvSpPr>
          <p:cNvPr id="28" name="矩形 27"/>
          <p:cNvSpPr/>
          <p:nvPr/>
        </p:nvSpPr>
        <p:spPr bwMode="auto">
          <a:xfrm>
            <a:off x="3976475" y="1437680"/>
            <a:ext cx="2343383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 smtClean="0"/>
              <a:t>Synchronizer</a:t>
            </a:r>
            <a:endParaRPr lang="zh-TW" altLang="en-US" sz="1400" b="0" dirty="0"/>
          </a:p>
        </p:txBody>
      </p:sp>
      <p:sp>
        <p:nvSpPr>
          <p:cNvPr id="29" name="矩形 28"/>
          <p:cNvSpPr/>
          <p:nvPr/>
        </p:nvSpPr>
        <p:spPr bwMode="auto">
          <a:xfrm>
            <a:off x="790574" y="4323636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71523" y="5060754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ae350_smu_pd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222215" y="5793166"/>
            <a:ext cx="13532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 smtClean="0">
                <a:solidFill>
                  <a:srgbClr val="FF0000"/>
                </a:solidFill>
              </a:rPr>
              <a:t>Core 0~3/L2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885824" y="4418886"/>
            <a:ext cx="1714501" cy="28908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200" b="0" dirty="0" smtClean="0">
                <a:solidFill>
                  <a:srgbClr val="FF0000"/>
                </a:solidFill>
              </a:rPr>
              <a:t>FSM for power mode</a:t>
            </a:r>
            <a:endParaRPr lang="zh-TW" alt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929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Original CSR for ae350_smu_apbif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000" dirty="0"/>
              <a:t>0x00: `AE350_PRODUCT_ID</a:t>
            </a:r>
          </a:p>
          <a:p>
            <a:pPr marL="0" indent="0">
              <a:buNone/>
            </a:pPr>
            <a:r>
              <a:rPr lang="en-US" altLang="zh-TW" sz="2000" dirty="0" smtClean="0"/>
              <a:t>0x04: </a:t>
            </a:r>
            <a:r>
              <a:rPr lang="en-US" altLang="zh-TW" sz="2000" dirty="0"/>
              <a:t>`</a:t>
            </a:r>
            <a:r>
              <a:rPr lang="en-US" altLang="zh-TW" sz="2000" dirty="0" smtClean="0"/>
              <a:t>AE350_BOARD_ID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 smtClean="0"/>
              <a:t>0x10: </a:t>
            </a:r>
            <a:r>
              <a:rPr lang="en-US" altLang="zh-TW" sz="1350" dirty="0" smtClean="0"/>
              <a:t>{21'h0, </a:t>
            </a:r>
            <a:r>
              <a:rPr lang="en-US" altLang="zh-TW" sz="1350" dirty="0" err="1" smtClean="0"/>
              <a:t>wrsr_dbg</a:t>
            </a:r>
            <a:r>
              <a:rPr lang="en-US" altLang="zh-TW" sz="1350" dirty="0"/>
              <a:t>, </a:t>
            </a:r>
            <a:r>
              <a:rPr lang="en-US" altLang="zh-TW" sz="1350" dirty="0" err="1"/>
              <a:t>wrsr_alm</a:t>
            </a:r>
            <a:r>
              <a:rPr lang="en-US" altLang="zh-TW" sz="1350" dirty="0"/>
              <a:t>, </a:t>
            </a:r>
            <a:r>
              <a:rPr lang="en-US" altLang="zh-TW" sz="1350" dirty="0" err="1"/>
              <a:t>wrsr_extw</a:t>
            </a:r>
            <a:r>
              <a:rPr lang="en-US" altLang="zh-TW" sz="1350" dirty="0"/>
              <a:t>, 3'h0, </a:t>
            </a:r>
            <a:r>
              <a:rPr lang="en-US" altLang="zh-TW" sz="1350" dirty="0" err="1"/>
              <a:t>wrsr_sw</a:t>
            </a:r>
            <a:r>
              <a:rPr lang="en-US" altLang="zh-TW" sz="1350" dirty="0"/>
              <a:t>, </a:t>
            </a:r>
            <a:r>
              <a:rPr lang="en-US" altLang="zh-TW" sz="1350" dirty="0" err="1"/>
              <a:t>wrsr_wdt</a:t>
            </a:r>
            <a:r>
              <a:rPr lang="en-US" altLang="zh-TW" sz="1350" dirty="0"/>
              <a:t>, </a:t>
            </a:r>
            <a:r>
              <a:rPr lang="en-US" altLang="zh-TW" sz="1350" dirty="0" err="1" smtClean="0"/>
              <a:t>wrsr_hw</a:t>
            </a:r>
            <a:r>
              <a:rPr lang="en-US" altLang="zh-TW" sz="1350" dirty="0" smtClean="0"/>
              <a:t>, </a:t>
            </a:r>
            <a:r>
              <a:rPr lang="en-US" altLang="zh-TW" sz="1350" dirty="0" err="1" smtClean="0"/>
              <a:t>wrsr_mpor</a:t>
            </a:r>
            <a:r>
              <a:rPr lang="en-US" altLang="zh-TW" sz="1350" dirty="0"/>
              <a:t>, </a:t>
            </a:r>
            <a:r>
              <a:rPr lang="en-US" altLang="zh-TW" sz="1350" dirty="0" err="1"/>
              <a:t>wrsr_apor</a:t>
            </a:r>
            <a:r>
              <a:rPr lang="en-US" altLang="zh-TW" sz="1350" dirty="0"/>
              <a:t>}</a:t>
            </a:r>
          </a:p>
          <a:p>
            <a:pPr marL="0" indent="0">
              <a:buNone/>
            </a:pPr>
            <a:r>
              <a:rPr lang="en-US" altLang="zh-TW" sz="2000" dirty="0"/>
              <a:t>0x1C: {21'h0, </a:t>
            </a:r>
            <a:r>
              <a:rPr lang="en-US" altLang="zh-TW" sz="2000" dirty="0" err="1"/>
              <a:t>wr_mask_reg</a:t>
            </a:r>
            <a:r>
              <a:rPr lang="en-US" altLang="zh-TW" sz="2000" dirty="0"/>
              <a:t>, 8'h0}</a:t>
            </a:r>
          </a:p>
          <a:p>
            <a:pPr marL="0" indent="0">
              <a:buNone/>
            </a:pPr>
            <a:r>
              <a:rPr lang="en-US" altLang="zh-TW" sz="2000" dirty="0" smtClean="0"/>
              <a:t>0x20: </a:t>
            </a:r>
            <a:r>
              <a:rPr lang="en-US" altLang="zh-TW" sz="2000" dirty="0"/>
              <a:t>{21'h0, </a:t>
            </a:r>
            <a:r>
              <a:rPr lang="en-US" altLang="zh-TW" sz="2000" dirty="0" err="1"/>
              <a:t>clock_en_reg</a:t>
            </a:r>
            <a:r>
              <a:rPr lang="en-US" altLang="zh-TW" sz="2000" dirty="0"/>
              <a:t>}</a:t>
            </a:r>
          </a:p>
          <a:p>
            <a:pPr marL="0" indent="0">
              <a:buNone/>
            </a:pPr>
            <a:r>
              <a:rPr lang="en-US" altLang="zh-TW" sz="2000" dirty="0" smtClean="0"/>
              <a:t>0x24: </a:t>
            </a:r>
            <a:r>
              <a:rPr lang="en-US" altLang="zh-TW" sz="2000" dirty="0"/>
              <a:t>{28'h0, </a:t>
            </a:r>
            <a:r>
              <a:rPr lang="en-US" altLang="zh-TW" sz="2000" dirty="0" err="1"/>
              <a:t>clock_ratio_reg</a:t>
            </a:r>
            <a:r>
              <a:rPr lang="en-US" altLang="zh-TW" sz="2000" dirty="0"/>
              <a:t>}</a:t>
            </a:r>
          </a:p>
          <a:p>
            <a:pPr marL="0" indent="0">
              <a:buNone/>
            </a:pPr>
            <a:r>
              <a:rPr lang="en-US" altLang="zh-TW" sz="2000" dirty="0"/>
              <a:t>0x30: userdr0_reg_out[31:0]</a:t>
            </a:r>
          </a:p>
          <a:p>
            <a:pPr marL="0" indent="0">
              <a:buNone/>
            </a:pPr>
            <a:r>
              <a:rPr lang="en-US" altLang="zh-TW" sz="2000" dirty="0" smtClean="0"/>
              <a:t>0x34: </a:t>
            </a:r>
            <a:r>
              <a:rPr lang="en-US" altLang="zh-TW" sz="2000" dirty="0"/>
              <a:t>userdr1_reg_out[31:0]</a:t>
            </a:r>
          </a:p>
          <a:p>
            <a:pPr marL="0" indent="0">
              <a:buNone/>
            </a:pPr>
            <a:r>
              <a:rPr lang="en-US" altLang="zh-TW" sz="2000" dirty="0" smtClean="0"/>
              <a:t>0x40: </a:t>
            </a:r>
            <a:r>
              <a:rPr lang="en-US" altLang="zh-TW" sz="2000" dirty="0" err="1"/>
              <a:t>scratch_reg_out</a:t>
            </a:r>
            <a:r>
              <a:rPr lang="en-US" altLang="zh-TW" sz="2000" dirty="0"/>
              <a:t>[31:0]</a:t>
            </a:r>
          </a:p>
          <a:p>
            <a:pPr marL="0" indent="0">
              <a:buNone/>
            </a:pPr>
            <a:r>
              <a:rPr lang="en-US" altLang="zh-TW" sz="2000" dirty="0" smtClean="0"/>
              <a:t>0x44: </a:t>
            </a:r>
            <a:r>
              <a:rPr lang="en-US" altLang="zh-TW" sz="2000" dirty="0" err="1"/>
              <a:t>core_resetn_reg_out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 smtClean="0"/>
              <a:t>0x50: </a:t>
            </a:r>
            <a:r>
              <a:rPr lang="en-US" altLang="zh-TW" sz="2000" dirty="0"/>
              <a:t>core0_reset_vector[31:0]</a:t>
            </a:r>
          </a:p>
          <a:p>
            <a:pPr marL="0" indent="0">
              <a:buNone/>
            </a:pPr>
            <a:r>
              <a:rPr lang="en-US" altLang="zh-TW" sz="2000" dirty="0" smtClean="0"/>
              <a:t>0x54: </a:t>
            </a:r>
            <a:r>
              <a:rPr lang="en-US" altLang="zh-TW" sz="2000" dirty="0"/>
              <a:t>core1_reset_vector[31:0]</a:t>
            </a:r>
          </a:p>
          <a:p>
            <a:pPr marL="0" indent="0">
              <a:buNone/>
            </a:pPr>
            <a:r>
              <a:rPr lang="en-US" altLang="zh-TW" sz="2000" dirty="0" smtClean="0"/>
              <a:t>0x58: </a:t>
            </a:r>
            <a:r>
              <a:rPr lang="en-US" altLang="zh-TW" sz="2000" dirty="0"/>
              <a:t>core2_reset_vector[31:0]</a:t>
            </a:r>
          </a:p>
          <a:p>
            <a:pPr marL="0" indent="0">
              <a:buNone/>
            </a:pPr>
            <a:r>
              <a:rPr lang="en-US" altLang="zh-TW" sz="2000" dirty="0" smtClean="0"/>
              <a:t>0x5c: </a:t>
            </a:r>
            <a:r>
              <a:rPr lang="en-US" altLang="zh-TW" sz="2000" dirty="0"/>
              <a:t>core3_reset_vector[31:0]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551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CSR for ae350_smu_apbif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1600" dirty="0" smtClean="0"/>
              <a:t>// Core 0</a:t>
            </a:r>
          </a:p>
          <a:p>
            <a:pPr marL="0" indent="0">
              <a:buNone/>
            </a:pPr>
            <a:r>
              <a:rPr lang="en-US" altLang="zh-TW" sz="1600" dirty="0" smtClean="0"/>
              <a:t>// </a:t>
            </a:r>
            <a:r>
              <a:rPr lang="en-US" altLang="zh-TW" sz="1600" dirty="0"/>
              <a:t>Power Status Register</a:t>
            </a:r>
          </a:p>
          <a:p>
            <a:pPr marL="0" indent="0">
              <a:buNone/>
            </a:pPr>
            <a:r>
              <a:rPr lang="en-US" altLang="zh-TW" sz="1600" dirty="0"/>
              <a:t>0x100: core0_pwr_st[3:0]</a:t>
            </a:r>
          </a:p>
          <a:p>
            <a:pPr marL="0" indent="0">
              <a:buNone/>
            </a:pPr>
            <a:r>
              <a:rPr lang="en-US" altLang="zh-TW" sz="1600" dirty="0"/>
              <a:t>// Wakeup Enable Register</a:t>
            </a:r>
          </a:p>
          <a:p>
            <a:pPr marL="0" indent="0">
              <a:buNone/>
            </a:pPr>
            <a:r>
              <a:rPr lang="en-US" altLang="zh-TW" sz="1600" dirty="0"/>
              <a:t>0x104: core0_wakeup_en[3:0]</a:t>
            </a:r>
          </a:p>
          <a:p>
            <a:pPr marL="0" indent="0">
              <a:buNone/>
            </a:pPr>
            <a:r>
              <a:rPr lang="en-US" altLang="zh-TW" sz="1600" dirty="0"/>
              <a:t>// Power Control Register </a:t>
            </a:r>
            <a:endParaRPr lang="en-US" altLang="zh-TW" sz="1600" dirty="0" smtClean="0"/>
          </a:p>
          <a:p>
            <a:pPr marL="0" indent="0">
              <a:buNone/>
            </a:pPr>
            <a:r>
              <a:rPr lang="en-US" altLang="zh-TW" sz="1600" dirty="0" smtClean="0"/>
              <a:t>0x108</a:t>
            </a:r>
            <a:r>
              <a:rPr lang="en-US" altLang="zh-TW" sz="1600" dirty="0"/>
              <a:t>: core0_icache_disable_init, core0_dcache_disable_init, core0_pwr_ctrl_frq[3:0], core0_pwr_ctrl_vol[3:0], core0_pwr_ctrl_cmd[3:0]</a:t>
            </a:r>
          </a:p>
          <a:p>
            <a:pPr marL="0" indent="0">
              <a:buNone/>
            </a:pPr>
            <a:r>
              <a:rPr lang="en-US" altLang="zh-TW" sz="1600" dirty="0" smtClean="0"/>
              <a:t>…</a:t>
            </a:r>
          </a:p>
          <a:p>
            <a:pPr marL="0" indent="0">
              <a:buNone/>
            </a:pPr>
            <a:r>
              <a:rPr lang="en-US" altLang="zh-TW" sz="1600" dirty="0" smtClean="0"/>
              <a:t>// Core 3</a:t>
            </a:r>
          </a:p>
          <a:p>
            <a:pPr marL="0" indent="0">
              <a:buNone/>
            </a:pPr>
            <a:r>
              <a:rPr lang="en-US" altLang="zh-TW" sz="1600" dirty="0" smtClean="0"/>
              <a:t>0x130</a:t>
            </a:r>
            <a:r>
              <a:rPr lang="en-US" altLang="zh-TW" sz="1600" dirty="0"/>
              <a:t>: </a:t>
            </a:r>
            <a:r>
              <a:rPr lang="en-US" altLang="zh-TW" sz="1600" dirty="0" smtClean="0"/>
              <a:t>core3_pwr_st[3:0</a:t>
            </a:r>
            <a:r>
              <a:rPr lang="en-US" altLang="zh-TW" sz="1600" dirty="0"/>
              <a:t>]</a:t>
            </a:r>
          </a:p>
          <a:p>
            <a:pPr marL="0" indent="0">
              <a:buNone/>
            </a:pPr>
            <a:r>
              <a:rPr lang="en-US" altLang="zh-TW" sz="1600" dirty="0" smtClean="0"/>
              <a:t>0x134</a:t>
            </a:r>
            <a:r>
              <a:rPr lang="en-US" altLang="zh-TW" sz="1600" dirty="0"/>
              <a:t>: </a:t>
            </a:r>
            <a:r>
              <a:rPr lang="en-US" altLang="zh-TW" sz="1600" dirty="0" smtClean="0"/>
              <a:t>core3_wakeup_en[3:0</a:t>
            </a:r>
            <a:r>
              <a:rPr lang="en-US" altLang="zh-TW" sz="1600" dirty="0"/>
              <a:t>]</a:t>
            </a:r>
          </a:p>
          <a:p>
            <a:pPr marL="0" indent="0">
              <a:buNone/>
            </a:pPr>
            <a:r>
              <a:rPr lang="en-US" altLang="zh-TW" sz="1600" dirty="0" smtClean="0"/>
              <a:t>0x138</a:t>
            </a:r>
            <a:r>
              <a:rPr lang="en-US" altLang="zh-TW" sz="1600" dirty="0"/>
              <a:t>: </a:t>
            </a:r>
            <a:r>
              <a:rPr lang="en-US" altLang="zh-TW" sz="1600" dirty="0" smtClean="0"/>
              <a:t>core3_icache_disable_init</a:t>
            </a:r>
            <a:r>
              <a:rPr lang="en-US" altLang="zh-TW" sz="1600" dirty="0"/>
              <a:t>, </a:t>
            </a:r>
            <a:r>
              <a:rPr lang="en-US" altLang="zh-TW" sz="1600" dirty="0" smtClean="0"/>
              <a:t>core3_dcache_disable_init</a:t>
            </a:r>
            <a:r>
              <a:rPr lang="en-US" altLang="zh-TW" sz="1600" dirty="0"/>
              <a:t>, </a:t>
            </a:r>
            <a:r>
              <a:rPr lang="en-US" altLang="zh-TW" sz="1600" dirty="0" smtClean="0"/>
              <a:t>core3_pwr_ctrl_frq[3:0</a:t>
            </a:r>
            <a:r>
              <a:rPr lang="en-US" altLang="zh-TW" sz="1600" dirty="0"/>
              <a:t>], </a:t>
            </a:r>
            <a:r>
              <a:rPr lang="en-US" altLang="zh-TW" sz="1600" dirty="0" smtClean="0"/>
              <a:t>core3_pwr_ctrl_vol[3:0</a:t>
            </a:r>
            <a:r>
              <a:rPr lang="en-US" altLang="zh-TW" sz="1600" dirty="0"/>
              <a:t>], </a:t>
            </a:r>
            <a:r>
              <a:rPr lang="en-US" altLang="zh-TW" sz="1600" dirty="0" smtClean="0"/>
              <a:t>core3_pwr_ctrl_cmd[3:0]</a:t>
            </a:r>
          </a:p>
          <a:p>
            <a:pPr marL="0" indent="0">
              <a:buNone/>
            </a:pPr>
            <a:r>
              <a:rPr lang="en-US" altLang="zh-TW" sz="1600" dirty="0" smtClean="0"/>
              <a:t>…</a:t>
            </a:r>
            <a:endParaRPr lang="en-US" altLang="zh-TW" sz="1600" dirty="0"/>
          </a:p>
          <a:p>
            <a:pPr marL="0" indent="0">
              <a:buNone/>
            </a:pPr>
            <a:r>
              <a:rPr lang="en-US" altLang="zh-TW" sz="1600" dirty="0" smtClean="0"/>
              <a:t>// L2</a:t>
            </a:r>
            <a:endParaRPr lang="en-US" altLang="zh-TW" sz="1600" dirty="0"/>
          </a:p>
          <a:p>
            <a:pPr marL="0" indent="0">
              <a:buNone/>
            </a:pPr>
            <a:r>
              <a:rPr lang="en-US" altLang="zh-TW" sz="1600" dirty="0"/>
              <a:t>0x140: l2_pwr_st[3:0]</a:t>
            </a:r>
          </a:p>
          <a:p>
            <a:pPr marL="0" indent="0">
              <a:buNone/>
            </a:pPr>
            <a:r>
              <a:rPr lang="en-US" altLang="zh-TW" sz="1600" dirty="0"/>
              <a:t>0x144: l2_wakeup_en[3:0]</a:t>
            </a:r>
          </a:p>
          <a:p>
            <a:pPr marL="0" indent="0">
              <a:buNone/>
            </a:pPr>
            <a:r>
              <a:rPr lang="en-US" altLang="zh-TW" sz="1600" dirty="0"/>
              <a:t>0x148: </a:t>
            </a:r>
            <a:r>
              <a:rPr lang="en-US" altLang="zh-TW" sz="1600" dirty="0" smtClean="0"/>
              <a:t>l2_disable_init, l2_pwr_ctrl_frq[3:0</a:t>
            </a:r>
            <a:r>
              <a:rPr lang="en-US" altLang="zh-TW" sz="1600" dirty="0"/>
              <a:t>], l2_pwr_ctrl_vol[3:0], l2_pwr_ctrl_cmd[3:0]</a:t>
            </a:r>
            <a:endParaRPr lang="zh-TW" altLang="en-US" sz="1600" dirty="0"/>
          </a:p>
        </p:txBody>
      </p:sp>
      <p:sp>
        <p:nvSpPr>
          <p:cNvPr id="4" name="矩形 3"/>
          <p:cNvSpPr/>
          <p:nvPr/>
        </p:nvSpPr>
        <p:spPr>
          <a:xfrm>
            <a:off x="3469955" y="929759"/>
            <a:ext cx="5596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SMU address mapping=0xF0100000~0xF01FFFFF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770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Remove </a:t>
            </a:r>
            <a:r>
              <a:rPr lang="en-US" altLang="zh-TW" dirty="0"/>
              <a:t>core clock/power related </a:t>
            </a:r>
            <a:r>
              <a:rPr lang="en-US" altLang="zh-TW" dirty="0" smtClean="0"/>
              <a:t>logic</a:t>
            </a:r>
          </a:p>
          <a:p>
            <a:pPr lvl="1"/>
            <a:r>
              <a:rPr lang="en-US" altLang="zh-TW" dirty="0" smtClean="0"/>
              <a:t>standby </a:t>
            </a:r>
            <a:r>
              <a:rPr lang="en-US" altLang="zh-TW" dirty="0"/>
              <a:t>state machine</a:t>
            </a:r>
          </a:p>
          <a:p>
            <a:pPr lvl="1"/>
            <a:r>
              <a:rPr lang="en-US" altLang="zh-TW" dirty="0" smtClean="0"/>
              <a:t>smu2core_standby_req</a:t>
            </a:r>
            <a:endParaRPr lang="en-US" altLang="zh-TW" dirty="0"/>
          </a:p>
          <a:p>
            <a:pPr lvl="1"/>
            <a:r>
              <a:rPr lang="en-US" altLang="zh-TW" dirty="0" smtClean="0"/>
              <a:t>smu2core_wakeup_ok</a:t>
            </a:r>
            <a:endParaRPr lang="en-US" altLang="zh-TW" dirty="0"/>
          </a:p>
          <a:p>
            <a:pPr lvl="1"/>
            <a:r>
              <a:rPr lang="en-US" altLang="zh-TW" dirty="0" smtClean="0"/>
              <a:t>core2smu_wfi_mode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602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Control signal </a:t>
            </a:r>
            <a:r>
              <a:rPr lang="en-US" altLang="zh-TW" dirty="0" smtClean="0"/>
              <a:t>from power domain (</a:t>
            </a:r>
            <a:r>
              <a:rPr lang="en-US" altLang="zh-TW" sz="1800" dirty="0" smtClean="0"/>
              <a:t>with synchronizer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sz="1600" dirty="0" err="1" smtClean="0"/>
              <a:t>pd_ready</a:t>
            </a:r>
            <a:r>
              <a:rPr lang="en-US" altLang="zh-TW" sz="1600" dirty="0" smtClean="0"/>
              <a:t>(input): Indicate this power domain is ready for power change</a:t>
            </a:r>
          </a:p>
          <a:p>
            <a:pPr lvl="2"/>
            <a:r>
              <a:rPr lang="en-US" altLang="zh-TW" sz="1200" dirty="0" smtClean="0"/>
              <a:t>Connect to </a:t>
            </a:r>
            <a:r>
              <a:rPr lang="en-US" altLang="zh-TW" sz="1200" dirty="0" err="1" smtClean="0"/>
              <a:t>core_wfi_mode</a:t>
            </a:r>
            <a:r>
              <a:rPr lang="en-US" altLang="zh-TW" sz="1200" dirty="0" smtClean="0"/>
              <a:t> that core ready for power change</a:t>
            </a:r>
          </a:p>
          <a:p>
            <a:pPr lvl="1"/>
            <a:r>
              <a:rPr lang="en-US" altLang="zh-TW" sz="1600" dirty="0" err="1"/>
              <a:t>pd_</a:t>
            </a:r>
            <a:r>
              <a:rPr lang="en-US" altLang="zh-TW" sz="1600" dirty="0" err="1" smtClean="0"/>
              <a:t>wakeup_event</a:t>
            </a:r>
            <a:r>
              <a:rPr lang="en-US" altLang="zh-TW" sz="1600" dirty="0" smtClean="0"/>
              <a:t>[31:0](input</a:t>
            </a:r>
            <a:r>
              <a:rPr lang="en-US" altLang="zh-TW" sz="1600" dirty="0"/>
              <a:t>): Indicate this power </a:t>
            </a:r>
            <a:r>
              <a:rPr lang="en-US" altLang="zh-TW" sz="1600" dirty="0" smtClean="0"/>
              <a:t>domain should be wakeup</a:t>
            </a:r>
          </a:p>
          <a:p>
            <a:pPr lvl="2"/>
            <a:r>
              <a:rPr lang="en-US" altLang="zh-TW" sz="1200" dirty="0" smtClean="0"/>
              <a:t>Connect </a:t>
            </a:r>
            <a:r>
              <a:rPr lang="en-US" altLang="zh-TW" sz="1200" dirty="0"/>
              <a:t>to </a:t>
            </a:r>
            <a:r>
              <a:rPr lang="en-US" altLang="zh-TW" sz="1200" dirty="0" err="1" smtClean="0"/>
              <a:t>msip</a:t>
            </a:r>
            <a:r>
              <a:rPr lang="en-US" altLang="zh-TW" sz="1200" dirty="0" smtClean="0"/>
              <a:t>/</a:t>
            </a:r>
            <a:r>
              <a:rPr lang="en-US" altLang="zh-TW" sz="1200" dirty="0" err="1" smtClean="0"/>
              <a:t>meip</a:t>
            </a:r>
            <a:r>
              <a:rPr lang="en-US" altLang="zh-TW" sz="1200" dirty="0" smtClean="0"/>
              <a:t>/</a:t>
            </a:r>
            <a:r>
              <a:rPr lang="en-US" altLang="zh-TW" sz="1200" dirty="0" err="1" smtClean="0"/>
              <a:t>mtip</a:t>
            </a:r>
            <a:r>
              <a:rPr lang="en-US" altLang="zh-TW" sz="1200" dirty="0" smtClean="0"/>
              <a:t>/</a:t>
            </a:r>
            <a:r>
              <a:rPr lang="en-US" altLang="zh-TW" sz="1200" dirty="0" err="1" smtClean="0"/>
              <a:t>ueip</a:t>
            </a:r>
            <a:r>
              <a:rPr lang="en-US" altLang="zh-TW" sz="1200" dirty="0" smtClean="0"/>
              <a:t> </a:t>
            </a:r>
            <a:r>
              <a:rPr lang="en-US" altLang="zh-TW" sz="1200" dirty="0"/>
              <a:t>for cores wakeup </a:t>
            </a:r>
            <a:r>
              <a:rPr lang="en-US" altLang="zh-TW" sz="1200" dirty="0" smtClean="0"/>
              <a:t>event</a:t>
            </a:r>
          </a:p>
          <a:p>
            <a:r>
              <a:rPr lang="en-US" altLang="zh-TW" dirty="0" smtClean="0"/>
              <a:t>Control signal with ae350_smu_apbif</a:t>
            </a:r>
          </a:p>
          <a:p>
            <a:pPr lvl="1"/>
            <a:r>
              <a:rPr lang="en-US" altLang="zh-TW" sz="1600" dirty="0" err="1" smtClean="0"/>
              <a:t>smu_wakeup_enable</a:t>
            </a:r>
            <a:r>
              <a:rPr lang="en-US" altLang="zh-TW" sz="1600" dirty="0" smtClean="0"/>
              <a:t>[31:0</a:t>
            </a:r>
            <a:r>
              <a:rPr lang="en-US" altLang="zh-TW" sz="1600" dirty="0"/>
              <a:t>](input): Indicate </a:t>
            </a:r>
            <a:r>
              <a:rPr lang="en-US" altLang="zh-TW" sz="1600" dirty="0" err="1" smtClean="0"/>
              <a:t>pd_wakeup_event</a:t>
            </a:r>
            <a:r>
              <a:rPr lang="en-US" altLang="zh-TW" sz="1600" dirty="0" smtClean="0"/>
              <a:t> is valid for wakeup</a:t>
            </a:r>
          </a:p>
          <a:p>
            <a:pPr lvl="1"/>
            <a:r>
              <a:rPr lang="en-US" altLang="zh-TW" sz="1600" dirty="0" err="1"/>
              <a:t>smu_</a:t>
            </a:r>
            <a:r>
              <a:rPr lang="en-US" altLang="zh-TW" sz="1600" dirty="0" err="1" smtClean="0"/>
              <a:t>disable_init</a:t>
            </a:r>
            <a:r>
              <a:rPr lang="en-US" altLang="zh-TW" sz="1600" dirty="0" smtClean="0"/>
              <a:t>[1:0](</a:t>
            </a:r>
            <a:r>
              <a:rPr lang="en-US" altLang="zh-TW" sz="1600" dirty="0"/>
              <a:t>input): </a:t>
            </a:r>
            <a:r>
              <a:rPr lang="en-US" altLang="zh-TW" sz="1600" dirty="0" smtClean="0"/>
              <a:t>Indicate signal which is asserted in wakeup event</a:t>
            </a:r>
          </a:p>
          <a:p>
            <a:pPr lvl="2"/>
            <a:r>
              <a:rPr lang="en-US" altLang="zh-TW" sz="1200" dirty="0" smtClean="0"/>
              <a:t>For </a:t>
            </a:r>
            <a:r>
              <a:rPr lang="en-US" altLang="zh-TW" sz="1200" dirty="0" err="1" smtClean="0"/>
              <a:t>icache_disable_init</a:t>
            </a:r>
            <a:r>
              <a:rPr lang="en-US" altLang="zh-TW" sz="1200" dirty="0" smtClean="0"/>
              <a:t>/</a:t>
            </a:r>
            <a:r>
              <a:rPr lang="en-US" altLang="zh-TW" sz="1200" dirty="0" err="1" smtClean="0"/>
              <a:t>dcache_disable_init</a:t>
            </a:r>
            <a:endParaRPr lang="en-US" altLang="zh-TW" sz="1200" dirty="0" smtClean="0"/>
          </a:p>
          <a:p>
            <a:pPr lvl="1"/>
            <a:r>
              <a:rPr lang="en-US" altLang="zh-TW" sz="1600" dirty="0" err="1"/>
              <a:t>smu_</a:t>
            </a:r>
            <a:r>
              <a:rPr lang="en-US" altLang="zh-TW" sz="1600" dirty="0" err="1" smtClean="0"/>
              <a:t>pwr_ctrl_frq</a:t>
            </a:r>
            <a:r>
              <a:rPr lang="en-US" altLang="zh-TW" sz="1600" dirty="0" smtClean="0"/>
              <a:t>[3:0]</a:t>
            </a:r>
            <a:r>
              <a:rPr lang="en-US" altLang="zh-TW" sz="1600" dirty="0"/>
              <a:t> (input): Indicate </a:t>
            </a:r>
            <a:r>
              <a:rPr lang="en-US" altLang="zh-TW" sz="1600" dirty="0" smtClean="0"/>
              <a:t>frequency vector</a:t>
            </a:r>
          </a:p>
          <a:p>
            <a:pPr lvl="1"/>
            <a:r>
              <a:rPr lang="en-US" altLang="zh-TW" sz="1600" dirty="0" err="1"/>
              <a:t>smu_</a:t>
            </a:r>
            <a:r>
              <a:rPr lang="en-US" altLang="zh-TW" sz="1600" dirty="0" err="1" smtClean="0"/>
              <a:t>pwr_ctrl_vol</a:t>
            </a:r>
            <a:r>
              <a:rPr lang="en-US" altLang="zh-TW" sz="1600" dirty="0" smtClean="0"/>
              <a:t>[3:0]</a:t>
            </a:r>
            <a:r>
              <a:rPr lang="en-US" altLang="zh-TW" sz="1600" dirty="0"/>
              <a:t> (input): Indicate </a:t>
            </a:r>
            <a:r>
              <a:rPr lang="en-US" altLang="zh-TW" sz="1600" dirty="0" smtClean="0"/>
              <a:t>voltage vector</a:t>
            </a:r>
          </a:p>
          <a:p>
            <a:pPr lvl="1"/>
            <a:r>
              <a:rPr lang="en-US" altLang="zh-TW" sz="1600" dirty="0" err="1"/>
              <a:t>smu_</a:t>
            </a:r>
            <a:r>
              <a:rPr lang="en-US" altLang="zh-TW" sz="1600" dirty="0" err="1" smtClean="0"/>
              <a:t>pwr_ctrl_cmd</a:t>
            </a:r>
            <a:r>
              <a:rPr lang="en-US" altLang="zh-TW" sz="1600" dirty="0" smtClean="0"/>
              <a:t>[3:0]</a:t>
            </a:r>
            <a:r>
              <a:rPr lang="en-US" altLang="zh-TW" sz="1600" dirty="0"/>
              <a:t> (input): Indicate </a:t>
            </a:r>
            <a:r>
              <a:rPr lang="en-US" altLang="zh-TW" sz="1600" dirty="0" smtClean="0"/>
              <a:t>power command</a:t>
            </a:r>
            <a:endParaRPr lang="en-US" altLang="zh-TW" sz="1200" dirty="0" smtClean="0"/>
          </a:p>
          <a:p>
            <a:pPr lvl="2"/>
            <a:r>
              <a:rPr lang="en-US" altLang="zh-TW" sz="1200" dirty="0" smtClean="0"/>
              <a:t>DVFS</a:t>
            </a:r>
          </a:p>
          <a:p>
            <a:pPr lvl="2"/>
            <a:r>
              <a:rPr lang="en-US" altLang="zh-TW" sz="1200" dirty="0" smtClean="0"/>
              <a:t>SLEEP</a:t>
            </a:r>
          </a:p>
          <a:p>
            <a:pPr lvl="2"/>
            <a:r>
              <a:rPr lang="en-US" altLang="zh-TW" sz="1200" dirty="0" smtClean="0"/>
              <a:t>SHUTDOWN</a:t>
            </a:r>
          </a:p>
          <a:p>
            <a:pPr lvl="1"/>
            <a:r>
              <a:rPr lang="en-US" altLang="zh-TW" sz="1600" dirty="0" err="1" smtClean="0"/>
              <a:t>smu_pwr_st</a:t>
            </a:r>
            <a:r>
              <a:rPr lang="en-US" altLang="zh-TW" sz="1600" dirty="0" smtClean="0"/>
              <a:t>[3:0</a:t>
            </a:r>
            <a:r>
              <a:rPr lang="en-US" altLang="zh-TW" sz="1600" dirty="0"/>
              <a:t>] 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Indicate power </a:t>
            </a:r>
            <a:r>
              <a:rPr lang="en-US" altLang="zh-TW" sz="1600" dirty="0" smtClean="0"/>
              <a:t>status</a:t>
            </a:r>
            <a:endParaRPr lang="en-US" altLang="zh-TW" sz="1600" dirty="0"/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20256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Power control signal with voltage/clock source</a:t>
            </a:r>
          </a:p>
          <a:p>
            <a:pPr lvl="1"/>
            <a:r>
              <a:rPr lang="en-US" altLang="zh-TW" sz="1600" dirty="0" err="1" smtClean="0"/>
              <a:t>pd_pwr_ok</a:t>
            </a:r>
            <a:r>
              <a:rPr lang="en-US" altLang="zh-TW" sz="1600" dirty="0" smtClean="0"/>
              <a:t>(input</a:t>
            </a:r>
            <a:r>
              <a:rPr lang="en-US" altLang="zh-TW" sz="1600" dirty="0"/>
              <a:t>): </a:t>
            </a:r>
            <a:r>
              <a:rPr lang="en-US" altLang="zh-TW" sz="1600" dirty="0" smtClean="0"/>
              <a:t>Power is stable </a:t>
            </a:r>
            <a:r>
              <a:rPr lang="en-US" altLang="zh-TW" sz="1600" dirty="0"/>
              <a:t>for the power </a:t>
            </a:r>
            <a:r>
              <a:rPr lang="en-US" altLang="zh-TW" sz="1600" dirty="0" smtClean="0"/>
              <a:t>domain </a:t>
            </a:r>
            <a:r>
              <a:rPr lang="en-US" altLang="zh-TW" sz="1600" dirty="0"/>
              <a:t>from </a:t>
            </a:r>
            <a:r>
              <a:rPr lang="en-US" altLang="zh-TW" sz="1600" dirty="0" smtClean="0"/>
              <a:t>voltage regulator</a:t>
            </a:r>
          </a:p>
          <a:p>
            <a:pPr lvl="1"/>
            <a:r>
              <a:rPr lang="en-US" altLang="zh-TW" sz="1600" dirty="0" err="1"/>
              <a:t>pd_vol_scale_req</a:t>
            </a:r>
            <a:r>
              <a:rPr lang="en-US" altLang="zh-TW" sz="1600" dirty="0"/>
              <a:t>(output): Voltage scaling vector require to voltage regulator</a:t>
            </a:r>
          </a:p>
          <a:p>
            <a:pPr lvl="1"/>
            <a:r>
              <a:rPr lang="en-US" altLang="zh-TW" sz="1600" dirty="0" err="1"/>
              <a:t>pd_vol_scale</a:t>
            </a:r>
            <a:r>
              <a:rPr lang="en-US" altLang="zh-TW" sz="1600" dirty="0"/>
              <a:t>(output): Voltage scaling vector to voltage regulator</a:t>
            </a:r>
          </a:p>
          <a:p>
            <a:pPr lvl="1"/>
            <a:r>
              <a:rPr lang="en-US" altLang="zh-TW" sz="1600" dirty="0" err="1"/>
              <a:t>pd_vol_scale_ack</a:t>
            </a:r>
            <a:r>
              <a:rPr lang="en-US" altLang="zh-TW" sz="1600" dirty="0"/>
              <a:t>(input): Voltage scaling vector </a:t>
            </a:r>
            <a:r>
              <a:rPr lang="en-US" altLang="zh-TW" sz="1600" dirty="0" err="1"/>
              <a:t>ack</a:t>
            </a:r>
            <a:r>
              <a:rPr lang="en-US" altLang="zh-TW" sz="1600" dirty="0"/>
              <a:t> from voltage </a:t>
            </a:r>
            <a:r>
              <a:rPr lang="en-US" altLang="zh-TW" sz="1600" dirty="0" smtClean="0"/>
              <a:t>regulator</a:t>
            </a:r>
          </a:p>
          <a:p>
            <a:pPr lvl="1"/>
            <a:r>
              <a:rPr lang="en-US" altLang="zh-TW" sz="1600" dirty="0" err="1" smtClean="0"/>
              <a:t>pd_frq_scale_req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Frequency scaling vector </a:t>
            </a:r>
            <a:r>
              <a:rPr lang="en-US" altLang="zh-TW" sz="1600" dirty="0" smtClean="0"/>
              <a:t>require to </a:t>
            </a:r>
            <a:r>
              <a:rPr lang="en-US" altLang="zh-TW" sz="1600" dirty="0"/>
              <a:t>clock </a:t>
            </a:r>
            <a:r>
              <a:rPr lang="en-US" altLang="zh-TW" sz="1600" dirty="0" smtClean="0"/>
              <a:t>generator</a:t>
            </a:r>
          </a:p>
          <a:p>
            <a:pPr lvl="1"/>
            <a:r>
              <a:rPr lang="en-US" altLang="zh-TW" sz="1600" dirty="0" err="1"/>
              <a:t>pd_frq_scale</a:t>
            </a:r>
            <a:r>
              <a:rPr lang="en-US" altLang="zh-TW" sz="1600" dirty="0"/>
              <a:t>(output): Frequency scaling vector to clock </a:t>
            </a:r>
            <a:r>
              <a:rPr lang="en-US" altLang="zh-TW" sz="1600" dirty="0" smtClean="0"/>
              <a:t>generator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pd_frq_scale_ack</a:t>
            </a:r>
            <a:r>
              <a:rPr lang="en-US" altLang="zh-TW" sz="1600" dirty="0" smtClean="0"/>
              <a:t>(input</a:t>
            </a:r>
            <a:r>
              <a:rPr lang="en-US" altLang="zh-TW" sz="1600" dirty="0"/>
              <a:t>): Frequency scaling vector </a:t>
            </a:r>
            <a:r>
              <a:rPr lang="en-US" altLang="zh-TW" sz="1600" dirty="0" err="1"/>
              <a:t>ack</a:t>
            </a:r>
            <a:r>
              <a:rPr lang="en-US" altLang="zh-TW" sz="1600" dirty="0"/>
              <a:t> </a:t>
            </a:r>
            <a:r>
              <a:rPr lang="en-US" altLang="zh-TW" sz="1600" dirty="0" smtClean="0"/>
              <a:t>from clock generator</a:t>
            </a:r>
          </a:p>
          <a:p>
            <a:r>
              <a:rPr lang="en-US" altLang="zh-TW" dirty="0" smtClean="0"/>
              <a:t>Power </a:t>
            </a:r>
            <a:r>
              <a:rPr lang="en-US" altLang="zh-TW" dirty="0"/>
              <a:t>control signal </a:t>
            </a:r>
            <a:r>
              <a:rPr lang="en-US" altLang="zh-TW" dirty="0" smtClean="0"/>
              <a:t>for </a:t>
            </a:r>
            <a:r>
              <a:rPr lang="en-US" altLang="zh-TW" dirty="0"/>
              <a:t>power </a:t>
            </a:r>
            <a:r>
              <a:rPr lang="en-US" altLang="zh-TW" dirty="0" smtClean="0"/>
              <a:t>domain</a:t>
            </a:r>
            <a:endParaRPr lang="en-US" altLang="zh-TW" sz="2000" dirty="0" smtClean="0"/>
          </a:p>
          <a:p>
            <a:pPr lvl="1"/>
            <a:r>
              <a:rPr lang="en-US" altLang="zh-TW" sz="1600" dirty="0" err="1" smtClean="0"/>
              <a:t>pd_iso_en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Isolation </a:t>
            </a:r>
            <a:r>
              <a:rPr lang="en-US" altLang="zh-TW" sz="1600" dirty="0" smtClean="0"/>
              <a:t>indicator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pd_ret_en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Retention </a:t>
            </a:r>
            <a:r>
              <a:rPr lang="en-US" altLang="zh-TW" sz="1600" dirty="0" smtClean="0"/>
              <a:t>indicator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pd_clk_off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Clock shut-off </a:t>
            </a:r>
            <a:r>
              <a:rPr lang="en-US" altLang="zh-TW" sz="1600" dirty="0" smtClean="0"/>
              <a:t>indicator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pd_pwr_off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</a:t>
            </a:r>
            <a:r>
              <a:rPr lang="en-US" altLang="zh-TW" sz="1600" dirty="0" smtClean="0"/>
              <a:t>Power region </a:t>
            </a:r>
            <a:r>
              <a:rPr lang="en-US" altLang="zh-TW" sz="1600" dirty="0"/>
              <a:t>shut-off indicator </a:t>
            </a:r>
            <a:endParaRPr lang="en-US" altLang="zh-TW" sz="1600" dirty="0" smtClean="0"/>
          </a:p>
          <a:p>
            <a:pPr lvl="1"/>
            <a:r>
              <a:rPr lang="en-US" altLang="zh-TW" sz="1600" dirty="0" err="1" smtClean="0"/>
              <a:t>pd_mem_off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</a:t>
            </a:r>
            <a:r>
              <a:rPr lang="en-US" altLang="zh-TW" sz="1600" dirty="0" smtClean="0"/>
              <a:t>Memory region </a:t>
            </a:r>
            <a:r>
              <a:rPr lang="en-US" altLang="zh-TW" sz="1600" dirty="0"/>
              <a:t>shut-off indicator </a:t>
            </a:r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81536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block diagram for power domain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 rot="5400000">
            <a:off x="1969137" y="4207055"/>
            <a:ext cx="1628779" cy="39332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      PLL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619500" y="1323922"/>
            <a:ext cx="1771652" cy="100970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VRM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619500" y="2767488"/>
            <a:ext cx="1771652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Power</a:t>
            </a:r>
            <a:r>
              <a:rPr kumimoji="0" lang="en-US" altLang="zh-TW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switch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619500" y="3587722"/>
            <a:ext cx="1771652" cy="16303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Power domain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 rot="5400000">
            <a:off x="4751666" y="4227208"/>
            <a:ext cx="1628776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Isolation cell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3832089" y="4724110"/>
            <a:ext cx="1346474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Retention cell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5" name="直線單箭頭接點 14"/>
          <p:cNvCxnSpPr>
            <a:stCxn id="4" idx="0"/>
            <a:endCxn id="9" idx="1"/>
          </p:cNvCxnSpPr>
          <p:nvPr/>
        </p:nvCxnSpPr>
        <p:spPr bwMode="auto">
          <a:xfrm flipV="1">
            <a:off x="2980188" y="4402911"/>
            <a:ext cx="639312" cy="8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直線單箭頭接點 24"/>
          <p:cNvCxnSpPr>
            <a:stCxn id="8" idx="2"/>
            <a:endCxn id="9" idx="0"/>
          </p:cNvCxnSpPr>
          <p:nvPr/>
        </p:nvCxnSpPr>
        <p:spPr bwMode="auto">
          <a:xfrm>
            <a:off x="4505326" y="3117293"/>
            <a:ext cx="0" cy="4704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直線單箭頭接點 28"/>
          <p:cNvCxnSpPr>
            <a:stCxn id="5" idx="2"/>
            <a:endCxn id="8" idx="0"/>
          </p:cNvCxnSpPr>
          <p:nvPr/>
        </p:nvCxnSpPr>
        <p:spPr bwMode="auto">
          <a:xfrm>
            <a:off x="4505326" y="2333625"/>
            <a:ext cx="0" cy="4338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直線單箭頭接點 32"/>
          <p:cNvCxnSpPr>
            <a:endCxn id="13" idx="2"/>
          </p:cNvCxnSpPr>
          <p:nvPr/>
        </p:nvCxnSpPr>
        <p:spPr bwMode="auto">
          <a:xfrm flipV="1">
            <a:off x="4505326" y="5073915"/>
            <a:ext cx="0" cy="3743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直線單箭頭接點 35"/>
          <p:cNvCxnSpPr>
            <a:endCxn id="12" idx="3"/>
          </p:cNvCxnSpPr>
          <p:nvPr/>
        </p:nvCxnSpPr>
        <p:spPr bwMode="auto">
          <a:xfrm flipV="1">
            <a:off x="5566054" y="5216499"/>
            <a:ext cx="0" cy="3743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直線單箭頭接點 37"/>
          <p:cNvCxnSpPr>
            <a:endCxn id="8" idx="1"/>
          </p:cNvCxnSpPr>
          <p:nvPr/>
        </p:nvCxnSpPr>
        <p:spPr bwMode="auto">
          <a:xfrm flipV="1">
            <a:off x="3390900" y="2942391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直線單箭頭接點 40"/>
          <p:cNvCxnSpPr>
            <a:endCxn id="4" idx="3"/>
          </p:cNvCxnSpPr>
          <p:nvPr/>
        </p:nvCxnSpPr>
        <p:spPr bwMode="auto">
          <a:xfrm flipV="1">
            <a:off x="2783526" y="5218106"/>
            <a:ext cx="1" cy="3743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直線單箭頭接點 42"/>
          <p:cNvCxnSpPr/>
          <p:nvPr/>
        </p:nvCxnSpPr>
        <p:spPr bwMode="auto">
          <a:xfrm flipV="1">
            <a:off x="2358265" y="414750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直線單箭頭接點 43"/>
          <p:cNvCxnSpPr/>
          <p:nvPr/>
        </p:nvCxnSpPr>
        <p:spPr bwMode="auto">
          <a:xfrm flipV="1">
            <a:off x="2358265" y="4409444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 flipV="1">
            <a:off x="2354330" y="4671382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6" name="直線單箭頭接點 45"/>
          <p:cNvCxnSpPr/>
          <p:nvPr/>
        </p:nvCxnSpPr>
        <p:spPr bwMode="auto">
          <a:xfrm flipV="1">
            <a:off x="3394835" y="1559122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直線單箭頭接點 46"/>
          <p:cNvCxnSpPr/>
          <p:nvPr/>
        </p:nvCxnSpPr>
        <p:spPr bwMode="auto">
          <a:xfrm flipV="1">
            <a:off x="3394835" y="1821059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直線單箭頭接點 47"/>
          <p:cNvCxnSpPr/>
          <p:nvPr/>
        </p:nvCxnSpPr>
        <p:spPr bwMode="auto">
          <a:xfrm flipV="1">
            <a:off x="3390900" y="208299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49" name="矩形 48"/>
          <p:cNvSpPr/>
          <p:nvPr/>
        </p:nvSpPr>
        <p:spPr>
          <a:xfrm>
            <a:off x="3385782" y="5579545"/>
            <a:ext cx="8226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/>
              <a:t>pd_ready</a:t>
            </a:r>
            <a:endParaRPr lang="zh-TW" altLang="en-US" sz="1200" b="0" dirty="0"/>
          </a:p>
        </p:txBody>
      </p:sp>
      <p:cxnSp>
        <p:nvCxnSpPr>
          <p:cNvPr id="50" name="直線單箭頭接點 49"/>
          <p:cNvCxnSpPr/>
          <p:nvPr/>
        </p:nvCxnSpPr>
        <p:spPr bwMode="auto">
          <a:xfrm>
            <a:off x="3796641" y="5218106"/>
            <a:ext cx="0" cy="4338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矩形 50"/>
          <p:cNvSpPr/>
          <p:nvPr/>
        </p:nvSpPr>
        <p:spPr>
          <a:xfrm>
            <a:off x="2510123" y="2804682"/>
            <a:ext cx="9401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pd_pwr_off</a:t>
            </a:r>
            <a:endParaRPr lang="en-US" altLang="zh-TW" sz="1200" b="0" dirty="0"/>
          </a:p>
        </p:txBody>
      </p:sp>
      <p:sp>
        <p:nvSpPr>
          <p:cNvPr id="53" name="矩形 52"/>
          <p:cNvSpPr/>
          <p:nvPr/>
        </p:nvSpPr>
        <p:spPr>
          <a:xfrm>
            <a:off x="2340870" y="5536782"/>
            <a:ext cx="8808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pd_clk_off</a:t>
            </a:r>
            <a:endParaRPr lang="en-US" altLang="zh-TW" sz="1200" b="0" dirty="0"/>
          </a:p>
        </p:txBody>
      </p:sp>
      <p:sp>
        <p:nvSpPr>
          <p:cNvPr id="54" name="矩形 53"/>
          <p:cNvSpPr/>
          <p:nvPr/>
        </p:nvSpPr>
        <p:spPr>
          <a:xfrm>
            <a:off x="4068347" y="5387310"/>
            <a:ext cx="873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pd_ret_en</a:t>
            </a:r>
            <a:endParaRPr lang="en-US" altLang="zh-TW" sz="1200" b="0" dirty="0"/>
          </a:p>
        </p:txBody>
      </p:sp>
      <p:sp>
        <p:nvSpPr>
          <p:cNvPr id="55" name="矩形 54"/>
          <p:cNvSpPr/>
          <p:nvPr/>
        </p:nvSpPr>
        <p:spPr>
          <a:xfrm>
            <a:off x="5166325" y="5537302"/>
            <a:ext cx="8899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pd_iso_en</a:t>
            </a:r>
            <a:endParaRPr lang="en-US" altLang="zh-TW" sz="1200" b="0" dirty="0" smtClean="0"/>
          </a:p>
        </p:txBody>
      </p:sp>
      <p:cxnSp>
        <p:nvCxnSpPr>
          <p:cNvPr id="56" name="直線單箭頭接點 55"/>
          <p:cNvCxnSpPr/>
          <p:nvPr/>
        </p:nvCxnSpPr>
        <p:spPr bwMode="auto">
          <a:xfrm flipV="1">
            <a:off x="5391152" y="1844845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矩形 61"/>
          <p:cNvSpPr/>
          <p:nvPr/>
        </p:nvSpPr>
        <p:spPr>
          <a:xfrm>
            <a:off x="2069593" y="1422205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pd_vol_scale_req</a:t>
            </a:r>
            <a:endParaRPr lang="en-US" altLang="zh-TW" sz="1200" b="0" dirty="0"/>
          </a:p>
        </p:txBody>
      </p:sp>
      <p:sp>
        <p:nvSpPr>
          <p:cNvPr id="63" name="矩形 62"/>
          <p:cNvSpPr/>
          <p:nvPr/>
        </p:nvSpPr>
        <p:spPr>
          <a:xfrm>
            <a:off x="5574487" y="168823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pd_pwr_ok</a:t>
            </a:r>
            <a:endParaRPr lang="en-US" altLang="zh-TW" sz="1200" b="0" dirty="0"/>
          </a:p>
        </p:txBody>
      </p:sp>
      <p:sp>
        <p:nvSpPr>
          <p:cNvPr id="64" name="矩形 63"/>
          <p:cNvSpPr/>
          <p:nvPr/>
        </p:nvSpPr>
        <p:spPr>
          <a:xfrm>
            <a:off x="2061892" y="1681913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</a:t>
            </a:r>
            <a:endParaRPr lang="en-US" altLang="zh-TW" sz="1200" b="0" dirty="0"/>
          </a:p>
        </p:txBody>
      </p:sp>
      <p:sp>
        <p:nvSpPr>
          <p:cNvPr id="65" name="矩形 64"/>
          <p:cNvSpPr/>
          <p:nvPr/>
        </p:nvSpPr>
        <p:spPr>
          <a:xfrm>
            <a:off x="2066038" y="1944497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pd_vol_scale_ack</a:t>
            </a:r>
            <a:endParaRPr lang="en-US" altLang="zh-TW" sz="1200" b="0" dirty="0"/>
          </a:p>
        </p:txBody>
      </p:sp>
      <p:sp>
        <p:nvSpPr>
          <p:cNvPr id="66" name="矩形 65"/>
          <p:cNvSpPr/>
          <p:nvPr/>
        </p:nvSpPr>
        <p:spPr>
          <a:xfrm>
            <a:off x="1037042" y="4012664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pd_frq_scale_req</a:t>
            </a:r>
            <a:endParaRPr lang="en-US" altLang="zh-TW" sz="1200" b="0" dirty="0"/>
          </a:p>
        </p:txBody>
      </p:sp>
      <p:sp>
        <p:nvSpPr>
          <p:cNvPr id="67" name="矩形 66"/>
          <p:cNvSpPr/>
          <p:nvPr/>
        </p:nvSpPr>
        <p:spPr>
          <a:xfrm>
            <a:off x="1029341" y="4272372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</a:t>
            </a:r>
            <a:endParaRPr lang="en-US" altLang="zh-TW" sz="1200" b="0" dirty="0"/>
          </a:p>
        </p:txBody>
      </p:sp>
      <p:sp>
        <p:nvSpPr>
          <p:cNvPr id="68" name="矩形 67"/>
          <p:cNvSpPr/>
          <p:nvPr/>
        </p:nvSpPr>
        <p:spPr>
          <a:xfrm>
            <a:off x="1033487" y="4534956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pd_frq_scale_ack</a:t>
            </a:r>
            <a:endParaRPr lang="en-US" altLang="zh-TW" sz="1200" b="0" dirty="0"/>
          </a:p>
        </p:txBody>
      </p:sp>
      <p:sp>
        <p:nvSpPr>
          <p:cNvPr id="69" name="矩形 68"/>
          <p:cNvSpPr/>
          <p:nvPr/>
        </p:nvSpPr>
        <p:spPr>
          <a:xfrm>
            <a:off x="3126402" y="4134028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clk</a:t>
            </a:r>
            <a:endParaRPr lang="zh-TW" altLang="en-US" sz="1200" b="0" dirty="0"/>
          </a:p>
        </p:txBody>
      </p:sp>
      <p:sp>
        <p:nvSpPr>
          <p:cNvPr id="70" name="矩形 69"/>
          <p:cNvSpPr/>
          <p:nvPr/>
        </p:nvSpPr>
        <p:spPr>
          <a:xfrm>
            <a:off x="3889722" y="3214007"/>
            <a:ext cx="6864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/>
              <a:t>p</a:t>
            </a:r>
            <a:r>
              <a:rPr lang="en-US" altLang="zh-TW" sz="1200" b="0" dirty="0" err="1" smtClean="0"/>
              <a:t>d_vdd</a:t>
            </a:r>
            <a:endParaRPr lang="zh-TW" altLang="en-US" sz="1200" b="0" dirty="0"/>
          </a:p>
        </p:txBody>
      </p:sp>
      <p:sp>
        <p:nvSpPr>
          <p:cNvPr id="71" name="矩形 70"/>
          <p:cNvSpPr/>
          <p:nvPr/>
        </p:nvSpPr>
        <p:spPr>
          <a:xfrm>
            <a:off x="3915994" y="2412056"/>
            <a:ext cx="4748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vout</a:t>
            </a:r>
            <a:endParaRPr lang="zh-TW" altLang="en-US" sz="1200" b="0" dirty="0"/>
          </a:p>
        </p:txBody>
      </p:sp>
      <p:sp>
        <p:nvSpPr>
          <p:cNvPr id="42" name="矩形 41"/>
          <p:cNvSpPr/>
          <p:nvPr/>
        </p:nvSpPr>
        <p:spPr bwMode="auto">
          <a:xfrm>
            <a:off x="6029327" y="2767486"/>
            <a:ext cx="1771652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Power</a:t>
            </a:r>
            <a:r>
              <a:rPr kumimoji="0" lang="en-US" altLang="zh-TW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switch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006171" y="2785974"/>
            <a:ext cx="10347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pd_mem_off</a:t>
            </a:r>
            <a:endParaRPr lang="en-US" altLang="zh-TW" sz="1200" b="0" dirty="0"/>
          </a:p>
        </p:txBody>
      </p:sp>
      <p:sp>
        <p:nvSpPr>
          <p:cNvPr id="57" name="矩形 56"/>
          <p:cNvSpPr/>
          <p:nvPr/>
        </p:nvSpPr>
        <p:spPr bwMode="auto">
          <a:xfrm>
            <a:off x="6276989" y="3748719"/>
            <a:ext cx="1346474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SRAM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58" name="肘形接點 57"/>
          <p:cNvCxnSpPr>
            <a:endCxn id="42" idx="0"/>
          </p:cNvCxnSpPr>
          <p:nvPr/>
        </p:nvCxnSpPr>
        <p:spPr bwMode="auto">
          <a:xfrm>
            <a:off x="4505326" y="2544024"/>
            <a:ext cx="2409827" cy="22346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直線單箭頭接點 58"/>
          <p:cNvCxnSpPr>
            <a:endCxn id="42" idx="3"/>
          </p:cNvCxnSpPr>
          <p:nvPr/>
        </p:nvCxnSpPr>
        <p:spPr bwMode="auto">
          <a:xfrm flipH="1">
            <a:off x="7800979" y="2942389"/>
            <a:ext cx="23126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3" name="矩形 82"/>
          <p:cNvSpPr/>
          <p:nvPr/>
        </p:nvSpPr>
        <p:spPr>
          <a:xfrm>
            <a:off x="7010619" y="3204480"/>
            <a:ext cx="11304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pd_mem_vdd</a:t>
            </a:r>
            <a:endParaRPr lang="zh-TW" altLang="en-US" sz="1200" b="0" dirty="0"/>
          </a:p>
        </p:txBody>
      </p:sp>
      <p:sp>
        <p:nvSpPr>
          <p:cNvPr id="61" name="矩形 60"/>
          <p:cNvSpPr/>
          <p:nvPr/>
        </p:nvSpPr>
        <p:spPr bwMode="auto">
          <a:xfrm>
            <a:off x="6029327" y="3587722"/>
            <a:ext cx="1771652" cy="16303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Memory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Power </a:t>
            </a:r>
            <a:r>
              <a:rPr lang="en-US" altLang="zh-TW" dirty="0" smtClean="0"/>
              <a:t>domain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2" name="直線單箭頭接點 71"/>
          <p:cNvCxnSpPr/>
          <p:nvPr/>
        </p:nvCxnSpPr>
        <p:spPr bwMode="auto">
          <a:xfrm>
            <a:off x="6915153" y="3118897"/>
            <a:ext cx="0" cy="4704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9575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 status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ST_NORMAL</a:t>
            </a:r>
          </a:p>
          <a:p>
            <a:r>
              <a:rPr lang="en-US" altLang="zh-TW" dirty="0" smtClean="0"/>
              <a:t>ST_WFI</a:t>
            </a:r>
          </a:p>
          <a:p>
            <a:r>
              <a:rPr lang="en-US" altLang="zh-TW" dirty="0" smtClean="0"/>
              <a:t>ST_ISOLATION</a:t>
            </a:r>
          </a:p>
          <a:p>
            <a:r>
              <a:rPr lang="en-US" altLang="zh-TW" dirty="0" smtClean="0"/>
              <a:t>ST_RETENTION</a:t>
            </a:r>
          </a:p>
          <a:p>
            <a:r>
              <a:rPr lang="en-US" altLang="zh-TW" dirty="0" smtClean="0"/>
              <a:t>ST_SLEEP</a:t>
            </a:r>
          </a:p>
          <a:p>
            <a:r>
              <a:rPr lang="en-US" altLang="zh-TW" dirty="0" smtClean="0"/>
              <a:t>ST_SHUTDOWN</a:t>
            </a:r>
          </a:p>
          <a:p>
            <a:r>
              <a:rPr lang="en-US" altLang="zh-TW" dirty="0" smtClean="0"/>
              <a:t>ST_DVFS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562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/>
              <a:t>FSM for </a:t>
            </a:r>
            <a:r>
              <a:rPr lang="en-US" altLang="zh-TW" dirty="0" smtClean="0"/>
              <a:t>sleep/shutdown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 bwMode="auto">
          <a:xfrm>
            <a:off x="2236186" y="1195079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TW" sz="1200" dirty="0" smtClean="0"/>
          </a:p>
          <a:p>
            <a:endParaRPr lang="en-US" altLang="zh-TW" sz="1200" dirty="0"/>
          </a:p>
          <a:p>
            <a:r>
              <a:rPr lang="en-US" altLang="zh-TW" sz="1200" dirty="0" smtClean="0"/>
              <a:t>ST_NORMAL</a:t>
            </a:r>
            <a:endParaRPr lang="en-US" altLang="zh-TW" sz="1200" dirty="0"/>
          </a:p>
        </p:txBody>
      </p:sp>
      <p:sp>
        <p:nvSpPr>
          <p:cNvPr id="5" name="橢圓 4"/>
          <p:cNvSpPr/>
          <p:nvPr/>
        </p:nvSpPr>
        <p:spPr bwMode="auto">
          <a:xfrm>
            <a:off x="5124224" y="1195079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ST_WFI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3729999" y="2480671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TW" sz="1050" dirty="0" smtClean="0"/>
          </a:p>
          <a:p>
            <a:endParaRPr lang="en-US" altLang="zh-TW" sz="1050" dirty="0"/>
          </a:p>
          <a:p>
            <a:r>
              <a:rPr lang="en-US" altLang="zh-TW" sz="1000" dirty="0" smtClean="0"/>
              <a:t>ST_ISOLATION</a:t>
            </a:r>
            <a:endParaRPr lang="en-US" altLang="zh-TW" sz="1000" dirty="0"/>
          </a:p>
        </p:txBody>
      </p:sp>
      <p:sp>
        <p:nvSpPr>
          <p:cNvPr id="7" name="橢圓 6"/>
          <p:cNvSpPr/>
          <p:nvPr/>
        </p:nvSpPr>
        <p:spPr bwMode="auto">
          <a:xfrm>
            <a:off x="3729999" y="3900556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TW" sz="1000" dirty="0" smtClean="0"/>
          </a:p>
          <a:p>
            <a:endParaRPr lang="en-US" altLang="zh-TW" sz="1000" dirty="0"/>
          </a:p>
          <a:p>
            <a:r>
              <a:rPr lang="en-US" altLang="zh-TW" sz="1000" dirty="0" smtClean="0"/>
              <a:t>ST_RETENTION</a:t>
            </a:r>
            <a:endParaRPr lang="en-US" altLang="zh-TW" sz="1000" dirty="0"/>
          </a:p>
        </p:txBody>
      </p:sp>
      <p:sp>
        <p:nvSpPr>
          <p:cNvPr id="8" name="橢圓 7"/>
          <p:cNvSpPr/>
          <p:nvPr/>
        </p:nvSpPr>
        <p:spPr bwMode="auto">
          <a:xfrm>
            <a:off x="3729999" y="5320440"/>
            <a:ext cx="1647730" cy="1285592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0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0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000" dirty="0" smtClean="0"/>
              <a:t>ST_SHUTDOWN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000" dirty="0" smtClean="0"/>
              <a:t>/ST_SLEEP</a:t>
            </a:r>
            <a:endParaRPr lang="en-US" altLang="zh-TW" sz="1000" dirty="0" smtClean="0"/>
          </a:p>
        </p:txBody>
      </p:sp>
      <p:sp>
        <p:nvSpPr>
          <p:cNvPr id="9" name="弧形 8"/>
          <p:cNvSpPr/>
          <p:nvPr/>
        </p:nvSpPr>
        <p:spPr bwMode="auto">
          <a:xfrm rot="18947325">
            <a:off x="3766240" y="1249370"/>
            <a:ext cx="1440000" cy="14400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弧形 9"/>
          <p:cNvSpPr/>
          <p:nvPr/>
        </p:nvSpPr>
        <p:spPr bwMode="auto">
          <a:xfrm rot="5400000">
            <a:off x="4766272" y="1792103"/>
            <a:ext cx="1440000" cy="14400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弧形 10"/>
          <p:cNvSpPr/>
          <p:nvPr/>
        </p:nvSpPr>
        <p:spPr bwMode="auto">
          <a:xfrm rot="5400000">
            <a:off x="4857807" y="3167730"/>
            <a:ext cx="1311248" cy="1440000"/>
          </a:xfrm>
          <a:prstGeom prst="arc">
            <a:avLst>
              <a:gd name="adj1" fmla="val 1073751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弧形 11"/>
          <p:cNvSpPr/>
          <p:nvPr/>
        </p:nvSpPr>
        <p:spPr bwMode="auto">
          <a:xfrm rot="5400000">
            <a:off x="4880683" y="4456102"/>
            <a:ext cx="1265496" cy="1440000"/>
          </a:xfrm>
          <a:prstGeom prst="arc">
            <a:avLst>
              <a:gd name="adj1" fmla="val 1073751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弧形 12"/>
          <p:cNvSpPr/>
          <p:nvPr/>
        </p:nvSpPr>
        <p:spPr bwMode="auto">
          <a:xfrm rot="16200000" flipH="1">
            <a:off x="2899750" y="1837875"/>
            <a:ext cx="1440000" cy="14400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弧形 13"/>
          <p:cNvSpPr/>
          <p:nvPr/>
        </p:nvSpPr>
        <p:spPr bwMode="auto">
          <a:xfrm rot="16200000" flipH="1">
            <a:off x="3000591" y="3204195"/>
            <a:ext cx="1265479" cy="1412839"/>
          </a:xfrm>
          <a:prstGeom prst="arc">
            <a:avLst>
              <a:gd name="adj1" fmla="val 1073751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弧形 14"/>
          <p:cNvSpPr/>
          <p:nvPr/>
        </p:nvSpPr>
        <p:spPr bwMode="auto">
          <a:xfrm rot="16200000" flipH="1">
            <a:off x="2959591" y="4510673"/>
            <a:ext cx="1374638" cy="1440002"/>
          </a:xfrm>
          <a:prstGeom prst="arc">
            <a:avLst>
              <a:gd name="adj1" fmla="val 1073751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92924" y="961542"/>
            <a:ext cx="11320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err="1" smtClean="0"/>
              <a:t>pd_ready</a:t>
            </a:r>
            <a:r>
              <a:rPr lang="en-US" altLang="zh-TW" sz="1200" dirty="0" smtClean="0"/>
              <a:t>==1</a:t>
            </a:r>
            <a:endParaRPr lang="zh-TW" altLang="en-US" sz="12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361178" y="4986283"/>
            <a:ext cx="1597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Wakeup event from</a:t>
            </a:r>
          </a:p>
          <a:p>
            <a:r>
              <a:rPr lang="en-US" altLang="zh-TW" sz="1200" dirty="0" err="1" smtClean="0"/>
              <a:t>pd_wakeup_event</a:t>
            </a:r>
            <a:endParaRPr lang="en-US" altLang="zh-TW" sz="1200" dirty="0" smtClean="0"/>
          </a:p>
          <a:p>
            <a:r>
              <a:rPr lang="en-US" altLang="zh-TW" sz="1200" dirty="0"/>
              <a:t>a</a:t>
            </a:r>
            <a:r>
              <a:rPr lang="en-US" altLang="zh-TW" sz="1200" dirty="0" smtClean="0"/>
              <a:t>nd </a:t>
            </a:r>
            <a:r>
              <a:rPr lang="en-US" altLang="zh-TW" sz="1200" dirty="0" err="1" smtClean="0"/>
              <a:t>pd_pwr_ok</a:t>
            </a:r>
            <a:endParaRPr lang="en-US" altLang="zh-TW" sz="12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6233431" y="2705545"/>
            <a:ext cx="2244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command=Shutdown/Sleep</a:t>
            </a:r>
            <a:endParaRPr lang="en-US" altLang="zh-TW" sz="1200" dirty="0" smtClean="0"/>
          </a:p>
        </p:txBody>
      </p:sp>
      <p:sp>
        <p:nvSpPr>
          <p:cNvPr id="21" name="文字方塊 20"/>
          <p:cNvSpPr txBox="1"/>
          <p:nvPr/>
        </p:nvSpPr>
        <p:spPr>
          <a:xfrm>
            <a:off x="3841721" y="1940795"/>
            <a:ext cx="14026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 err="1" smtClean="0"/>
              <a:t>pd_wakeup_event</a:t>
            </a:r>
            <a:endParaRPr lang="en-US" altLang="zh-TW" sz="105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06463" y="1653603"/>
            <a:ext cx="2029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Receive power command</a:t>
            </a:r>
            <a:endParaRPr lang="zh-TW" altLang="en-US" sz="1200" dirty="0"/>
          </a:p>
        </p:txBody>
      </p:sp>
      <p:sp>
        <p:nvSpPr>
          <p:cNvPr id="26" name="弧形 25"/>
          <p:cNvSpPr/>
          <p:nvPr/>
        </p:nvSpPr>
        <p:spPr bwMode="auto">
          <a:xfrm rot="8033631">
            <a:off x="3775386" y="967479"/>
            <a:ext cx="1440000" cy="14400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699276" y="5824736"/>
            <a:ext cx="29065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/>
              <a:t>Shutdown/Sleep</a:t>
            </a:r>
            <a:r>
              <a:rPr lang="en-US" altLang="zh-TW" sz="1200" dirty="0" smtClean="0"/>
              <a:t> </a:t>
            </a:r>
            <a:r>
              <a:rPr lang="en-US" altLang="zh-TW" sz="1200" dirty="0"/>
              <a:t>command is cleared</a:t>
            </a:r>
            <a:endParaRPr lang="zh-TW" altLang="en-US" sz="1200" dirty="0"/>
          </a:p>
        </p:txBody>
      </p:sp>
      <p:sp>
        <p:nvSpPr>
          <p:cNvPr id="22" name="弧形 21"/>
          <p:cNvSpPr/>
          <p:nvPr/>
        </p:nvSpPr>
        <p:spPr bwMode="auto">
          <a:xfrm rot="8522275">
            <a:off x="6850635" y="1558284"/>
            <a:ext cx="478431" cy="504050"/>
          </a:xfrm>
          <a:prstGeom prst="arc">
            <a:avLst>
              <a:gd name="adj1" fmla="val 399879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340626" y="1691703"/>
            <a:ext cx="1159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No command</a:t>
            </a:r>
            <a:endParaRPr lang="en-US" altLang="zh-TW" sz="1200" dirty="0" smtClean="0"/>
          </a:p>
        </p:txBody>
      </p:sp>
    </p:spTree>
    <p:extLst>
      <p:ext uri="{BB962C8B-B14F-4D97-AF65-F5344CB8AC3E}">
        <p14:creationId xmlns:p14="http://schemas.microsoft.com/office/powerpoint/2010/main" val="2294459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/>
              <a:t>FSM for </a:t>
            </a:r>
            <a:r>
              <a:rPr lang="en-US" altLang="zh-TW" dirty="0" smtClean="0"/>
              <a:t>DVFS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 bwMode="auto">
          <a:xfrm>
            <a:off x="1253062" y="3051036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 smtClean="0"/>
              <a:t>ST_NORMAL</a:t>
            </a:r>
            <a:endParaRPr kumimoji="0" lang="zh-TW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6368252" y="3051036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6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600" dirty="0" smtClean="0"/>
              <a:t>ST_DVFS</a:t>
            </a:r>
          </a:p>
        </p:txBody>
      </p:sp>
      <p:sp>
        <p:nvSpPr>
          <p:cNvPr id="9" name="弧形 8"/>
          <p:cNvSpPr/>
          <p:nvPr/>
        </p:nvSpPr>
        <p:spPr bwMode="auto">
          <a:xfrm rot="18947325">
            <a:off x="2654868" y="3105327"/>
            <a:ext cx="1440000" cy="14400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988865" y="4343883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Receive ACK signal</a:t>
            </a:r>
          </a:p>
          <a:p>
            <a:r>
              <a:rPr lang="en-US" altLang="zh-TW" sz="1200" dirty="0"/>
              <a:t>DVFS </a:t>
            </a:r>
            <a:r>
              <a:rPr lang="en-US" altLang="zh-TW" sz="1200" dirty="0" smtClean="0"/>
              <a:t>command</a:t>
            </a:r>
            <a:r>
              <a:rPr lang="en-US" altLang="zh-TW" sz="1200" dirty="0"/>
              <a:t> </a:t>
            </a:r>
            <a:r>
              <a:rPr lang="en-US" altLang="zh-TW" sz="1200" dirty="0" smtClean="0"/>
              <a:t>is cleared</a:t>
            </a:r>
            <a:endParaRPr lang="zh-TW" altLang="en-US" sz="12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62632" y="2781292"/>
            <a:ext cx="1986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Receive DVFS command</a:t>
            </a:r>
            <a:endParaRPr lang="zh-TW" altLang="en-US" sz="1200" dirty="0"/>
          </a:p>
        </p:txBody>
      </p:sp>
      <p:sp>
        <p:nvSpPr>
          <p:cNvPr id="26" name="弧形 25"/>
          <p:cNvSpPr/>
          <p:nvPr/>
        </p:nvSpPr>
        <p:spPr bwMode="auto">
          <a:xfrm rot="8033631">
            <a:off x="2602149" y="2868701"/>
            <a:ext cx="1440000" cy="14400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829690" y="2807189"/>
            <a:ext cx="11320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err="1" smtClean="0"/>
              <a:t>pd_ready</a:t>
            </a:r>
            <a:r>
              <a:rPr lang="en-US" altLang="zh-TW" sz="1200" dirty="0" smtClean="0"/>
              <a:t>==1</a:t>
            </a:r>
            <a:endParaRPr lang="zh-TW" altLang="en-US" sz="1200" dirty="0"/>
          </a:p>
        </p:txBody>
      </p:sp>
      <p:sp>
        <p:nvSpPr>
          <p:cNvPr id="29" name="橢圓 28"/>
          <p:cNvSpPr/>
          <p:nvPr/>
        </p:nvSpPr>
        <p:spPr bwMode="auto">
          <a:xfrm>
            <a:off x="3803978" y="3058291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ST_WFI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弧形 31"/>
          <p:cNvSpPr/>
          <p:nvPr/>
        </p:nvSpPr>
        <p:spPr bwMode="auto">
          <a:xfrm rot="18947325">
            <a:off x="5242650" y="3105324"/>
            <a:ext cx="1440000" cy="14400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弧形 32"/>
          <p:cNvSpPr/>
          <p:nvPr/>
        </p:nvSpPr>
        <p:spPr bwMode="auto">
          <a:xfrm rot="8033631">
            <a:off x="5189931" y="2868698"/>
            <a:ext cx="1440000" cy="14400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80412" y="2815777"/>
            <a:ext cx="14798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 smtClean="0"/>
              <a:t>Command=DVFS</a:t>
            </a:r>
            <a:endParaRPr lang="zh-TW" altLang="en-US" sz="1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2585059" y="4331170"/>
            <a:ext cx="16738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An </a:t>
            </a:r>
            <a:r>
              <a:rPr lang="en-US" altLang="zh-TW" sz="1200" dirty="0" smtClean="0"/>
              <a:t>interrupt by PMU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1828627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control signal by FSM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31300"/>
              </p:ext>
            </p:extLst>
          </p:nvPr>
        </p:nvGraphicFramePr>
        <p:xfrm>
          <a:off x="381000" y="1054100"/>
          <a:ext cx="8420098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18"/>
                <a:gridCol w="1332896"/>
                <a:gridCol w="1220181"/>
                <a:gridCol w="1294646"/>
                <a:gridCol w="1367073"/>
                <a:gridCol w="1449684"/>
              </a:tblGrid>
              <a:tr h="370840"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pd_iso_en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pd_ret_en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pd_clk_off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pd_pwr_off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pd_mem_off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ST_NORMAL</a:t>
                      </a:r>
                    </a:p>
                    <a:p>
                      <a:r>
                        <a:rPr lang="en-US" altLang="zh-TW" sz="1500" dirty="0" smtClean="0"/>
                        <a:t>ST_DVFS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ST_WFI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ST_ISOLATION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ST_SHUTDOWN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347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Request for L2 design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For DVFS</a:t>
            </a:r>
          </a:p>
          <a:p>
            <a:pPr lvl="1"/>
            <a:r>
              <a:rPr lang="en-US" altLang="zh-TW" dirty="0" smtClean="0"/>
              <a:t>Standby command and standby signal</a:t>
            </a:r>
          </a:p>
          <a:p>
            <a:pPr lvl="1"/>
            <a:r>
              <a:rPr lang="en-US" altLang="zh-TW" dirty="0" smtClean="0"/>
              <a:t>Wakeup event source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605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42875"/>
            <a:ext cx="8466138" cy="6080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400" dirty="0" smtClean="0">
                <a:ea typeface="新細明體" charset="-120"/>
              </a:rPr>
              <a:t>Thank You!</a:t>
            </a:r>
            <a:endParaRPr lang="zh-TW" altLang="en-US" sz="4400" smtClean="0">
              <a:ea typeface="新細明體" charset="-120"/>
            </a:endParaRPr>
          </a:p>
        </p:txBody>
      </p:sp>
      <p:sp>
        <p:nvSpPr>
          <p:cNvPr id="58370" name="Rectangle 3"/>
          <p:cNvSpPr txBox="1">
            <a:spLocks noChangeArrowheads="1"/>
          </p:cNvSpPr>
          <p:nvPr/>
        </p:nvSpPr>
        <p:spPr bwMode="black">
          <a:xfrm>
            <a:off x="-80963" y="5840413"/>
            <a:ext cx="9194801" cy="72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8288" indent="-268288" algn="ctr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kumimoji="1" lang="en-US" altLang="zh-TW" sz="3200" dirty="0">
                <a:solidFill>
                  <a:schemeClr val="tx2"/>
                </a:solidFill>
                <a:latin typeface="Tahoma" pitchFamily="34" charset="0"/>
              </a:rPr>
              <a:t>www.andestech.com</a:t>
            </a:r>
          </a:p>
        </p:txBody>
      </p:sp>
      <p:pic>
        <p:nvPicPr>
          <p:cNvPr id="5837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5825" y="1147763"/>
            <a:ext cx="737235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50800" y="1052513"/>
            <a:ext cx="8936038" cy="4824412"/>
          </a:xfrm>
        </p:spPr>
        <p:txBody>
          <a:bodyPr/>
          <a:lstStyle/>
          <a:p>
            <a:pPr marL="268288" indent="-268288" algn="ctr" eaLnBrk="1" hangingPunct="1">
              <a:buFont typeface="Wingdings" pitchFamily="2" charset="2"/>
              <a:buNone/>
            </a:pPr>
            <a:endParaRPr lang="en-US" altLang="zh-TW" sz="4400" b="1" dirty="0" smtClean="0">
              <a:solidFill>
                <a:schemeClr val="tx2"/>
              </a:solidFill>
              <a:ea typeface="新細明體" charset="-120"/>
            </a:endParaRPr>
          </a:p>
          <a:p>
            <a:pPr marL="268288" indent="-268288" algn="ctr" eaLnBrk="1" hangingPunct="1">
              <a:buFont typeface="Wingdings" pitchFamily="2" charset="2"/>
              <a:buNone/>
            </a:pPr>
            <a:endParaRPr lang="en-US" altLang="zh-TW" sz="3600" b="1" dirty="0" smtClean="0">
              <a:solidFill>
                <a:schemeClr val="tx2"/>
              </a:solidFill>
              <a:ea typeface="新細明體" charset="-120"/>
            </a:endParaRPr>
          </a:p>
          <a:p>
            <a:pPr marL="268288" indent="-268288" algn="ctr" eaLnBrk="1" hangingPunct="1">
              <a:buFont typeface="Wingdings" pitchFamily="2" charset="2"/>
              <a:buNone/>
            </a:pPr>
            <a:r>
              <a:rPr lang="en-US" altLang="zh-TW" sz="8000" b="1" dirty="0" smtClean="0">
                <a:solidFill>
                  <a:schemeClr val="tx2"/>
                </a:solidFill>
                <a:ea typeface="新細明體" charset="-120"/>
              </a:rPr>
              <a:t>Thank You!</a:t>
            </a:r>
            <a:endParaRPr lang="en-US" altLang="zh-TW" sz="3200" b="1" dirty="0" smtClean="0">
              <a:solidFill>
                <a:schemeClr val="tx2"/>
              </a:solidFill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bation Review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1_281TGp_consulting_ligh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281TGp_consulting_light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44357C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0AEBF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2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25557B"/>
        </a:accent1>
        <a:accent2>
          <a:srgbClr val="E4C244"/>
        </a:accent2>
        <a:accent3>
          <a:srgbClr val="FFFFFF"/>
        </a:accent3>
        <a:accent4>
          <a:srgbClr val="2A2A2A"/>
        </a:accent4>
        <a:accent5>
          <a:srgbClr val="ACB4BF"/>
        </a:accent5>
        <a:accent6>
          <a:srgbClr val="CFB03D"/>
        </a:accent6>
        <a:hlink>
          <a:srgbClr val="66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3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Probation Review</Template>
  <TotalTime>6479</TotalTime>
  <Words>791</Words>
  <Application>Microsoft Office PowerPoint</Application>
  <PresentationFormat>如螢幕大小 (4:3)</PresentationFormat>
  <Paragraphs>277</Paragraphs>
  <Slides>20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1" baseType="lpstr">
      <vt:lpstr>Probation Review</vt:lpstr>
      <vt:lpstr>Vicuna AE350 SMU Design Specification</vt:lpstr>
      <vt:lpstr>Outline</vt:lpstr>
      <vt:lpstr>Feature of ae350_smu_pd</vt:lpstr>
      <vt:lpstr>ae350_rstgen</vt:lpstr>
      <vt:lpstr>Original design in AE210P</vt:lpstr>
      <vt:lpstr>Old hierarchy block diagram in AE350</vt:lpstr>
      <vt:lpstr>New hierarchy block diagram</vt:lpstr>
      <vt:lpstr>Original CSR for ae350_smu_apbif</vt:lpstr>
      <vt:lpstr>New CSR for ae350_smu_apbif</vt:lpstr>
      <vt:lpstr>ae350_smu_mpd</vt:lpstr>
      <vt:lpstr>ae350_smu_pd Interface</vt:lpstr>
      <vt:lpstr>ae350_smu_pd Interface</vt:lpstr>
      <vt:lpstr>Sample block diagram for power domain</vt:lpstr>
      <vt:lpstr>FSM status </vt:lpstr>
      <vt:lpstr>ae350_smu_pd FSM for sleep/shutdown</vt:lpstr>
      <vt:lpstr>ae350_smu_pd FSM for DVFS</vt:lpstr>
      <vt:lpstr>Power control signal by FSM</vt:lpstr>
      <vt:lpstr>Request for L2 design</vt:lpstr>
      <vt:lpstr>Thank You!</vt:lpstr>
      <vt:lpstr>PowerPoint 簡報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Probation Review</dc:title>
  <dc:creator>Ellis Yu-Jui Chen(陳俞睿)</dc:creator>
  <cp:lastModifiedBy>Ellis Yu-Jui Chen(陳俞睿)</cp:lastModifiedBy>
  <cp:revision>307</cp:revision>
  <dcterms:created xsi:type="dcterms:W3CDTF">2017-03-02T07:26:01Z</dcterms:created>
  <dcterms:modified xsi:type="dcterms:W3CDTF">2019-02-26T05:36:12Z</dcterms:modified>
</cp:coreProperties>
</file>