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3"/>
  </p:notesMasterIdLst>
  <p:handoutMasterIdLst>
    <p:handoutMasterId r:id="rId14"/>
  </p:handoutMasterIdLst>
  <p:sldIdLst>
    <p:sldId id="525" r:id="rId2"/>
    <p:sldId id="984" r:id="rId3"/>
    <p:sldId id="1024" r:id="rId4"/>
    <p:sldId id="1025" r:id="rId5"/>
    <p:sldId id="1026" r:id="rId6"/>
    <p:sldId id="1023" r:id="rId7"/>
    <p:sldId id="1017" r:id="rId8"/>
    <p:sldId id="1018" r:id="rId9"/>
    <p:sldId id="1019" r:id="rId10"/>
    <p:sldId id="564" r:id="rId11"/>
    <p:sldId id="983" r:id="rId12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71A6"/>
    <a:srgbClr val="000066"/>
    <a:srgbClr val="FFF78F"/>
    <a:srgbClr val="78A4C7"/>
    <a:srgbClr val="AEC8DD"/>
    <a:srgbClr val="32AECB"/>
    <a:srgbClr val="00FFFF"/>
    <a:srgbClr val="D9F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82" autoAdjust="0"/>
    <p:restoredTop sz="90263" autoAdjust="0"/>
  </p:normalViewPr>
  <p:slideViewPr>
    <p:cSldViewPr snapToGrid="0">
      <p:cViewPr varScale="1">
        <p:scale>
          <a:sx n="104" d="100"/>
          <a:sy n="104" d="100"/>
        </p:scale>
        <p:origin x="-197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2496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E1479-1B44-46F7-B2B0-D9B1309EF560}" type="datetimeFigureOut">
              <a:rPr lang="zh-TW" altLang="en-US" smtClean="0"/>
              <a:t>2019/3/5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35F32-C31C-4AC4-8E45-5890523DDA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349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9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59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fld id="{C79FA509-B1DE-4A2A-816D-4E4A94353D1D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545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0941E5-DFE5-45FE-9949-0CAB0B51B56A}" type="slidenum">
              <a:rPr lang="zh-TW" altLang="en-US" smtClean="0"/>
              <a:pPr>
                <a:defRPr/>
              </a:pPr>
              <a:t>1</a:t>
            </a:fld>
            <a:endParaRPr lang="en-US" altLang="zh-TW" dirty="0" smtClean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8DD757-109B-43B9-B605-064D5CE39788}" type="slidenum">
              <a:rPr lang="zh-TW" altLang="en-US" smtClean="0"/>
              <a:pPr>
                <a:defRPr/>
              </a:pPr>
              <a:t>10</a:t>
            </a:fld>
            <a:endParaRPr lang="en-US" altLang="zh-TW" dirty="0" smtClean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BC8CCC-1454-49B8-B8EC-74F2C178A1FE}" type="slidenum">
              <a:rPr lang="zh-TW" altLang="en-US" smtClean="0"/>
              <a:pPr>
                <a:defRPr/>
              </a:pPr>
              <a:t>11</a:t>
            </a:fld>
            <a:endParaRPr lang="en-US" altLang="zh-TW" dirty="0" smtClean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6463"/>
            <a:ext cx="5435600" cy="4465637"/>
          </a:xfrm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des-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79388" y="188913"/>
            <a:ext cx="11334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7586663" y="6554788"/>
            <a:ext cx="15478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TW" sz="900" b="0" dirty="0">
                <a:solidFill>
                  <a:schemeClr val="bg1"/>
                </a:solidFill>
                <a:ea typeface="新細明體" pitchFamily="18" charset="-120"/>
              </a:rPr>
              <a:t>WWW.ANDESTECH.COM</a:t>
            </a:r>
          </a:p>
        </p:txBody>
      </p:sp>
      <p:pic>
        <p:nvPicPr>
          <p:cNvPr id="6" name="Picture 2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2976563"/>
            <a:ext cx="91440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Rectangle 1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90925" y="2286000"/>
            <a:ext cx="5324475" cy="381000"/>
          </a:xfrm>
          <a:prstGeom prst="rect">
            <a:avLst/>
          </a:prstGeom>
        </p:spPr>
        <p:txBody>
          <a:bodyPr/>
          <a:lstStyle>
            <a:lvl1pPr marL="0" indent="0" algn="r">
              <a:buFont typeface="Wingdings" pitchFamily="2" charset="2"/>
              <a:buNone/>
              <a:defRPr sz="2200">
                <a:solidFill>
                  <a:srgbClr val="000000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en-US" altLang="zh-TW" dirty="0"/>
          </a:p>
        </p:txBody>
      </p:sp>
      <p:sp>
        <p:nvSpPr>
          <p:cNvPr id="54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1905000" y="1447800"/>
            <a:ext cx="7010400" cy="762000"/>
          </a:xfrm>
          <a:effectLst>
            <a:outerShdw dist="17961" dir="2700000" algn="ctr" rotWithShape="0">
              <a:srgbClr val="C0C0C0"/>
            </a:outerShdw>
          </a:effectLst>
        </p:spPr>
        <p:txBody>
          <a:bodyPr/>
          <a:lstStyle>
            <a:lvl1pPr algn="r">
              <a:defRPr sz="3600" b="1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054100"/>
            <a:ext cx="8420100" cy="53314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2513"/>
            <a:ext cx="4133850" cy="533304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圖表版面配置區 3"/>
          <p:cNvSpPr>
            <a:spLocks noGrp="1"/>
          </p:cNvSpPr>
          <p:nvPr>
            <p:ph type="chart" sz="half" idx="2"/>
          </p:nvPr>
        </p:nvSpPr>
        <p:spPr>
          <a:xfrm>
            <a:off x="4667250" y="1052513"/>
            <a:ext cx="4133850" cy="534828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按一下圖示以新增圖表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381000" y="1052513"/>
            <a:ext cx="8420100" cy="533304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6725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多媒體項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4099"/>
            <a:ext cx="4133850" cy="530575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媒體版面配置區 3"/>
          <p:cNvSpPr>
            <a:spLocks noGrp="1"/>
          </p:cNvSpPr>
          <p:nvPr>
            <p:ph type="media" sz="half" idx="2"/>
          </p:nvPr>
        </p:nvSpPr>
        <p:spPr>
          <a:xfrm>
            <a:off x="4667250" y="1054100"/>
            <a:ext cx="4133850" cy="5319404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按一下圖示以新增多媒體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1054100"/>
            <a:ext cx="5238750" cy="53194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68300" y="1054099"/>
            <a:ext cx="3097213" cy="53194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1052513"/>
            <a:ext cx="8420100" cy="5320991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72263" y="133350"/>
            <a:ext cx="2119312" cy="61817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3850" y="142875"/>
            <a:ext cx="6205538" cy="61817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6" descr="Line Bar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975725" y="0"/>
            <a:ext cx="1793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8834" name="Rectangle 2"/>
          <p:cNvSpPr>
            <a:spLocks noChangeArrowheads="1"/>
          </p:cNvSpPr>
          <p:nvPr/>
        </p:nvSpPr>
        <p:spPr bwMode="gray"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248841" name="Rectangle 9"/>
          <p:cNvSpPr>
            <a:spLocks noGrp="1" noChangeArrowheads="1"/>
          </p:cNvSpPr>
          <p:nvPr>
            <p:ph type="title"/>
          </p:nvPr>
        </p:nvSpPr>
        <p:spPr bwMode="gray">
          <a:xfrm>
            <a:off x="323850" y="142875"/>
            <a:ext cx="8658225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TW" dirty="0" smtClean="0"/>
          </a:p>
        </p:txBody>
      </p:sp>
      <p:sp>
        <p:nvSpPr>
          <p:cNvPr id="248836" name="Freeform 4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00" y="0"/>
              </a:cxn>
              <a:cxn ang="0">
                <a:pos x="3456" y="428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81000" y="1052513"/>
            <a:ext cx="8420100" cy="527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pic>
        <p:nvPicPr>
          <p:cNvPr id="1031" name="Picture 1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050213" y="52388"/>
            <a:ext cx="10191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2" descr="andes-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763" y="6486525"/>
            <a:ext cx="989012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3"/>
          <p:cNvSpPr txBox="1">
            <a:spLocks noGrp="1"/>
          </p:cNvSpPr>
          <p:nvPr/>
        </p:nvSpPr>
        <p:spPr bwMode="gray">
          <a:xfrm>
            <a:off x="811213" y="6502400"/>
            <a:ext cx="1497012" cy="384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600" dirty="0">
                <a:solidFill>
                  <a:srgbClr val="002060"/>
                </a:solidFill>
                <a:latin typeface="Tahoma" pitchFamily="34" charset="0"/>
                <a:ea typeface="+mn-ea"/>
              </a:rPr>
              <a:t>Confidential</a:t>
            </a:r>
            <a:endParaRPr lang="en-US" altLang="zh-TW" sz="1200" dirty="0">
              <a:solidFill>
                <a:srgbClr val="00206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gray">
          <a:xfrm>
            <a:off x="6821488" y="6618288"/>
            <a:ext cx="2170112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r>
              <a:rPr lang="en-US" altLang="zh-TW" sz="1100" dirty="0">
                <a:latin typeface="Verdana" pitchFamily="34" charset="0"/>
              </a:rPr>
              <a:t>Driving Innovations™</a:t>
            </a:r>
            <a:endParaRPr lang="en-US" altLang="zh-TW" sz="1000" dirty="0">
              <a:latin typeface="Verdana" pitchFamily="34" charset="0"/>
            </a:endParaRP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gray">
          <a:xfrm>
            <a:off x="3924300" y="6597650"/>
            <a:ext cx="8382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538D94C5-BC46-4B0D-B46B-3E7F715B45EE}" type="slidenum">
              <a:rPr lang="zh-TW" altLang="en-US" sz="1000">
                <a:latin typeface="Verdana" pitchFamily="34" charset="0"/>
              </a:rPr>
              <a:pPr algn="ctr">
                <a:defRPr/>
              </a:pPr>
              <a:t>‹#›</a:t>
            </a:fld>
            <a:endParaRPr lang="en-US" altLang="zh-TW" sz="1000" dirty="0"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2" r:id="rId2"/>
    <p:sldLayoutId id="2147483743" r:id="rId3"/>
    <p:sldLayoutId id="2147483744" r:id="rId4"/>
    <p:sldLayoutId id="2147483751" r:id="rId5"/>
    <p:sldLayoutId id="2147483741" r:id="rId6"/>
    <p:sldLayoutId id="2147483748" r:id="rId7"/>
    <p:sldLayoutId id="2147483746" r:id="rId8"/>
    <p:sldLayoutId id="2147483745" r:id="rId9"/>
    <p:sldLayoutId id="2147483740" r:id="rId10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kumimoji="1" sz="2800">
          <a:solidFill>
            <a:schemeClr val="tx1"/>
          </a:solidFill>
          <a:latin typeface="Tahoma" pitchFamily="34" charset="0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n"/>
        <a:defRPr kumimoji="1" sz="2400">
          <a:solidFill>
            <a:schemeClr val="tx1"/>
          </a:solidFill>
          <a:latin typeface="Tahoma" pitchFamily="34" charset="0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u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l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Tahoma" pitchFamily="34" charset="0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63938" y="2290763"/>
            <a:ext cx="5324475" cy="381000"/>
          </a:xfrm>
        </p:spPr>
        <p:txBody>
          <a:bodyPr/>
          <a:lstStyle/>
          <a:p>
            <a:r>
              <a:rPr lang="en-US" altLang="zh-TW" sz="2800" dirty="0" smtClean="0">
                <a:ea typeface="新細明體" charset="-120"/>
              </a:rPr>
              <a:t>Driving Innovations™</a:t>
            </a:r>
            <a:endParaRPr lang="zh-TW" altLang="en-US" sz="2800" baseline="30000" smtClean="0">
              <a:ea typeface="新細明體" charset="-120"/>
            </a:endParaRPr>
          </a:p>
        </p:txBody>
      </p:sp>
      <p:sp>
        <p:nvSpPr>
          <p:cNvPr id="802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238" y="1106600"/>
            <a:ext cx="8666162" cy="762000"/>
          </a:xfrm>
        </p:spPr>
        <p:txBody>
          <a:bodyPr/>
          <a:lstStyle/>
          <a:p>
            <a:pPr>
              <a:defRPr/>
            </a:pP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Power Control Flow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7060565" y="5507354"/>
            <a:ext cx="2038350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2019-03-04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Terminology</a:t>
            </a:r>
            <a:endParaRPr lang="en-US" altLang="zh-TW" dirty="0" smtClean="0"/>
          </a:p>
          <a:p>
            <a:r>
              <a:rPr lang="en-US" altLang="zh-TW" dirty="0" smtClean="0"/>
              <a:t>System block diagram</a:t>
            </a:r>
          </a:p>
          <a:p>
            <a:r>
              <a:rPr lang="en-US" altLang="zh-TW" dirty="0"/>
              <a:t>Power domain</a:t>
            </a:r>
            <a:endParaRPr lang="en-US" altLang="zh-TW" dirty="0" smtClean="0"/>
          </a:p>
          <a:p>
            <a:r>
              <a:rPr lang="en-US" altLang="zh-TW" dirty="0" smtClean="0"/>
              <a:t>System overall flow for power off</a:t>
            </a:r>
          </a:p>
          <a:p>
            <a:r>
              <a:rPr lang="en-US" altLang="zh-TW" dirty="0" smtClean="0"/>
              <a:t>Power off sequence</a:t>
            </a:r>
          </a:p>
          <a:p>
            <a:r>
              <a:rPr lang="en-US" altLang="zh-TW" dirty="0"/>
              <a:t>Power on </a:t>
            </a:r>
            <a:r>
              <a:rPr lang="en-US" altLang="zh-TW" dirty="0" smtClean="0"/>
              <a:t>sequence</a:t>
            </a:r>
          </a:p>
          <a:p>
            <a:r>
              <a:rPr lang="en-US" altLang="zh-TW" dirty="0"/>
              <a:t>Architecture state backup and recovery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83916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Terminology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SMU</a:t>
            </a:r>
            <a:r>
              <a:rPr lang="en-US" altLang="zh-TW" dirty="0"/>
              <a:t>: </a:t>
            </a:r>
            <a:r>
              <a:rPr lang="en-US" altLang="zh-TW" dirty="0" smtClean="0"/>
              <a:t>System Management Unit</a:t>
            </a:r>
          </a:p>
          <a:p>
            <a:r>
              <a:rPr lang="en-US" altLang="zh-TW" dirty="0" smtClean="0"/>
              <a:t>WFI: Wait for interrupt instruction in RISC-V</a:t>
            </a:r>
          </a:p>
          <a:p>
            <a:r>
              <a:rPr lang="en-US" altLang="zh-TW" dirty="0"/>
              <a:t>BTB: Branch target predictor</a:t>
            </a:r>
            <a:endParaRPr lang="en-US" altLang="zh-TW" dirty="0" smtClean="0"/>
          </a:p>
          <a:p>
            <a:r>
              <a:rPr lang="en-US" altLang="zh-TW" dirty="0" smtClean="0"/>
              <a:t>STLB</a:t>
            </a:r>
            <a:r>
              <a:rPr lang="en-US" altLang="zh-TW" dirty="0"/>
              <a:t>: Shared Translation </a:t>
            </a:r>
            <a:r>
              <a:rPr lang="en-US" altLang="zh-TW" dirty="0" err="1"/>
              <a:t>Lookaside</a:t>
            </a:r>
            <a:r>
              <a:rPr lang="en-US" altLang="zh-TW" dirty="0"/>
              <a:t> Buffer</a:t>
            </a:r>
          </a:p>
          <a:p>
            <a:r>
              <a:rPr lang="en-US" altLang="zh-TW" dirty="0" smtClean="0"/>
              <a:t>ILM: Instruction local memory</a:t>
            </a:r>
          </a:p>
          <a:p>
            <a:r>
              <a:rPr lang="en-US" altLang="zh-TW" dirty="0" smtClean="0"/>
              <a:t>DLM</a:t>
            </a:r>
            <a:r>
              <a:rPr lang="en-US" altLang="zh-TW" dirty="0"/>
              <a:t>: </a:t>
            </a:r>
            <a:r>
              <a:rPr lang="en-US" altLang="zh-TW" dirty="0" smtClean="0"/>
              <a:t>Data </a:t>
            </a:r>
            <a:r>
              <a:rPr lang="en-US" altLang="zh-TW" dirty="0"/>
              <a:t>local </a:t>
            </a:r>
            <a:r>
              <a:rPr lang="en-US" altLang="zh-TW" dirty="0" smtClean="0"/>
              <a:t>memory</a:t>
            </a:r>
          </a:p>
          <a:p>
            <a:r>
              <a:rPr lang="en-US" altLang="zh-TW" dirty="0" smtClean="0"/>
              <a:t>PMP:</a:t>
            </a:r>
            <a:r>
              <a:rPr lang="zh-TW" altLang="en-US" dirty="0" smtClean="0"/>
              <a:t> </a:t>
            </a:r>
            <a:r>
              <a:rPr lang="en-US" altLang="zh-TW" dirty="0"/>
              <a:t>Physical Memory </a:t>
            </a:r>
            <a:r>
              <a:rPr lang="en-US" altLang="zh-TW" dirty="0" smtClean="0"/>
              <a:t>Protection</a:t>
            </a:r>
          </a:p>
          <a:p>
            <a:r>
              <a:rPr lang="en-US" altLang="zh-TW" dirty="0" smtClean="0"/>
              <a:t>HPM:</a:t>
            </a:r>
            <a:r>
              <a:rPr lang="zh-TW" altLang="en-US" dirty="0" smtClean="0"/>
              <a:t> </a:t>
            </a:r>
            <a:r>
              <a:rPr lang="en-US" altLang="zh-TW" dirty="0" smtClean="0"/>
              <a:t>High Performance Monitor</a:t>
            </a:r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127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block </a:t>
            </a:r>
            <a:r>
              <a:rPr lang="en-US" altLang="zh-TW" dirty="0" smtClean="0"/>
              <a:t>diagram</a:t>
            </a:r>
            <a:endParaRPr lang="zh-TW" alt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2" t="4941" r="57246" b="2221"/>
          <a:stretch/>
        </p:blipFill>
        <p:spPr bwMode="auto">
          <a:xfrm>
            <a:off x="2071317" y="933449"/>
            <a:ext cx="4720008" cy="561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407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2" t="4941" r="57246" b="2221"/>
          <a:stretch/>
        </p:blipFill>
        <p:spPr bwMode="auto">
          <a:xfrm>
            <a:off x="2071317" y="933449"/>
            <a:ext cx="4720008" cy="561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domain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 bwMode="auto">
          <a:xfrm>
            <a:off x="3220232" y="1554813"/>
            <a:ext cx="3132943" cy="191228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172602" y="3180486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 smtClean="0">
                <a:solidFill>
                  <a:srgbClr val="FF0000"/>
                </a:solidFill>
              </a:rPr>
              <a:t>Core region</a:t>
            </a:r>
            <a:endParaRPr lang="zh-TW" altLang="en-US" sz="14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914649" y="5314951"/>
            <a:ext cx="698501" cy="266700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313096" y="5044168"/>
            <a:ext cx="168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00B050"/>
                </a:solidFill>
              </a:rPr>
              <a:t>Always on region</a:t>
            </a:r>
            <a:endParaRPr lang="zh-TW" altLang="en-US" sz="1400" dirty="0">
              <a:solidFill>
                <a:srgbClr val="00B050"/>
              </a:solidFill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323850" y="2139950"/>
            <a:ext cx="2698750" cy="1111249"/>
          </a:xfrm>
          <a:prstGeom prst="rect">
            <a:avLst/>
          </a:prstGeom>
          <a:noFill/>
          <a:ln w="571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16146" y="2139950"/>
            <a:ext cx="16841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 smtClean="0">
                <a:solidFill>
                  <a:srgbClr val="00B050"/>
                </a:solidFill>
              </a:rPr>
              <a:t>Always on region</a:t>
            </a:r>
            <a:endParaRPr lang="zh-TW" altLang="en-US" sz="1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54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overall flow for power off</a:t>
            </a:r>
          </a:p>
        </p:txBody>
      </p:sp>
      <p:sp>
        <p:nvSpPr>
          <p:cNvPr id="4" name="橢圓 3"/>
          <p:cNvSpPr/>
          <p:nvPr/>
        </p:nvSpPr>
        <p:spPr bwMode="auto">
          <a:xfrm>
            <a:off x="3636815" y="975044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Normal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弧形 7"/>
          <p:cNvSpPr/>
          <p:nvPr/>
        </p:nvSpPr>
        <p:spPr bwMode="auto">
          <a:xfrm rot="14612720">
            <a:off x="3228872" y="1442044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弧形 16"/>
          <p:cNvSpPr/>
          <p:nvPr/>
        </p:nvSpPr>
        <p:spPr bwMode="auto">
          <a:xfrm rot="19772063">
            <a:off x="1699976" y="3389886"/>
            <a:ext cx="478431" cy="504050"/>
          </a:xfrm>
          <a:prstGeom prst="arc">
            <a:avLst>
              <a:gd name="adj1" fmla="val 399879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橢圓 19"/>
          <p:cNvSpPr/>
          <p:nvPr/>
        </p:nvSpPr>
        <p:spPr bwMode="auto">
          <a:xfrm>
            <a:off x="2301142" y="2337269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4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Software</a:t>
            </a:r>
          </a:p>
          <a:p>
            <a:pPr algn="ctr"/>
            <a:r>
              <a:rPr lang="en-US" altLang="zh-TW" sz="1400" dirty="0"/>
              <a:t>procedure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橢圓 20"/>
          <p:cNvSpPr/>
          <p:nvPr/>
        </p:nvSpPr>
        <p:spPr bwMode="auto">
          <a:xfrm>
            <a:off x="2301142" y="3693599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 smtClean="0"/>
              <a:t>Hardware</a:t>
            </a:r>
          </a:p>
          <a:p>
            <a:r>
              <a:rPr lang="en-US" altLang="zh-TW" sz="1200" dirty="0"/>
              <a:t>handshaking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橢圓 21"/>
          <p:cNvSpPr/>
          <p:nvPr/>
        </p:nvSpPr>
        <p:spPr bwMode="auto">
          <a:xfrm>
            <a:off x="3636815" y="5060812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4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Power domain off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3" name="橢圓 22"/>
          <p:cNvSpPr/>
          <p:nvPr/>
        </p:nvSpPr>
        <p:spPr bwMode="auto">
          <a:xfrm>
            <a:off x="4950338" y="2360382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4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Software</a:t>
            </a:r>
          </a:p>
          <a:p>
            <a:pPr algn="ctr"/>
            <a:r>
              <a:rPr lang="en-US" altLang="zh-TW" sz="1400" dirty="0"/>
              <a:t>procedure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橢圓 23"/>
          <p:cNvSpPr/>
          <p:nvPr/>
        </p:nvSpPr>
        <p:spPr bwMode="auto">
          <a:xfrm>
            <a:off x="4950338" y="3716712"/>
            <a:ext cx="1647730" cy="1285592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sz="1200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200" dirty="0" smtClean="0"/>
              <a:t>Hardware</a:t>
            </a:r>
          </a:p>
          <a:p>
            <a:r>
              <a:rPr lang="en-US" altLang="zh-TW" sz="1200" dirty="0"/>
              <a:t>handshaking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弧形 24"/>
          <p:cNvSpPr/>
          <p:nvPr/>
        </p:nvSpPr>
        <p:spPr bwMode="auto">
          <a:xfrm rot="587374">
            <a:off x="4302907" y="1608959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弧形 25"/>
          <p:cNvSpPr/>
          <p:nvPr/>
        </p:nvSpPr>
        <p:spPr bwMode="auto">
          <a:xfrm rot="11512708">
            <a:off x="3228871" y="4376265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弧形 26"/>
          <p:cNvSpPr/>
          <p:nvPr/>
        </p:nvSpPr>
        <p:spPr bwMode="auto">
          <a:xfrm rot="4923021">
            <a:off x="4466255" y="4236061"/>
            <a:ext cx="1440000" cy="1440000"/>
          </a:xfrm>
          <a:prstGeom prst="arc">
            <a:avLst>
              <a:gd name="adj1" fmla="val 17521256"/>
              <a:gd name="adj2" fmla="val 2082888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76200" y="2304742"/>
            <a:ext cx="3923313" cy="271895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4197" y="4658539"/>
            <a:ext cx="21804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</a:rPr>
              <a:t>Power </a:t>
            </a:r>
            <a:r>
              <a:rPr lang="en-US" altLang="zh-TW" sz="1600" dirty="0" smtClean="0">
                <a:solidFill>
                  <a:srgbClr val="FF0000"/>
                </a:solidFill>
              </a:rPr>
              <a:t>off sequence 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4914232" y="2356319"/>
            <a:ext cx="4001168" cy="2718954"/>
          </a:xfrm>
          <a:prstGeom prst="rect">
            <a:avLst/>
          </a:prstGeom>
          <a:noFill/>
          <a:ln w="12700" cap="flat" cmpd="sng" algn="ctr">
            <a:solidFill>
              <a:srgbClr val="00B05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861026" y="4740089"/>
            <a:ext cx="21675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solidFill>
                  <a:srgbClr val="00B050"/>
                </a:solidFill>
              </a:rPr>
              <a:t>Power </a:t>
            </a:r>
            <a:r>
              <a:rPr lang="en-US" altLang="zh-TW" sz="1600" dirty="0" smtClean="0">
                <a:solidFill>
                  <a:srgbClr val="00B050"/>
                </a:solidFill>
              </a:rPr>
              <a:t>on sequence </a:t>
            </a:r>
            <a:endParaRPr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32" name="弧形 31"/>
          <p:cNvSpPr/>
          <p:nvPr/>
        </p:nvSpPr>
        <p:spPr bwMode="auto">
          <a:xfrm rot="8928370">
            <a:off x="6787231" y="3436111"/>
            <a:ext cx="478431" cy="504050"/>
          </a:xfrm>
          <a:prstGeom prst="arc">
            <a:avLst>
              <a:gd name="adj1" fmla="val 399879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227716" y="3388742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0" dirty="0" smtClean="0"/>
              <a:t>Core</a:t>
            </a:r>
          </a:p>
          <a:p>
            <a:r>
              <a:rPr lang="en-US" altLang="zh-TW" b="0" dirty="0" smtClean="0"/>
              <a:t>reset</a:t>
            </a:r>
            <a:endParaRPr lang="zh-TW" altLang="en-US" b="0" dirty="0"/>
          </a:p>
        </p:txBody>
      </p:sp>
      <p:sp>
        <p:nvSpPr>
          <p:cNvPr id="34" name="文字方塊 33"/>
          <p:cNvSpPr txBox="1"/>
          <p:nvPr/>
        </p:nvSpPr>
        <p:spPr>
          <a:xfrm>
            <a:off x="1099324" y="348035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0" dirty="0" smtClean="0"/>
              <a:t>WFI</a:t>
            </a:r>
            <a:endParaRPr lang="zh-TW" altLang="en-US" b="0" dirty="0"/>
          </a:p>
        </p:txBody>
      </p:sp>
      <p:sp>
        <p:nvSpPr>
          <p:cNvPr id="35" name="矩形 34"/>
          <p:cNvSpPr/>
          <p:nvPr/>
        </p:nvSpPr>
        <p:spPr bwMode="auto">
          <a:xfrm>
            <a:off x="2205742" y="3685054"/>
            <a:ext cx="4506379" cy="2820522"/>
          </a:xfrm>
          <a:prstGeom prst="rect">
            <a:avLst/>
          </a:prstGeom>
          <a:noFill/>
          <a:ln w="12700" cap="flat" cmpd="sng" algn="ctr">
            <a:solidFill>
              <a:srgbClr val="C0000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196217" y="6117194"/>
            <a:ext cx="1608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S</a:t>
            </a:r>
            <a:r>
              <a:rPr lang="en-US" altLang="zh-TW" dirty="0" smtClean="0">
                <a:solidFill>
                  <a:srgbClr val="C00000"/>
                </a:solidFill>
              </a:rPr>
              <a:t>MU control 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2207490" y="960474"/>
            <a:ext cx="4506380" cy="2705530"/>
          </a:xfrm>
          <a:prstGeom prst="rect">
            <a:avLst/>
          </a:prstGeom>
          <a:noFill/>
          <a:ln w="12700" cap="flat" cmpd="sng" algn="ctr">
            <a:solidFill>
              <a:srgbClr val="00B0F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07490" y="923725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B0F0"/>
                </a:solidFill>
              </a:rPr>
              <a:t>Core control </a:t>
            </a:r>
            <a:endParaRPr lang="zh-TW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518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on 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Hardware </a:t>
            </a:r>
            <a:r>
              <a:rPr lang="en-US" altLang="zh-TW" sz="2400" dirty="0" smtClean="0"/>
              <a:t>handshaking by SMU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Assert reset signal </a:t>
            </a:r>
            <a:r>
              <a:rPr lang="en-US" altLang="zh-TW" sz="2000" dirty="0"/>
              <a:t>for core/memory/L2</a:t>
            </a:r>
            <a:endParaRPr lang="en-US" altLang="zh-TW" sz="2000" dirty="0" smtClean="0"/>
          </a:p>
          <a:p>
            <a:pPr lvl="1"/>
            <a:r>
              <a:rPr lang="en-US" altLang="zh-TW" sz="2000" dirty="0"/>
              <a:t>Assert </a:t>
            </a:r>
            <a:r>
              <a:rPr lang="en-US" altLang="zh-TW" sz="2000" dirty="0" err="1" smtClean="0"/>
              <a:t>core</a:t>
            </a:r>
            <a:r>
              <a:rPr lang="en-US" altLang="zh-TW" sz="2000" i="1" dirty="0" err="1"/>
              <a:t>n</a:t>
            </a:r>
            <a:r>
              <a:rPr lang="en-US" altLang="zh-TW" sz="2000" dirty="0" err="1"/>
              <a:t>_reset_vector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to restore program</a:t>
            </a:r>
          </a:p>
          <a:p>
            <a:pPr lvl="1"/>
            <a:r>
              <a:rPr lang="en-US" altLang="zh-TW" sz="2000" dirty="0"/>
              <a:t>E</a:t>
            </a:r>
            <a:r>
              <a:rPr lang="en-US" altLang="zh-TW" sz="2000" dirty="0" smtClean="0"/>
              <a:t>nable power/clock switch for core/memory/L2 region</a:t>
            </a:r>
          </a:p>
          <a:p>
            <a:pPr lvl="1"/>
            <a:r>
              <a:rPr lang="en-US" altLang="zh-TW" sz="2000" dirty="0"/>
              <a:t>D</a:t>
            </a:r>
            <a:r>
              <a:rPr lang="en-US" altLang="zh-TW" sz="2000" dirty="0" smtClean="0"/>
              <a:t>isable isolation/retention cell</a:t>
            </a:r>
          </a:p>
          <a:p>
            <a:pPr lvl="1"/>
            <a:r>
              <a:rPr lang="en-US" altLang="zh-TW" sz="2000" dirty="0"/>
              <a:t>De-assert </a:t>
            </a:r>
            <a:r>
              <a:rPr lang="en-US" altLang="zh-TW" sz="2000" dirty="0" smtClean="0"/>
              <a:t>reset </a:t>
            </a:r>
            <a:r>
              <a:rPr lang="en-US" altLang="zh-TW" sz="2000" dirty="0"/>
              <a:t>signal for core/memory/L2</a:t>
            </a:r>
            <a:endParaRPr lang="en-US" altLang="zh-TW" sz="2000" dirty="0" smtClean="0"/>
          </a:p>
          <a:p>
            <a:r>
              <a:rPr lang="en-US" altLang="zh-TW" sz="2400" dirty="0"/>
              <a:t>Software </a:t>
            </a:r>
            <a:r>
              <a:rPr lang="en-US" altLang="zh-TW" sz="2400" dirty="0" smtClean="0"/>
              <a:t>procedure by Core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Redirect PC to software restore program</a:t>
            </a:r>
          </a:p>
          <a:p>
            <a:pPr lvl="2"/>
            <a:r>
              <a:rPr lang="en-US" altLang="zh-TW" sz="1600" dirty="0"/>
              <a:t>Software </a:t>
            </a:r>
            <a:r>
              <a:rPr lang="en-US" altLang="zh-TW" sz="1600" dirty="0" smtClean="0"/>
              <a:t>restore </a:t>
            </a:r>
            <a:r>
              <a:rPr lang="en-US" altLang="zh-TW" sz="1600" dirty="0"/>
              <a:t>CSR/RF/FRF status </a:t>
            </a:r>
            <a:r>
              <a:rPr lang="en-US" altLang="zh-TW" sz="1600" dirty="0" smtClean="0"/>
              <a:t>from RAM</a:t>
            </a:r>
          </a:p>
          <a:p>
            <a:pPr lvl="1"/>
            <a:r>
              <a:rPr lang="en-US" altLang="zh-TW" sz="2000" dirty="0" smtClean="0"/>
              <a:t>Restore </a:t>
            </a:r>
            <a:r>
              <a:rPr lang="en-US" altLang="zh-TW" sz="2000" dirty="0"/>
              <a:t>interrupt-enable bit</a:t>
            </a:r>
            <a:r>
              <a:rPr lang="en-US" altLang="zh-TW" sz="2000" dirty="0" smtClean="0"/>
              <a:t> (</a:t>
            </a:r>
            <a:r>
              <a:rPr lang="en-US" altLang="zh-TW" sz="2000" dirty="0" err="1" smtClean="0"/>
              <a:t>mie</a:t>
            </a:r>
            <a:r>
              <a:rPr lang="en-US" altLang="zh-TW" sz="2000" dirty="0" smtClean="0"/>
              <a:t>) and handle pending interrupt</a:t>
            </a:r>
          </a:p>
          <a:p>
            <a:pPr lvl="1"/>
            <a:r>
              <a:rPr lang="en-US" altLang="zh-TW" sz="2000" dirty="0" smtClean="0"/>
              <a:t>Redirect PC to previous program sequence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6624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Power </a:t>
            </a:r>
            <a:r>
              <a:rPr lang="en-US" altLang="zh-TW" dirty="0" smtClean="0"/>
              <a:t>off </a:t>
            </a:r>
            <a:r>
              <a:rPr lang="en-US" altLang="zh-TW" dirty="0"/>
              <a:t>sequence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Software </a:t>
            </a:r>
            <a:r>
              <a:rPr lang="en-US" altLang="zh-TW" sz="2400" dirty="0" smtClean="0"/>
              <a:t>procedure by Core</a:t>
            </a:r>
          </a:p>
          <a:p>
            <a:pPr lvl="1"/>
            <a:r>
              <a:rPr lang="en-US" altLang="zh-TW" sz="1800" dirty="0"/>
              <a:t>Disable interrupt-enable bit (</a:t>
            </a:r>
            <a:r>
              <a:rPr lang="en-US" altLang="zh-TW" sz="1800" dirty="0" err="1"/>
              <a:t>mie</a:t>
            </a:r>
            <a:r>
              <a:rPr lang="en-US" altLang="zh-TW" sz="1800" dirty="0"/>
              <a:t>) </a:t>
            </a:r>
            <a:endParaRPr lang="en-US" altLang="zh-TW" sz="1800" dirty="0" smtClean="0"/>
          </a:p>
          <a:p>
            <a:pPr lvl="1"/>
            <a:r>
              <a:rPr lang="en-US" altLang="zh-TW" sz="1800" dirty="0" smtClean="0"/>
              <a:t>Execute FENCE.I for </a:t>
            </a:r>
            <a:r>
              <a:rPr lang="en-US" altLang="zh-TW" sz="1800" dirty="0" err="1" smtClean="0"/>
              <a:t>writeback</a:t>
            </a:r>
            <a:r>
              <a:rPr lang="en-US" altLang="zh-TW" sz="1800" dirty="0" smtClean="0"/>
              <a:t> dirty cache line in D-Cache</a:t>
            </a:r>
          </a:p>
          <a:p>
            <a:pPr lvl="1"/>
            <a:r>
              <a:rPr lang="en-US" altLang="zh-TW" sz="1800" dirty="0" smtClean="0"/>
              <a:t>Execute L2 flush command for L2 shutdown</a:t>
            </a:r>
          </a:p>
          <a:p>
            <a:pPr lvl="1"/>
            <a:r>
              <a:rPr lang="en-US" altLang="zh-TW" sz="1800" dirty="0" smtClean="0"/>
              <a:t>Program </a:t>
            </a:r>
            <a:r>
              <a:rPr lang="en-US" altLang="zh-TW" sz="1800" dirty="0"/>
              <a:t>save </a:t>
            </a:r>
            <a:r>
              <a:rPr lang="en-US" altLang="zh-TW" sz="1800" dirty="0" smtClean="0"/>
              <a:t>CSR/RF/FRF status and resume PC </a:t>
            </a:r>
            <a:r>
              <a:rPr lang="en-US" altLang="zh-TW" sz="1800" dirty="0"/>
              <a:t>to </a:t>
            </a:r>
            <a:r>
              <a:rPr lang="en-US" altLang="zh-TW" sz="1800" dirty="0" smtClean="0"/>
              <a:t>RAM</a:t>
            </a:r>
          </a:p>
          <a:p>
            <a:pPr lvl="1"/>
            <a:r>
              <a:rPr lang="en-US" altLang="zh-TW" sz="1800" dirty="0" smtClean="0"/>
              <a:t>Execute WFI </a:t>
            </a:r>
          </a:p>
          <a:p>
            <a:r>
              <a:rPr lang="en-US" altLang="zh-TW" sz="2400" dirty="0"/>
              <a:t>Hardware </a:t>
            </a:r>
            <a:r>
              <a:rPr lang="en-US" altLang="zh-TW" sz="2400" dirty="0" smtClean="0"/>
              <a:t>handshaking by SMU</a:t>
            </a:r>
          </a:p>
          <a:p>
            <a:pPr lvl="1"/>
            <a:r>
              <a:rPr lang="en-US" altLang="zh-TW" sz="2000" dirty="0"/>
              <a:t>W</a:t>
            </a:r>
            <a:r>
              <a:rPr lang="en-US" altLang="zh-TW" sz="2000" dirty="0" smtClean="0"/>
              <a:t>aits </a:t>
            </a:r>
            <a:r>
              <a:rPr lang="en-US" altLang="zh-TW" sz="2000" dirty="0" err="1" smtClean="0"/>
              <a:t>core_wfi_mode</a:t>
            </a:r>
            <a:r>
              <a:rPr lang="en-US" altLang="zh-TW" sz="2000" dirty="0" smtClean="0"/>
              <a:t> asserted from core</a:t>
            </a:r>
          </a:p>
          <a:p>
            <a:pPr lvl="1"/>
            <a:r>
              <a:rPr lang="en-US" altLang="zh-TW" sz="2000" dirty="0" smtClean="0"/>
              <a:t>Enables isolation/retention cell</a:t>
            </a:r>
          </a:p>
          <a:p>
            <a:pPr lvl="1"/>
            <a:r>
              <a:rPr lang="en-US" altLang="zh-TW" sz="2000" dirty="0" smtClean="0"/>
              <a:t>Disable power/clock switch for Core/Memory region </a:t>
            </a:r>
          </a:p>
          <a:p>
            <a:pPr lvl="1"/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1679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Architecture state backup and recovery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Baseline RV32/64 register file (x1 ~ x31)</a:t>
            </a:r>
          </a:p>
          <a:p>
            <a:r>
              <a:rPr lang="en-US" altLang="zh-TW" dirty="0"/>
              <a:t>F</a:t>
            </a:r>
            <a:r>
              <a:rPr lang="en-US" altLang="zh-TW" dirty="0" smtClean="0"/>
              <a:t>loating point RVF/D </a:t>
            </a:r>
            <a:r>
              <a:rPr lang="en-US" altLang="zh-TW" dirty="0"/>
              <a:t>register </a:t>
            </a:r>
            <a:r>
              <a:rPr lang="en-US" altLang="zh-TW" dirty="0" smtClean="0"/>
              <a:t>file (f0 ~ f31)</a:t>
            </a:r>
          </a:p>
          <a:p>
            <a:r>
              <a:rPr lang="en-US" altLang="zh-TW" dirty="0" smtClean="0"/>
              <a:t>CSRs (Total about 200 CSRs)</a:t>
            </a:r>
          </a:p>
          <a:p>
            <a:pPr lvl="1"/>
            <a:r>
              <a:rPr lang="en-US" altLang="zh-TW" sz="2000" dirty="0" smtClean="0"/>
              <a:t>Status CSRs</a:t>
            </a:r>
          </a:p>
          <a:p>
            <a:pPr lvl="1"/>
            <a:r>
              <a:rPr lang="en-US" altLang="zh-TW" sz="2000" dirty="0" smtClean="0"/>
              <a:t>Trap </a:t>
            </a:r>
            <a:r>
              <a:rPr lang="en-US" altLang="zh-TW" sz="2000" dirty="0"/>
              <a:t>CSRs</a:t>
            </a:r>
          </a:p>
          <a:p>
            <a:pPr lvl="1"/>
            <a:r>
              <a:rPr lang="en-US" altLang="zh-TW" sz="2000" dirty="0" smtClean="0"/>
              <a:t>PMP CSRs</a:t>
            </a:r>
            <a:endParaRPr lang="en-US" altLang="zh-TW" sz="2000" dirty="0"/>
          </a:p>
          <a:p>
            <a:pPr lvl="1"/>
            <a:r>
              <a:rPr lang="en-US" altLang="zh-TW" sz="2000" dirty="0" smtClean="0"/>
              <a:t>HPM CSRs</a:t>
            </a:r>
          </a:p>
          <a:p>
            <a:pPr lvl="1"/>
            <a:r>
              <a:rPr lang="en-US" altLang="zh-TW" sz="2000" dirty="0" smtClean="0"/>
              <a:t>Debug CSRs</a:t>
            </a:r>
            <a:endParaRPr lang="en-US" altLang="zh-TW" sz="2000" dirty="0"/>
          </a:p>
          <a:p>
            <a:pPr lvl="1"/>
            <a:r>
              <a:rPr lang="en-US" altLang="zh-TW" sz="2000" dirty="0"/>
              <a:t>AndeStarV5 CSRs</a:t>
            </a:r>
          </a:p>
          <a:p>
            <a:pPr lvl="1"/>
            <a:endParaRPr lang="en-US" altLang="zh-TW" sz="2200" dirty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812043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42875"/>
            <a:ext cx="8466138" cy="6080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400" dirty="0" smtClean="0">
                <a:ea typeface="新細明體" charset="-120"/>
              </a:rPr>
              <a:t>Thank You!</a:t>
            </a:r>
            <a:endParaRPr lang="zh-TW" altLang="en-US" sz="4400" smtClean="0">
              <a:ea typeface="新細明體" charset="-120"/>
            </a:endParaRPr>
          </a:p>
        </p:txBody>
      </p:sp>
      <p:sp>
        <p:nvSpPr>
          <p:cNvPr id="58370" name="Rectangle 3"/>
          <p:cNvSpPr txBox="1">
            <a:spLocks noChangeArrowheads="1"/>
          </p:cNvSpPr>
          <p:nvPr/>
        </p:nvSpPr>
        <p:spPr bwMode="black">
          <a:xfrm>
            <a:off x="-80963" y="5840413"/>
            <a:ext cx="9194801" cy="72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8288" indent="-268288" algn="ctr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kumimoji="1" lang="en-US" altLang="zh-TW" sz="3200" dirty="0">
                <a:solidFill>
                  <a:schemeClr val="tx2"/>
                </a:solidFill>
                <a:latin typeface="Tahoma" pitchFamily="34" charset="0"/>
              </a:rPr>
              <a:t>www.andestech.com</a:t>
            </a:r>
          </a:p>
        </p:txBody>
      </p:sp>
      <p:pic>
        <p:nvPicPr>
          <p:cNvPr id="5837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5825" y="1147763"/>
            <a:ext cx="737235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50800" y="1052513"/>
            <a:ext cx="8936038" cy="4824412"/>
          </a:xfrm>
        </p:spPr>
        <p:txBody>
          <a:bodyPr/>
          <a:lstStyle/>
          <a:p>
            <a:pPr marL="268288" indent="-268288" algn="ctr" eaLnBrk="1" hangingPunct="1">
              <a:buFont typeface="Wingdings" pitchFamily="2" charset="2"/>
              <a:buNone/>
            </a:pPr>
            <a:endParaRPr lang="en-US" altLang="zh-TW" sz="4400" b="1" dirty="0" smtClean="0">
              <a:solidFill>
                <a:schemeClr val="tx2"/>
              </a:solidFill>
              <a:ea typeface="新細明體" charset="-120"/>
            </a:endParaRPr>
          </a:p>
          <a:p>
            <a:pPr marL="268288" indent="-268288" algn="ctr" eaLnBrk="1" hangingPunct="1">
              <a:buFont typeface="Wingdings" pitchFamily="2" charset="2"/>
              <a:buNone/>
            </a:pPr>
            <a:endParaRPr lang="en-US" altLang="zh-TW" sz="3600" b="1" dirty="0" smtClean="0">
              <a:solidFill>
                <a:schemeClr val="tx2"/>
              </a:solidFill>
              <a:ea typeface="新細明體" charset="-120"/>
            </a:endParaRPr>
          </a:p>
          <a:p>
            <a:pPr marL="268288" indent="-268288" algn="ctr" eaLnBrk="1" hangingPunct="1">
              <a:buFont typeface="Wingdings" pitchFamily="2" charset="2"/>
              <a:buNone/>
            </a:pPr>
            <a:r>
              <a:rPr lang="en-US" altLang="zh-TW" sz="8000" b="1" dirty="0" smtClean="0">
                <a:solidFill>
                  <a:schemeClr val="tx2"/>
                </a:solidFill>
                <a:ea typeface="新細明體" charset="-120"/>
              </a:rPr>
              <a:t>Thank You!</a:t>
            </a:r>
            <a:endParaRPr lang="en-US" altLang="zh-TW" sz="3200" b="1" dirty="0" smtClean="0">
              <a:solidFill>
                <a:schemeClr val="tx2"/>
              </a:solidFill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bation Review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1_281TGp_consulting_ligh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281TGp_consulting_light 1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44357C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0AEBF"/>
        </a:accent5>
        <a:accent6>
          <a:srgbClr val="85AE49"/>
        </a:accent6>
        <a:hlink>
          <a:srgbClr val="9999FF"/>
        </a:hlink>
        <a:folHlink>
          <a:srgbClr val="4EA7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2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25557B"/>
        </a:accent1>
        <a:accent2>
          <a:srgbClr val="E4C244"/>
        </a:accent2>
        <a:accent3>
          <a:srgbClr val="FFFFFF"/>
        </a:accent3>
        <a:accent4>
          <a:srgbClr val="2A2A2A"/>
        </a:accent4>
        <a:accent5>
          <a:srgbClr val="ACB4BF"/>
        </a:accent5>
        <a:accent6>
          <a:srgbClr val="CFB03D"/>
        </a:accent6>
        <a:hlink>
          <a:srgbClr val="66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3">
        <a:dk1>
          <a:srgbClr val="35567B"/>
        </a:dk1>
        <a:lt1>
          <a:srgbClr val="FFFFFF"/>
        </a:lt1>
        <a:dk2>
          <a:srgbClr val="000000"/>
        </a:dk2>
        <a:lt2>
          <a:srgbClr val="DDDDDD"/>
        </a:lt2>
        <a:accent1>
          <a:srgbClr val="789F21"/>
        </a:accent1>
        <a:accent2>
          <a:srgbClr val="E9803F"/>
        </a:accent2>
        <a:accent3>
          <a:srgbClr val="FFFFFF"/>
        </a:accent3>
        <a:accent4>
          <a:srgbClr val="2C4868"/>
        </a:accent4>
        <a:accent5>
          <a:srgbClr val="BECDAB"/>
        </a:accent5>
        <a:accent6>
          <a:srgbClr val="D37338"/>
        </a:accent6>
        <a:hlink>
          <a:srgbClr val="E0C24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Probation Review</Template>
  <TotalTime>6662</TotalTime>
  <Words>294</Words>
  <Application>Microsoft Office PowerPoint</Application>
  <PresentationFormat>如螢幕大小 (4:3)</PresentationFormat>
  <Paragraphs>91</Paragraphs>
  <Slides>11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Probation Review</vt:lpstr>
      <vt:lpstr>Power Control Flow</vt:lpstr>
      <vt:lpstr>Outline</vt:lpstr>
      <vt:lpstr>Terminology</vt:lpstr>
      <vt:lpstr>System block diagram</vt:lpstr>
      <vt:lpstr>Power domain</vt:lpstr>
      <vt:lpstr>System overall flow for power off</vt:lpstr>
      <vt:lpstr>Power on sequence</vt:lpstr>
      <vt:lpstr>Power off sequence</vt:lpstr>
      <vt:lpstr>Architecture state backup and recovery</vt:lpstr>
      <vt:lpstr>Thank You!</vt:lpstr>
      <vt:lpstr>PowerPoint 簡報</vt:lpstr>
    </vt:vector>
  </TitlesOfParts>
  <Company>Andes Technology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Probation Review</dc:title>
  <dc:creator>Ellis Yu-Jui Chen(陳俞睿)</dc:creator>
  <cp:lastModifiedBy>Justin Jen-Chih Tseng(曾仁志)</cp:lastModifiedBy>
  <cp:revision>379</cp:revision>
  <dcterms:created xsi:type="dcterms:W3CDTF">2017-03-02T07:26:01Z</dcterms:created>
  <dcterms:modified xsi:type="dcterms:W3CDTF">2019-03-04T18:52:47Z</dcterms:modified>
</cp:coreProperties>
</file>