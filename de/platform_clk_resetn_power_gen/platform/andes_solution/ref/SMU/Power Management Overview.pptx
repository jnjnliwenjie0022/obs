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64"/>
  </p:notesMasterIdLst>
  <p:sldIdLst>
    <p:sldId id="358" r:id="rId2"/>
    <p:sldId id="365" r:id="rId3"/>
    <p:sldId id="419" r:id="rId4"/>
    <p:sldId id="366" r:id="rId5"/>
    <p:sldId id="372" r:id="rId6"/>
    <p:sldId id="418" r:id="rId7"/>
    <p:sldId id="371" r:id="rId8"/>
    <p:sldId id="373" r:id="rId9"/>
    <p:sldId id="374" r:id="rId10"/>
    <p:sldId id="380" r:id="rId11"/>
    <p:sldId id="430" r:id="rId12"/>
    <p:sldId id="431" r:id="rId13"/>
    <p:sldId id="432" r:id="rId14"/>
    <p:sldId id="433" r:id="rId15"/>
    <p:sldId id="420" r:id="rId16"/>
    <p:sldId id="375" r:id="rId17"/>
    <p:sldId id="376" r:id="rId18"/>
    <p:sldId id="377" r:id="rId19"/>
    <p:sldId id="378" r:id="rId20"/>
    <p:sldId id="379" r:id="rId21"/>
    <p:sldId id="381" r:id="rId22"/>
    <p:sldId id="388" r:id="rId23"/>
    <p:sldId id="421" r:id="rId24"/>
    <p:sldId id="383" r:id="rId25"/>
    <p:sldId id="393" r:id="rId26"/>
    <p:sldId id="394" r:id="rId27"/>
    <p:sldId id="422" r:id="rId28"/>
    <p:sldId id="368" r:id="rId29"/>
    <p:sldId id="391" r:id="rId30"/>
    <p:sldId id="423" r:id="rId31"/>
    <p:sldId id="387" r:id="rId32"/>
    <p:sldId id="390" r:id="rId33"/>
    <p:sldId id="407" r:id="rId34"/>
    <p:sldId id="424" r:id="rId35"/>
    <p:sldId id="389" r:id="rId36"/>
    <p:sldId id="395" r:id="rId37"/>
    <p:sldId id="398" r:id="rId38"/>
    <p:sldId id="425" r:id="rId39"/>
    <p:sldId id="396" r:id="rId40"/>
    <p:sldId id="400" r:id="rId41"/>
    <p:sldId id="401" r:id="rId42"/>
    <p:sldId id="397" r:id="rId43"/>
    <p:sldId id="399" r:id="rId44"/>
    <p:sldId id="426" r:id="rId45"/>
    <p:sldId id="404" r:id="rId46"/>
    <p:sldId id="403" r:id="rId47"/>
    <p:sldId id="427" r:id="rId48"/>
    <p:sldId id="384" r:id="rId49"/>
    <p:sldId id="369" r:id="rId50"/>
    <p:sldId id="408" r:id="rId51"/>
    <p:sldId id="367" r:id="rId52"/>
    <p:sldId id="428" r:id="rId53"/>
    <p:sldId id="412" r:id="rId54"/>
    <p:sldId id="413" r:id="rId55"/>
    <p:sldId id="370" r:id="rId56"/>
    <p:sldId id="415" r:id="rId57"/>
    <p:sldId id="414" r:id="rId58"/>
    <p:sldId id="416" r:id="rId59"/>
    <p:sldId id="429" r:id="rId60"/>
    <p:sldId id="409" r:id="rId61"/>
    <p:sldId id="417" r:id="rId62"/>
    <p:sldId id="303" r:id="rId6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CAA"/>
    <a:srgbClr val="FFFF00"/>
    <a:srgbClr val="639E53"/>
    <a:srgbClr val="E42AC9"/>
    <a:srgbClr val="AEBD51"/>
    <a:srgbClr val="FFCC66"/>
    <a:srgbClr val="9900FF"/>
    <a:srgbClr val="CC00CC"/>
    <a:srgbClr val="FF00FF"/>
    <a:srgbClr val="477D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017" autoAdjust="0"/>
    <p:restoredTop sz="94193" autoAdjust="0"/>
  </p:normalViewPr>
  <p:slideViewPr>
    <p:cSldViewPr>
      <p:cViewPr varScale="1">
        <p:scale>
          <a:sx n="143" d="100"/>
          <a:sy n="143" d="100"/>
        </p:scale>
        <p:origin x="300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55CC4-57DB-455E-A7B3-32E5D6766102}" type="datetimeFigureOut">
              <a:rPr lang="zh-TW" altLang="en-US" smtClean="0"/>
              <a:t>2021/9/6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361EA-DB0B-46AB-9518-695FF4722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8142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61EA-DB0B-46AB-9518-695FF4722ABB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426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61EA-DB0B-46AB-9518-695FF4722ABB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3437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61EA-DB0B-46AB-9518-695FF4722ABB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6632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61EA-DB0B-46AB-9518-695FF4722ABB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510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61EA-DB0B-46AB-9518-695FF4722ABB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5249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61EA-DB0B-46AB-9518-695FF4722ABB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0664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gi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gi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gif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omepage Layout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716016" y="2196471"/>
            <a:ext cx="4427984" cy="53034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 dirty="0"/>
              <a:t>Heading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716016" y="2726815"/>
            <a:ext cx="442798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 dirty="0"/>
              <a:t>Subheading</a:t>
            </a:r>
          </a:p>
        </p:txBody>
      </p:sp>
      <p:pic>
        <p:nvPicPr>
          <p:cNvPr id="4" name="image2.gif">
            <a:extLst>
              <a:ext uri="{FF2B5EF4-FFF2-40B4-BE49-F238E27FC236}">
                <a16:creationId xmlns:a16="http://schemas.microsoft.com/office/drawing/2014/main" id="{F976E50D-7F19-8342-BBCA-2EC8BF28AE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267495"/>
            <a:ext cx="1523080" cy="665178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8BF481F-0F8C-9B4A-BAF6-C909CD3C6B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99792" y="4515966"/>
            <a:ext cx="2396046" cy="51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2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_blank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2.gif">
            <a:extLst>
              <a:ext uri="{FF2B5EF4-FFF2-40B4-BE49-F238E27FC236}">
                <a16:creationId xmlns:a16="http://schemas.microsoft.com/office/drawing/2014/main" id="{E854D485-B7DF-DC4F-B33C-D69351D22C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601" y="4804058"/>
            <a:ext cx="655624" cy="286332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E3DBABB-1CDE-0342-8458-54AAE8ACBC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6256" y="4858038"/>
            <a:ext cx="1091514" cy="232352"/>
          </a:xfrm>
          <a:prstGeom prst="rect">
            <a:avLst/>
          </a:prstGeom>
        </p:spPr>
      </p:pic>
      <p:sp>
        <p:nvSpPr>
          <p:cNvPr id="8" name="Shape 80">
            <a:extLst>
              <a:ext uri="{FF2B5EF4-FFF2-40B4-BE49-F238E27FC236}">
                <a16:creationId xmlns:a16="http://schemas.microsoft.com/office/drawing/2014/main" id="{9609B72D-0FF6-704B-8D1F-178180BC7348}"/>
              </a:ext>
            </a:extLst>
          </p:cNvPr>
          <p:cNvSpPr/>
          <p:nvPr userDrawn="1"/>
        </p:nvSpPr>
        <p:spPr>
          <a:xfrm>
            <a:off x="3357988" y="4883278"/>
            <a:ext cx="2471315" cy="253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4289" tIns="34289" rIns="34289" bIns="3428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algn="ctr"/>
            <a:r>
              <a:rPr kumimoji="1" lang="en-US" altLang="zh-TW" sz="1200" dirty="0">
                <a:solidFill>
                  <a:srgbClr val="477DC7"/>
                </a:solidFill>
              </a:rPr>
              <a:t>Taking RISC-V</a:t>
            </a:r>
            <a:r>
              <a:rPr kumimoji="1" lang="en-US" altLang="zh-TW" sz="1200" baseline="30000" dirty="0">
                <a:solidFill>
                  <a:srgbClr val="477DC7"/>
                </a:solidFill>
              </a:rPr>
              <a:t>®</a:t>
            </a:r>
            <a:r>
              <a:rPr kumimoji="1" lang="en-US" altLang="zh-TW" sz="1200" dirty="0">
                <a:solidFill>
                  <a:srgbClr val="477DC7"/>
                </a:solidFill>
              </a:rPr>
              <a:t> Mainstream</a:t>
            </a:r>
            <a:endParaRPr kumimoji="1" lang="zh-TW" altLang="en-US" sz="1200" dirty="0">
              <a:solidFill>
                <a:srgbClr val="477DC7"/>
              </a:solidFill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EB4A61C3-227F-CD46-819C-45898AF5476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8631285" y="4858031"/>
            <a:ext cx="513977" cy="2738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8580" tIns="34290" rIns="68580" bIns="34290"/>
          <a:lstStyle/>
          <a:p>
            <a:pPr algn="ctr">
              <a:defRPr/>
            </a:pPr>
            <a:fld id="{538D94C5-BC46-4B0D-B46B-3E7F715B45EE}" type="slidenum">
              <a:rPr lang="zh-TW" altLang="en-US" sz="1200" b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‹#›</a:t>
            </a:fld>
            <a:endParaRPr lang="en-US" altLang="zh-TW" sz="1200" b="0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2322"/>
            <a:ext cx="741682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  <a:endParaRPr lang="en-US" altLang="ko-KR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1226F301-CC73-7D41-87E7-E19FE87ABF3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92601" y="627534"/>
            <a:ext cx="8785225" cy="423049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800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kumimoji="1" lang="en-US" altLang="zh-TW" dirty="0"/>
              <a:t>Text</a:t>
            </a:r>
            <a:endParaRPr kumimoji="1" lang="zh-TW" altLang="en-US" dirty="0"/>
          </a:p>
          <a:p>
            <a:pPr lvl="1"/>
            <a:r>
              <a:rPr kumimoji="1" lang="en-US" altLang="zh-TW" dirty="0"/>
              <a:t>Level Two</a:t>
            </a:r>
            <a:endParaRPr kumimoji="1" lang="zh-TW" altLang="en-US" dirty="0"/>
          </a:p>
          <a:p>
            <a:pPr lvl="2"/>
            <a:r>
              <a:rPr kumimoji="1" lang="en-US" altLang="zh-TW" dirty="0"/>
              <a:t>Level Three</a:t>
            </a:r>
            <a:endParaRPr kumimoji="1" lang="zh-TW" altLang="en-US" dirty="0"/>
          </a:p>
          <a:p>
            <a:pPr lvl="3"/>
            <a:r>
              <a:rPr kumimoji="1" lang="en-US" altLang="zh-TW" dirty="0"/>
              <a:t>Level Four</a:t>
            </a:r>
            <a:endParaRPr kumimoji="1" lang="zh-TW" altLang="en-US" dirty="0"/>
          </a:p>
          <a:p>
            <a:pPr lvl="4"/>
            <a:r>
              <a:rPr kumimoji="1" lang="en-US" altLang="zh-TW" dirty="0"/>
              <a:t>Level Five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643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2.gif">
            <a:extLst>
              <a:ext uri="{FF2B5EF4-FFF2-40B4-BE49-F238E27FC236}">
                <a16:creationId xmlns:a16="http://schemas.microsoft.com/office/drawing/2014/main" id="{E38CE7B3-2B1D-4B43-9F3E-357F1819D4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4068" y="123478"/>
            <a:ext cx="655624" cy="286332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48D8936-DFE2-294A-B530-8F4B06CDB5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91880" y="4803998"/>
            <a:ext cx="1045898" cy="22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_2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67495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zh-TW" dirty="0"/>
              <a:t>Heading	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843559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zh-TW" dirty="0"/>
              <a:t>Sub-heading</a:t>
            </a:r>
            <a:endParaRPr lang="en-US" altLang="ko-KR" dirty="0"/>
          </a:p>
        </p:txBody>
      </p:sp>
      <p:sp>
        <p:nvSpPr>
          <p:cNvPr id="6" name="Shape 80">
            <a:extLst>
              <a:ext uri="{FF2B5EF4-FFF2-40B4-BE49-F238E27FC236}">
                <a16:creationId xmlns:a16="http://schemas.microsoft.com/office/drawing/2014/main" id="{18CF2C9E-52CE-BC41-A0A0-F97ADC53AC6A}"/>
              </a:ext>
            </a:extLst>
          </p:cNvPr>
          <p:cNvSpPr/>
          <p:nvPr userDrawn="1"/>
        </p:nvSpPr>
        <p:spPr>
          <a:xfrm>
            <a:off x="3357988" y="4883278"/>
            <a:ext cx="2471315" cy="253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4289" tIns="34289" rIns="34289" bIns="3428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algn="ctr"/>
            <a:r>
              <a:rPr kumimoji="1" lang="en-US" altLang="zh-TW" sz="1200" dirty="0">
                <a:solidFill>
                  <a:srgbClr val="477DC7"/>
                </a:solidFill>
              </a:rPr>
              <a:t>Taking RISC-V</a:t>
            </a:r>
            <a:r>
              <a:rPr kumimoji="1" lang="en-US" altLang="zh-TW" sz="1200" baseline="30000" dirty="0">
                <a:solidFill>
                  <a:srgbClr val="477DC7"/>
                </a:solidFill>
              </a:rPr>
              <a:t>®</a:t>
            </a:r>
            <a:r>
              <a:rPr kumimoji="1" lang="en-US" altLang="zh-TW" sz="1200" dirty="0">
                <a:solidFill>
                  <a:srgbClr val="477DC7"/>
                </a:solidFill>
              </a:rPr>
              <a:t> Mainstream</a:t>
            </a:r>
            <a:endParaRPr kumimoji="1" lang="zh-TW" altLang="en-US" sz="1200" dirty="0">
              <a:solidFill>
                <a:srgbClr val="477DC7"/>
              </a:solidFill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37BEED7D-9F6E-3846-83B1-D7EA17B273B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8631285" y="4858031"/>
            <a:ext cx="513977" cy="2738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8580" tIns="34290" rIns="68580" bIns="34290"/>
          <a:lstStyle/>
          <a:p>
            <a:pPr algn="ctr">
              <a:defRPr/>
            </a:pPr>
            <a:fld id="{538D94C5-BC46-4B0D-B46B-3E7F715B45EE}" type="slidenum">
              <a:rPr lang="zh-TW" altLang="en-US" sz="1200" b="0">
                <a:solidFill>
                  <a:schemeClr val="tx1">
                    <a:lumMod val="95000"/>
                    <a:lumOff val="5000"/>
                  </a:schemeClr>
                </a:solidFill>
                <a:latin typeface="Tahoma" pitchFamily="34" charset="0"/>
                <a:cs typeface="Tahoma" pitchFamily="34" charset="0"/>
              </a:rPr>
              <a:t>‹#›</a:t>
            </a:fld>
            <a:endParaRPr lang="en-US" altLang="zh-TW" sz="1200" b="0" dirty="0">
              <a:solidFill>
                <a:schemeClr val="tx1">
                  <a:lumMod val="95000"/>
                  <a:lumOff val="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E3DBABB-1CDE-0342-8458-54AAE8ACBC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6256" y="4858038"/>
            <a:ext cx="1091514" cy="232352"/>
          </a:xfrm>
          <a:prstGeom prst="rect">
            <a:avLst/>
          </a:prstGeom>
        </p:spPr>
      </p:pic>
      <p:pic>
        <p:nvPicPr>
          <p:cNvPr id="4" name="image2.gif">
            <a:extLst>
              <a:ext uri="{FF2B5EF4-FFF2-40B4-BE49-F238E27FC236}">
                <a16:creationId xmlns:a16="http://schemas.microsoft.com/office/drawing/2014/main" id="{3DE775D0-7D05-6F46-92FA-E7532F7339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4815426"/>
            <a:ext cx="724584" cy="3164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0168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267744" y="123479"/>
            <a:ext cx="687625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zh-TW" dirty="0"/>
              <a:t>Headline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267744" y="699543"/>
            <a:ext cx="687625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 dirty="0"/>
              <a:t>Subtitle</a:t>
            </a:r>
          </a:p>
        </p:txBody>
      </p:sp>
      <p:pic>
        <p:nvPicPr>
          <p:cNvPr id="4" name="image2.gif">
            <a:extLst>
              <a:ext uri="{FF2B5EF4-FFF2-40B4-BE49-F238E27FC236}">
                <a16:creationId xmlns:a16="http://schemas.microsoft.com/office/drawing/2014/main" id="{0DE28B13-87DA-6B4D-B5FA-1A23E8EE6E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7744" y="4776427"/>
            <a:ext cx="655624" cy="28633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E3DBABB-1CDE-0342-8458-54AAE8ACBC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02013" y="4830407"/>
            <a:ext cx="1091514" cy="232352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226F301-CC73-7D41-87E7-E19FE87ABF3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267744" y="1131590"/>
            <a:ext cx="6825783" cy="3693684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800"/>
              </a:spcBef>
              <a:buFont typeface="Wingdings" panose="05000000000000000000" pitchFamily="2" charset="2"/>
              <a:buChar char="l"/>
              <a:defRPr kumimoji="1" lang="zh-TW" altLang="en-US" sz="2400" kern="1200" dirty="0" smtClean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48000">
              <a:spcBef>
                <a:spcPts val="800"/>
              </a:spcBef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 marL="1008000">
              <a:spcBef>
                <a:spcPts val="800"/>
              </a:spcBef>
              <a:defRPr sz="1800" baseline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 marL="1368000">
              <a:spcBef>
                <a:spcPts val="800"/>
              </a:spcBef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 marL="1728000">
              <a:spcBef>
                <a:spcPts val="800"/>
              </a:spcBef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marL="342892" lvl="0" indent="-342892" algn="l" defTabSz="914378" rtl="0" eaLnBrk="1" latinLnBrk="1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kumimoji="1" lang="en-US" altLang="zh-TW" dirty="0"/>
              <a:t>Text</a:t>
            </a:r>
            <a:endParaRPr kumimoji="1" lang="zh-TW" altLang="en-US" dirty="0"/>
          </a:p>
          <a:p>
            <a:pPr lvl="1"/>
            <a:r>
              <a:rPr kumimoji="1" lang="en-US" altLang="zh-TW" dirty="0"/>
              <a:t>Level Two</a:t>
            </a:r>
            <a:endParaRPr kumimoji="1" lang="zh-TW" altLang="en-US" dirty="0"/>
          </a:p>
          <a:p>
            <a:pPr lvl="2"/>
            <a:r>
              <a:rPr kumimoji="1" lang="en-US" altLang="zh-TW" dirty="0"/>
              <a:t>Level Three</a:t>
            </a:r>
            <a:endParaRPr kumimoji="1" lang="zh-TW" altLang="en-US" dirty="0"/>
          </a:p>
          <a:p>
            <a:pPr lvl="3"/>
            <a:r>
              <a:rPr kumimoji="1" lang="en-US" altLang="zh-TW" dirty="0"/>
              <a:t>Level Four</a:t>
            </a:r>
            <a:endParaRPr kumimoji="1" lang="zh-TW" altLang="en-US" dirty="0"/>
          </a:p>
          <a:p>
            <a:pPr lvl="4"/>
            <a:r>
              <a:rPr kumimoji="1" lang="en-US" altLang="zh-TW" dirty="0"/>
              <a:t>Level Five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404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page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7C88CB3-0DCE-FA4A-B5FC-CE7D15CBFA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723879"/>
            <a:ext cx="7886700" cy="6480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kumimoji="1" lang="en-US" altLang="zh-TW" dirty="0"/>
              <a:t>Thank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8C3B9F-54F5-724E-B70C-D0CEC96D389C}"/>
              </a:ext>
            </a:extLst>
          </p:cNvPr>
          <p:cNvSpPr/>
          <p:nvPr userDrawn="1"/>
        </p:nvSpPr>
        <p:spPr>
          <a:xfrm>
            <a:off x="0" y="3714476"/>
            <a:ext cx="9144000" cy="936103"/>
          </a:xfrm>
          <a:prstGeom prst="rect">
            <a:avLst/>
          </a:prstGeom>
          <a:solidFill>
            <a:schemeClr val="bg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8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image2.gif">
            <a:extLst>
              <a:ext uri="{FF2B5EF4-FFF2-40B4-BE49-F238E27FC236}">
                <a16:creationId xmlns:a16="http://schemas.microsoft.com/office/drawing/2014/main" id="{0B254A50-1C48-CC49-A057-159E10500B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7363" y="4587974"/>
            <a:ext cx="989274" cy="4320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3471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_3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0" y="843558"/>
            <a:ext cx="601216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zh-TW" dirty="0"/>
              <a:t>Heading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131840" y="1419622"/>
            <a:ext cx="601216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zh-TW" dirty="0"/>
              <a:t>Sub-heading</a:t>
            </a:r>
            <a:endParaRPr lang="en-US" altLang="ko-KR" dirty="0"/>
          </a:p>
        </p:txBody>
      </p:sp>
      <p:sp>
        <p:nvSpPr>
          <p:cNvPr id="4" name="Rectangle 3"/>
          <p:cNvSpPr/>
          <p:nvPr userDrawn="1"/>
        </p:nvSpPr>
        <p:spPr>
          <a:xfrm>
            <a:off x="971600" y="1827287"/>
            <a:ext cx="7272808" cy="2304256"/>
          </a:xfrm>
          <a:prstGeom prst="rect">
            <a:avLst/>
          </a:prstGeom>
          <a:noFill/>
          <a:ln w="38100" cap="rnd" cmpd="sng">
            <a:solidFill>
              <a:schemeClr val="accent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Oval 4"/>
          <p:cNvSpPr/>
          <p:nvPr userDrawn="1"/>
        </p:nvSpPr>
        <p:spPr>
          <a:xfrm>
            <a:off x="1403648" y="1044724"/>
            <a:ext cx="1584176" cy="158417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6" name="image2.gif">
            <a:extLst>
              <a:ext uri="{FF2B5EF4-FFF2-40B4-BE49-F238E27FC236}">
                <a16:creationId xmlns:a16="http://schemas.microsoft.com/office/drawing/2014/main" id="{E88A56B7-C6E3-204B-A31A-02064AE74F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2"/>
            <a:ext cx="1025554" cy="447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9C402B1-7864-B145-BE07-3EC4A20880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26547" y="51469"/>
            <a:ext cx="1540838" cy="333772"/>
          </a:xfrm>
          <a:prstGeom prst="rect">
            <a:avLst/>
          </a:prstGeom>
        </p:spPr>
      </p:pic>
      <p:sp>
        <p:nvSpPr>
          <p:cNvPr id="8" name="Shape 80">
            <a:extLst>
              <a:ext uri="{FF2B5EF4-FFF2-40B4-BE49-F238E27FC236}">
                <a16:creationId xmlns:a16="http://schemas.microsoft.com/office/drawing/2014/main" id="{985C9126-277A-AE46-BE05-F1203D903A1D}"/>
              </a:ext>
            </a:extLst>
          </p:cNvPr>
          <p:cNvSpPr/>
          <p:nvPr userDrawn="1"/>
        </p:nvSpPr>
        <p:spPr>
          <a:xfrm>
            <a:off x="3357988" y="4883278"/>
            <a:ext cx="2471315" cy="253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4289" tIns="34289" rIns="34289" bIns="3428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algn="ctr"/>
            <a:r>
              <a:rPr kumimoji="1" lang="en-US" altLang="zh-TW" sz="1200" dirty="0">
                <a:solidFill>
                  <a:srgbClr val="477DC7"/>
                </a:solidFill>
              </a:rPr>
              <a:t>Taking RISC-V</a:t>
            </a:r>
            <a:r>
              <a:rPr kumimoji="1" lang="en-US" altLang="zh-TW" sz="1200" baseline="30000" dirty="0">
                <a:solidFill>
                  <a:srgbClr val="477DC7"/>
                </a:solidFill>
              </a:rPr>
              <a:t>®</a:t>
            </a:r>
            <a:r>
              <a:rPr kumimoji="1" lang="en-US" altLang="zh-TW" sz="1200" dirty="0">
                <a:solidFill>
                  <a:srgbClr val="477DC7"/>
                </a:solidFill>
              </a:rPr>
              <a:t> Mainstream</a:t>
            </a:r>
            <a:endParaRPr kumimoji="1" lang="zh-TW" altLang="en-US" sz="1200" dirty="0">
              <a:solidFill>
                <a:srgbClr val="477DC7"/>
              </a:solidFill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6A5652AC-194E-204C-9E98-4AFA882034D2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8631285" y="4858031"/>
            <a:ext cx="513977" cy="2738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8580" tIns="34290" rIns="68580" bIns="34290"/>
          <a:lstStyle/>
          <a:p>
            <a:pPr algn="ctr">
              <a:defRPr/>
            </a:pPr>
            <a:fld id="{538D94C5-BC46-4B0D-B46B-3E7F715B45EE}" type="slidenum">
              <a:rPr lang="zh-TW" altLang="en-US" sz="1200" b="0">
                <a:solidFill>
                  <a:srgbClr val="477DC7"/>
                </a:solidFill>
                <a:latin typeface="Tahoma" pitchFamily="34" charset="0"/>
                <a:cs typeface="Tahoma" pitchFamily="34" charset="0"/>
              </a:rPr>
              <a:t>‹#›</a:t>
            </a:fld>
            <a:endParaRPr lang="en-US" altLang="zh-TW" sz="1200" b="0" dirty="0">
              <a:solidFill>
                <a:srgbClr val="477DC7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679" y="1260549"/>
            <a:ext cx="646113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066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49" y="554552"/>
            <a:ext cx="9165644" cy="4590184"/>
          </a:xfrm>
          <a:prstGeom prst="rect">
            <a:avLst/>
          </a:prstGeom>
        </p:spPr>
      </p:pic>
      <p:pic>
        <p:nvPicPr>
          <p:cNvPr id="6" name="image2.gif">
            <a:extLst>
              <a:ext uri="{FF2B5EF4-FFF2-40B4-BE49-F238E27FC236}">
                <a16:creationId xmlns:a16="http://schemas.microsoft.com/office/drawing/2014/main" id="{E854D485-B7DF-DC4F-B33C-D69351D22C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251" y="4805294"/>
            <a:ext cx="655624" cy="286332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E3DBABB-1CDE-0342-8458-54AAE8ACBC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48906" y="4859274"/>
            <a:ext cx="1091514" cy="232352"/>
          </a:xfrm>
          <a:prstGeom prst="rect">
            <a:avLst/>
          </a:prstGeom>
        </p:spPr>
      </p:pic>
      <p:sp>
        <p:nvSpPr>
          <p:cNvPr id="8" name="Shape 80">
            <a:extLst>
              <a:ext uri="{FF2B5EF4-FFF2-40B4-BE49-F238E27FC236}">
                <a16:creationId xmlns:a16="http://schemas.microsoft.com/office/drawing/2014/main" id="{9609B72D-0FF6-704B-8D1F-178180BC7348}"/>
              </a:ext>
            </a:extLst>
          </p:cNvPr>
          <p:cNvSpPr/>
          <p:nvPr userDrawn="1"/>
        </p:nvSpPr>
        <p:spPr>
          <a:xfrm>
            <a:off x="3350638" y="4884514"/>
            <a:ext cx="2471315" cy="253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4289" tIns="34289" rIns="34289" bIns="3428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algn="ctr"/>
            <a:r>
              <a:rPr kumimoji="1" lang="en-US" altLang="zh-TW" sz="1200" dirty="0">
                <a:solidFill>
                  <a:srgbClr val="477DC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Taking RISC-V</a:t>
            </a:r>
            <a:r>
              <a:rPr kumimoji="1" lang="en-US" altLang="zh-TW" sz="1200" baseline="30000" dirty="0">
                <a:solidFill>
                  <a:srgbClr val="477DC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®</a:t>
            </a:r>
            <a:r>
              <a:rPr kumimoji="1" lang="en-US" altLang="zh-TW" sz="1200" dirty="0">
                <a:solidFill>
                  <a:srgbClr val="477DC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Mainstream</a:t>
            </a:r>
            <a:endParaRPr kumimoji="1" lang="zh-TW" altLang="en-US" sz="1200" dirty="0">
              <a:solidFill>
                <a:srgbClr val="477DC7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EB4A61C3-227F-CD46-819C-45898AF5476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8623935" y="4859267"/>
            <a:ext cx="513977" cy="2738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8580" tIns="34290" rIns="68580" bIns="34290"/>
          <a:lstStyle/>
          <a:p>
            <a:pPr algn="ctr">
              <a:defRPr/>
            </a:pPr>
            <a:fld id="{538D94C5-BC46-4B0D-B46B-3E7F715B45EE}" type="slidenum">
              <a:rPr lang="zh-TW" altLang="en-US" sz="1200" b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‹#›</a:t>
            </a:fld>
            <a:endParaRPr lang="en-US" altLang="zh-TW" sz="1200" b="0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2162" y="3558"/>
            <a:ext cx="741682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  <a:endParaRPr lang="en-US" altLang="ko-KR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1226F301-CC73-7D41-87E7-E19FE87ABF3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2860" y="616872"/>
            <a:ext cx="8785225" cy="4208402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800"/>
              </a:spcBef>
              <a:buFont typeface="Wingdings" panose="05000000000000000000" pitchFamily="2" charset="2"/>
              <a:buChar char="l"/>
              <a:defRPr kumimoji="1" lang="zh-TW" alt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>
              <a:spcBef>
                <a:spcPts val="800"/>
              </a:spcBef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 marL="1008000">
              <a:spcBef>
                <a:spcPts val="800"/>
              </a:spcBef>
              <a:defRPr sz="1800" baseline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 marL="1368000">
              <a:spcBef>
                <a:spcPts val="800"/>
              </a:spcBef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 marL="1728000">
              <a:spcBef>
                <a:spcPts val="800"/>
              </a:spcBef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marL="342892" lvl="0" indent="-342892" algn="l" defTabSz="914378" rtl="0" eaLnBrk="1" latinLnBrk="1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kumimoji="1" lang="en-US" altLang="zh-TW" dirty="0"/>
              <a:t>Text</a:t>
            </a:r>
            <a:endParaRPr kumimoji="1" lang="zh-TW" altLang="en-US" dirty="0"/>
          </a:p>
          <a:p>
            <a:pPr lvl="1"/>
            <a:r>
              <a:rPr kumimoji="1" lang="en-US" altLang="zh-TW" dirty="0"/>
              <a:t>Level Two</a:t>
            </a:r>
            <a:endParaRPr kumimoji="1" lang="zh-TW" altLang="en-US" dirty="0"/>
          </a:p>
          <a:p>
            <a:pPr lvl="2"/>
            <a:r>
              <a:rPr kumimoji="1" lang="en-US" altLang="zh-TW" dirty="0"/>
              <a:t>Level Three</a:t>
            </a:r>
            <a:endParaRPr kumimoji="1" lang="zh-TW" altLang="en-US" dirty="0"/>
          </a:p>
          <a:p>
            <a:pPr lvl="3"/>
            <a:r>
              <a:rPr kumimoji="1" lang="en-US" altLang="zh-TW" dirty="0"/>
              <a:t>Level Four</a:t>
            </a:r>
            <a:endParaRPr kumimoji="1" lang="zh-TW" altLang="en-US" dirty="0"/>
          </a:p>
          <a:p>
            <a:pPr lvl="4"/>
            <a:r>
              <a:rPr kumimoji="1" lang="en-US" altLang="zh-TW" dirty="0"/>
              <a:t>Level Five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2691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4909"/>
          <a:stretch/>
        </p:blipFill>
        <p:spPr>
          <a:xfrm>
            <a:off x="-11469" y="578461"/>
            <a:ext cx="9155469" cy="4576349"/>
          </a:xfrm>
          <a:prstGeom prst="rect">
            <a:avLst/>
          </a:prstGeom>
        </p:spPr>
      </p:pic>
      <p:pic>
        <p:nvPicPr>
          <p:cNvPr id="6" name="image2.gif">
            <a:extLst>
              <a:ext uri="{FF2B5EF4-FFF2-40B4-BE49-F238E27FC236}">
                <a16:creationId xmlns:a16="http://schemas.microsoft.com/office/drawing/2014/main" id="{E854D485-B7DF-DC4F-B33C-D69351D22CA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601" y="4804058"/>
            <a:ext cx="655624" cy="286332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E3DBABB-1CDE-0342-8458-54AAE8ACBC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6256" y="4858038"/>
            <a:ext cx="1091514" cy="232352"/>
          </a:xfrm>
          <a:prstGeom prst="rect">
            <a:avLst/>
          </a:prstGeom>
        </p:spPr>
      </p:pic>
      <p:sp>
        <p:nvSpPr>
          <p:cNvPr id="8" name="Shape 80">
            <a:extLst>
              <a:ext uri="{FF2B5EF4-FFF2-40B4-BE49-F238E27FC236}">
                <a16:creationId xmlns:a16="http://schemas.microsoft.com/office/drawing/2014/main" id="{9609B72D-0FF6-704B-8D1F-178180BC7348}"/>
              </a:ext>
            </a:extLst>
          </p:cNvPr>
          <p:cNvSpPr/>
          <p:nvPr userDrawn="1"/>
        </p:nvSpPr>
        <p:spPr>
          <a:xfrm>
            <a:off x="3357988" y="4883278"/>
            <a:ext cx="2471315" cy="253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4289" tIns="34289" rIns="34289" bIns="3428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algn="ctr"/>
            <a:r>
              <a:rPr kumimoji="1" lang="en-US" altLang="zh-TW" sz="1200" dirty="0">
                <a:solidFill>
                  <a:srgbClr val="477DC7"/>
                </a:solidFill>
              </a:rPr>
              <a:t>Taking RISC-V</a:t>
            </a:r>
            <a:r>
              <a:rPr kumimoji="1" lang="en-US" altLang="zh-TW" sz="1200" baseline="30000" dirty="0">
                <a:solidFill>
                  <a:srgbClr val="477DC7"/>
                </a:solidFill>
              </a:rPr>
              <a:t>®</a:t>
            </a:r>
            <a:r>
              <a:rPr kumimoji="1" lang="en-US" altLang="zh-TW" sz="1200" dirty="0">
                <a:solidFill>
                  <a:srgbClr val="477DC7"/>
                </a:solidFill>
              </a:rPr>
              <a:t> Mainstream</a:t>
            </a:r>
            <a:endParaRPr kumimoji="1" lang="zh-TW" altLang="en-US" sz="1200" dirty="0">
              <a:solidFill>
                <a:srgbClr val="477DC7"/>
              </a:solidFill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EB4A61C3-227F-CD46-819C-45898AF5476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8631285" y="4858031"/>
            <a:ext cx="513977" cy="2738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8580" tIns="34290" rIns="68580" bIns="34290"/>
          <a:lstStyle/>
          <a:p>
            <a:pPr algn="ctr">
              <a:defRPr/>
            </a:pPr>
            <a:fld id="{538D94C5-BC46-4B0D-B46B-3E7F715B45EE}" type="slidenum">
              <a:rPr lang="zh-TW" altLang="en-US" sz="1200" b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‹#›</a:t>
            </a:fld>
            <a:endParaRPr lang="en-US" altLang="zh-TW" sz="1200" b="0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2322"/>
            <a:ext cx="741682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  <a:endParaRPr lang="en-US" altLang="ko-KR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1226F301-CC73-7D41-87E7-E19FE87ABF3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92601" y="627535"/>
            <a:ext cx="8785225" cy="4255744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800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kumimoji="1" lang="en-US" altLang="zh-TW" dirty="0"/>
              <a:t>Text</a:t>
            </a:r>
            <a:endParaRPr kumimoji="1" lang="zh-TW" altLang="en-US" dirty="0"/>
          </a:p>
          <a:p>
            <a:pPr lvl="1"/>
            <a:r>
              <a:rPr kumimoji="1" lang="en-US" altLang="zh-TW" dirty="0"/>
              <a:t>Level Two</a:t>
            </a:r>
            <a:endParaRPr kumimoji="1" lang="zh-TW" altLang="en-US" dirty="0"/>
          </a:p>
          <a:p>
            <a:pPr lvl="2"/>
            <a:r>
              <a:rPr kumimoji="1" lang="en-US" altLang="zh-TW" dirty="0"/>
              <a:t>Level Three</a:t>
            </a:r>
            <a:endParaRPr kumimoji="1" lang="zh-TW" altLang="en-US" dirty="0"/>
          </a:p>
          <a:p>
            <a:pPr lvl="3"/>
            <a:r>
              <a:rPr kumimoji="1" lang="en-US" altLang="zh-TW" dirty="0"/>
              <a:t>Level Four</a:t>
            </a:r>
            <a:endParaRPr kumimoji="1" lang="zh-TW" altLang="en-US" dirty="0"/>
          </a:p>
          <a:p>
            <a:pPr lvl="4"/>
            <a:r>
              <a:rPr kumimoji="1" lang="en-US" altLang="zh-TW" dirty="0"/>
              <a:t>Level Five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9920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7" r:id="rId2"/>
    <p:sldLayoutId id="2147483659" r:id="rId3"/>
    <p:sldLayoutId id="2147483662" r:id="rId4"/>
    <p:sldLayoutId id="2147483661" r:id="rId5"/>
    <p:sldLayoutId id="2147483655" r:id="rId6"/>
    <p:sldLayoutId id="2147483673" r:id="rId7"/>
    <p:sldLayoutId id="2147483706" r:id="rId8"/>
    <p:sldLayoutId id="2147483712" r:id="rId9"/>
  </p:sldLayoutIdLst>
  <p:txStyles>
    <p:titleStyle>
      <a:lvl1pPr algn="ctr" defTabSz="914378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DA6F7BD9-6077-3A4C-A9C8-C76074CDA246}"/>
              </a:ext>
            </a:extLst>
          </p:cNvPr>
          <p:cNvGrpSpPr/>
          <p:nvPr/>
        </p:nvGrpSpPr>
        <p:grpSpPr>
          <a:xfrm>
            <a:off x="4208832" y="2235228"/>
            <a:ext cx="438306" cy="674360"/>
            <a:chOff x="4055364" y="2196470"/>
            <a:chExt cx="438306" cy="674360"/>
          </a:xfrm>
        </p:grpSpPr>
        <p:sp>
          <p:nvSpPr>
            <p:cNvPr id="5" name="對角線條紋 4">
              <a:extLst>
                <a:ext uri="{FF2B5EF4-FFF2-40B4-BE49-F238E27FC236}">
                  <a16:creationId xmlns:a16="http://schemas.microsoft.com/office/drawing/2014/main" id="{499BA3A6-48F6-9740-B4BA-DF7F5CA75B34}"/>
                </a:ext>
              </a:extLst>
            </p:cNvPr>
            <p:cNvSpPr/>
            <p:nvPr/>
          </p:nvSpPr>
          <p:spPr>
            <a:xfrm>
              <a:off x="4055364" y="2196470"/>
              <a:ext cx="432048" cy="523553"/>
            </a:xfrm>
            <a:prstGeom prst="diagStripe">
              <a:avLst>
                <a:gd name="adj" fmla="val 62045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對角線條紋 5">
              <a:extLst>
                <a:ext uri="{FF2B5EF4-FFF2-40B4-BE49-F238E27FC236}">
                  <a16:creationId xmlns:a16="http://schemas.microsoft.com/office/drawing/2014/main" id="{B6DFFC8E-E69C-FD45-BA4B-876376234A70}"/>
                </a:ext>
              </a:extLst>
            </p:cNvPr>
            <p:cNvSpPr/>
            <p:nvPr/>
          </p:nvSpPr>
          <p:spPr>
            <a:xfrm>
              <a:off x="4061623" y="2347278"/>
              <a:ext cx="432047" cy="523552"/>
            </a:xfrm>
            <a:prstGeom prst="diagStripe">
              <a:avLst>
                <a:gd name="adj" fmla="val 55460"/>
              </a:avLst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727796" y="1861978"/>
            <a:ext cx="4427984" cy="530344"/>
          </a:xfrm>
        </p:spPr>
        <p:txBody>
          <a:bodyPr/>
          <a:lstStyle/>
          <a:p>
            <a:r>
              <a:rPr lang="en-US" altLang="ko-KR" dirty="0" smtClean="0"/>
              <a:t>Power management overview</a:t>
            </a:r>
            <a:endParaRPr lang="ko-KR" alt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716016" y="2726815"/>
            <a:ext cx="4427984" cy="288032"/>
          </a:xfrm>
        </p:spPr>
        <p:txBody>
          <a:bodyPr/>
          <a:lstStyle/>
          <a:p>
            <a:pPr lvl="0"/>
            <a:r>
              <a:rPr lang="en-US" altLang="ko-KR" dirty="0" smtClean="0"/>
              <a:t>2021/09/03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576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/>
              <a:t>Power management overview</a:t>
            </a:r>
          </a:p>
          <a:p>
            <a:r>
              <a:rPr lang="en-US" altLang="zh-TW" dirty="0" smtClean="0"/>
              <a:t>Power management (HW)</a:t>
            </a:r>
          </a:p>
          <a:p>
            <a:pPr lvl="1"/>
            <a:r>
              <a:rPr lang="en-US" altLang="zh-TW" dirty="0"/>
              <a:t>Ax45 power domain</a:t>
            </a:r>
          </a:p>
          <a:p>
            <a:pPr lvl="1"/>
            <a:r>
              <a:rPr lang="en-US" altLang="zh-TW" dirty="0"/>
              <a:t>Ax45 SMU </a:t>
            </a:r>
            <a:r>
              <a:rPr lang="en-US" altLang="zh-TW" dirty="0" smtClean="0"/>
              <a:t>registers</a:t>
            </a:r>
          </a:p>
          <a:p>
            <a:r>
              <a:rPr lang="en-US" altLang="zh-TW" dirty="0"/>
              <a:t>Power management </a:t>
            </a:r>
            <a:r>
              <a:rPr lang="en-US" altLang="zh-TW" dirty="0" smtClean="0"/>
              <a:t>(SW)</a:t>
            </a:r>
          </a:p>
          <a:p>
            <a:pPr lvl="1"/>
            <a:r>
              <a:rPr lang="en-US" altLang="zh-TW" sz="1800" dirty="0" err="1" smtClean="0"/>
              <a:t>OpenSBI</a:t>
            </a:r>
            <a:r>
              <a:rPr lang="en-US" altLang="zh-TW" sz="1800" dirty="0" smtClean="0"/>
              <a:t> SMU Driver</a:t>
            </a:r>
          </a:p>
          <a:p>
            <a:pPr lvl="2"/>
            <a:r>
              <a:rPr lang="en-US" altLang="zh-TW" sz="1600" dirty="0" smtClean="0"/>
              <a:t>Light sleep implementation</a:t>
            </a:r>
          </a:p>
          <a:p>
            <a:pPr lvl="2"/>
            <a:r>
              <a:rPr lang="en-US" altLang="zh-TW" sz="1600" dirty="0" smtClean="0"/>
              <a:t>Deep sleep implementation</a:t>
            </a:r>
            <a:endParaRPr lang="en-US" altLang="zh-TW" sz="1600" dirty="0"/>
          </a:p>
          <a:p>
            <a:pPr lvl="2"/>
            <a:r>
              <a:rPr lang="en-US" altLang="zh-TW" sz="1600" dirty="0" smtClean="0"/>
              <a:t>CPU hotplug implementation</a:t>
            </a:r>
          </a:p>
          <a:p>
            <a:pPr lvl="1"/>
            <a:r>
              <a:rPr lang="en-US" altLang="zh-TW" sz="1800" dirty="0" smtClean="0"/>
              <a:t>Power management interface</a:t>
            </a:r>
          </a:p>
          <a:p>
            <a:pPr lvl="1"/>
            <a:r>
              <a:rPr lang="en-US" altLang="zh-TW" sz="1800" dirty="0" smtClean="0"/>
              <a:t>Linux Power management framework</a:t>
            </a:r>
          </a:p>
          <a:p>
            <a:pPr lvl="1"/>
            <a:r>
              <a:rPr lang="en-US" altLang="zh-TW" sz="1800" dirty="0" smtClean="0"/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2813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b="1" dirty="0" smtClean="0">
                <a:solidFill>
                  <a:schemeClr val="accent2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(HW)</a:t>
            </a:r>
          </a:p>
          <a:p>
            <a:pPr lvl="1"/>
            <a:r>
              <a:rPr lang="en-US" altLang="zh-TW" sz="1800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sz="1800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  <a:endParaRPr lang="en-US" altLang="zh-TW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Power management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(SW)</a:t>
            </a:r>
          </a:p>
          <a:p>
            <a:pPr lvl="1"/>
            <a:r>
              <a:rPr lang="en-US" altLang="zh-TW" sz="1800" dirty="0" err="1" smtClean="0">
                <a:solidFill>
                  <a:schemeClr val="bg1">
                    <a:lumMod val="75000"/>
                  </a:schemeClr>
                </a:solidFill>
              </a:rPr>
              <a:t>OpenSBI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157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Why Power Management?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/>
              <a:t>Why need power management?</a:t>
            </a:r>
          </a:p>
          <a:p>
            <a:pPr lvl="1"/>
            <a:r>
              <a:rPr lang="en-US" altLang="zh-TW" dirty="0" smtClean="0"/>
              <a:t>Power/energy saving</a:t>
            </a:r>
          </a:p>
          <a:p>
            <a:pPr lvl="1"/>
            <a:r>
              <a:rPr lang="en-US" altLang="zh-TW" dirty="0"/>
              <a:t>temperature control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r>
              <a:rPr lang="en-US" altLang="zh-TW" dirty="0" smtClean="0"/>
              <a:t>application:</a:t>
            </a:r>
          </a:p>
          <a:p>
            <a:pPr lvl="1"/>
            <a:r>
              <a:rPr lang="en-US" altLang="zh-TW" dirty="0" smtClean="0"/>
              <a:t>Screen lock</a:t>
            </a:r>
          </a:p>
          <a:p>
            <a:pPr lvl="1"/>
            <a:r>
              <a:rPr lang="en-US" altLang="zh-TW" dirty="0" smtClean="0"/>
              <a:t>Hibernate</a:t>
            </a:r>
          </a:p>
          <a:p>
            <a:pPr lvl="1"/>
            <a:r>
              <a:rPr lang="en-US" altLang="zh-TW" dirty="0" smtClean="0"/>
              <a:t>CPU frequency reduce</a:t>
            </a:r>
            <a:br>
              <a:rPr lang="en-US" altLang="zh-TW" dirty="0" smtClean="0"/>
            </a:b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1028" name="Picture 4" descr="Power Saving Mode - Power Saving Mode下载| 安卓好玩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924" y="1347614"/>
            <a:ext cx="4909882" cy="327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86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Power Management Overview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/>
              <a:t>Power management:</a:t>
            </a:r>
          </a:p>
          <a:p>
            <a:pPr lvl="1"/>
            <a:r>
              <a:rPr lang="en-US" altLang="zh-TW" dirty="0" smtClean="0"/>
              <a:t>SW (Linux)</a:t>
            </a:r>
          </a:p>
          <a:p>
            <a:pPr lvl="2"/>
            <a:r>
              <a:rPr lang="en-US" altLang="zh-TW" dirty="0" smtClean="0"/>
              <a:t>U-mode: </a:t>
            </a:r>
          </a:p>
          <a:p>
            <a:pPr lvl="3"/>
            <a:r>
              <a:rPr lang="en-US" altLang="zh-TW" dirty="0" smtClean="0"/>
              <a:t>Linux </a:t>
            </a:r>
            <a:r>
              <a:rPr lang="en-US" altLang="zh-TW" dirty="0" err="1" smtClean="0"/>
              <a:t>sysfs</a:t>
            </a:r>
            <a:r>
              <a:rPr lang="en-US" altLang="zh-TW" dirty="0" smtClean="0"/>
              <a:t> command</a:t>
            </a:r>
            <a:endParaRPr lang="en-US" altLang="zh-TW" dirty="0"/>
          </a:p>
          <a:p>
            <a:pPr lvl="2"/>
            <a:r>
              <a:rPr lang="en-US" altLang="zh-TW" dirty="0" smtClean="0"/>
              <a:t>S-mode: </a:t>
            </a:r>
          </a:p>
          <a:p>
            <a:pPr lvl="3"/>
            <a:r>
              <a:rPr lang="en-US" altLang="zh-TW" dirty="0" smtClean="0"/>
              <a:t>Linux </a:t>
            </a:r>
            <a:r>
              <a:rPr lang="en-US" altLang="zh-TW" dirty="0"/>
              <a:t>Power management framework</a:t>
            </a:r>
          </a:p>
          <a:p>
            <a:pPr lvl="2"/>
            <a:r>
              <a:rPr lang="en-US" altLang="zh-TW" dirty="0" smtClean="0"/>
              <a:t>M-mode: </a:t>
            </a:r>
          </a:p>
          <a:p>
            <a:pPr lvl="3"/>
            <a:r>
              <a:rPr lang="en-US" altLang="zh-TW" dirty="0" smtClean="0"/>
              <a:t>architecture</a:t>
            </a:r>
            <a:r>
              <a:rPr lang="zh-TW" altLang="en-US" dirty="0" smtClean="0"/>
              <a:t> </a:t>
            </a:r>
            <a:r>
              <a:rPr lang="en-US" altLang="zh-TW" dirty="0" smtClean="0"/>
              <a:t>depend power </a:t>
            </a:r>
            <a:r>
              <a:rPr lang="en-US" altLang="zh-TW" dirty="0"/>
              <a:t>management </a:t>
            </a:r>
            <a:r>
              <a:rPr lang="en-US" altLang="zh-TW" dirty="0" smtClean="0"/>
              <a:t>framework</a:t>
            </a:r>
          </a:p>
          <a:p>
            <a:pPr lvl="4"/>
            <a:r>
              <a:rPr lang="en-US" altLang="zh-TW" dirty="0" err="1" smtClean="0"/>
              <a:t>OpenSBI</a:t>
            </a:r>
            <a:r>
              <a:rPr lang="en-US" altLang="zh-TW" dirty="0" smtClean="0"/>
              <a:t>(RISC-V), PSCI(ARM), ACPI(X86)</a:t>
            </a:r>
          </a:p>
          <a:p>
            <a:pPr lvl="1"/>
            <a:r>
              <a:rPr lang="en-US" altLang="zh-TW" dirty="0" smtClean="0"/>
              <a:t>HW</a:t>
            </a:r>
          </a:p>
          <a:p>
            <a:pPr lvl="2"/>
            <a:r>
              <a:rPr lang="en-US" altLang="zh-TW" dirty="0" smtClean="0"/>
              <a:t>PMIC (power manage IC)</a:t>
            </a:r>
          </a:p>
          <a:p>
            <a:pPr lvl="3"/>
            <a:r>
              <a:rPr lang="en-US" altLang="zh-TW" dirty="0" smtClean="0"/>
              <a:t>SMU (system management unit)</a:t>
            </a:r>
            <a:endParaRPr lang="en-US" altLang="zh-TW" dirty="0"/>
          </a:p>
          <a:p>
            <a:pPr lvl="3"/>
            <a:r>
              <a:rPr lang="en-US" altLang="zh-TW" dirty="0" smtClean="0"/>
              <a:t>PMU (power management unit)</a:t>
            </a:r>
          </a:p>
          <a:p>
            <a:pPr marL="1371566" lvl="3" indent="0">
              <a:buNone/>
            </a:pP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5" name="矩形 4"/>
          <p:cNvSpPr/>
          <p:nvPr/>
        </p:nvSpPr>
        <p:spPr>
          <a:xfrm>
            <a:off x="7020780" y="771550"/>
            <a:ext cx="1224136" cy="57606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sysfs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020780" y="1635646"/>
            <a:ext cx="1224136" cy="60757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PM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7020272" y="2498428"/>
            <a:ext cx="1224136" cy="5760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HSM</a:t>
            </a:r>
            <a:endParaRPr lang="zh-TW" altLang="en-US" dirty="0"/>
          </a:p>
        </p:txBody>
      </p:sp>
      <p:cxnSp>
        <p:nvCxnSpPr>
          <p:cNvPr id="13" name="直線接點 12"/>
          <p:cNvCxnSpPr/>
          <p:nvPr/>
        </p:nvCxnSpPr>
        <p:spPr>
          <a:xfrm>
            <a:off x="6588224" y="3219822"/>
            <a:ext cx="25396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026325" y="3354851"/>
            <a:ext cx="1224136" cy="5760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SMU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7502169" y="4124314"/>
            <a:ext cx="720080" cy="5760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mem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388423" y="4124314"/>
            <a:ext cx="739417" cy="5760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bus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615915" y="4124314"/>
            <a:ext cx="720080" cy="5760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cpu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5652120" y="4124314"/>
            <a:ext cx="813781" cy="5760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Peripheral device</a:t>
            </a:r>
            <a:endParaRPr lang="zh-TW" altLang="en-US" sz="1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8630453" y="285049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sw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8604448" y="314781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h</a:t>
            </a:r>
            <a:r>
              <a:rPr lang="en-US" altLang="zh-TW" dirty="0" err="1" smtClean="0"/>
              <a:t>w</a:t>
            </a:r>
            <a:endParaRPr lang="zh-TW" altLang="en-US" dirty="0"/>
          </a:p>
        </p:txBody>
      </p:sp>
      <p:cxnSp>
        <p:nvCxnSpPr>
          <p:cNvPr id="23" name="直線單箭頭接點 22"/>
          <p:cNvCxnSpPr>
            <a:stCxn id="15" idx="2"/>
          </p:cNvCxnSpPr>
          <p:nvPr/>
        </p:nvCxnSpPr>
        <p:spPr>
          <a:xfrm flipH="1">
            <a:off x="6059010" y="3930915"/>
            <a:ext cx="1579383" cy="183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5" idx="2"/>
            <a:endCxn id="18" idx="0"/>
          </p:cNvCxnSpPr>
          <p:nvPr/>
        </p:nvCxnSpPr>
        <p:spPr>
          <a:xfrm flipH="1">
            <a:off x="6975955" y="3930915"/>
            <a:ext cx="662438" cy="19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5" idx="2"/>
            <a:endCxn id="16" idx="0"/>
          </p:cNvCxnSpPr>
          <p:nvPr/>
        </p:nvCxnSpPr>
        <p:spPr>
          <a:xfrm>
            <a:off x="7638393" y="3930915"/>
            <a:ext cx="223816" cy="19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5" idx="2"/>
            <a:endCxn id="17" idx="0"/>
          </p:cNvCxnSpPr>
          <p:nvPr/>
        </p:nvCxnSpPr>
        <p:spPr>
          <a:xfrm>
            <a:off x="7638393" y="3930915"/>
            <a:ext cx="1119739" cy="19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5" idx="2"/>
            <a:endCxn id="11" idx="0"/>
          </p:cNvCxnSpPr>
          <p:nvPr/>
        </p:nvCxnSpPr>
        <p:spPr>
          <a:xfrm>
            <a:off x="7632848" y="1347614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11" idx="2"/>
            <a:endCxn id="12" idx="0"/>
          </p:cNvCxnSpPr>
          <p:nvPr/>
        </p:nvCxnSpPr>
        <p:spPr>
          <a:xfrm flipH="1">
            <a:off x="7632340" y="2243220"/>
            <a:ext cx="508" cy="255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12" idx="2"/>
            <a:endCxn id="15" idx="0"/>
          </p:cNvCxnSpPr>
          <p:nvPr/>
        </p:nvCxnSpPr>
        <p:spPr>
          <a:xfrm>
            <a:off x="7632340" y="3074492"/>
            <a:ext cx="6053" cy="280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06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b="1" dirty="0" smtClean="0">
                <a:solidFill>
                  <a:schemeClr val="accent2"/>
                </a:solidFill>
              </a:rPr>
              <a:t>Power management (HW)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  <a:endParaRPr lang="en-US" altLang="zh-TW" b="1" dirty="0" smtClean="0">
              <a:solidFill>
                <a:schemeClr val="accent2"/>
              </a:solidFill>
            </a:endParaRP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Power management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(SW)</a:t>
            </a:r>
          </a:p>
          <a:p>
            <a:pPr lvl="1"/>
            <a:r>
              <a:rPr lang="en-US" altLang="zh-TW" sz="1800" dirty="0" err="1" smtClean="0">
                <a:solidFill>
                  <a:schemeClr val="bg1">
                    <a:lumMod val="75000"/>
                  </a:schemeClr>
                </a:solidFill>
              </a:rPr>
              <a:t>OpenSBI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8954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Power management IC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/>
              <a:t>PMIC (power management</a:t>
            </a:r>
            <a:r>
              <a:rPr lang="en-US" altLang="zh-TW" dirty="0" smtClean="0"/>
              <a:t> </a:t>
            </a:r>
            <a:r>
              <a:rPr lang="en-US" altLang="zh-TW" dirty="0"/>
              <a:t>IC)</a:t>
            </a:r>
          </a:p>
          <a:p>
            <a:pPr lvl="1"/>
            <a:r>
              <a:rPr lang="en-US" altLang="zh-TW" dirty="0"/>
              <a:t>SMU (system management unit)</a:t>
            </a:r>
          </a:p>
          <a:p>
            <a:pPr lvl="1"/>
            <a:r>
              <a:rPr lang="en-US" altLang="zh-TW" dirty="0"/>
              <a:t>PMU (power management unit)</a:t>
            </a:r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923678"/>
            <a:ext cx="5867374" cy="281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2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Power management IC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2601" y="627534"/>
            <a:ext cx="5099479" cy="4230497"/>
          </a:xfrm>
        </p:spPr>
        <p:txBody>
          <a:bodyPr/>
          <a:lstStyle/>
          <a:p>
            <a:r>
              <a:rPr lang="en-US" altLang="zh-TW" dirty="0"/>
              <a:t>PMIC (power manage IC)</a:t>
            </a:r>
          </a:p>
          <a:p>
            <a:pPr lvl="1"/>
            <a:r>
              <a:rPr lang="en-US" altLang="zh-TW" dirty="0"/>
              <a:t>SMU (system management unit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Clock setting</a:t>
            </a:r>
            <a:endParaRPr lang="en-US" altLang="zh-TW" dirty="0"/>
          </a:p>
          <a:p>
            <a:pPr lvl="2"/>
            <a:r>
              <a:rPr lang="en-US" altLang="zh-TW" dirty="0"/>
              <a:t>PMU (power management unit</a:t>
            </a:r>
            <a:r>
              <a:rPr lang="en-US" altLang="zh-TW" dirty="0" smtClean="0"/>
              <a:t>)</a:t>
            </a:r>
          </a:p>
          <a:p>
            <a:pPr lvl="3"/>
            <a:r>
              <a:rPr lang="en-US" altLang="zh-TW" dirty="0" smtClean="0"/>
              <a:t>Provide different voltage to different devices</a:t>
            </a:r>
          </a:p>
          <a:p>
            <a:pPr lvl="4"/>
            <a:r>
              <a:rPr lang="en-US" altLang="zh-TW" dirty="0" err="1" smtClean="0"/>
              <a:t>Cpu</a:t>
            </a:r>
            <a:r>
              <a:rPr lang="en-US" altLang="zh-TW" dirty="0" smtClean="0"/>
              <a:t>, camera, </a:t>
            </a:r>
            <a:r>
              <a:rPr lang="en-US" altLang="zh-TW" dirty="0" err="1" smtClean="0"/>
              <a:t>usb</a:t>
            </a:r>
            <a:r>
              <a:rPr lang="en-US" altLang="zh-TW" dirty="0" smtClean="0"/>
              <a:t> …..</a:t>
            </a:r>
          </a:p>
          <a:p>
            <a:pPr lvl="3"/>
            <a:r>
              <a:rPr lang="en-US" altLang="zh-TW" dirty="0" smtClean="0"/>
              <a:t>Core reset</a:t>
            </a:r>
          </a:p>
          <a:p>
            <a:pPr lvl="3"/>
            <a:r>
              <a:rPr lang="en-US" altLang="zh-TW" dirty="0" smtClean="0"/>
              <a:t>Clock frequency adjustment.</a:t>
            </a:r>
          </a:p>
          <a:p>
            <a:pPr lvl="3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962" y="1277409"/>
            <a:ext cx="3412285" cy="293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8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Ax45 SMU Block diagram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83518"/>
            <a:ext cx="8424936" cy="465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4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Ax45 SMU Block diagram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61318" y="627534"/>
            <a:ext cx="3916508" cy="4230497"/>
          </a:xfrm>
        </p:spPr>
        <p:txBody>
          <a:bodyPr/>
          <a:lstStyle/>
          <a:p>
            <a:r>
              <a:rPr lang="en-US" altLang="zh-TW" dirty="0" smtClean="0"/>
              <a:t>HW</a:t>
            </a:r>
          </a:p>
          <a:p>
            <a:pPr lvl="1"/>
            <a:r>
              <a:rPr lang="en-US" altLang="zh-TW" sz="1400" dirty="0" smtClean="0"/>
              <a:t>CPU region</a:t>
            </a:r>
          </a:p>
          <a:p>
            <a:pPr lvl="2"/>
            <a:r>
              <a:rPr lang="en-US" altLang="zh-TW" sz="1400" dirty="0" smtClean="0"/>
              <a:t>CPU </a:t>
            </a:r>
          </a:p>
          <a:p>
            <a:pPr lvl="2"/>
            <a:r>
              <a:rPr lang="en-US" altLang="zh-TW" sz="1400" dirty="0" smtClean="0"/>
              <a:t>L1</a:t>
            </a:r>
          </a:p>
          <a:p>
            <a:pPr lvl="2"/>
            <a:r>
              <a:rPr lang="en-US" altLang="zh-TW" sz="1400" dirty="0" smtClean="0"/>
              <a:t>L2</a:t>
            </a:r>
          </a:p>
          <a:p>
            <a:pPr marL="914378" lvl="2" indent="0">
              <a:buNone/>
            </a:pPr>
            <a:endParaRPr lang="en-US" altLang="zh-TW" sz="1200" dirty="0" smtClean="0"/>
          </a:p>
          <a:p>
            <a:pPr lvl="3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41209"/>
            <a:ext cx="4910721" cy="447204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0597" y="843558"/>
            <a:ext cx="3744416" cy="538709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583668" y="597046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smtClean="0">
                <a:solidFill>
                  <a:srgbClr val="FF00FF"/>
                </a:solidFill>
              </a:rPr>
              <a:t>CPU region</a:t>
            </a:r>
            <a:endParaRPr lang="zh-TW" altLang="en-US" sz="1200" b="1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4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Ax45 SMU Block diagram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61318" y="627534"/>
            <a:ext cx="3916508" cy="4230497"/>
          </a:xfrm>
        </p:spPr>
        <p:txBody>
          <a:bodyPr/>
          <a:lstStyle/>
          <a:p>
            <a:r>
              <a:rPr lang="en-US" altLang="zh-TW" dirty="0" smtClean="0"/>
              <a:t>HW</a:t>
            </a:r>
          </a:p>
          <a:p>
            <a:pPr lvl="1"/>
            <a:r>
              <a:rPr lang="en-US" altLang="zh-TW" sz="1400" dirty="0" smtClean="0"/>
              <a:t>CPU region</a:t>
            </a:r>
          </a:p>
          <a:p>
            <a:pPr lvl="2"/>
            <a:r>
              <a:rPr lang="en-US" altLang="zh-TW" sz="1400" dirty="0" smtClean="0"/>
              <a:t>CPU </a:t>
            </a:r>
          </a:p>
          <a:p>
            <a:pPr lvl="2"/>
            <a:r>
              <a:rPr lang="en-US" altLang="zh-TW" sz="1400" dirty="0" smtClean="0"/>
              <a:t>L1</a:t>
            </a:r>
          </a:p>
          <a:p>
            <a:pPr lvl="2"/>
            <a:r>
              <a:rPr lang="en-US" altLang="zh-TW" sz="1400" dirty="0" smtClean="0"/>
              <a:t>L2</a:t>
            </a:r>
          </a:p>
          <a:p>
            <a:pPr lvl="1"/>
            <a:r>
              <a:rPr lang="en-US" altLang="zh-TW" sz="1400" dirty="0" smtClean="0"/>
              <a:t>Debug region</a:t>
            </a:r>
          </a:p>
          <a:p>
            <a:pPr lvl="2"/>
            <a:r>
              <a:rPr lang="en-US" altLang="zh-TW" sz="1200" dirty="0" smtClean="0"/>
              <a:t>Debug module</a:t>
            </a:r>
          </a:p>
          <a:p>
            <a:pPr marL="914378" lvl="2" indent="0">
              <a:buNone/>
            </a:pPr>
            <a:endParaRPr lang="en-US" altLang="zh-TW" sz="1200" dirty="0" smtClean="0"/>
          </a:p>
          <a:p>
            <a:pPr lvl="3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41209"/>
            <a:ext cx="4910721" cy="447204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0597" y="843558"/>
            <a:ext cx="3744416" cy="538709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583668" y="597046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smtClean="0">
                <a:solidFill>
                  <a:srgbClr val="FF00FF"/>
                </a:solidFill>
              </a:rPr>
              <a:t>CPU region</a:t>
            </a:r>
            <a:endParaRPr lang="zh-TW" altLang="en-US" sz="1200" b="1" dirty="0">
              <a:solidFill>
                <a:srgbClr val="FF00FF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40521" y="1413429"/>
            <a:ext cx="448229" cy="29422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010339" y="1389226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3366FF"/>
                </a:solidFill>
              </a:rPr>
              <a:t>Debug region</a:t>
            </a:r>
            <a:endParaRPr lang="zh-TW" altLang="en-US" sz="1200" b="1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99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Ax45 SMU Block diagram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61318" y="627534"/>
            <a:ext cx="3916508" cy="4230497"/>
          </a:xfrm>
        </p:spPr>
        <p:txBody>
          <a:bodyPr/>
          <a:lstStyle/>
          <a:p>
            <a:r>
              <a:rPr lang="en-US" altLang="zh-TW" dirty="0" smtClean="0"/>
              <a:t>HW</a:t>
            </a:r>
          </a:p>
          <a:p>
            <a:pPr lvl="1"/>
            <a:r>
              <a:rPr lang="en-US" altLang="zh-TW" sz="1400" dirty="0" smtClean="0"/>
              <a:t>CPU region</a:t>
            </a:r>
          </a:p>
          <a:p>
            <a:pPr lvl="2"/>
            <a:r>
              <a:rPr lang="en-US" altLang="zh-TW" sz="1400" dirty="0" smtClean="0"/>
              <a:t>CPU </a:t>
            </a:r>
          </a:p>
          <a:p>
            <a:pPr lvl="2"/>
            <a:r>
              <a:rPr lang="en-US" altLang="zh-TW" sz="1400" dirty="0" smtClean="0"/>
              <a:t>L1</a:t>
            </a:r>
          </a:p>
          <a:p>
            <a:pPr lvl="2"/>
            <a:r>
              <a:rPr lang="en-US" altLang="zh-TW" sz="1400" dirty="0" smtClean="0"/>
              <a:t>L2</a:t>
            </a:r>
          </a:p>
          <a:p>
            <a:pPr lvl="1"/>
            <a:r>
              <a:rPr lang="en-US" altLang="zh-TW" sz="1400" dirty="0" smtClean="0"/>
              <a:t>Debug region</a:t>
            </a:r>
          </a:p>
          <a:p>
            <a:pPr lvl="2"/>
            <a:r>
              <a:rPr lang="en-US" altLang="zh-TW" sz="1200" dirty="0" smtClean="0"/>
              <a:t>Debug module</a:t>
            </a:r>
          </a:p>
          <a:p>
            <a:pPr lvl="1"/>
            <a:r>
              <a:rPr lang="en-US" altLang="zh-TW" sz="1400" dirty="0"/>
              <a:t>Mem &amp; device &amp; bus region</a:t>
            </a:r>
          </a:p>
          <a:p>
            <a:pPr lvl="2"/>
            <a:r>
              <a:rPr lang="en-US" altLang="zh-TW" sz="1400" dirty="0"/>
              <a:t>Memory subsystem</a:t>
            </a:r>
          </a:p>
          <a:p>
            <a:pPr lvl="2"/>
            <a:r>
              <a:rPr lang="en-US" altLang="zh-TW" sz="1400" dirty="0"/>
              <a:t>AXI/AHB/APB Bus</a:t>
            </a:r>
          </a:p>
          <a:p>
            <a:pPr lvl="2"/>
            <a:r>
              <a:rPr lang="en-US" altLang="zh-TW" sz="1400" dirty="0"/>
              <a:t>Peripheral devices</a:t>
            </a:r>
          </a:p>
          <a:p>
            <a:pPr lvl="2"/>
            <a:endParaRPr lang="en-US" altLang="zh-TW" sz="1200" dirty="0" smtClean="0"/>
          </a:p>
          <a:p>
            <a:pPr lvl="3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41209"/>
            <a:ext cx="4910721" cy="447204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0597" y="843558"/>
            <a:ext cx="3744416" cy="538709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583668" y="597046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smtClean="0">
                <a:solidFill>
                  <a:srgbClr val="FF00FF"/>
                </a:solidFill>
              </a:rPr>
              <a:t>CPU region</a:t>
            </a:r>
            <a:endParaRPr lang="zh-TW" altLang="en-US" sz="1200" b="1" dirty="0">
              <a:solidFill>
                <a:srgbClr val="FF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597" y="1707654"/>
            <a:ext cx="3134448" cy="302433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14320" y="2500271"/>
            <a:ext cx="2300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7030A0"/>
                </a:solidFill>
              </a:rPr>
              <a:t>mem &amp;</a:t>
            </a:r>
            <a:r>
              <a:rPr lang="zh-TW" altLang="en-US" sz="1200" b="1" dirty="0" smtClean="0">
                <a:solidFill>
                  <a:srgbClr val="7030A0"/>
                </a:solidFill>
              </a:rPr>
              <a:t> </a:t>
            </a:r>
            <a:r>
              <a:rPr lang="en-US" altLang="zh-TW" sz="1200" b="1" dirty="0">
                <a:solidFill>
                  <a:srgbClr val="7030A0"/>
                </a:solidFill>
              </a:rPr>
              <a:t>device </a:t>
            </a:r>
            <a:r>
              <a:rPr lang="en-US" altLang="zh-TW" sz="1200" b="1" dirty="0" smtClean="0">
                <a:solidFill>
                  <a:srgbClr val="7030A0"/>
                </a:solidFill>
              </a:rPr>
              <a:t>&amp;</a:t>
            </a:r>
            <a:r>
              <a:rPr lang="zh-TW" altLang="en-US" sz="1200" b="1" dirty="0" smtClean="0">
                <a:solidFill>
                  <a:srgbClr val="7030A0"/>
                </a:solidFill>
              </a:rPr>
              <a:t> </a:t>
            </a:r>
            <a:r>
              <a:rPr lang="en-US" altLang="zh-TW" sz="1200" b="1" dirty="0" smtClean="0">
                <a:solidFill>
                  <a:srgbClr val="7030A0"/>
                </a:solidFill>
              </a:rPr>
              <a:t>bus region</a:t>
            </a:r>
            <a:endParaRPr lang="zh-TW" altLang="en-US" sz="1200" b="1" dirty="0">
              <a:solidFill>
                <a:srgbClr val="7030A0"/>
              </a:solidFill>
            </a:endParaRPr>
          </a:p>
          <a:p>
            <a:endParaRPr lang="zh-TW" altLang="en-US" sz="1200" b="1" dirty="0">
              <a:solidFill>
                <a:srgbClr val="7030A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40521" y="1413429"/>
            <a:ext cx="448229" cy="29422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010339" y="1389226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3366FF"/>
                </a:solidFill>
              </a:rPr>
              <a:t>Debug region</a:t>
            </a:r>
            <a:endParaRPr lang="zh-TW" altLang="en-US" sz="1200" b="1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01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Ax45 SMU Block diagram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61318" y="627534"/>
            <a:ext cx="3916508" cy="4230497"/>
          </a:xfrm>
        </p:spPr>
        <p:txBody>
          <a:bodyPr/>
          <a:lstStyle/>
          <a:p>
            <a:r>
              <a:rPr lang="en-US" altLang="zh-TW" dirty="0" smtClean="0"/>
              <a:t>HW</a:t>
            </a:r>
          </a:p>
          <a:p>
            <a:pPr lvl="1"/>
            <a:r>
              <a:rPr lang="en-US" altLang="zh-TW" sz="1400" dirty="0" smtClean="0"/>
              <a:t>CPU region</a:t>
            </a:r>
          </a:p>
          <a:p>
            <a:pPr lvl="2"/>
            <a:r>
              <a:rPr lang="en-US" altLang="zh-TW" sz="1400" dirty="0" smtClean="0"/>
              <a:t>CPU </a:t>
            </a:r>
          </a:p>
          <a:p>
            <a:pPr lvl="2"/>
            <a:r>
              <a:rPr lang="en-US" altLang="zh-TW" sz="1400" dirty="0" smtClean="0"/>
              <a:t>L1</a:t>
            </a:r>
          </a:p>
          <a:p>
            <a:pPr lvl="2"/>
            <a:r>
              <a:rPr lang="en-US" altLang="zh-TW" sz="1400" dirty="0" smtClean="0"/>
              <a:t>L2</a:t>
            </a:r>
          </a:p>
          <a:p>
            <a:pPr lvl="1"/>
            <a:r>
              <a:rPr lang="en-US" altLang="zh-TW" sz="1400" dirty="0" smtClean="0"/>
              <a:t>Debug region</a:t>
            </a:r>
          </a:p>
          <a:p>
            <a:pPr lvl="2"/>
            <a:r>
              <a:rPr lang="en-US" altLang="zh-TW" sz="1200" dirty="0" smtClean="0"/>
              <a:t>Debug module</a:t>
            </a:r>
          </a:p>
          <a:p>
            <a:pPr lvl="1"/>
            <a:r>
              <a:rPr lang="en-US" altLang="zh-TW" sz="1400" dirty="0"/>
              <a:t>Mem &amp; device &amp; bus region</a:t>
            </a:r>
          </a:p>
          <a:p>
            <a:pPr lvl="2"/>
            <a:r>
              <a:rPr lang="en-US" altLang="zh-TW" sz="1400" dirty="0"/>
              <a:t>Memory subsystem</a:t>
            </a:r>
          </a:p>
          <a:p>
            <a:pPr lvl="2"/>
            <a:r>
              <a:rPr lang="en-US" altLang="zh-TW" sz="1400" dirty="0"/>
              <a:t>AXI/AHB/APB Bus</a:t>
            </a:r>
          </a:p>
          <a:p>
            <a:pPr lvl="2"/>
            <a:r>
              <a:rPr lang="en-US" altLang="zh-TW" sz="1400" dirty="0"/>
              <a:t>Peripheral </a:t>
            </a:r>
            <a:r>
              <a:rPr lang="en-US" altLang="zh-TW" sz="1400" dirty="0" smtClean="0"/>
              <a:t>devices</a:t>
            </a:r>
            <a:endParaRPr lang="en-US" altLang="zh-TW" sz="1200" dirty="0" smtClean="0"/>
          </a:p>
          <a:p>
            <a:pPr lvl="1"/>
            <a:r>
              <a:rPr lang="en-US" altLang="zh-TW" sz="1400" dirty="0" smtClean="0"/>
              <a:t>Always on region (AOPD)</a:t>
            </a:r>
          </a:p>
          <a:p>
            <a:pPr lvl="2"/>
            <a:r>
              <a:rPr lang="en-US" altLang="zh-TW" sz="1200" dirty="0" smtClean="0"/>
              <a:t>RTC</a:t>
            </a:r>
          </a:p>
          <a:p>
            <a:pPr lvl="2"/>
            <a:r>
              <a:rPr lang="en-US" altLang="zh-TW" sz="1200" dirty="0" smtClean="0"/>
              <a:t>WDT</a:t>
            </a:r>
          </a:p>
          <a:p>
            <a:pPr lvl="2"/>
            <a:endParaRPr lang="en-US" altLang="zh-TW" sz="1200" dirty="0" smtClean="0"/>
          </a:p>
          <a:p>
            <a:pPr lvl="3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41209"/>
            <a:ext cx="4910721" cy="447204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90957" y="3795886"/>
            <a:ext cx="1440160" cy="9361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50597" y="843558"/>
            <a:ext cx="3744416" cy="538709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583668" y="597046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smtClean="0">
                <a:solidFill>
                  <a:srgbClr val="FF00FF"/>
                </a:solidFill>
              </a:rPr>
              <a:t>CPU region</a:t>
            </a:r>
            <a:endParaRPr lang="zh-TW" altLang="en-US" sz="1200" b="1" dirty="0">
              <a:solidFill>
                <a:srgbClr val="FF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400146" y="3477366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597" y="1707654"/>
            <a:ext cx="3134448" cy="302433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14320" y="2500271"/>
            <a:ext cx="2300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7030A0"/>
                </a:solidFill>
              </a:rPr>
              <a:t>mem &amp;</a:t>
            </a:r>
            <a:r>
              <a:rPr lang="zh-TW" altLang="en-US" sz="1200" b="1" dirty="0" smtClean="0">
                <a:solidFill>
                  <a:srgbClr val="7030A0"/>
                </a:solidFill>
              </a:rPr>
              <a:t> </a:t>
            </a:r>
            <a:r>
              <a:rPr lang="en-US" altLang="zh-TW" sz="1200" b="1" dirty="0">
                <a:solidFill>
                  <a:srgbClr val="7030A0"/>
                </a:solidFill>
              </a:rPr>
              <a:t>device </a:t>
            </a:r>
            <a:r>
              <a:rPr lang="en-US" altLang="zh-TW" sz="1200" b="1" dirty="0" smtClean="0">
                <a:solidFill>
                  <a:srgbClr val="7030A0"/>
                </a:solidFill>
              </a:rPr>
              <a:t>&amp;</a:t>
            </a:r>
            <a:r>
              <a:rPr lang="zh-TW" altLang="en-US" sz="1200" b="1" dirty="0" smtClean="0">
                <a:solidFill>
                  <a:srgbClr val="7030A0"/>
                </a:solidFill>
              </a:rPr>
              <a:t> </a:t>
            </a:r>
            <a:r>
              <a:rPr lang="en-US" altLang="zh-TW" sz="1200" b="1" dirty="0" smtClean="0">
                <a:solidFill>
                  <a:srgbClr val="7030A0"/>
                </a:solidFill>
              </a:rPr>
              <a:t>bus region</a:t>
            </a:r>
            <a:endParaRPr lang="zh-TW" altLang="en-US" sz="1200" b="1" dirty="0">
              <a:solidFill>
                <a:srgbClr val="7030A0"/>
              </a:solidFill>
            </a:endParaRPr>
          </a:p>
          <a:p>
            <a:endParaRPr lang="zh-TW" altLang="en-US" sz="1200" b="1" dirty="0">
              <a:solidFill>
                <a:srgbClr val="7030A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7972" y="1420350"/>
            <a:ext cx="1405696" cy="2873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77972" y="1502040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40521" y="1413429"/>
            <a:ext cx="448229" cy="29422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010339" y="1389226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3366FF"/>
                </a:solidFill>
              </a:rPr>
              <a:t>Debug region</a:t>
            </a:r>
            <a:endParaRPr lang="zh-TW" altLang="en-US" sz="1200" b="1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73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Ax45 SMU Block diagram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61318" y="627534"/>
            <a:ext cx="3916508" cy="4230497"/>
          </a:xfrm>
        </p:spPr>
        <p:txBody>
          <a:bodyPr/>
          <a:lstStyle/>
          <a:p>
            <a:r>
              <a:rPr lang="en-US" altLang="zh-TW" dirty="0" smtClean="0"/>
              <a:t>HW</a:t>
            </a:r>
          </a:p>
          <a:p>
            <a:pPr lvl="1"/>
            <a:r>
              <a:rPr lang="en-US" altLang="zh-TW" sz="1400" dirty="0" smtClean="0"/>
              <a:t>CPU region</a:t>
            </a:r>
          </a:p>
          <a:p>
            <a:pPr lvl="2"/>
            <a:r>
              <a:rPr lang="en-US" altLang="zh-TW" sz="1400" dirty="0" smtClean="0"/>
              <a:t>CPU </a:t>
            </a:r>
          </a:p>
          <a:p>
            <a:pPr lvl="2"/>
            <a:r>
              <a:rPr lang="en-US" altLang="zh-TW" sz="1400" dirty="0" smtClean="0"/>
              <a:t>L1</a:t>
            </a:r>
          </a:p>
          <a:p>
            <a:pPr lvl="2"/>
            <a:r>
              <a:rPr lang="en-US" altLang="zh-TW" sz="1400" dirty="0" smtClean="0"/>
              <a:t>L2</a:t>
            </a:r>
          </a:p>
          <a:p>
            <a:pPr lvl="1"/>
            <a:r>
              <a:rPr lang="en-US" altLang="zh-TW" sz="1400" dirty="0" smtClean="0"/>
              <a:t>Debug region</a:t>
            </a:r>
          </a:p>
          <a:p>
            <a:pPr lvl="2"/>
            <a:r>
              <a:rPr lang="en-US" altLang="zh-TW" sz="1200" dirty="0" smtClean="0"/>
              <a:t>Debug module</a:t>
            </a:r>
          </a:p>
          <a:p>
            <a:pPr lvl="1"/>
            <a:r>
              <a:rPr lang="en-US" altLang="zh-TW" sz="1400" dirty="0"/>
              <a:t>Mem &amp; device &amp; bus region</a:t>
            </a:r>
          </a:p>
          <a:p>
            <a:pPr lvl="2"/>
            <a:r>
              <a:rPr lang="en-US" altLang="zh-TW" sz="1400" dirty="0"/>
              <a:t>Memory subsystem</a:t>
            </a:r>
          </a:p>
          <a:p>
            <a:pPr lvl="2"/>
            <a:r>
              <a:rPr lang="en-US" altLang="zh-TW" sz="1400" dirty="0"/>
              <a:t>AXI/AHB/APB Bus</a:t>
            </a:r>
          </a:p>
          <a:p>
            <a:pPr lvl="2"/>
            <a:r>
              <a:rPr lang="en-US" altLang="zh-TW" sz="1400" dirty="0"/>
              <a:t>Peripheral </a:t>
            </a:r>
            <a:r>
              <a:rPr lang="en-US" altLang="zh-TW" sz="1400" dirty="0" smtClean="0"/>
              <a:t>devices</a:t>
            </a:r>
            <a:endParaRPr lang="en-US" altLang="zh-TW" sz="1200" dirty="0" smtClean="0"/>
          </a:p>
          <a:p>
            <a:pPr lvl="1"/>
            <a:r>
              <a:rPr lang="en-US" altLang="zh-TW" sz="1400" dirty="0" smtClean="0"/>
              <a:t>Always on region (AOPD)</a:t>
            </a:r>
          </a:p>
          <a:p>
            <a:pPr lvl="2"/>
            <a:r>
              <a:rPr lang="en-US" altLang="zh-TW" sz="1200" b="1" dirty="0" smtClean="0">
                <a:solidFill>
                  <a:srgbClr val="FF0000"/>
                </a:solidFill>
              </a:rPr>
              <a:t>SMU</a:t>
            </a:r>
          </a:p>
          <a:p>
            <a:pPr lvl="2"/>
            <a:r>
              <a:rPr lang="en-US" altLang="zh-TW" sz="1200" dirty="0" smtClean="0"/>
              <a:t>RTC</a:t>
            </a:r>
          </a:p>
          <a:p>
            <a:pPr lvl="2"/>
            <a:r>
              <a:rPr lang="en-US" altLang="zh-TW" sz="1200" dirty="0" smtClean="0"/>
              <a:t>WDT</a:t>
            </a:r>
          </a:p>
          <a:p>
            <a:pPr lvl="2"/>
            <a:endParaRPr lang="en-US" altLang="zh-TW" sz="1200" dirty="0" smtClean="0"/>
          </a:p>
          <a:p>
            <a:pPr lvl="3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41209"/>
            <a:ext cx="4910721" cy="447204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90957" y="3795886"/>
            <a:ext cx="1440160" cy="9361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50597" y="843558"/>
            <a:ext cx="3744416" cy="538709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583668" y="597046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smtClean="0">
                <a:solidFill>
                  <a:srgbClr val="FF00FF"/>
                </a:solidFill>
              </a:rPr>
              <a:t>CPU region</a:t>
            </a:r>
            <a:endParaRPr lang="zh-TW" altLang="en-US" sz="1200" b="1" dirty="0">
              <a:solidFill>
                <a:srgbClr val="FF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400146" y="3477366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597" y="1707654"/>
            <a:ext cx="3134448" cy="302433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14320" y="2500271"/>
            <a:ext cx="2300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7030A0"/>
                </a:solidFill>
              </a:rPr>
              <a:t>mem &amp;</a:t>
            </a:r>
            <a:r>
              <a:rPr lang="zh-TW" altLang="en-US" sz="1200" b="1" dirty="0" smtClean="0">
                <a:solidFill>
                  <a:srgbClr val="7030A0"/>
                </a:solidFill>
              </a:rPr>
              <a:t> </a:t>
            </a:r>
            <a:r>
              <a:rPr lang="en-US" altLang="zh-TW" sz="1200" b="1" dirty="0">
                <a:solidFill>
                  <a:srgbClr val="7030A0"/>
                </a:solidFill>
              </a:rPr>
              <a:t>device </a:t>
            </a:r>
            <a:r>
              <a:rPr lang="en-US" altLang="zh-TW" sz="1200" b="1" dirty="0" smtClean="0">
                <a:solidFill>
                  <a:srgbClr val="7030A0"/>
                </a:solidFill>
              </a:rPr>
              <a:t>&amp;</a:t>
            </a:r>
            <a:r>
              <a:rPr lang="zh-TW" altLang="en-US" sz="1200" b="1" dirty="0" smtClean="0">
                <a:solidFill>
                  <a:srgbClr val="7030A0"/>
                </a:solidFill>
              </a:rPr>
              <a:t> </a:t>
            </a:r>
            <a:r>
              <a:rPr lang="en-US" altLang="zh-TW" sz="1200" b="1" dirty="0" smtClean="0">
                <a:solidFill>
                  <a:srgbClr val="7030A0"/>
                </a:solidFill>
              </a:rPr>
              <a:t>bus region</a:t>
            </a:r>
            <a:endParaRPr lang="zh-TW" altLang="en-US" sz="1200" b="1" dirty="0">
              <a:solidFill>
                <a:srgbClr val="7030A0"/>
              </a:solidFill>
            </a:endParaRPr>
          </a:p>
          <a:p>
            <a:endParaRPr lang="zh-TW" altLang="en-US" sz="1200" b="1" dirty="0">
              <a:solidFill>
                <a:srgbClr val="7030A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46784" y="4293749"/>
            <a:ext cx="448229" cy="294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3400146" y="4599767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00"/>
                </a:solidFill>
              </a:rPr>
              <a:t>SMU</a:t>
            </a:r>
            <a:endParaRPr lang="zh-TW" alt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7972" y="1420350"/>
            <a:ext cx="1405696" cy="2873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77972" y="1502040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40521" y="1413429"/>
            <a:ext cx="448229" cy="29422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010339" y="1389226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3366FF"/>
                </a:solidFill>
              </a:rPr>
              <a:t>Debug region</a:t>
            </a:r>
            <a:endParaRPr lang="zh-TW" altLang="en-US" sz="1200" b="1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72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b="1" dirty="0" smtClean="0">
                <a:solidFill>
                  <a:schemeClr val="accent2"/>
                </a:solidFill>
              </a:rPr>
              <a:t>Power management (HW)</a:t>
            </a:r>
          </a:p>
          <a:p>
            <a:pPr lvl="1"/>
            <a:r>
              <a:rPr lang="en-US" altLang="zh-TW" b="1" dirty="0">
                <a:solidFill>
                  <a:schemeClr val="accent2"/>
                </a:solidFill>
              </a:rPr>
              <a:t>Ax45 power domain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  <a:endParaRPr lang="en-US" altLang="zh-TW" b="1" dirty="0" smtClean="0">
              <a:solidFill>
                <a:schemeClr val="accent2"/>
              </a:solidFill>
            </a:endParaRP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Power management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(SW)</a:t>
            </a:r>
          </a:p>
          <a:p>
            <a:pPr lvl="1"/>
            <a:r>
              <a:rPr lang="en-US" altLang="zh-TW" sz="1800" dirty="0" err="1" smtClean="0">
                <a:solidFill>
                  <a:schemeClr val="bg1">
                    <a:lumMod val="75000"/>
                  </a:schemeClr>
                </a:solidFill>
              </a:rPr>
              <a:t>OpenSBI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5963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Ax45 power domain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696620"/>
            <a:ext cx="7398957" cy="3390358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611560" y="675838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7</a:t>
            </a:r>
            <a:r>
              <a:rPr lang="zh-TW" altLang="en-US" dirty="0" smtClean="0"/>
              <a:t> </a:t>
            </a:r>
            <a:r>
              <a:rPr lang="en-US" altLang="zh-TW" dirty="0" smtClean="0"/>
              <a:t>power domains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PCS (power control slot)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PCS0~6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3795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pcs0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61318" y="627534"/>
            <a:ext cx="3916508" cy="4230497"/>
          </a:xfrm>
        </p:spPr>
        <p:txBody>
          <a:bodyPr/>
          <a:lstStyle/>
          <a:p>
            <a:endParaRPr lang="en-US" altLang="zh-TW" sz="1200" dirty="0" smtClean="0"/>
          </a:p>
          <a:p>
            <a:pPr lvl="3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41209"/>
            <a:ext cx="4910721" cy="447204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90957" y="3795886"/>
            <a:ext cx="1440160" cy="9361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400146" y="3477366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46784" y="4293749"/>
            <a:ext cx="448229" cy="294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3400146" y="4599767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00"/>
                </a:solidFill>
              </a:rPr>
              <a:t>SMU</a:t>
            </a:r>
            <a:endParaRPr lang="zh-TW" alt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7972" y="1420350"/>
            <a:ext cx="1405696" cy="2873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77972" y="1502040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056" y="874916"/>
            <a:ext cx="3869424" cy="385707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061318" y="2355726"/>
            <a:ext cx="375915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6111700" y="2995492"/>
            <a:ext cx="2420740" cy="64807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only AOPD remained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5365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pcs1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61318" y="627534"/>
            <a:ext cx="3916508" cy="4230497"/>
          </a:xfrm>
        </p:spPr>
        <p:txBody>
          <a:bodyPr/>
          <a:lstStyle/>
          <a:p>
            <a:endParaRPr lang="en-US" altLang="zh-TW" sz="1200" dirty="0" smtClean="0"/>
          </a:p>
          <a:p>
            <a:pPr lvl="3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41209"/>
            <a:ext cx="4910721" cy="447204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90957" y="3795886"/>
            <a:ext cx="1440160" cy="9361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400146" y="3477366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46784" y="4293749"/>
            <a:ext cx="448229" cy="294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3400146" y="4599767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00"/>
                </a:solidFill>
              </a:rPr>
              <a:t>SMU</a:t>
            </a:r>
            <a:endParaRPr lang="zh-TW" alt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7972" y="1420350"/>
            <a:ext cx="1405696" cy="2873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77972" y="1502040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056" y="874916"/>
            <a:ext cx="3869424" cy="385707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061318" y="2355726"/>
            <a:ext cx="3759154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6084168" y="3430329"/>
            <a:ext cx="2420740" cy="64807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AOPD + debug remained</a:t>
            </a:r>
            <a:endParaRPr lang="zh-TW" altLang="en-US" sz="1400" dirty="0"/>
          </a:p>
        </p:txBody>
      </p:sp>
      <p:sp>
        <p:nvSpPr>
          <p:cNvPr id="17" name="矩形 16"/>
          <p:cNvSpPr/>
          <p:nvPr/>
        </p:nvSpPr>
        <p:spPr>
          <a:xfrm>
            <a:off x="1640521" y="1413429"/>
            <a:ext cx="448229" cy="29422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010339" y="1389226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3366FF"/>
                </a:solidFill>
              </a:rPr>
              <a:t>Debug region</a:t>
            </a:r>
            <a:endParaRPr lang="zh-TW" altLang="en-US" sz="1200" b="1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339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pcs2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61318" y="627534"/>
            <a:ext cx="3916508" cy="4230497"/>
          </a:xfrm>
        </p:spPr>
        <p:txBody>
          <a:bodyPr/>
          <a:lstStyle/>
          <a:p>
            <a:endParaRPr lang="en-US" altLang="zh-TW" sz="1200" dirty="0" smtClean="0"/>
          </a:p>
          <a:p>
            <a:pPr lvl="3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41209"/>
            <a:ext cx="4910721" cy="447204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90957" y="3795886"/>
            <a:ext cx="1440160" cy="9361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400146" y="3477366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46784" y="4293749"/>
            <a:ext cx="448229" cy="294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3400146" y="4599767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00"/>
                </a:solidFill>
              </a:rPr>
              <a:t>SMU</a:t>
            </a:r>
            <a:endParaRPr lang="zh-TW" alt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7972" y="1420350"/>
            <a:ext cx="1405696" cy="2873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77972" y="1502040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056" y="874916"/>
            <a:ext cx="3869424" cy="385707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061318" y="2355725"/>
            <a:ext cx="3759154" cy="1121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6156176" y="3648411"/>
            <a:ext cx="2420740" cy="1232634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AOPD +</a:t>
            </a:r>
          </a:p>
          <a:p>
            <a:pPr algn="ctr"/>
            <a:r>
              <a:rPr lang="en-US" altLang="zh-TW" sz="1400" dirty="0" smtClean="0"/>
              <a:t> debug +</a:t>
            </a:r>
          </a:p>
          <a:p>
            <a:pPr algn="ctr"/>
            <a:r>
              <a:rPr lang="en-US" altLang="zh-TW" sz="1400" dirty="0" smtClean="0"/>
              <a:t>Mem </a:t>
            </a:r>
          </a:p>
          <a:p>
            <a:pPr algn="ctr"/>
            <a:r>
              <a:rPr lang="en-US" altLang="zh-TW" sz="1400" dirty="0" smtClean="0"/>
              <a:t>remained</a:t>
            </a:r>
            <a:endParaRPr lang="zh-TW" altLang="en-US" sz="1400" dirty="0"/>
          </a:p>
        </p:txBody>
      </p:sp>
      <p:sp>
        <p:nvSpPr>
          <p:cNvPr id="17" name="矩形 16"/>
          <p:cNvSpPr/>
          <p:nvPr/>
        </p:nvSpPr>
        <p:spPr>
          <a:xfrm>
            <a:off x="1640521" y="1413429"/>
            <a:ext cx="448229" cy="29422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010339" y="1389226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3366FF"/>
                </a:solidFill>
              </a:rPr>
              <a:t>Debug region</a:t>
            </a:r>
            <a:endParaRPr lang="zh-TW" altLang="en-US" sz="1200" b="1" dirty="0">
              <a:solidFill>
                <a:srgbClr val="3366FF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50597" y="1707654"/>
            <a:ext cx="3134448" cy="302433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714320" y="2500271"/>
            <a:ext cx="2300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7030A0"/>
                </a:solidFill>
              </a:rPr>
              <a:t>mem &amp;</a:t>
            </a:r>
            <a:r>
              <a:rPr lang="zh-TW" altLang="en-US" sz="1200" b="1" dirty="0" smtClean="0">
                <a:solidFill>
                  <a:srgbClr val="7030A0"/>
                </a:solidFill>
              </a:rPr>
              <a:t> </a:t>
            </a:r>
            <a:r>
              <a:rPr lang="en-US" altLang="zh-TW" sz="1200" b="1" dirty="0">
                <a:solidFill>
                  <a:srgbClr val="7030A0"/>
                </a:solidFill>
              </a:rPr>
              <a:t>device </a:t>
            </a:r>
            <a:r>
              <a:rPr lang="en-US" altLang="zh-TW" sz="1200" b="1" dirty="0" smtClean="0">
                <a:solidFill>
                  <a:srgbClr val="7030A0"/>
                </a:solidFill>
              </a:rPr>
              <a:t>&amp;</a:t>
            </a:r>
            <a:r>
              <a:rPr lang="zh-TW" altLang="en-US" sz="1200" b="1" dirty="0" smtClean="0">
                <a:solidFill>
                  <a:srgbClr val="7030A0"/>
                </a:solidFill>
              </a:rPr>
              <a:t> </a:t>
            </a:r>
            <a:r>
              <a:rPr lang="en-US" altLang="zh-TW" sz="1200" b="1" dirty="0" smtClean="0">
                <a:solidFill>
                  <a:srgbClr val="7030A0"/>
                </a:solidFill>
              </a:rPr>
              <a:t>bus region</a:t>
            </a:r>
            <a:endParaRPr lang="zh-TW" altLang="en-US" sz="1200" b="1" dirty="0">
              <a:solidFill>
                <a:srgbClr val="7030A0"/>
              </a:solidFill>
            </a:endParaRPr>
          </a:p>
          <a:p>
            <a:endParaRPr lang="zh-TW" altLang="en-US" sz="12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470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Pcs3~6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61318" y="627534"/>
            <a:ext cx="3916508" cy="4230497"/>
          </a:xfrm>
        </p:spPr>
        <p:txBody>
          <a:bodyPr/>
          <a:lstStyle/>
          <a:p>
            <a:endParaRPr lang="en-US" altLang="zh-TW" sz="1200" dirty="0" smtClean="0"/>
          </a:p>
          <a:p>
            <a:pPr lvl="3"/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41209"/>
            <a:ext cx="4910721" cy="447204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90957" y="3795886"/>
            <a:ext cx="1440160" cy="9361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400146" y="3477366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46784" y="4293749"/>
            <a:ext cx="448229" cy="294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3400146" y="4599767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00"/>
                </a:solidFill>
              </a:rPr>
              <a:t>SMU</a:t>
            </a:r>
            <a:endParaRPr lang="zh-TW" alt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7972" y="1420350"/>
            <a:ext cx="1405696" cy="2873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77972" y="1502040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Always on region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056" y="874916"/>
            <a:ext cx="3869424" cy="385707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061318" y="2355725"/>
            <a:ext cx="3759154" cy="22322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6385966" y="997050"/>
            <a:ext cx="2420740" cy="1232634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AOPD +</a:t>
            </a:r>
          </a:p>
          <a:p>
            <a:pPr algn="ctr"/>
            <a:r>
              <a:rPr lang="en-US" altLang="zh-TW" sz="1400" dirty="0" smtClean="0"/>
              <a:t> debug +</a:t>
            </a:r>
          </a:p>
          <a:p>
            <a:pPr algn="ctr"/>
            <a:r>
              <a:rPr lang="en-US" altLang="zh-TW" sz="1400" dirty="0" smtClean="0"/>
              <a:t>Mem +</a:t>
            </a:r>
          </a:p>
          <a:p>
            <a:pPr algn="ctr"/>
            <a:r>
              <a:rPr lang="en-US" altLang="zh-TW" sz="1400" dirty="0" err="1" smtClean="0"/>
              <a:t>cpu</a:t>
            </a:r>
            <a:r>
              <a:rPr lang="en-US" altLang="zh-TW" sz="1400" dirty="0" smtClean="0"/>
              <a:t> </a:t>
            </a:r>
          </a:p>
          <a:p>
            <a:pPr algn="ctr"/>
            <a:r>
              <a:rPr lang="en-US" altLang="zh-TW" sz="1400" dirty="0" smtClean="0"/>
              <a:t>remained</a:t>
            </a:r>
            <a:endParaRPr lang="zh-TW" altLang="en-US" sz="1400" dirty="0"/>
          </a:p>
        </p:txBody>
      </p:sp>
      <p:sp>
        <p:nvSpPr>
          <p:cNvPr id="17" name="矩形 16"/>
          <p:cNvSpPr/>
          <p:nvPr/>
        </p:nvSpPr>
        <p:spPr>
          <a:xfrm>
            <a:off x="1640521" y="1413429"/>
            <a:ext cx="448229" cy="29422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010339" y="1389226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3366FF"/>
                </a:solidFill>
              </a:rPr>
              <a:t>Debug region</a:t>
            </a:r>
            <a:endParaRPr lang="zh-TW" altLang="en-US" sz="1200" b="1" dirty="0">
              <a:solidFill>
                <a:srgbClr val="3366FF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50597" y="1707654"/>
            <a:ext cx="3134448" cy="302433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714320" y="2500271"/>
            <a:ext cx="2300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7030A0"/>
                </a:solidFill>
              </a:rPr>
              <a:t>mem &amp;</a:t>
            </a:r>
            <a:r>
              <a:rPr lang="zh-TW" altLang="en-US" sz="1200" b="1" dirty="0" smtClean="0">
                <a:solidFill>
                  <a:srgbClr val="7030A0"/>
                </a:solidFill>
              </a:rPr>
              <a:t> </a:t>
            </a:r>
            <a:r>
              <a:rPr lang="en-US" altLang="zh-TW" sz="1200" b="1" dirty="0">
                <a:solidFill>
                  <a:srgbClr val="7030A0"/>
                </a:solidFill>
              </a:rPr>
              <a:t>device </a:t>
            </a:r>
            <a:r>
              <a:rPr lang="en-US" altLang="zh-TW" sz="1200" b="1" dirty="0" smtClean="0">
                <a:solidFill>
                  <a:srgbClr val="7030A0"/>
                </a:solidFill>
              </a:rPr>
              <a:t>&amp;</a:t>
            </a:r>
            <a:r>
              <a:rPr lang="zh-TW" altLang="en-US" sz="1200" b="1" dirty="0" smtClean="0">
                <a:solidFill>
                  <a:srgbClr val="7030A0"/>
                </a:solidFill>
              </a:rPr>
              <a:t> </a:t>
            </a:r>
            <a:r>
              <a:rPr lang="en-US" altLang="zh-TW" sz="1200" b="1" dirty="0" smtClean="0">
                <a:solidFill>
                  <a:srgbClr val="7030A0"/>
                </a:solidFill>
              </a:rPr>
              <a:t>bus region</a:t>
            </a:r>
            <a:endParaRPr lang="zh-TW" altLang="en-US" sz="1200" b="1" dirty="0">
              <a:solidFill>
                <a:srgbClr val="7030A0"/>
              </a:solidFill>
            </a:endParaRPr>
          </a:p>
          <a:p>
            <a:endParaRPr lang="zh-TW" altLang="en-US" sz="1200" b="1" dirty="0">
              <a:solidFill>
                <a:srgbClr val="7030A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50597" y="843558"/>
            <a:ext cx="3744416" cy="538709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1583668" y="597046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FF"/>
                </a:solidFill>
              </a:rPr>
              <a:t>CPU region</a:t>
            </a:r>
            <a:endParaRPr lang="zh-TW" altLang="en-US" sz="1200" b="1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815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Ax45 SMU power down </a:t>
            </a:r>
            <a:r>
              <a:rPr lang="en-US" altLang="zh-TW" dirty="0"/>
              <a:t>sequence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90" y="1003650"/>
            <a:ext cx="6048672" cy="393957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355976" y="4246335"/>
            <a:ext cx="488782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628934" y="2500912"/>
            <a:ext cx="2364263" cy="948899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lang="en-US" altLang="zh-TW" sz="1200" dirty="0" smtClean="0"/>
              <a:t>Set </a:t>
            </a:r>
            <a:r>
              <a:rPr lang="en-US" altLang="zh-TW" sz="1200" dirty="0" err="1" smtClean="0"/>
              <a:t>smu</a:t>
            </a:r>
            <a:r>
              <a:rPr lang="en-US" altLang="zh-TW" sz="1200" dirty="0" smtClean="0"/>
              <a:t> register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TW" sz="1200" dirty="0" smtClean="0"/>
              <a:t>PCS_CTL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TW" sz="1200" dirty="0" smtClean="0"/>
              <a:t>PCS_WE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TW" sz="1200" dirty="0" err="1" smtClean="0"/>
              <a:t>Reset_vector</a:t>
            </a:r>
            <a:endParaRPr lang="en-US" altLang="zh-TW" sz="1200" dirty="0" smtClean="0"/>
          </a:p>
          <a:p>
            <a:pPr marL="228600" indent="-228600" algn="ctr">
              <a:buAutoNum type="arabicPeriod"/>
            </a:pPr>
            <a:endParaRPr lang="zh-TW" altLang="en-US" sz="1200" dirty="0"/>
          </a:p>
        </p:txBody>
      </p:sp>
      <p:sp>
        <p:nvSpPr>
          <p:cNvPr id="17" name="矩形 16"/>
          <p:cNvSpPr/>
          <p:nvPr/>
        </p:nvSpPr>
        <p:spPr>
          <a:xfrm>
            <a:off x="251520" y="1203598"/>
            <a:ext cx="4704523" cy="504056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/>
          <p:cNvCxnSpPr>
            <a:stCxn id="17" idx="2"/>
          </p:cNvCxnSpPr>
          <p:nvPr/>
        </p:nvCxnSpPr>
        <p:spPr>
          <a:xfrm>
            <a:off x="2603782" y="1707654"/>
            <a:ext cx="1996585" cy="2535416"/>
          </a:xfrm>
          <a:prstGeom prst="straightConnector1">
            <a:avLst/>
          </a:prstGeom>
          <a:ln w="190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3915373" y="1304129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FF"/>
                </a:solidFill>
              </a:rPr>
              <a:t>CPU region</a:t>
            </a:r>
            <a:endParaRPr lang="zh-TW" altLang="en-US" sz="1200" b="1" dirty="0">
              <a:solidFill>
                <a:srgbClr val="FF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748447" y="989188"/>
            <a:ext cx="33007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AE350 SMU (Hardware)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Disable </a:t>
            </a:r>
            <a:r>
              <a:rPr lang="en-US" altLang="zh-TW" sz="1400" dirty="0" err="1"/>
              <a:t>core_clk</a:t>
            </a:r>
            <a:r>
              <a:rPr lang="en-US" altLang="zh-TW" sz="1400" dirty="0"/>
              <a:t>, </a:t>
            </a:r>
            <a:r>
              <a:rPr lang="en-US" altLang="zh-TW" sz="1400" dirty="0" err="1"/>
              <a:t>lm_clk</a:t>
            </a:r>
            <a:r>
              <a:rPr lang="en-US" altLang="zh-TW" sz="1400" dirty="0"/>
              <a:t>, </a:t>
            </a:r>
            <a:r>
              <a:rPr lang="en-US" altLang="zh-TW" sz="1400" dirty="0" err="1"/>
              <a:t>dcu_clk</a:t>
            </a:r>
            <a:r>
              <a:rPr lang="en-US" altLang="zh-TW" sz="1400" dirty="0"/>
              <a:t> </a:t>
            </a:r>
            <a:endParaRPr lang="en-US" altLang="zh-TW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Activate </a:t>
            </a:r>
            <a:r>
              <a:rPr lang="en-US" altLang="zh-TW" sz="1400" dirty="0"/>
              <a:t>power clamps </a:t>
            </a:r>
            <a:r>
              <a:rPr lang="en-US" altLang="zh-TW" sz="1400" dirty="0" smtClean="0"/>
              <a:t>(</a:t>
            </a:r>
            <a:r>
              <a:rPr lang="zh-TW" altLang="en-US" sz="1400" dirty="0" smtClean="0"/>
              <a:t>電壓保護</a:t>
            </a:r>
            <a:r>
              <a:rPr lang="en-US" altLang="zh-TW" sz="1400" dirty="0" smtClean="0"/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Remove </a:t>
            </a:r>
            <a:r>
              <a:rPr lang="en-US" altLang="zh-TW" sz="1400" dirty="0"/>
              <a:t>power </a:t>
            </a:r>
            <a:endParaRPr lang="en-US" altLang="zh-TW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Assert </a:t>
            </a:r>
            <a:r>
              <a:rPr lang="en-US" altLang="zh-TW" sz="1400" dirty="0" err="1"/>
              <a:t>core_reset_n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7747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Ax45 SMU power up </a:t>
            </a:r>
            <a:r>
              <a:rPr lang="en-US" altLang="zh-TW" dirty="0"/>
              <a:t>sequence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90" y="1003650"/>
            <a:ext cx="6048672" cy="393957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959694" y="4243070"/>
            <a:ext cx="488782" cy="144016"/>
          </a:xfrm>
          <a:prstGeom prst="rect">
            <a:avLst/>
          </a:prstGeom>
          <a:noFill/>
          <a:ln>
            <a:solidFill>
              <a:srgbClr val="477D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355976" y="4246335"/>
            <a:ext cx="488782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347389" y="4387086"/>
            <a:ext cx="488782" cy="201799"/>
          </a:xfrm>
          <a:prstGeom prst="rect">
            <a:avLst/>
          </a:prstGeom>
          <a:noFill/>
          <a:ln>
            <a:solidFill>
              <a:srgbClr val="477D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肘形接點 8"/>
          <p:cNvCxnSpPr>
            <a:stCxn id="7" idx="3"/>
            <a:endCxn id="6" idx="2"/>
          </p:cNvCxnSpPr>
          <p:nvPr/>
        </p:nvCxnSpPr>
        <p:spPr>
          <a:xfrm flipV="1">
            <a:off x="2836171" y="4390351"/>
            <a:ext cx="1764196" cy="97635"/>
          </a:xfrm>
          <a:prstGeom prst="bentConnector2">
            <a:avLst/>
          </a:prstGeom>
          <a:ln w="19050">
            <a:solidFill>
              <a:srgbClr val="477D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3" idx="1"/>
            <a:endCxn id="6" idx="3"/>
          </p:cNvCxnSpPr>
          <p:nvPr/>
        </p:nvCxnSpPr>
        <p:spPr>
          <a:xfrm flipH="1">
            <a:off x="4844758" y="4315078"/>
            <a:ext cx="114936" cy="3265"/>
          </a:xfrm>
          <a:prstGeom prst="straightConnector1">
            <a:avLst/>
          </a:prstGeom>
          <a:ln w="19050">
            <a:solidFill>
              <a:srgbClr val="477D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705792" y="4602983"/>
            <a:ext cx="2364263" cy="216024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1. Device send </a:t>
            </a:r>
            <a:r>
              <a:rPr lang="en-US" altLang="zh-TW" sz="1200" dirty="0" err="1" smtClean="0"/>
              <a:t>irq</a:t>
            </a:r>
            <a:r>
              <a:rPr lang="en-US" altLang="zh-TW" sz="1200" dirty="0" smtClean="0"/>
              <a:t> to SMU</a:t>
            </a:r>
            <a:endParaRPr lang="zh-TW" altLang="en-US" sz="1200" dirty="0"/>
          </a:p>
        </p:txBody>
      </p:sp>
      <p:sp>
        <p:nvSpPr>
          <p:cNvPr id="17" name="矩形 16"/>
          <p:cNvSpPr/>
          <p:nvPr/>
        </p:nvSpPr>
        <p:spPr>
          <a:xfrm>
            <a:off x="251520" y="1203598"/>
            <a:ext cx="4704523" cy="504056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/>
          <p:cNvCxnSpPr>
            <a:stCxn id="6" idx="0"/>
            <a:endCxn id="17" idx="2"/>
          </p:cNvCxnSpPr>
          <p:nvPr/>
        </p:nvCxnSpPr>
        <p:spPr>
          <a:xfrm flipH="1" flipV="1">
            <a:off x="2603782" y="1707654"/>
            <a:ext cx="1996585" cy="2538681"/>
          </a:xfrm>
          <a:prstGeom prst="straightConnector1">
            <a:avLst/>
          </a:prstGeom>
          <a:ln w="190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064656" y="3178254"/>
            <a:ext cx="2368404" cy="216024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2</a:t>
            </a:r>
            <a:r>
              <a:rPr lang="en-US" altLang="zh-TW" sz="1200" dirty="0" smtClean="0"/>
              <a:t>. SMU wakeup other devices</a:t>
            </a:r>
            <a:endParaRPr lang="zh-TW" altLang="en-US" sz="1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915373" y="1304129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FF"/>
                </a:solidFill>
              </a:rPr>
              <a:t>CPU region</a:t>
            </a:r>
            <a:endParaRPr lang="zh-TW" altLang="en-US" sz="1200" b="1" dirty="0">
              <a:solidFill>
                <a:srgbClr val="FF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748447" y="989188"/>
            <a:ext cx="33007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AE350 SMU (Hardware)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Assert </a:t>
            </a:r>
            <a:r>
              <a:rPr lang="en-US" altLang="zh-TW" sz="1400" dirty="0" err="1"/>
              <a:t>core_reset_n</a:t>
            </a:r>
            <a:endParaRPr lang="en-US" altLang="zh-TW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Enable </a:t>
            </a:r>
            <a:r>
              <a:rPr lang="en-US" altLang="zh-TW" sz="1400" dirty="0" err="1"/>
              <a:t>core_clk</a:t>
            </a:r>
            <a:r>
              <a:rPr lang="en-US" altLang="zh-TW" sz="1400" dirty="0"/>
              <a:t>, </a:t>
            </a:r>
            <a:r>
              <a:rPr lang="en-US" altLang="zh-TW" sz="1400" dirty="0" err="1"/>
              <a:t>lm_clk</a:t>
            </a:r>
            <a:r>
              <a:rPr lang="en-US" altLang="zh-TW" sz="1400" dirty="0"/>
              <a:t>, </a:t>
            </a:r>
            <a:r>
              <a:rPr lang="en-US" altLang="zh-TW" sz="1400" dirty="0" err="1"/>
              <a:t>dcu_clk</a:t>
            </a:r>
            <a:endParaRPr lang="en-US" altLang="zh-TW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Apply Power (UPF Simulation)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Disable power clamps (UPF simulation)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De-assert </a:t>
            </a:r>
            <a:r>
              <a:rPr lang="en-US" altLang="zh-TW" sz="1400" dirty="0" err="1"/>
              <a:t>core_reset_n</a:t>
            </a:r>
            <a:endParaRPr lang="en-US" altLang="zh-TW" sz="14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727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b="1" dirty="0" smtClean="0">
                <a:solidFill>
                  <a:schemeClr val="accent2"/>
                </a:solidFill>
              </a:rPr>
              <a:t>Power management (HW)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b="1" dirty="0">
                <a:solidFill>
                  <a:schemeClr val="accent2"/>
                </a:solidFill>
              </a:rPr>
              <a:t>Ax45 SMU </a:t>
            </a:r>
            <a:r>
              <a:rPr lang="en-US" altLang="zh-TW" b="1" dirty="0" smtClean="0">
                <a:solidFill>
                  <a:schemeClr val="accent2"/>
                </a:solidFill>
              </a:rPr>
              <a:t>registers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Power management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(SW)</a:t>
            </a:r>
          </a:p>
          <a:p>
            <a:pPr lvl="1"/>
            <a:r>
              <a:rPr lang="en-US" altLang="zh-TW" sz="1800" dirty="0" err="1" smtClean="0">
                <a:solidFill>
                  <a:schemeClr val="bg1">
                    <a:lumMod val="75000"/>
                  </a:schemeClr>
                </a:solidFill>
              </a:rPr>
              <a:t>OpenSBI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6944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Ax45 </a:t>
            </a:r>
            <a:r>
              <a:rPr lang="en-US" altLang="zh-TW" dirty="0" smtClean="0"/>
              <a:t>SMU registers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2601" y="627534"/>
            <a:ext cx="4235383" cy="2450619"/>
          </a:xfrm>
        </p:spPr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grpSp>
        <p:nvGrpSpPr>
          <p:cNvPr id="6" name="群組 5"/>
          <p:cNvGrpSpPr/>
          <p:nvPr/>
        </p:nvGrpSpPr>
        <p:grpSpPr>
          <a:xfrm>
            <a:off x="4644008" y="66589"/>
            <a:ext cx="4373865" cy="4791442"/>
            <a:chOff x="4770135" y="66589"/>
            <a:chExt cx="4373865" cy="4791442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0136" y="2990313"/>
              <a:ext cx="4373864" cy="1867718"/>
            </a:xfrm>
            <a:prstGeom prst="rect">
              <a:avLst/>
            </a:prstGeom>
          </p:spPr>
        </p:pic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70135" y="66589"/>
              <a:ext cx="4365751" cy="3355068"/>
            </a:xfrm>
            <a:prstGeom prst="rect">
              <a:avLst/>
            </a:prstGeom>
          </p:spPr>
        </p:pic>
      </p:grpSp>
      <p:sp>
        <p:nvSpPr>
          <p:cNvPr id="7" name="文字方塊 6"/>
          <p:cNvSpPr txBox="1"/>
          <p:nvPr/>
        </p:nvSpPr>
        <p:spPr>
          <a:xfrm>
            <a:off x="395536" y="915566"/>
            <a:ext cx="396044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/>
              <a:t>MMIO registers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AE350 BASE</a:t>
            </a:r>
            <a:r>
              <a:rPr lang="en-US" altLang="zh-TW" sz="1400" dirty="0"/>
              <a:t>: </a:t>
            </a:r>
            <a:r>
              <a:rPr lang="en-US" altLang="zh-TW" sz="1400" dirty="0" smtClean="0"/>
              <a:t>0xf0100000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(PA)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1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Important registers: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0x50~0x6c: </a:t>
            </a:r>
            <a:r>
              <a:rPr lang="en-US" altLang="zh-TW" sz="1400" dirty="0" err="1" smtClean="0"/>
              <a:t>reset_vector</a:t>
            </a:r>
            <a:endParaRPr lang="en-US" altLang="zh-TW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0x84: PCS_SCRATCH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0x90: PCS_WE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0x94: PCS_CTL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0x98: PCS_STATUS</a:t>
            </a:r>
            <a:endParaRPr lang="zh-TW" alt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4619898" y="1491630"/>
            <a:ext cx="4357927" cy="2178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52554" y="3650092"/>
            <a:ext cx="4203422" cy="576064"/>
          </a:xfrm>
          <a:prstGeom prst="rect">
            <a:avLst/>
          </a:prstGeom>
          <a:solidFill>
            <a:srgbClr val="AEBD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043608" y="3650092"/>
            <a:ext cx="3312368" cy="5760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403648" y="4537687"/>
            <a:ext cx="2952328" cy="342065"/>
          </a:xfrm>
          <a:prstGeom prst="rect">
            <a:avLst/>
          </a:prstGeom>
          <a:solidFill>
            <a:srgbClr val="E42A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SMU HW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492348" y="3657004"/>
            <a:ext cx="432048" cy="576064"/>
          </a:xfrm>
          <a:prstGeom prst="rect">
            <a:avLst/>
          </a:prstGeom>
          <a:solidFill>
            <a:srgbClr val="477DC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600" dirty="0" smtClean="0"/>
              <a:t>Pcs1</a:t>
            </a:r>
          </a:p>
          <a:p>
            <a:pPr algn="ctr"/>
            <a:r>
              <a:rPr lang="en-US" altLang="zh-TW" sz="600" dirty="0" err="1" smtClean="0"/>
              <a:t>pcs_cfg</a:t>
            </a:r>
            <a:endParaRPr lang="zh-TW" altLang="en-US" sz="600" dirty="0"/>
          </a:p>
        </p:txBody>
      </p:sp>
      <p:sp>
        <p:nvSpPr>
          <p:cNvPr id="18" name="矩形 17"/>
          <p:cNvSpPr/>
          <p:nvPr/>
        </p:nvSpPr>
        <p:spPr>
          <a:xfrm>
            <a:off x="3110644" y="3650092"/>
            <a:ext cx="432048" cy="576064"/>
          </a:xfrm>
          <a:prstGeom prst="rect">
            <a:avLst/>
          </a:prstGeom>
          <a:solidFill>
            <a:srgbClr val="477DC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600" dirty="0" smtClean="0"/>
              <a:t>Pcs1</a:t>
            </a:r>
          </a:p>
          <a:p>
            <a:pPr algn="ctr"/>
            <a:r>
              <a:rPr lang="en-US" altLang="zh-TW" sz="600" dirty="0" err="1" smtClean="0"/>
              <a:t>pcs_status</a:t>
            </a:r>
            <a:endParaRPr lang="zh-TW" altLang="en-US" sz="600" dirty="0"/>
          </a:p>
        </p:txBody>
      </p:sp>
      <p:sp>
        <p:nvSpPr>
          <p:cNvPr id="19" name="矩形 18"/>
          <p:cNvSpPr/>
          <p:nvPr/>
        </p:nvSpPr>
        <p:spPr>
          <a:xfrm>
            <a:off x="3555331" y="3649017"/>
            <a:ext cx="432048" cy="576064"/>
          </a:xfrm>
          <a:prstGeom prst="rect">
            <a:avLst/>
          </a:prstGeom>
          <a:solidFill>
            <a:srgbClr val="477DC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600" dirty="0" smtClean="0"/>
              <a:t>Pcs2</a:t>
            </a:r>
          </a:p>
          <a:p>
            <a:pPr algn="ctr"/>
            <a:r>
              <a:rPr lang="en-US" altLang="zh-TW" sz="600" dirty="0" err="1" smtClean="0"/>
              <a:t>pcs_cfg</a:t>
            </a:r>
            <a:endParaRPr lang="zh-TW" altLang="en-US" sz="600" dirty="0"/>
          </a:p>
        </p:txBody>
      </p:sp>
      <p:sp>
        <p:nvSpPr>
          <p:cNvPr id="21" name="文字方塊 20"/>
          <p:cNvSpPr txBox="1"/>
          <p:nvPr/>
        </p:nvSpPr>
        <p:spPr>
          <a:xfrm rot="16200000">
            <a:off x="2767669" y="3779824"/>
            <a:ext cx="461665" cy="2160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 rot="16200000">
            <a:off x="3887364" y="3764832"/>
            <a:ext cx="461665" cy="2160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1545727" y="3779824"/>
            <a:ext cx="461665" cy="2160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056478" y="3636140"/>
            <a:ext cx="432048" cy="576064"/>
          </a:xfrm>
          <a:prstGeom prst="rect">
            <a:avLst/>
          </a:prstGeom>
          <a:solidFill>
            <a:srgbClr val="477DC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600" dirty="0" err="1" smtClean="0"/>
              <a:t>systemver</a:t>
            </a:r>
            <a:endParaRPr lang="zh-TW" altLang="en-US" sz="600" dirty="0"/>
          </a:p>
        </p:txBody>
      </p:sp>
      <p:sp>
        <p:nvSpPr>
          <p:cNvPr id="25" name="矩形 24"/>
          <p:cNvSpPr/>
          <p:nvPr/>
        </p:nvSpPr>
        <p:spPr>
          <a:xfrm>
            <a:off x="2051122" y="3649017"/>
            <a:ext cx="432048" cy="576064"/>
          </a:xfrm>
          <a:prstGeom prst="rect">
            <a:avLst/>
          </a:prstGeom>
          <a:solidFill>
            <a:srgbClr val="477DC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600" dirty="0" smtClean="0"/>
              <a:t>Hart3_reset_vector_hi</a:t>
            </a:r>
            <a:endParaRPr lang="zh-TW" altLang="en-US" sz="600" dirty="0"/>
          </a:p>
        </p:txBody>
      </p:sp>
      <p:cxnSp>
        <p:nvCxnSpPr>
          <p:cNvPr id="27" name="直線單箭頭接點 26"/>
          <p:cNvCxnSpPr>
            <a:stCxn id="14" idx="2"/>
          </p:cNvCxnSpPr>
          <p:nvPr/>
        </p:nvCxnSpPr>
        <p:spPr>
          <a:xfrm>
            <a:off x="2708372" y="4233068"/>
            <a:ext cx="63428" cy="47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9" idx="2"/>
          </p:cNvCxnSpPr>
          <p:nvPr/>
        </p:nvCxnSpPr>
        <p:spPr>
          <a:xfrm flipH="1">
            <a:off x="3555331" y="4225081"/>
            <a:ext cx="216024" cy="506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24" idx="2"/>
          </p:cNvCxnSpPr>
          <p:nvPr/>
        </p:nvCxnSpPr>
        <p:spPr>
          <a:xfrm>
            <a:off x="1272502" y="4212204"/>
            <a:ext cx="707210" cy="519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1056478" y="3579862"/>
            <a:ext cx="32994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179512" y="3421657"/>
            <a:ext cx="417646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1884572" y="3140301"/>
            <a:ext cx="57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ram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682963" y="3344398"/>
            <a:ext cx="2217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Smu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mmio</a:t>
            </a:r>
            <a:r>
              <a:rPr lang="en-US" altLang="zh-TW" dirty="0" smtClean="0"/>
              <a:t> registers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860604" y="4163135"/>
            <a:ext cx="8199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0xf0100000</a:t>
            </a:r>
            <a:endParaRPr lang="zh-TW" altLang="en-US" sz="800" dirty="0"/>
          </a:p>
        </p:txBody>
      </p:sp>
      <p:sp>
        <p:nvSpPr>
          <p:cNvPr id="46" name="矩形 45"/>
          <p:cNvSpPr/>
          <p:nvPr/>
        </p:nvSpPr>
        <p:spPr>
          <a:xfrm>
            <a:off x="4630805" y="4371950"/>
            <a:ext cx="4359659" cy="405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4630805" y="3814925"/>
            <a:ext cx="4359659" cy="134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2330527" y="4210606"/>
            <a:ext cx="8199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0xf0100080</a:t>
            </a:r>
            <a:endParaRPr lang="zh-TW" altLang="en-US" sz="8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3425347" y="4217306"/>
            <a:ext cx="8199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0xf01000a0</a:t>
            </a:r>
            <a:endParaRPr lang="zh-TW" altLang="en-US" sz="800" dirty="0"/>
          </a:p>
        </p:txBody>
      </p:sp>
    </p:spTree>
    <p:extLst>
      <p:ext uri="{BB962C8B-B14F-4D97-AF65-F5344CB8AC3E}">
        <p14:creationId xmlns:p14="http://schemas.microsoft.com/office/powerpoint/2010/main" val="2847997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Ax45 </a:t>
            </a:r>
            <a:r>
              <a:rPr lang="en-US" altLang="zh-TW" dirty="0" smtClean="0"/>
              <a:t>SMU registers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/>
              <a:t>Power Domain Wakeup Event Enable (PCS_WE) (0x90)</a:t>
            </a:r>
            <a:endParaRPr lang="en-US" altLang="zh-TW" b="1" dirty="0" smtClean="0"/>
          </a:p>
          <a:p>
            <a:pPr lvl="1"/>
            <a:r>
              <a:rPr lang="en-US" altLang="zh-TW" dirty="0" smtClean="0"/>
              <a:t>Select wakeup sources</a:t>
            </a:r>
            <a:endParaRPr lang="en-US" altLang="zh-TW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98" y="1779662"/>
            <a:ext cx="3400900" cy="2543530"/>
          </a:xfrm>
          <a:prstGeom prst="rect">
            <a:avLst/>
          </a:prstGeom>
        </p:spPr>
      </p:pic>
      <p:grpSp>
        <p:nvGrpSpPr>
          <p:cNvPr id="26" name="群組 25"/>
          <p:cNvGrpSpPr/>
          <p:nvPr/>
        </p:nvGrpSpPr>
        <p:grpSpPr>
          <a:xfrm>
            <a:off x="5292080" y="1346199"/>
            <a:ext cx="2664296" cy="3577826"/>
            <a:chOff x="5076056" y="915566"/>
            <a:chExt cx="3240360" cy="3936465"/>
          </a:xfrm>
        </p:grpSpPr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76056" y="1320621"/>
              <a:ext cx="3240360" cy="3531410"/>
            </a:xfrm>
            <a:prstGeom prst="rect">
              <a:avLst/>
            </a:prstGeom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6056" y="915566"/>
              <a:ext cx="2934109" cy="666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810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Ax45 </a:t>
            </a:r>
            <a:r>
              <a:rPr lang="en-US" altLang="zh-TW" dirty="0" smtClean="0"/>
              <a:t>SMU registers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/>
              <a:t>Power Control Slot Control Register (</a:t>
            </a:r>
            <a:r>
              <a:rPr lang="en-US" altLang="zh-TW" dirty="0" smtClean="0"/>
              <a:t>PCS_CTL) </a:t>
            </a:r>
            <a:r>
              <a:rPr lang="en-US" altLang="zh-TW" dirty="0"/>
              <a:t>(</a:t>
            </a:r>
            <a:r>
              <a:rPr lang="en-US" altLang="zh-TW" dirty="0" smtClean="0"/>
              <a:t>0x94)</a:t>
            </a:r>
          </a:p>
          <a:p>
            <a:pPr lvl="1"/>
            <a:r>
              <a:rPr lang="en-US" altLang="zh-TW" dirty="0" smtClean="0"/>
              <a:t>Control per core PCS:</a:t>
            </a:r>
          </a:p>
          <a:p>
            <a:pPr lvl="2"/>
            <a:r>
              <a:rPr lang="en-US" altLang="zh-TW" dirty="0"/>
              <a:t>Enter Light sleep:</a:t>
            </a:r>
          </a:p>
          <a:p>
            <a:pPr lvl="3"/>
            <a:r>
              <a:rPr lang="en-US" altLang="zh-TW" dirty="0"/>
              <a:t>0b</a:t>
            </a:r>
            <a:r>
              <a:rPr lang="en-US" altLang="zh-TW" dirty="0">
                <a:solidFill>
                  <a:srgbClr val="E42AC9"/>
                </a:solidFill>
              </a:rPr>
              <a:t>00000</a:t>
            </a:r>
            <a:r>
              <a:rPr lang="en-US" altLang="zh-TW" dirty="0">
                <a:solidFill>
                  <a:srgbClr val="0070C0"/>
                </a:solidFill>
              </a:rPr>
              <a:t>011</a:t>
            </a:r>
            <a:r>
              <a:rPr lang="en-US" altLang="zh-TW" dirty="0"/>
              <a:t> = </a:t>
            </a:r>
            <a:r>
              <a:rPr lang="en-US" altLang="zh-TW" dirty="0" smtClean="0"/>
              <a:t>0x3</a:t>
            </a:r>
          </a:p>
          <a:p>
            <a:pPr lvl="2"/>
            <a:r>
              <a:rPr lang="en-US" altLang="zh-TW" dirty="0"/>
              <a:t>Enter </a:t>
            </a:r>
            <a:r>
              <a:rPr lang="en-US" altLang="zh-TW" dirty="0" smtClean="0"/>
              <a:t>deep </a:t>
            </a:r>
            <a:r>
              <a:rPr lang="en-US" altLang="zh-TW" dirty="0"/>
              <a:t>sleep:</a:t>
            </a:r>
          </a:p>
          <a:p>
            <a:pPr lvl="3"/>
            <a:r>
              <a:rPr lang="en-US" altLang="zh-TW" dirty="0" smtClean="0"/>
              <a:t>0b</a:t>
            </a:r>
            <a:r>
              <a:rPr lang="en-US" altLang="zh-TW" dirty="0" smtClean="0">
                <a:solidFill>
                  <a:srgbClr val="E42AC9"/>
                </a:solidFill>
              </a:rPr>
              <a:t>00001</a:t>
            </a:r>
            <a:r>
              <a:rPr lang="en-US" altLang="zh-TW" dirty="0" smtClean="0">
                <a:solidFill>
                  <a:srgbClr val="0070C0"/>
                </a:solidFill>
              </a:rPr>
              <a:t>011</a:t>
            </a:r>
            <a:r>
              <a:rPr lang="en-US" altLang="zh-TW" dirty="0" smtClean="0"/>
              <a:t> </a:t>
            </a:r>
            <a:r>
              <a:rPr lang="en-US" altLang="zh-TW" dirty="0"/>
              <a:t>= </a:t>
            </a:r>
            <a:r>
              <a:rPr lang="en-US" altLang="zh-TW" dirty="0" smtClean="0"/>
              <a:t>0xb</a:t>
            </a:r>
            <a:endParaRPr lang="en-US" altLang="zh-TW" dirty="0"/>
          </a:p>
          <a:p>
            <a:pPr lvl="2"/>
            <a:r>
              <a:rPr lang="en-US" altLang="zh-TW" dirty="0" smtClean="0"/>
              <a:t>Wakeup:</a:t>
            </a:r>
          </a:p>
          <a:p>
            <a:pPr lvl="3"/>
            <a:r>
              <a:rPr lang="en-US" altLang="zh-TW" dirty="0" smtClean="0"/>
              <a:t>0b</a:t>
            </a:r>
            <a:r>
              <a:rPr lang="en-US" altLang="zh-TW" dirty="0" smtClean="0">
                <a:solidFill>
                  <a:srgbClr val="E42AC9"/>
                </a:solidFill>
              </a:rPr>
              <a:t>00001</a:t>
            </a:r>
            <a:r>
              <a:rPr lang="en-US" altLang="zh-TW" dirty="0" smtClean="0">
                <a:solidFill>
                  <a:srgbClr val="0070C0"/>
                </a:solidFill>
              </a:rPr>
              <a:t>000</a:t>
            </a:r>
            <a:r>
              <a:rPr lang="en-US" altLang="zh-TW" dirty="0" smtClean="0"/>
              <a:t> </a:t>
            </a:r>
            <a:r>
              <a:rPr lang="en-US" altLang="zh-TW" dirty="0"/>
              <a:t>= </a:t>
            </a:r>
            <a:r>
              <a:rPr lang="en-US" altLang="zh-TW" dirty="0" smtClean="0"/>
              <a:t>0x8</a:t>
            </a:r>
            <a:endParaRPr lang="en-US" altLang="zh-TW" dirty="0"/>
          </a:p>
          <a:p>
            <a:pPr marL="1371566" lvl="3" indent="0">
              <a:buNone/>
            </a:pPr>
            <a:endParaRPr lang="en-US" altLang="zh-TW" dirty="0"/>
          </a:p>
        </p:txBody>
      </p:sp>
      <p:grpSp>
        <p:nvGrpSpPr>
          <p:cNvPr id="6" name="群組 5"/>
          <p:cNvGrpSpPr/>
          <p:nvPr/>
        </p:nvGrpSpPr>
        <p:grpSpPr>
          <a:xfrm>
            <a:off x="4141993" y="1162391"/>
            <a:ext cx="4835342" cy="2921527"/>
            <a:chOff x="2436029" y="1419622"/>
            <a:chExt cx="6611273" cy="4456925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6029" y="3075806"/>
              <a:ext cx="6611273" cy="2800741"/>
            </a:xfrm>
            <a:prstGeom prst="rect">
              <a:avLst/>
            </a:prstGeom>
          </p:spPr>
        </p:pic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43354" y="1419622"/>
              <a:ext cx="6603948" cy="1895740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/>
        </p:nvSpPr>
        <p:spPr>
          <a:xfrm>
            <a:off x="827584" y="4402890"/>
            <a:ext cx="4318930" cy="3754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4283968" y="4402889"/>
            <a:ext cx="862546" cy="375423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000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699792" y="4402888"/>
            <a:ext cx="1584176" cy="375423"/>
          </a:xfrm>
          <a:prstGeom prst="rect">
            <a:avLst/>
          </a:prstGeom>
          <a:solidFill>
            <a:srgbClr val="AEBD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00000</a:t>
            </a:r>
            <a:endParaRPr lang="zh-TW" altLang="en-US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4283968" y="4323171"/>
            <a:ext cx="8625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2627784" y="4323171"/>
            <a:ext cx="16561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827584" y="4858031"/>
            <a:ext cx="43189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2555776" y="4734921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/>
              <a:t>PCS_CTL</a:t>
            </a:r>
            <a:endParaRPr lang="zh-TW" altLang="en-US" sz="1000" b="1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4509268" y="4200059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err="1" smtClean="0"/>
              <a:t>cmd</a:t>
            </a:r>
            <a:endParaRPr lang="zh-TW" altLang="en-US" sz="1000" b="1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3111737" y="4200059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 err="1" smtClean="0"/>
              <a:t>param</a:t>
            </a:r>
            <a:endParaRPr lang="zh-TW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74709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(HW)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Power management </a:t>
            </a:r>
            <a:r>
              <a:rPr lang="en-US" altLang="zh-TW" b="1" dirty="0" smtClean="0">
                <a:solidFill>
                  <a:schemeClr val="accent2"/>
                </a:solidFill>
              </a:rPr>
              <a:t>(SW)</a:t>
            </a:r>
          </a:p>
          <a:p>
            <a:pPr lvl="1"/>
            <a:r>
              <a:rPr lang="en-US" altLang="zh-TW" sz="1800" dirty="0" err="1" smtClean="0">
                <a:solidFill>
                  <a:schemeClr val="bg1">
                    <a:lumMod val="75000"/>
                  </a:schemeClr>
                </a:solidFill>
              </a:rPr>
              <a:t>OpenSBI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375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Terminology of power management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/>
              <a:t>AE350 Power management status:</a:t>
            </a:r>
          </a:p>
          <a:p>
            <a:pPr lvl="1"/>
            <a:r>
              <a:rPr lang="en-US" altLang="zh-TW" sz="1400" b="1" dirty="0" smtClean="0"/>
              <a:t>Normal</a:t>
            </a:r>
            <a:endParaRPr lang="en-US" altLang="zh-TW" sz="1400" b="1" dirty="0"/>
          </a:p>
          <a:p>
            <a:pPr lvl="1"/>
            <a:r>
              <a:rPr lang="en-US" altLang="zh-TW" sz="1400" b="1" dirty="0" smtClean="0"/>
              <a:t>Suspend to idle (freeze)</a:t>
            </a:r>
          </a:p>
          <a:p>
            <a:pPr lvl="2"/>
            <a:r>
              <a:rPr lang="en-US" altLang="zh-TW" sz="1400" dirty="0" err="1" smtClean="0"/>
              <a:t>wfi</a:t>
            </a:r>
            <a:r>
              <a:rPr lang="en-US" altLang="zh-TW" sz="1400" dirty="0" smtClean="0"/>
              <a:t>()</a:t>
            </a:r>
          </a:p>
          <a:p>
            <a:pPr lvl="1"/>
            <a:r>
              <a:rPr lang="en-US" altLang="zh-TW" sz="1400" b="1" dirty="0" smtClean="0"/>
              <a:t>Suspend to idle (light sleep) </a:t>
            </a:r>
            <a:r>
              <a:rPr lang="en-US" altLang="zh-TW" sz="1400" b="1" dirty="0"/>
              <a:t>(</a:t>
            </a:r>
            <a:r>
              <a:rPr lang="en-US" altLang="zh-TW" sz="1400" b="1" dirty="0" smtClean="0"/>
              <a:t>half </a:t>
            </a:r>
            <a:r>
              <a:rPr lang="en-US" altLang="zh-TW" sz="1400" b="1" dirty="0"/>
              <a:t>PCS3)</a:t>
            </a:r>
            <a:endParaRPr lang="en-US" altLang="zh-TW" sz="1400" b="1" dirty="0" smtClean="0"/>
          </a:p>
          <a:p>
            <a:pPr lvl="2"/>
            <a:r>
              <a:rPr lang="en-US" altLang="zh-TW" sz="1400" dirty="0"/>
              <a:t>Disabled Core </a:t>
            </a:r>
            <a:r>
              <a:rPr lang="en-US" altLang="zh-TW" sz="1400" dirty="0" err="1" smtClean="0"/>
              <a:t>clk</a:t>
            </a:r>
            <a:endParaRPr lang="en-US" altLang="zh-TW" sz="1400" dirty="0" smtClean="0"/>
          </a:p>
          <a:p>
            <a:pPr lvl="3"/>
            <a:r>
              <a:rPr lang="en-US" altLang="zh-TW" sz="1400" dirty="0" smtClean="0"/>
              <a:t>Disable L1</a:t>
            </a:r>
          </a:p>
          <a:p>
            <a:pPr lvl="2"/>
            <a:r>
              <a:rPr lang="en-US" altLang="zh-TW" sz="1400" dirty="0" smtClean="0"/>
              <a:t>L2 still on</a:t>
            </a:r>
          </a:p>
          <a:p>
            <a:pPr lvl="1"/>
            <a:r>
              <a:rPr lang="en-US" altLang="zh-TW" sz="1400" b="1" dirty="0" smtClean="0"/>
              <a:t>Suspend to ram (deep </a:t>
            </a:r>
            <a:r>
              <a:rPr lang="en-US" altLang="zh-TW" sz="1400" b="1" dirty="0"/>
              <a:t>sleep</a:t>
            </a:r>
            <a:r>
              <a:rPr lang="en-US" altLang="zh-TW" sz="1400" b="1" dirty="0" smtClean="0"/>
              <a:t>) (PCS3)</a:t>
            </a:r>
          </a:p>
          <a:p>
            <a:pPr lvl="2"/>
            <a:r>
              <a:rPr lang="en-US" altLang="zh-TW" sz="1400" dirty="0" smtClean="0"/>
              <a:t>Core power down</a:t>
            </a:r>
            <a:endParaRPr lang="en-US" altLang="zh-TW" sz="1400" dirty="0"/>
          </a:p>
          <a:p>
            <a:pPr lvl="3"/>
            <a:r>
              <a:rPr lang="en-US" altLang="zh-TW" sz="1400" dirty="0"/>
              <a:t>Disable </a:t>
            </a:r>
            <a:r>
              <a:rPr lang="en-US" altLang="zh-TW" sz="1400" dirty="0" smtClean="0"/>
              <a:t>L1</a:t>
            </a:r>
          </a:p>
          <a:p>
            <a:pPr lvl="3"/>
            <a:r>
              <a:rPr lang="en-US" altLang="zh-TW" sz="1400" dirty="0" smtClean="0"/>
              <a:t>All Register reset</a:t>
            </a:r>
            <a:endParaRPr lang="en-US" altLang="zh-TW" sz="1400" dirty="0"/>
          </a:p>
          <a:p>
            <a:pPr lvl="2"/>
            <a:r>
              <a:rPr lang="en-US" altLang="zh-TW" sz="1400" dirty="0"/>
              <a:t>Disabled</a:t>
            </a:r>
            <a:r>
              <a:rPr lang="en-US" altLang="zh-TW" sz="1400" dirty="0" smtClean="0"/>
              <a:t> L2</a:t>
            </a:r>
          </a:p>
          <a:p>
            <a:pPr lvl="1"/>
            <a:r>
              <a:rPr lang="en-US" altLang="zh-TW" sz="1400" b="1" dirty="0" smtClean="0"/>
              <a:t>Suspend to disk (Not support) (PCS2)</a:t>
            </a:r>
          </a:p>
          <a:p>
            <a:pPr lvl="2"/>
            <a:r>
              <a:rPr lang="en-US" altLang="zh-TW" sz="1400" dirty="0"/>
              <a:t>Disabled Core </a:t>
            </a:r>
            <a:r>
              <a:rPr lang="en-US" altLang="zh-TW" sz="1400" dirty="0" err="1"/>
              <a:t>clk</a:t>
            </a:r>
            <a:endParaRPr lang="en-US" altLang="zh-TW" sz="1400" dirty="0"/>
          </a:p>
          <a:p>
            <a:pPr lvl="2"/>
            <a:r>
              <a:rPr lang="en-US" altLang="zh-TW" sz="1400" dirty="0" smtClean="0"/>
              <a:t>Disabled L2</a:t>
            </a:r>
          </a:p>
          <a:p>
            <a:pPr lvl="2"/>
            <a:r>
              <a:rPr lang="en-US" altLang="zh-TW" sz="1400" dirty="0" smtClean="0"/>
              <a:t>Disable Memory</a:t>
            </a:r>
            <a:endParaRPr lang="en-US" altLang="zh-TW" sz="1400" dirty="0"/>
          </a:p>
          <a:p>
            <a:pPr lvl="2"/>
            <a:endParaRPr lang="en-US" altLang="zh-TW" sz="12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131590"/>
            <a:ext cx="3869424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555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AE350 power up/down sequence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2602" y="627534"/>
            <a:ext cx="5358738" cy="4230497"/>
          </a:xfrm>
        </p:spPr>
        <p:txBody>
          <a:bodyPr/>
          <a:lstStyle/>
          <a:p>
            <a:r>
              <a:rPr lang="en-US" altLang="zh-TW" sz="1000" dirty="0" smtClean="0"/>
              <a:t>Power down sequence</a:t>
            </a:r>
          </a:p>
          <a:p>
            <a:pPr lvl="1"/>
            <a:r>
              <a:rPr lang="en-US" altLang="zh-TW" sz="1000" dirty="0"/>
              <a:t>User</a:t>
            </a:r>
          </a:p>
          <a:p>
            <a:pPr lvl="2"/>
            <a:r>
              <a:rPr lang="en-US" altLang="zh-TW" sz="1000" dirty="0"/>
              <a:t>echo 0 &gt; /</a:t>
            </a:r>
            <a:r>
              <a:rPr lang="en-US" altLang="zh-TW" sz="1000" dirty="0" smtClean="0"/>
              <a:t>sys/devices/system/</a:t>
            </a:r>
            <a:r>
              <a:rPr lang="en-US" altLang="zh-TW" sz="1000" dirty="0" err="1" smtClean="0"/>
              <a:t>cpu</a:t>
            </a:r>
            <a:r>
              <a:rPr lang="en-US" altLang="zh-TW" sz="1000" dirty="0" smtClean="0"/>
              <a:t>/</a:t>
            </a:r>
            <a:r>
              <a:rPr lang="en-US" altLang="zh-TW" sz="1000" dirty="0" err="1" smtClean="0"/>
              <a:t>cpu</a:t>
            </a:r>
            <a:r>
              <a:rPr lang="en-US" altLang="zh-TW" sz="1000" dirty="0" smtClean="0"/>
              <a:t>[n]/online</a:t>
            </a:r>
          </a:p>
          <a:p>
            <a:pPr lvl="2"/>
            <a:r>
              <a:rPr lang="en-US" altLang="zh-TW" sz="1000" dirty="0"/>
              <a:t>echo standby &gt; /</a:t>
            </a:r>
            <a:r>
              <a:rPr lang="en-US" altLang="zh-TW" sz="1000" dirty="0" smtClean="0"/>
              <a:t>sys/power/state</a:t>
            </a:r>
          </a:p>
          <a:p>
            <a:pPr lvl="2"/>
            <a:r>
              <a:rPr lang="en-US" altLang="zh-TW" sz="1000" dirty="0"/>
              <a:t>echo </a:t>
            </a:r>
            <a:r>
              <a:rPr lang="en-US" altLang="zh-TW" sz="1000" dirty="0" smtClean="0"/>
              <a:t>mem </a:t>
            </a:r>
            <a:r>
              <a:rPr lang="en-US" altLang="zh-TW" sz="1000" dirty="0"/>
              <a:t>&gt; /</a:t>
            </a:r>
            <a:r>
              <a:rPr lang="en-US" altLang="zh-TW" sz="1000" dirty="0" smtClean="0"/>
              <a:t>sys/power/state</a:t>
            </a:r>
          </a:p>
          <a:p>
            <a:pPr lvl="1"/>
            <a:r>
              <a:rPr lang="en-US" altLang="zh-TW" sz="1200" dirty="0" smtClean="0">
                <a:solidFill>
                  <a:srgbClr val="FF0000"/>
                </a:solidFill>
              </a:rPr>
              <a:t>Core[n</a:t>
            </a:r>
            <a:r>
              <a:rPr lang="en-US" altLang="zh-TW" sz="1200" dirty="0">
                <a:solidFill>
                  <a:srgbClr val="FF0000"/>
                </a:solidFill>
              </a:rPr>
              <a:t>]</a:t>
            </a:r>
            <a:r>
              <a:rPr lang="en-US" altLang="zh-TW" sz="1200" dirty="0" smtClean="0">
                <a:solidFill>
                  <a:srgbClr val="FF0000"/>
                </a:solidFill>
              </a:rPr>
              <a:t> (</a:t>
            </a:r>
            <a:r>
              <a:rPr lang="en-US" altLang="zh-TW" sz="1200" dirty="0">
                <a:solidFill>
                  <a:srgbClr val="FF0000"/>
                </a:solidFill>
              </a:rPr>
              <a:t>Software </a:t>
            </a:r>
            <a:r>
              <a:rPr lang="en-US" altLang="zh-TW" sz="1200" dirty="0" err="1" smtClean="0">
                <a:solidFill>
                  <a:srgbClr val="FF0000"/>
                </a:solidFill>
              </a:rPr>
              <a:t>OpenSBI</a:t>
            </a:r>
            <a:r>
              <a:rPr lang="en-US" altLang="zh-TW" sz="1200" dirty="0" smtClean="0">
                <a:solidFill>
                  <a:srgbClr val="FF0000"/>
                </a:solidFill>
              </a:rPr>
              <a:t> </a:t>
            </a:r>
            <a:r>
              <a:rPr lang="en-US" altLang="zh-TW" sz="1200" dirty="0" err="1" smtClean="0">
                <a:solidFill>
                  <a:srgbClr val="FF0000"/>
                </a:solidFill>
              </a:rPr>
              <a:t>smu.c</a:t>
            </a:r>
            <a:r>
              <a:rPr lang="en-US" altLang="zh-TW" sz="1200" dirty="0" smtClean="0">
                <a:solidFill>
                  <a:srgbClr val="FF0000"/>
                </a:solidFill>
              </a:rPr>
              <a:t>)</a:t>
            </a:r>
          </a:p>
          <a:p>
            <a:pPr lvl="2"/>
            <a:r>
              <a:rPr lang="en-US" altLang="zh-TW" sz="1000" dirty="0" smtClean="0">
                <a:solidFill>
                  <a:srgbClr val="FF0000"/>
                </a:solidFill>
              </a:rPr>
              <a:t>Need to be implemented</a:t>
            </a:r>
            <a:endParaRPr lang="en-US" altLang="zh-TW" sz="1000" dirty="0">
              <a:solidFill>
                <a:srgbClr val="FF0000"/>
              </a:solidFill>
            </a:endParaRPr>
          </a:p>
          <a:p>
            <a:pPr lvl="1"/>
            <a:r>
              <a:rPr lang="en-US" altLang="zh-TW" sz="1000" dirty="0" smtClean="0"/>
              <a:t>AE350 </a:t>
            </a:r>
            <a:r>
              <a:rPr lang="en-US" altLang="zh-TW" sz="1000" dirty="0"/>
              <a:t>SMU (Hardware)</a:t>
            </a:r>
          </a:p>
          <a:p>
            <a:pPr lvl="2"/>
            <a:r>
              <a:rPr lang="en-US" altLang="zh-TW" sz="1000" dirty="0"/>
              <a:t>Disable </a:t>
            </a:r>
            <a:r>
              <a:rPr lang="en-US" altLang="zh-TW" sz="1000" dirty="0" err="1"/>
              <a:t>core_clk</a:t>
            </a:r>
            <a:r>
              <a:rPr lang="en-US" altLang="zh-TW" sz="1000" dirty="0"/>
              <a:t>, </a:t>
            </a:r>
            <a:r>
              <a:rPr lang="en-US" altLang="zh-TW" sz="1000" dirty="0" err="1"/>
              <a:t>lm_clk</a:t>
            </a:r>
            <a:r>
              <a:rPr lang="en-US" altLang="zh-TW" sz="1000" dirty="0"/>
              <a:t>, </a:t>
            </a:r>
            <a:r>
              <a:rPr lang="en-US" altLang="zh-TW" sz="1000" dirty="0" err="1"/>
              <a:t>dcu_clk</a:t>
            </a:r>
            <a:endParaRPr lang="en-US" altLang="zh-TW" sz="1000" dirty="0"/>
          </a:p>
          <a:p>
            <a:pPr lvl="2"/>
            <a:r>
              <a:rPr lang="en-US" altLang="zh-TW" sz="1000" dirty="0"/>
              <a:t>Activate power clamps (UPF simulation)</a:t>
            </a:r>
          </a:p>
          <a:p>
            <a:pPr lvl="2"/>
            <a:r>
              <a:rPr lang="en-US" altLang="zh-TW" sz="1000" dirty="0"/>
              <a:t>Remove power</a:t>
            </a:r>
            <a:r>
              <a:rPr lang="zh-TW" altLang="en-US" sz="1000" dirty="0"/>
              <a:t> </a:t>
            </a:r>
            <a:r>
              <a:rPr lang="en-US" altLang="zh-TW" sz="1000" dirty="0"/>
              <a:t>(UPF simulation)</a:t>
            </a:r>
          </a:p>
          <a:p>
            <a:pPr lvl="2"/>
            <a:r>
              <a:rPr lang="en-US" altLang="zh-TW" sz="1000" dirty="0"/>
              <a:t>Assert </a:t>
            </a:r>
            <a:r>
              <a:rPr lang="en-US" altLang="zh-TW" sz="1000" dirty="0" err="1"/>
              <a:t>core_reset_n</a:t>
            </a:r>
            <a:r>
              <a:rPr lang="en-US" altLang="zh-TW" sz="1000" dirty="0"/>
              <a:t> </a:t>
            </a:r>
            <a:endParaRPr lang="en-US" altLang="zh-TW" sz="1000" dirty="0" smtClean="0"/>
          </a:p>
          <a:p>
            <a:r>
              <a:rPr lang="en-US" altLang="zh-TW" sz="1000" dirty="0" smtClean="0"/>
              <a:t>Power up </a:t>
            </a:r>
            <a:r>
              <a:rPr lang="en-US" altLang="zh-TW" sz="1000" dirty="0"/>
              <a:t>sequence</a:t>
            </a:r>
          </a:p>
          <a:p>
            <a:pPr lvl="1"/>
            <a:r>
              <a:rPr lang="en-US" altLang="zh-TW" sz="1000" dirty="0"/>
              <a:t>User</a:t>
            </a:r>
          </a:p>
          <a:p>
            <a:pPr lvl="2"/>
            <a:r>
              <a:rPr lang="en-US" altLang="zh-TW" sz="1000" dirty="0"/>
              <a:t>echo 1 &gt; /</a:t>
            </a:r>
            <a:r>
              <a:rPr lang="en-US" altLang="zh-TW" sz="1000" dirty="0" smtClean="0"/>
              <a:t>sys/devices/system/</a:t>
            </a:r>
            <a:r>
              <a:rPr lang="en-US" altLang="zh-TW" sz="1000" dirty="0" err="1" smtClean="0"/>
              <a:t>cpu</a:t>
            </a:r>
            <a:r>
              <a:rPr lang="en-US" altLang="zh-TW" sz="1000" dirty="0" smtClean="0"/>
              <a:t>/</a:t>
            </a:r>
            <a:r>
              <a:rPr lang="en-US" altLang="zh-TW" sz="1000" dirty="0" err="1" smtClean="0"/>
              <a:t>cpu</a:t>
            </a:r>
            <a:r>
              <a:rPr lang="en-US" altLang="zh-TW" sz="1000" dirty="0"/>
              <a:t>[n]</a:t>
            </a:r>
            <a:r>
              <a:rPr lang="en-US" altLang="zh-TW" sz="1000" dirty="0" smtClean="0"/>
              <a:t>/online</a:t>
            </a:r>
          </a:p>
          <a:p>
            <a:pPr lvl="2"/>
            <a:r>
              <a:rPr lang="en-US" altLang="zh-TW" sz="1000" dirty="0" err="1" smtClean="0"/>
              <a:t>Rtc</a:t>
            </a:r>
            <a:r>
              <a:rPr lang="en-US" altLang="zh-TW" sz="1000" dirty="0" smtClean="0"/>
              <a:t> or </a:t>
            </a:r>
            <a:r>
              <a:rPr lang="en-US" altLang="zh-TW" sz="1000" dirty="0" err="1" smtClean="0"/>
              <a:t>uart</a:t>
            </a:r>
            <a:r>
              <a:rPr lang="en-US" altLang="zh-TW" sz="1000" dirty="0" smtClean="0"/>
              <a:t> wakeup</a:t>
            </a:r>
            <a:endParaRPr lang="en-US" altLang="zh-TW" sz="1000" dirty="0"/>
          </a:p>
          <a:p>
            <a:pPr lvl="1"/>
            <a:r>
              <a:rPr lang="en-US" altLang="zh-TW" sz="1000" dirty="0" smtClean="0">
                <a:solidFill>
                  <a:srgbClr val="FF0000"/>
                </a:solidFill>
              </a:rPr>
              <a:t>Core[n] (</a:t>
            </a:r>
            <a:r>
              <a:rPr lang="en-US" altLang="zh-TW" sz="1000" dirty="0">
                <a:solidFill>
                  <a:srgbClr val="FF0000"/>
                </a:solidFill>
              </a:rPr>
              <a:t>Software </a:t>
            </a:r>
            <a:r>
              <a:rPr lang="en-US" altLang="zh-TW" sz="1000" dirty="0" err="1">
                <a:solidFill>
                  <a:srgbClr val="FF0000"/>
                </a:solidFill>
              </a:rPr>
              <a:t>OpenSBI</a:t>
            </a:r>
            <a:r>
              <a:rPr lang="en-US" altLang="zh-TW" sz="1000" dirty="0">
                <a:solidFill>
                  <a:srgbClr val="FF0000"/>
                </a:solidFill>
              </a:rPr>
              <a:t> </a:t>
            </a:r>
            <a:r>
              <a:rPr lang="en-US" altLang="zh-TW" sz="1000" dirty="0" err="1">
                <a:solidFill>
                  <a:srgbClr val="FF0000"/>
                </a:solidFill>
              </a:rPr>
              <a:t>smu.c</a:t>
            </a:r>
            <a:r>
              <a:rPr lang="en-US" altLang="zh-TW" sz="1000" dirty="0" smtClean="0">
                <a:solidFill>
                  <a:srgbClr val="FF0000"/>
                </a:solidFill>
              </a:rPr>
              <a:t>)</a:t>
            </a:r>
          </a:p>
          <a:p>
            <a:pPr lvl="2"/>
            <a:r>
              <a:rPr lang="en-US" altLang="zh-TW" sz="1000" dirty="0">
                <a:solidFill>
                  <a:srgbClr val="FF0000"/>
                </a:solidFill>
              </a:rPr>
              <a:t>Need to be </a:t>
            </a:r>
            <a:r>
              <a:rPr lang="en-US" altLang="zh-TW" sz="1000" dirty="0" smtClean="0">
                <a:solidFill>
                  <a:srgbClr val="FF0000"/>
                </a:solidFill>
              </a:rPr>
              <a:t>implemented</a:t>
            </a:r>
            <a:endParaRPr lang="en-US" altLang="zh-TW" sz="1000" dirty="0">
              <a:solidFill>
                <a:srgbClr val="FF0000"/>
              </a:solidFill>
            </a:endParaRPr>
          </a:p>
          <a:p>
            <a:pPr lvl="1"/>
            <a:r>
              <a:rPr lang="en-US" altLang="zh-TW" sz="1000" dirty="0" smtClean="0"/>
              <a:t>AE350 </a:t>
            </a:r>
            <a:r>
              <a:rPr lang="en-US" altLang="zh-TW" sz="1000" dirty="0"/>
              <a:t>SMU (Hardware)</a:t>
            </a:r>
          </a:p>
          <a:p>
            <a:pPr lvl="2"/>
            <a:r>
              <a:rPr lang="en-US" altLang="zh-TW" sz="1000" dirty="0"/>
              <a:t>Assert </a:t>
            </a:r>
            <a:r>
              <a:rPr lang="en-US" altLang="zh-TW" sz="1000" dirty="0" err="1"/>
              <a:t>core_reset_n</a:t>
            </a:r>
            <a:endParaRPr lang="en-US" altLang="zh-TW" sz="1000" dirty="0"/>
          </a:p>
          <a:p>
            <a:pPr lvl="2"/>
            <a:r>
              <a:rPr lang="en-US" altLang="zh-TW" sz="1000" dirty="0"/>
              <a:t>Enable </a:t>
            </a:r>
            <a:r>
              <a:rPr lang="en-US" altLang="zh-TW" sz="1000" dirty="0" err="1"/>
              <a:t>core_clk</a:t>
            </a:r>
            <a:r>
              <a:rPr lang="en-US" altLang="zh-TW" sz="1000" dirty="0"/>
              <a:t>, </a:t>
            </a:r>
            <a:r>
              <a:rPr lang="en-US" altLang="zh-TW" sz="1000" dirty="0" err="1"/>
              <a:t>lm_clk</a:t>
            </a:r>
            <a:r>
              <a:rPr lang="en-US" altLang="zh-TW" sz="1000" dirty="0"/>
              <a:t>, </a:t>
            </a:r>
            <a:r>
              <a:rPr lang="en-US" altLang="zh-TW" sz="1000" dirty="0" err="1"/>
              <a:t>dcu_clk</a:t>
            </a:r>
            <a:endParaRPr lang="en-US" altLang="zh-TW" sz="1000" dirty="0"/>
          </a:p>
          <a:p>
            <a:pPr lvl="2"/>
            <a:r>
              <a:rPr lang="en-US" altLang="zh-TW" sz="1000" dirty="0"/>
              <a:t>Apply Power (UPF Simulation)</a:t>
            </a:r>
          </a:p>
          <a:p>
            <a:pPr lvl="2"/>
            <a:r>
              <a:rPr lang="en-US" altLang="zh-TW" sz="1000" dirty="0"/>
              <a:t>Disable power clamps (UPF simulation)</a:t>
            </a:r>
          </a:p>
          <a:p>
            <a:pPr lvl="2"/>
            <a:r>
              <a:rPr lang="en-US" altLang="zh-TW" sz="1000" dirty="0"/>
              <a:t>De-assert </a:t>
            </a:r>
            <a:r>
              <a:rPr lang="en-US" altLang="zh-TW" sz="1000" dirty="0" err="1"/>
              <a:t>core_reset_n</a:t>
            </a:r>
            <a:endParaRPr lang="en-US" altLang="zh-TW" sz="1000" dirty="0"/>
          </a:p>
          <a:p>
            <a:endParaRPr lang="en-US" altLang="zh-TW" sz="1800" dirty="0"/>
          </a:p>
          <a:p>
            <a:pPr marL="1371566" lvl="3" indent="0">
              <a:buNone/>
            </a:pP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5" name="矩形 4"/>
          <p:cNvSpPr/>
          <p:nvPr/>
        </p:nvSpPr>
        <p:spPr>
          <a:xfrm>
            <a:off x="7020780" y="771550"/>
            <a:ext cx="1224136" cy="57606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sysfs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020780" y="1635646"/>
            <a:ext cx="1224136" cy="60757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PM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7020272" y="2498428"/>
            <a:ext cx="1224136" cy="5760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HSM</a:t>
            </a:r>
            <a:endParaRPr lang="zh-TW" altLang="en-US" dirty="0"/>
          </a:p>
        </p:txBody>
      </p:sp>
      <p:cxnSp>
        <p:nvCxnSpPr>
          <p:cNvPr id="13" name="直線接點 12"/>
          <p:cNvCxnSpPr/>
          <p:nvPr/>
        </p:nvCxnSpPr>
        <p:spPr>
          <a:xfrm>
            <a:off x="6588224" y="3219822"/>
            <a:ext cx="25396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026325" y="3354851"/>
            <a:ext cx="1224136" cy="5760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SMU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7502169" y="4124314"/>
            <a:ext cx="720080" cy="5760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mem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388423" y="4124314"/>
            <a:ext cx="739417" cy="5760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bus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615915" y="4124314"/>
            <a:ext cx="720080" cy="5760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cpu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5652120" y="4124314"/>
            <a:ext cx="813781" cy="5760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Peripheral device</a:t>
            </a:r>
            <a:endParaRPr lang="zh-TW" altLang="en-US" sz="1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8630453" y="285049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sw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8604448" y="314781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h</a:t>
            </a:r>
            <a:r>
              <a:rPr lang="en-US" altLang="zh-TW" dirty="0" err="1" smtClean="0"/>
              <a:t>w</a:t>
            </a:r>
            <a:endParaRPr lang="zh-TW" altLang="en-US" dirty="0"/>
          </a:p>
        </p:txBody>
      </p:sp>
      <p:cxnSp>
        <p:nvCxnSpPr>
          <p:cNvPr id="23" name="直線單箭頭接點 22"/>
          <p:cNvCxnSpPr>
            <a:stCxn id="15" idx="2"/>
          </p:cNvCxnSpPr>
          <p:nvPr/>
        </p:nvCxnSpPr>
        <p:spPr>
          <a:xfrm flipH="1">
            <a:off x="6059010" y="3930915"/>
            <a:ext cx="1579383" cy="183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5" idx="2"/>
            <a:endCxn id="18" idx="0"/>
          </p:cNvCxnSpPr>
          <p:nvPr/>
        </p:nvCxnSpPr>
        <p:spPr>
          <a:xfrm flipH="1">
            <a:off x="6975955" y="3930915"/>
            <a:ext cx="662438" cy="19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5" idx="2"/>
            <a:endCxn id="16" idx="0"/>
          </p:cNvCxnSpPr>
          <p:nvPr/>
        </p:nvCxnSpPr>
        <p:spPr>
          <a:xfrm>
            <a:off x="7638393" y="3930915"/>
            <a:ext cx="223816" cy="19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5" idx="2"/>
            <a:endCxn id="17" idx="0"/>
          </p:cNvCxnSpPr>
          <p:nvPr/>
        </p:nvCxnSpPr>
        <p:spPr>
          <a:xfrm>
            <a:off x="7638393" y="3930915"/>
            <a:ext cx="1119739" cy="19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5" idx="2"/>
            <a:endCxn id="11" idx="0"/>
          </p:cNvCxnSpPr>
          <p:nvPr/>
        </p:nvCxnSpPr>
        <p:spPr>
          <a:xfrm>
            <a:off x="7632848" y="1347614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11" idx="2"/>
            <a:endCxn id="12" idx="0"/>
          </p:cNvCxnSpPr>
          <p:nvPr/>
        </p:nvCxnSpPr>
        <p:spPr>
          <a:xfrm flipH="1">
            <a:off x="7632340" y="2243220"/>
            <a:ext cx="508" cy="255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12" idx="2"/>
            <a:endCxn id="15" idx="0"/>
          </p:cNvCxnSpPr>
          <p:nvPr/>
        </p:nvCxnSpPr>
        <p:spPr>
          <a:xfrm>
            <a:off x="7632340" y="3074492"/>
            <a:ext cx="6053" cy="280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975955" y="2418792"/>
            <a:ext cx="1340462" cy="729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131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(HW)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Power management </a:t>
            </a:r>
            <a:r>
              <a:rPr lang="en-US" altLang="zh-TW" b="1" dirty="0" smtClean="0">
                <a:solidFill>
                  <a:schemeClr val="accent2"/>
                </a:solidFill>
              </a:rPr>
              <a:t>(SW)</a:t>
            </a:r>
          </a:p>
          <a:p>
            <a:pPr lvl="1"/>
            <a:r>
              <a:rPr lang="en-US" altLang="zh-TW" sz="1800" b="1" dirty="0" err="1" smtClean="0">
                <a:solidFill>
                  <a:schemeClr val="accent2"/>
                </a:solidFill>
              </a:rPr>
              <a:t>OpenSBI</a:t>
            </a:r>
            <a:r>
              <a:rPr lang="en-US" altLang="zh-TW" sz="1800" b="1" dirty="0" smtClean="0">
                <a:solidFill>
                  <a:schemeClr val="accent2"/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092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err="1" smtClean="0"/>
              <a:t>OpenSBI</a:t>
            </a:r>
            <a:r>
              <a:rPr lang="en-US" altLang="zh-TW" dirty="0" smtClean="0"/>
              <a:t> HSM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0823" y="644017"/>
            <a:ext cx="8771886" cy="432048"/>
          </a:xfrm>
        </p:spPr>
        <p:txBody>
          <a:bodyPr/>
          <a:lstStyle/>
          <a:p>
            <a:r>
              <a:rPr lang="en-US" altLang="zh-TW" sz="1600" dirty="0" err="1" smtClean="0"/>
              <a:t>OpenSBI</a:t>
            </a:r>
            <a:r>
              <a:rPr lang="en-US" altLang="zh-TW" sz="1600" dirty="0" smtClean="0"/>
              <a:t> HSM (</a:t>
            </a:r>
            <a:r>
              <a:rPr lang="en-US" altLang="zh-TW" sz="1600" dirty="0"/>
              <a:t>Hart State Management </a:t>
            </a:r>
            <a:r>
              <a:rPr lang="en-US" altLang="zh-TW" sz="1600" dirty="0" smtClean="0"/>
              <a:t>Extension)</a:t>
            </a:r>
          </a:p>
          <a:p>
            <a:pPr marL="1371566" lvl="3" indent="0">
              <a:buNone/>
            </a:pP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3074" name="Picture 2" descr="riscv sbi hs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76065"/>
            <a:ext cx="6192688" cy="365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/>
          <p:cNvSpPr/>
          <p:nvPr/>
        </p:nvSpPr>
        <p:spPr>
          <a:xfrm>
            <a:off x="554094" y="2891198"/>
            <a:ext cx="5890114" cy="1713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6588224" y="3219822"/>
            <a:ext cx="2448271" cy="100811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Current Andes </a:t>
            </a:r>
            <a:r>
              <a:rPr lang="en-US" altLang="zh-TW" sz="1400" dirty="0" err="1" smtClean="0"/>
              <a:t>OpenSBI</a:t>
            </a:r>
            <a:r>
              <a:rPr lang="en-US" altLang="zh-TW" sz="1400" dirty="0" smtClean="0"/>
              <a:t> has not implemented suspend status.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94846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36" y="1707654"/>
            <a:ext cx="6206402" cy="216024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660232" y="627535"/>
            <a:ext cx="2483768" cy="4248471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err="1" smtClean="0"/>
              <a:t>OpenSBI</a:t>
            </a:r>
            <a:r>
              <a:rPr lang="en-US" altLang="zh-TW" dirty="0" smtClean="0"/>
              <a:t> SMU Driver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2602" y="627535"/>
            <a:ext cx="5358738" cy="432048"/>
          </a:xfrm>
        </p:spPr>
        <p:txBody>
          <a:bodyPr/>
          <a:lstStyle/>
          <a:p>
            <a:r>
              <a:rPr lang="en-US" altLang="zh-TW" sz="1600" dirty="0" err="1" smtClean="0"/>
              <a:t>OpenSBI</a:t>
            </a:r>
            <a:r>
              <a:rPr lang="en-US" altLang="zh-TW" sz="1600" dirty="0" smtClean="0"/>
              <a:t> HSM + SMU driver</a:t>
            </a:r>
          </a:p>
          <a:p>
            <a:pPr marL="1371566" lvl="3" indent="0">
              <a:buNone/>
            </a:pP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10" name="矩形 9"/>
          <p:cNvSpPr/>
          <p:nvPr/>
        </p:nvSpPr>
        <p:spPr>
          <a:xfrm>
            <a:off x="528801" y="4011910"/>
            <a:ext cx="2242999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Trigger hart stop</a:t>
            </a:r>
            <a:endParaRPr lang="zh-TW" altLang="en-US" dirty="0"/>
          </a:p>
        </p:txBody>
      </p:sp>
      <p:sp>
        <p:nvSpPr>
          <p:cNvPr id="11" name="向右箭號 10"/>
          <p:cNvSpPr/>
          <p:nvPr/>
        </p:nvSpPr>
        <p:spPr>
          <a:xfrm rot="17211167">
            <a:off x="1518636" y="3534650"/>
            <a:ext cx="720080" cy="216024"/>
          </a:xfrm>
          <a:prstGeom prst="rightArrow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766238" y="1226457"/>
            <a:ext cx="2352680" cy="130535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Enter sleep mode: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Deep sleep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Light sleep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err="1" smtClean="0"/>
              <a:t>Cpu</a:t>
            </a:r>
            <a:r>
              <a:rPr lang="en-US" altLang="zh-TW" sz="1400" dirty="0" smtClean="0"/>
              <a:t> hotplug with deep sleep</a:t>
            </a:r>
            <a:endParaRPr lang="zh-TW" altLang="en-US" sz="1400" dirty="0"/>
          </a:p>
        </p:txBody>
      </p:sp>
      <p:sp>
        <p:nvSpPr>
          <p:cNvPr id="15" name="向右箭號 14"/>
          <p:cNvSpPr/>
          <p:nvPr/>
        </p:nvSpPr>
        <p:spPr>
          <a:xfrm rot="18413624">
            <a:off x="6241558" y="2254879"/>
            <a:ext cx="576064" cy="216024"/>
          </a:xfrm>
          <a:prstGeom prst="rightArrow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6762114" y="3499325"/>
            <a:ext cx="2352680" cy="130535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Exit sleep mode: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Deep sleep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Light sleep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err="1" smtClean="0"/>
              <a:t>Cpu</a:t>
            </a:r>
            <a:r>
              <a:rPr lang="en-US" altLang="zh-TW" sz="1400" dirty="0" smtClean="0"/>
              <a:t> hotplug with deep sleep</a:t>
            </a:r>
            <a:endParaRPr lang="zh-TW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6784764" y="2731957"/>
            <a:ext cx="2330030" cy="629138"/>
          </a:xfrm>
          <a:prstGeom prst="rect">
            <a:avLst/>
          </a:prstGeom>
          <a:solidFill>
            <a:srgbClr val="AEBD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SMU hardware</a:t>
            </a:r>
            <a:endParaRPr lang="zh-TW" altLang="en-US" dirty="0"/>
          </a:p>
        </p:txBody>
      </p:sp>
      <p:sp>
        <p:nvSpPr>
          <p:cNvPr id="18" name="向右箭號 17"/>
          <p:cNvSpPr/>
          <p:nvPr/>
        </p:nvSpPr>
        <p:spPr>
          <a:xfrm rot="5400000">
            <a:off x="7778978" y="2603005"/>
            <a:ext cx="304550" cy="216024"/>
          </a:xfrm>
          <a:prstGeom prst="rightArrow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右箭號 18"/>
          <p:cNvSpPr/>
          <p:nvPr/>
        </p:nvSpPr>
        <p:spPr>
          <a:xfrm rot="5400000">
            <a:off x="7803244" y="3239038"/>
            <a:ext cx="304550" cy="216024"/>
          </a:xfrm>
          <a:prstGeom prst="rightArrow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右箭號 19"/>
          <p:cNvSpPr/>
          <p:nvPr/>
        </p:nvSpPr>
        <p:spPr>
          <a:xfrm rot="15164885">
            <a:off x="5703430" y="3534651"/>
            <a:ext cx="1652321" cy="216024"/>
          </a:xfrm>
          <a:prstGeom prst="rightArrow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6859086" y="740592"/>
            <a:ext cx="21587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err="1" smtClean="0"/>
              <a:t>OpenSBI</a:t>
            </a:r>
            <a:r>
              <a:rPr lang="en-US" altLang="zh-TW" sz="1600" dirty="0" smtClean="0"/>
              <a:t> SMU driver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39808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2322"/>
            <a:ext cx="7632848" cy="576064"/>
          </a:xfrm>
        </p:spPr>
        <p:txBody>
          <a:bodyPr/>
          <a:lstStyle/>
          <a:p>
            <a:r>
              <a:rPr lang="en-US" altLang="zh-TW" sz="3000" dirty="0"/>
              <a:t>System overall flow for power </a:t>
            </a:r>
            <a:r>
              <a:rPr lang="en-US" altLang="zh-TW" sz="3000" dirty="0" smtClean="0"/>
              <a:t>management</a:t>
            </a:r>
            <a:endParaRPr lang="zh-TW" altLang="en-US" sz="3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1263523" y="578386"/>
            <a:ext cx="6680253" cy="4356537"/>
            <a:chOff x="1263523" y="578386"/>
            <a:chExt cx="6680253" cy="4356537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3523" y="704426"/>
              <a:ext cx="6514963" cy="4076712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7007672" y="578386"/>
              <a:ext cx="936104" cy="648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273585" y="4286851"/>
              <a:ext cx="936104" cy="648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246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(HW)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Power management </a:t>
            </a:r>
            <a:r>
              <a:rPr lang="en-US" altLang="zh-TW" b="1" dirty="0" smtClean="0">
                <a:solidFill>
                  <a:schemeClr val="accent2"/>
                </a:solidFill>
              </a:rPr>
              <a:t>(SW)</a:t>
            </a:r>
          </a:p>
          <a:p>
            <a:pPr lvl="1"/>
            <a:r>
              <a:rPr lang="en-US" altLang="zh-TW" sz="1800" b="1" dirty="0" err="1" smtClean="0">
                <a:solidFill>
                  <a:schemeClr val="accent2"/>
                </a:solidFill>
              </a:rPr>
              <a:t>OpenSBI</a:t>
            </a:r>
            <a:r>
              <a:rPr lang="en-US" altLang="zh-TW" sz="1800" b="1" dirty="0" smtClean="0">
                <a:solidFill>
                  <a:schemeClr val="accent2"/>
                </a:solidFill>
              </a:rPr>
              <a:t> SMU Driver</a:t>
            </a:r>
          </a:p>
          <a:p>
            <a:pPr lvl="2"/>
            <a:r>
              <a:rPr lang="en-US" altLang="zh-TW" sz="1600" b="1" dirty="0" smtClean="0">
                <a:solidFill>
                  <a:schemeClr val="accent2"/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9873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251520" y="1408782"/>
            <a:ext cx="1872208" cy="216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/>
        </p:nvSpPr>
        <p:spPr>
          <a:xfrm>
            <a:off x="683568" y="1582518"/>
            <a:ext cx="1152128" cy="1800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2195736" y="1408782"/>
            <a:ext cx="6552728" cy="216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2282964" y="1624806"/>
            <a:ext cx="1152128" cy="1800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3563888" y="1624806"/>
            <a:ext cx="1152128" cy="1800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6156176" y="1624806"/>
            <a:ext cx="1152128" cy="1800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Light sleep Implementation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767009" y="1741749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process </a:t>
            </a:r>
          </a:p>
          <a:p>
            <a:pPr algn="ctr"/>
            <a:r>
              <a:rPr lang="en-US" altLang="zh-TW" sz="1200" dirty="0" smtClean="0"/>
              <a:t>suspend</a:t>
            </a:r>
            <a:endParaRPr lang="zh-TW" altLang="en-US" sz="1200" dirty="0"/>
          </a:p>
        </p:txBody>
      </p:sp>
      <p:sp>
        <p:nvSpPr>
          <p:cNvPr id="9" name="矩形 8"/>
          <p:cNvSpPr/>
          <p:nvPr/>
        </p:nvSpPr>
        <p:spPr>
          <a:xfrm>
            <a:off x="747868" y="2796108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Driver </a:t>
            </a:r>
          </a:p>
          <a:p>
            <a:pPr algn="ctr"/>
            <a:r>
              <a:rPr lang="en-US" altLang="zh-TW" sz="1200" dirty="0" smtClean="0"/>
              <a:t>suspend</a:t>
            </a:r>
            <a:endParaRPr lang="zh-TW" altLang="en-US" sz="1200" dirty="0"/>
          </a:p>
        </p:txBody>
      </p:sp>
      <p:sp>
        <p:nvSpPr>
          <p:cNvPr id="10" name="矩形 9"/>
          <p:cNvSpPr/>
          <p:nvPr/>
        </p:nvSpPr>
        <p:spPr>
          <a:xfrm>
            <a:off x="6228184" y="1743935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Disable </a:t>
            </a:r>
          </a:p>
          <a:p>
            <a:pPr algn="ctr"/>
            <a:r>
              <a:rPr lang="en-US" altLang="zh-TW" sz="1200" dirty="0" smtClean="0"/>
              <a:t>D$</a:t>
            </a:r>
            <a:endParaRPr lang="zh-TW" altLang="en-US" sz="1200" dirty="0"/>
          </a:p>
        </p:txBody>
      </p:sp>
      <p:sp>
        <p:nvSpPr>
          <p:cNvPr id="11" name="矩形 10"/>
          <p:cNvSpPr/>
          <p:nvPr/>
        </p:nvSpPr>
        <p:spPr>
          <a:xfrm>
            <a:off x="6228184" y="2298232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Write back</a:t>
            </a:r>
          </a:p>
          <a:p>
            <a:pPr algn="ctr"/>
            <a:r>
              <a:rPr lang="en-US" altLang="zh-TW" sz="1200" dirty="0" smtClean="0"/>
              <a:t>D$</a:t>
            </a:r>
            <a:endParaRPr lang="zh-TW" altLang="en-US" sz="1200" dirty="0"/>
          </a:p>
        </p:txBody>
      </p:sp>
      <p:sp>
        <p:nvSpPr>
          <p:cNvPr id="12" name="矩形 11"/>
          <p:cNvSpPr/>
          <p:nvPr/>
        </p:nvSpPr>
        <p:spPr>
          <a:xfrm>
            <a:off x="6228184" y="2852529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Disable CM</a:t>
            </a:r>
            <a:endParaRPr lang="zh-TW" altLang="en-US" sz="1200" dirty="0"/>
          </a:p>
        </p:txBody>
      </p:sp>
      <p:sp>
        <p:nvSpPr>
          <p:cNvPr id="13" name="矩形 12"/>
          <p:cNvSpPr/>
          <p:nvPr/>
        </p:nvSpPr>
        <p:spPr>
          <a:xfrm>
            <a:off x="3635896" y="1743935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Set </a:t>
            </a:r>
          </a:p>
          <a:p>
            <a:pPr algn="ctr"/>
            <a:r>
              <a:rPr lang="en-US" altLang="zh-TW" sz="1200" dirty="0" smtClean="0"/>
              <a:t>PCS_WE</a:t>
            </a:r>
            <a:endParaRPr lang="zh-TW" altLang="en-US" sz="1200" dirty="0"/>
          </a:p>
        </p:txBody>
      </p:sp>
      <p:sp>
        <p:nvSpPr>
          <p:cNvPr id="14" name="矩形 13"/>
          <p:cNvSpPr/>
          <p:nvPr/>
        </p:nvSpPr>
        <p:spPr>
          <a:xfrm>
            <a:off x="2354972" y="2294861"/>
            <a:ext cx="1008112" cy="431671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Disable</a:t>
            </a:r>
          </a:p>
          <a:p>
            <a:pPr algn="ctr"/>
            <a:r>
              <a:rPr lang="en-US" altLang="zh-TW" sz="1200" dirty="0" smtClean="0"/>
              <a:t>MIE*</a:t>
            </a:r>
            <a:endParaRPr lang="zh-TW" altLang="en-US" sz="1200" dirty="0"/>
          </a:p>
        </p:txBody>
      </p:sp>
      <p:sp>
        <p:nvSpPr>
          <p:cNvPr id="15" name="矩形 14"/>
          <p:cNvSpPr/>
          <p:nvPr/>
        </p:nvSpPr>
        <p:spPr>
          <a:xfrm>
            <a:off x="3635896" y="2852529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Set </a:t>
            </a:r>
            <a:r>
              <a:rPr lang="en-US" altLang="zh-TW" sz="1200" dirty="0" smtClean="0">
                <a:solidFill>
                  <a:srgbClr val="FF0000"/>
                </a:solidFill>
              </a:rPr>
              <a:t>0x3</a:t>
            </a:r>
            <a:r>
              <a:rPr lang="en-US" altLang="zh-TW" sz="1200" dirty="0" smtClean="0"/>
              <a:t> </a:t>
            </a:r>
          </a:p>
          <a:p>
            <a:pPr algn="ctr"/>
            <a:r>
              <a:rPr lang="en-US" altLang="zh-TW" sz="1200" dirty="0" smtClean="0"/>
              <a:t>PCS_CTL</a:t>
            </a:r>
            <a:endParaRPr lang="zh-TW" altLang="en-US" sz="1200" dirty="0"/>
          </a:p>
        </p:txBody>
      </p:sp>
      <p:cxnSp>
        <p:nvCxnSpPr>
          <p:cNvPr id="17" name="直線單箭頭接點 16"/>
          <p:cNvCxnSpPr>
            <a:stCxn id="13" idx="2"/>
            <a:endCxn id="15" idx="0"/>
          </p:cNvCxnSpPr>
          <p:nvPr/>
        </p:nvCxnSpPr>
        <p:spPr>
          <a:xfrm>
            <a:off x="4139952" y="2175983"/>
            <a:ext cx="0" cy="676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8" idx="2"/>
            <a:endCxn id="114" idx="0"/>
          </p:cNvCxnSpPr>
          <p:nvPr/>
        </p:nvCxnSpPr>
        <p:spPr>
          <a:xfrm>
            <a:off x="1271065" y="2173797"/>
            <a:ext cx="0" cy="89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860032" y="1624806"/>
            <a:ext cx="1152128" cy="1800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4932040" y="2294861"/>
            <a:ext cx="1008112" cy="431671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Check </a:t>
            </a:r>
          </a:p>
          <a:p>
            <a:pPr algn="ctr"/>
            <a:r>
              <a:rPr lang="en-US" altLang="zh-TW" sz="1000" dirty="0" smtClean="0"/>
              <a:t>PCS_STATUS</a:t>
            </a:r>
            <a:endParaRPr lang="zh-TW" altLang="en-US" sz="1000" dirty="0"/>
          </a:p>
        </p:txBody>
      </p:sp>
      <p:sp>
        <p:nvSpPr>
          <p:cNvPr id="36" name="矩形 35"/>
          <p:cNvSpPr/>
          <p:nvPr/>
        </p:nvSpPr>
        <p:spPr>
          <a:xfrm>
            <a:off x="7452320" y="1624806"/>
            <a:ext cx="1152128" cy="1800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7524328" y="2294861"/>
            <a:ext cx="1008112" cy="431671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WFI</a:t>
            </a:r>
            <a:endParaRPr lang="zh-TW" altLang="en-US" sz="1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2282964" y="3435447"/>
            <a:ext cx="111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Disable IRQ</a:t>
            </a:r>
            <a:endParaRPr lang="zh-TW" altLang="en-US" sz="12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3627019" y="3437360"/>
            <a:ext cx="111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Setup SMU</a:t>
            </a:r>
            <a:endParaRPr lang="zh-TW" altLang="en-US" sz="12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829466" y="3311842"/>
            <a:ext cx="1259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Wait for other cores ready</a:t>
            </a:r>
            <a:endParaRPr lang="zh-TW" altLang="en-US" sz="12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6092316" y="3425006"/>
            <a:ext cx="1251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Disable Cache</a:t>
            </a:r>
            <a:endParaRPr lang="zh-TW" altLang="en-US" sz="1200" b="1" dirty="0"/>
          </a:p>
        </p:txBody>
      </p:sp>
      <p:cxnSp>
        <p:nvCxnSpPr>
          <p:cNvPr id="42" name="直線單箭頭接點 41"/>
          <p:cNvCxnSpPr>
            <a:stCxn id="10" idx="2"/>
            <a:endCxn id="11" idx="0"/>
          </p:cNvCxnSpPr>
          <p:nvPr/>
        </p:nvCxnSpPr>
        <p:spPr>
          <a:xfrm>
            <a:off x="6732240" y="2175983"/>
            <a:ext cx="0" cy="122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11" idx="2"/>
            <a:endCxn id="12" idx="0"/>
          </p:cNvCxnSpPr>
          <p:nvPr/>
        </p:nvCxnSpPr>
        <p:spPr>
          <a:xfrm>
            <a:off x="6732240" y="2730280"/>
            <a:ext cx="0" cy="122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/>
          <p:cNvSpPr txBox="1"/>
          <p:nvPr/>
        </p:nvSpPr>
        <p:spPr>
          <a:xfrm>
            <a:off x="7406463" y="3334221"/>
            <a:ext cx="1160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Enter sleep mode</a:t>
            </a:r>
            <a:endParaRPr lang="zh-TW" altLang="en-US" sz="1200" b="1" dirty="0"/>
          </a:p>
        </p:txBody>
      </p:sp>
      <p:cxnSp>
        <p:nvCxnSpPr>
          <p:cNvPr id="50" name="直線單箭頭接點 49"/>
          <p:cNvCxnSpPr>
            <a:stCxn id="15" idx="3"/>
            <a:endCxn id="35" idx="1"/>
          </p:cNvCxnSpPr>
          <p:nvPr/>
        </p:nvCxnSpPr>
        <p:spPr>
          <a:xfrm flipV="1">
            <a:off x="4644008" y="2510697"/>
            <a:ext cx="288032" cy="557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35" idx="3"/>
            <a:endCxn id="10" idx="1"/>
          </p:cNvCxnSpPr>
          <p:nvPr/>
        </p:nvCxnSpPr>
        <p:spPr>
          <a:xfrm flipV="1">
            <a:off x="5940152" y="1959959"/>
            <a:ext cx="288032" cy="550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14" idx="3"/>
            <a:endCxn id="13" idx="1"/>
          </p:cNvCxnSpPr>
          <p:nvPr/>
        </p:nvCxnSpPr>
        <p:spPr>
          <a:xfrm flipV="1">
            <a:off x="3363084" y="1959959"/>
            <a:ext cx="272812" cy="550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肘形接點 55"/>
          <p:cNvCxnSpPr>
            <a:stCxn id="15" idx="3"/>
            <a:endCxn id="10" idx="1"/>
          </p:cNvCxnSpPr>
          <p:nvPr/>
        </p:nvCxnSpPr>
        <p:spPr>
          <a:xfrm flipV="1">
            <a:off x="4644008" y="1959959"/>
            <a:ext cx="1584176" cy="11085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/>
          <p:cNvSpPr txBox="1"/>
          <p:nvPr/>
        </p:nvSpPr>
        <p:spPr>
          <a:xfrm>
            <a:off x="5398501" y="1859834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Other cores</a:t>
            </a:r>
            <a:endParaRPr lang="zh-TW" altLang="en-US" sz="800" dirty="0"/>
          </a:p>
        </p:txBody>
      </p:sp>
      <p:sp>
        <p:nvSpPr>
          <p:cNvPr id="60" name="文字方塊 59"/>
          <p:cNvSpPr txBox="1"/>
          <p:nvPr/>
        </p:nvSpPr>
        <p:spPr>
          <a:xfrm rot="17911615">
            <a:off x="4480924" y="2763773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main core</a:t>
            </a:r>
            <a:endParaRPr lang="zh-TW" altLang="en-US" sz="8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735943" y="1064457"/>
            <a:ext cx="11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92D050"/>
                </a:solidFill>
              </a:rPr>
              <a:t>Kernel</a:t>
            </a:r>
            <a:endParaRPr lang="zh-TW" altLang="en-US" b="1" dirty="0">
              <a:solidFill>
                <a:srgbClr val="92D050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3832287" y="1039354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 smtClean="0">
                <a:solidFill>
                  <a:srgbClr val="FFC000"/>
                </a:solidFill>
              </a:rPr>
              <a:t>OpenSBI</a:t>
            </a:r>
            <a:r>
              <a:rPr lang="en-US" altLang="zh-TW" b="1" dirty="0" smtClean="0">
                <a:solidFill>
                  <a:srgbClr val="FFC000"/>
                </a:solidFill>
              </a:rPr>
              <a:t> SMU Driver </a:t>
            </a:r>
            <a:endParaRPr lang="zh-TW" altLang="en-US" b="1" dirty="0">
              <a:solidFill>
                <a:srgbClr val="FFC000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8053" y="1434639"/>
            <a:ext cx="491499" cy="45122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Main core</a:t>
            </a:r>
            <a:endParaRPr lang="zh-TW" altLang="en-US" sz="1000" dirty="0"/>
          </a:p>
        </p:txBody>
      </p:sp>
      <p:cxnSp>
        <p:nvCxnSpPr>
          <p:cNvPr id="69" name="直線單箭頭接點 68"/>
          <p:cNvCxnSpPr>
            <a:stCxn id="67" idx="3"/>
            <a:endCxn id="8" idx="1"/>
          </p:cNvCxnSpPr>
          <p:nvPr/>
        </p:nvCxnSpPr>
        <p:spPr>
          <a:xfrm>
            <a:off x="539552" y="1660250"/>
            <a:ext cx="227457" cy="297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群組 135"/>
          <p:cNvGrpSpPr/>
          <p:nvPr/>
        </p:nvGrpSpPr>
        <p:grpSpPr>
          <a:xfrm>
            <a:off x="1219" y="1931502"/>
            <a:ext cx="566727" cy="1663377"/>
            <a:chOff x="1219" y="1931502"/>
            <a:chExt cx="566727" cy="1663377"/>
          </a:xfrm>
        </p:grpSpPr>
        <p:sp>
          <p:nvSpPr>
            <p:cNvPr id="100" name="矩形 99"/>
            <p:cNvSpPr/>
            <p:nvPr/>
          </p:nvSpPr>
          <p:spPr>
            <a:xfrm>
              <a:off x="1219" y="1931502"/>
              <a:ext cx="566727" cy="166337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48053" y="1994988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other core</a:t>
              </a:r>
              <a:endParaRPr lang="zh-TW" altLang="en-US" sz="1000" dirty="0"/>
            </a:p>
          </p:txBody>
        </p:sp>
        <p:sp>
          <p:nvSpPr>
            <p:cNvPr id="75" name="矩形 74"/>
            <p:cNvSpPr/>
            <p:nvPr/>
          </p:nvSpPr>
          <p:spPr>
            <a:xfrm>
              <a:off x="48053" y="3062838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other </a:t>
              </a:r>
              <a:r>
                <a:rPr lang="en-US" altLang="zh-TW" sz="1000" dirty="0" smtClean="0"/>
                <a:t>core</a:t>
              </a:r>
              <a:endParaRPr lang="zh-TW" altLang="en-US" sz="1000" dirty="0"/>
            </a:p>
          </p:txBody>
        </p:sp>
        <p:sp>
          <p:nvSpPr>
            <p:cNvPr id="78" name="矩形 77"/>
            <p:cNvSpPr/>
            <p:nvPr/>
          </p:nvSpPr>
          <p:spPr>
            <a:xfrm>
              <a:off x="35496" y="2541736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other </a:t>
              </a:r>
              <a:r>
                <a:rPr lang="en-US" altLang="zh-TW" sz="1000" dirty="0" smtClean="0"/>
                <a:t>core</a:t>
              </a:r>
              <a:endParaRPr lang="zh-TW" altLang="en-US" sz="1000" dirty="0"/>
            </a:p>
          </p:txBody>
        </p:sp>
      </p:grpSp>
      <p:cxnSp>
        <p:nvCxnSpPr>
          <p:cNvPr id="79" name="直線單箭頭接點 78"/>
          <p:cNvCxnSpPr>
            <a:stCxn id="9" idx="3"/>
            <a:endCxn id="14" idx="1"/>
          </p:cNvCxnSpPr>
          <p:nvPr/>
        </p:nvCxnSpPr>
        <p:spPr>
          <a:xfrm flipV="1">
            <a:off x="1755980" y="2510697"/>
            <a:ext cx="598992" cy="50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手繪多邊形 88"/>
          <p:cNvSpPr/>
          <p:nvPr/>
        </p:nvSpPr>
        <p:spPr>
          <a:xfrm>
            <a:off x="467212" y="2241272"/>
            <a:ext cx="2002335" cy="360231"/>
          </a:xfrm>
          <a:custGeom>
            <a:avLst/>
            <a:gdLst>
              <a:gd name="connsiteX0" fmla="*/ 0 w 2002335"/>
              <a:gd name="connsiteY0" fmla="*/ 0 h 360231"/>
              <a:gd name="connsiteX1" fmla="*/ 2002335 w 2002335"/>
              <a:gd name="connsiteY1" fmla="*/ 273653 h 36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2335" h="360231">
                <a:moveTo>
                  <a:pt x="0" y="0"/>
                </a:moveTo>
                <a:cubicBezTo>
                  <a:pt x="985037" y="248067"/>
                  <a:pt x="1970075" y="496135"/>
                  <a:pt x="2002335" y="273653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矩形 104"/>
          <p:cNvSpPr/>
          <p:nvPr/>
        </p:nvSpPr>
        <p:spPr>
          <a:xfrm>
            <a:off x="8830928" y="1408781"/>
            <a:ext cx="313071" cy="2186097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SMU</a:t>
            </a:r>
            <a:endParaRPr lang="zh-TW" altLang="en-US" dirty="0"/>
          </a:p>
        </p:txBody>
      </p:sp>
      <p:cxnSp>
        <p:nvCxnSpPr>
          <p:cNvPr id="106" name="直線單箭頭接點 105"/>
          <p:cNvCxnSpPr>
            <a:stCxn id="12" idx="3"/>
            <a:endCxn id="37" idx="1"/>
          </p:cNvCxnSpPr>
          <p:nvPr/>
        </p:nvCxnSpPr>
        <p:spPr>
          <a:xfrm flipV="1">
            <a:off x="7236296" y="2510697"/>
            <a:ext cx="288032" cy="557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stCxn id="37" idx="3"/>
            <a:endCxn id="105" idx="1"/>
          </p:cNvCxnSpPr>
          <p:nvPr/>
        </p:nvCxnSpPr>
        <p:spPr>
          <a:xfrm flipV="1">
            <a:off x="8532440" y="2501830"/>
            <a:ext cx="298488" cy="8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395536" y="699542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Light sleep power down </a:t>
            </a:r>
            <a:endParaRPr lang="zh-TW" altLang="en-US" dirty="0"/>
          </a:p>
        </p:txBody>
      </p:sp>
      <p:sp>
        <p:nvSpPr>
          <p:cNvPr id="114" name="矩形 113"/>
          <p:cNvSpPr/>
          <p:nvPr/>
        </p:nvSpPr>
        <p:spPr>
          <a:xfrm>
            <a:off x="767009" y="2263272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Other hart</a:t>
            </a:r>
          </a:p>
          <a:p>
            <a:pPr algn="ctr"/>
            <a:r>
              <a:rPr lang="en-US" altLang="zh-TW" sz="1200" dirty="0" smtClean="0"/>
              <a:t>sleep</a:t>
            </a:r>
            <a:endParaRPr lang="zh-TW" altLang="en-US" sz="1200" dirty="0"/>
          </a:p>
        </p:txBody>
      </p:sp>
      <p:cxnSp>
        <p:nvCxnSpPr>
          <p:cNvPr id="121" name="直線單箭頭接點 120"/>
          <p:cNvCxnSpPr>
            <a:stCxn id="114" idx="3"/>
            <a:endCxn id="14" idx="1"/>
          </p:cNvCxnSpPr>
          <p:nvPr/>
        </p:nvCxnSpPr>
        <p:spPr>
          <a:xfrm>
            <a:off x="1775121" y="2479296"/>
            <a:ext cx="579851" cy="31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endCxn id="9" idx="0"/>
          </p:cNvCxnSpPr>
          <p:nvPr/>
        </p:nvCxnSpPr>
        <p:spPr>
          <a:xfrm flipH="1">
            <a:off x="1251924" y="2695320"/>
            <a:ext cx="19141" cy="100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78" idx="3"/>
            <a:endCxn id="8" idx="1"/>
          </p:cNvCxnSpPr>
          <p:nvPr/>
        </p:nvCxnSpPr>
        <p:spPr>
          <a:xfrm flipV="1">
            <a:off x="526995" y="1957773"/>
            <a:ext cx="240014" cy="819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1012858" y="2620677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main core</a:t>
            </a:r>
            <a:endParaRPr lang="zh-TW" altLang="en-US" sz="800" dirty="0"/>
          </a:p>
        </p:txBody>
      </p:sp>
      <p:sp>
        <p:nvSpPr>
          <p:cNvPr id="132" name="文字方塊 131"/>
          <p:cNvSpPr txBox="1"/>
          <p:nvPr/>
        </p:nvSpPr>
        <p:spPr>
          <a:xfrm>
            <a:off x="1698103" y="2354473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Other cores</a:t>
            </a:r>
            <a:endParaRPr lang="zh-TW" altLang="en-US" sz="800" dirty="0"/>
          </a:p>
        </p:txBody>
      </p:sp>
      <p:sp>
        <p:nvSpPr>
          <p:cNvPr id="135" name="文字方塊 134"/>
          <p:cNvSpPr txBox="1"/>
          <p:nvPr/>
        </p:nvSpPr>
        <p:spPr>
          <a:xfrm>
            <a:off x="395536" y="3939902"/>
            <a:ext cx="4948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PCS_WE: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Main core: </a:t>
            </a:r>
            <a:r>
              <a:rPr lang="en-US" altLang="zh-TW" b="1" dirty="0" err="1" smtClean="0"/>
              <a:t>rtc</a:t>
            </a:r>
            <a:r>
              <a:rPr lang="en-US" altLang="zh-TW" b="1" dirty="0" smtClean="0"/>
              <a:t> or </a:t>
            </a:r>
            <a:r>
              <a:rPr lang="en-US" altLang="zh-TW" b="1" dirty="0" err="1" smtClean="0"/>
              <a:t>uart</a:t>
            </a:r>
            <a:endParaRPr lang="en-US" altLang="zh-TW" b="1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Other core: </a:t>
            </a:r>
            <a:r>
              <a:rPr lang="en-US" altLang="zh-TW" b="1" dirty="0" smtClean="0"/>
              <a:t>MSIP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2126667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1648713" y="1480790"/>
            <a:ext cx="3063186" cy="216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Light sleep Implementation</a:t>
            </a:r>
            <a:endParaRPr lang="zh-TW" altLang="en-US" dirty="0"/>
          </a:p>
        </p:txBody>
      </p:sp>
      <p:grpSp>
        <p:nvGrpSpPr>
          <p:cNvPr id="16" name="群組 15"/>
          <p:cNvGrpSpPr/>
          <p:nvPr/>
        </p:nvGrpSpPr>
        <p:grpSpPr>
          <a:xfrm>
            <a:off x="3303489" y="1665643"/>
            <a:ext cx="1152128" cy="1800200"/>
            <a:chOff x="830918" y="2053665"/>
            <a:chExt cx="1152128" cy="1800200"/>
          </a:xfrm>
        </p:grpSpPr>
        <p:sp>
          <p:nvSpPr>
            <p:cNvPr id="33" name="矩形 32"/>
            <p:cNvSpPr/>
            <p:nvPr/>
          </p:nvSpPr>
          <p:spPr>
            <a:xfrm>
              <a:off x="830918" y="2053665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902926" y="2723720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Enable</a:t>
              </a:r>
            </a:p>
            <a:p>
              <a:pPr algn="ctr"/>
              <a:r>
                <a:rPr lang="en-US" altLang="zh-TW" sz="1200" dirty="0" smtClean="0"/>
                <a:t>MIE*</a:t>
              </a:r>
              <a:endParaRPr lang="zh-TW" altLang="en-US" sz="1200" dirty="0"/>
            </a:p>
          </p:txBody>
        </p:sp>
      </p:grpSp>
      <p:sp>
        <p:nvSpPr>
          <p:cNvPr id="38" name="文字方塊 37"/>
          <p:cNvSpPr txBox="1"/>
          <p:nvPr/>
        </p:nvSpPr>
        <p:spPr>
          <a:xfrm>
            <a:off x="3323147" y="3497637"/>
            <a:ext cx="111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Enable IRQ</a:t>
            </a:r>
            <a:endParaRPr lang="zh-TW" altLang="en-US" sz="12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1790266" y="3496259"/>
            <a:ext cx="1251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Enable Cache</a:t>
            </a:r>
            <a:endParaRPr lang="zh-TW" altLang="en-US" sz="1200" b="1" dirty="0"/>
          </a:p>
        </p:txBody>
      </p:sp>
      <p:grpSp>
        <p:nvGrpSpPr>
          <p:cNvPr id="7" name="群組 6"/>
          <p:cNvGrpSpPr/>
          <p:nvPr/>
        </p:nvGrpSpPr>
        <p:grpSpPr>
          <a:xfrm>
            <a:off x="1840198" y="1682912"/>
            <a:ext cx="1152128" cy="1800200"/>
            <a:chOff x="4704130" y="2053665"/>
            <a:chExt cx="1152128" cy="1800200"/>
          </a:xfrm>
        </p:grpSpPr>
        <p:sp>
          <p:nvSpPr>
            <p:cNvPr id="31" name="矩形 30"/>
            <p:cNvSpPr/>
            <p:nvPr/>
          </p:nvSpPr>
          <p:spPr>
            <a:xfrm>
              <a:off x="4704130" y="2053665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4764200" y="3283550"/>
              <a:ext cx="1008112" cy="432048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enable </a:t>
              </a:r>
            </a:p>
            <a:p>
              <a:pPr algn="ctr"/>
              <a:r>
                <a:rPr lang="en-US" altLang="zh-TW" sz="1200" dirty="0" smtClean="0"/>
                <a:t>D$</a:t>
              </a:r>
              <a:endParaRPr lang="zh-TW" altLang="en-US" sz="12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4781918" y="2214936"/>
              <a:ext cx="1008112" cy="432048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enable CM</a:t>
              </a:r>
              <a:endParaRPr lang="zh-TW" altLang="en-US" sz="1200" dirty="0"/>
            </a:p>
          </p:txBody>
        </p:sp>
        <p:cxnSp>
          <p:nvCxnSpPr>
            <p:cNvPr id="42" name="直線單箭頭接點 41"/>
            <p:cNvCxnSpPr>
              <a:stCxn id="12" idx="2"/>
              <a:endCxn id="10" idx="0"/>
            </p:cNvCxnSpPr>
            <p:nvPr/>
          </p:nvCxnSpPr>
          <p:spPr>
            <a:xfrm flipH="1">
              <a:off x="5268256" y="2646984"/>
              <a:ext cx="17718" cy="6365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文字方塊 63"/>
          <p:cNvSpPr txBox="1"/>
          <p:nvPr/>
        </p:nvSpPr>
        <p:spPr>
          <a:xfrm>
            <a:off x="5064212" y="1140434"/>
            <a:ext cx="11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92D050"/>
                </a:solidFill>
              </a:rPr>
              <a:t>Kernel</a:t>
            </a:r>
            <a:endParaRPr lang="zh-TW" altLang="en-US" b="1" dirty="0">
              <a:solidFill>
                <a:srgbClr val="92D050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900268" y="1123068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 smtClean="0">
                <a:solidFill>
                  <a:srgbClr val="FFC000"/>
                </a:solidFill>
              </a:rPr>
              <a:t>OpenSBI</a:t>
            </a:r>
            <a:r>
              <a:rPr lang="en-US" altLang="zh-TW" b="1" dirty="0" smtClean="0">
                <a:solidFill>
                  <a:srgbClr val="FFC000"/>
                </a:solidFill>
              </a:rPr>
              <a:t> SMU Driver </a:t>
            </a:r>
            <a:endParaRPr lang="zh-TW" altLang="en-US" b="1" dirty="0">
              <a:solidFill>
                <a:srgbClr val="FFC000"/>
              </a:solidFill>
            </a:endParaRPr>
          </a:p>
        </p:txBody>
      </p:sp>
      <p:sp>
        <p:nvSpPr>
          <p:cNvPr id="89" name="手繪多邊形 88"/>
          <p:cNvSpPr/>
          <p:nvPr/>
        </p:nvSpPr>
        <p:spPr>
          <a:xfrm>
            <a:off x="588909" y="2260446"/>
            <a:ext cx="2002335" cy="360231"/>
          </a:xfrm>
          <a:custGeom>
            <a:avLst/>
            <a:gdLst>
              <a:gd name="connsiteX0" fmla="*/ 0 w 2002335"/>
              <a:gd name="connsiteY0" fmla="*/ 0 h 360231"/>
              <a:gd name="connsiteX1" fmla="*/ 2002335 w 2002335"/>
              <a:gd name="connsiteY1" fmla="*/ 273653 h 36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2335" h="360231">
                <a:moveTo>
                  <a:pt x="0" y="0"/>
                </a:moveTo>
                <a:cubicBezTo>
                  <a:pt x="985037" y="248067"/>
                  <a:pt x="1970075" y="496135"/>
                  <a:pt x="2002335" y="273653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矩形 104"/>
          <p:cNvSpPr/>
          <p:nvPr/>
        </p:nvSpPr>
        <p:spPr>
          <a:xfrm>
            <a:off x="325207" y="1467861"/>
            <a:ext cx="901797" cy="3336137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SMU</a:t>
            </a:r>
            <a:endParaRPr lang="zh-TW" altLang="en-US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395536" y="699542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Light sleep power up </a:t>
            </a:r>
            <a:endParaRPr lang="zh-TW" altLang="en-US" dirty="0"/>
          </a:p>
        </p:txBody>
      </p:sp>
      <p:sp>
        <p:nvSpPr>
          <p:cNvPr id="18" name="向下箭號 17"/>
          <p:cNvSpPr/>
          <p:nvPr/>
        </p:nvSpPr>
        <p:spPr>
          <a:xfrm>
            <a:off x="526703" y="1068875"/>
            <a:ext cx="360040" cy="1091660"/>
          </a:xfrm>
          <a:prstGeom prst="down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353446" y="1028843"/>
            <a:ext cx="945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/>
              <a:t>Wakeup event</a:t>
            </a:r>
            <a:endParaRPr lang="zh-TW" altLang="en-US" sz="1400" b="1" dirty="0"/>
          </a:p>
        </p:txBody>
      </p:sp>
      <p:sp>
        <p:nvSpPr>
          <p:cNvPr id="25" name="矩形 24"/>
          <p:cNvSpPr/>
          <p:nvPr/>
        </p:nvSpPr>
        <p:spPr>
          <a:xfrm>
            <a:off x="4885142" y="1480790"/>
            <a:ext cx="4079346" cy="216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2" name="直線單箭頭接點 71"/>
          <p:cNvCxnSpPr>
            <a:stCxn id="151" idx="3"/>
            <a:endCxn id="12" idx="1"/>
          </p:cNvCxnSpPr>
          <p:nvPr/>
        </p:nvCxnSpPr>
        <p:spPr>
          <a:xfrm flipV="1">
            <a:off x="968698" y="2060207"/>
            <a:ext cx="949288" cy="32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字方塊 97"/>
          <p:cNvSpPr txBox="1"/>
          <p:nvPr/>
        </p:nvSpPr>
        <p:spPr>
          <a:xfrm>
            <a:off x="2586335" y="4323604"/>
            <a:ext cx="2921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Send MSIP to wake other cores up</a:t>
            </a:r>
            <a:endParaRPr lang="zh-TW" altLang="en-US" sz="1200" b="1" dirty="0"/>
          </a:p>
        </p:txBody>
      </p:sp>
      <p:grpSp>
        <p:nvGrpSpPr>
          <p:cNvPr id="107" name="群組 106"/>
          <p:cNvGrpSpPr/>
          <p:nvPr/>
        </p:nvGrpSpPr>
        <p:grpSpPr>
          <a:xfrm>
            <a:off x="4974883" y="1606967"/>
            <a:ext cx="821253" cy="1800200"/>
            <a:chOff x="5133608" y="1606546"/>
            <a:chExt cx="1152128" cy="1800200"/>
          </a:xfrm>
        </p:grpSpPr>
        <p:sp>
          <p:nvSpPr>
            <p:cNvPr id="102" name="矩形 101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5205616" y="227660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Driver </a:t>
              </a:r>
            </a:p>
            <a:p>
              <a:pPr algn="ctr"/>
              <a:r>
                <a:rPr lang="en-US" altLang="zh-TW" sz="1000" dirty="0" smtClean="0"/>
                <a:t>resume</a:t>
              </a:r>
              <a:endParaRPr lang="zh-TW" altLang="en-US" sz="1000" dirty="0"/>
            </a:p>
          </p:txBody>
        </p:sp>
      </p:grpSp>
      <p:cxnSp>
        <p:nvCxnSpPr>
          <p:cNvPr id="80" name="直線單箭頭接點 79"/>
          <p:cNvCxnSpPr>
            <a:stCxn id="14" idx="3"/>
            <a:endCxn id="103" idx="1"/>
          </p:cNvCxnSpPr>
          <p:nvPr/>
        </p:nvCxnSpPr>
        <p:spPr>
          <a:xfrm flipV="1">
            <a:off x="4383609" y="2492858"/>
            <a:ext cx="642602" cy="58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群組 113"/>
          <p:cNvGrpSpPr/>
          <p:nvPr/>
        </p:nvGrpSpPr>
        <p:grpSpPr>
          <a:xfrm>
            <a:off x="5971676" y="1584235"/>
            <a:ext cx="810385" cy="1800200"/>
            <a:chOff x="5133608" y="1606546"/>
            <a:chExt cx="1152128" cy="1800200"/>
          </a:xfrm>
        </p:grpSpPr>
        <p:sp>
          <p:nvSpPr>
            <p:cNvPr id="115" name="矩形 114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5205616" y="2201056"/>
              <a:ext cx="1008112" cy="582760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Other</a:t>
              </a:r>
            </a:p>
            <a:p>
              <a:pPr algn="ctr"/>
              <a:r>
                <a:rPr lang="en-US" altLang="zh-TW" sz="1000" dirty="0" smtClean="0"/>
                <a:t>Cores</a:t>
              </a:r>
            </a:p>
            <a:p>
              <a:pPr algn="ctr"/>
              <a:r>
                <a:rPr lang="en-US" altLang="zh-TW" sz="1000" dirty="0" smtClean="0"/>
                <a:t>wakeup</a:t>
              </a:r>
              <a:endParaRPr lang="zh-TW" altLang="en-US" sz="1000" dirty="0"/>
            </a:p>
          </p:txBody>
        </p:sp>
      </p:grpSp>
      <p:grpSp>
        <p:nvGrpSpPr>
          <p:cNvPr id="117" name="群組 116"/>
          <p:cNvGrpSpPr/>
          <p:nvPr/>
        </p:nvGrpSpPr>
        <p:grpSpPr>
          <a:xfrm>
            <a:off x="7926961" y="1598648"/>
            <a:ext cx="771921" cy="1800200"/>
            <a:chOff x="5133608" y="1606546"/>
            <a:chExt cx="1152128" cy="1800200"/>
          </a:xfrm>
        </p:grpSpPr>
        <p:sp>
          <p:nvSpPr>
            <p:cNvPr id="118" name="矩形 117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5205616" y="227660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process </a:t>
              </a:r>
            </a:p>
            <a:p>
              <a:pPr algn="ctr"/>
              <a:r>
                <a:rPr lang="en-US" altLang="zh-TW" sz="1000" dirty="0" smtClean="0"/>
                <a:t>resume</a:t>
              </a:r>
              <a:endParaRPr lang="zh-TW" altLang="en-US" sz="1000" dirty="0"/>
            </a:p>
          </p:txBody>
        </p:sp>
      </p:grpSp>
      <p:cxnSp>
        <p:nvCxnSpPr>
          <p:cNvPr id="120" name="直線單箭頭接點 119"/>
          <p:cNvCxnSpPr>
            <a:stCxn id="103" idx="3"/>
            <a:endCxn id="116" idx="1"/>
          </p:cNvCxnSpPr>
          <p:nvPr/>
        </p:nvCxnSpPr>
        <p:spPr>
          <a:xfrm flipV="1">
            <a:off x="5744807" y="2470125"/>
            <a:ext cx="277518" cy="2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/>
          <p:cNvGrpSpPr/>
          <p:nvPr/>
        </p:nvGrpSpPr>
        <p:grpSpPr>
          <a:xfrm>
            <a:off x="6971501" y="1614705"/>
            <a:ext cx="740556" cy="1800200"/>
            <a:chOff x="5133608" y="1606546"/>
            <a:chExt cx="1152128" cy="1800200"/>
          </a:xfrm>
        </p:grpSpPr>
        <p:sp>
          <p:nvSpPr>
            <p:cNvPr id="126" name="矩形 125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5205615" y="2221646"/>
              <a:ext cx="1008113" cy="540273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Main </a:t>
              </a:r>
            </a:p>
            <a:p>
              <a:pPr algn="ctr"/>
              <a:r>
                <a:rPr lang="en-US" altLang="zh-TW" sz="1000" dirty="0" smtClean="0"/>
                <a:t>Core</a:t>
              </a:r>
            </a:p>
            <a:p>
              <a:pPr algn="ctr"/>
              <a:r>
                <a:rPr lang="en-US" altLang="zh-TW" sz="1000" dirty="0" smtClean="0"/>
                <a:t>wait </a:t>
              </a:r>
              <a:endParaRPr lang="zh-TW" altLang="en-US" sz="1000" dirty="0"/>
            </a:p>
          </p:txBody>
        </p:sp>
      </p:grpSp>
      <p:sp>
        <p:nvSpPr>
          <p:cNvPr id="131" name="文字方塊 130"/>
          <p:cNvSpPr txBox="1"/>
          <p:nvPr/>
        </p:nvSpPr>
        <p:spPr>
          <a:xfrm>
            <a:off x="6802576" y="3243288"/>
            <a:ext cx="1155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Wait for </a:t>
            </a:r>
          </a:p>
          <a:p>
            <a:r>
              <a:rPr lang="en-US" altLang="zh-TW" sz="1200" b="1" dirty="0" smtClean="0"/>
              <a:t>other cores </a:t>
            </a:r>
          </a:p>
          <a:p>
            <a:r>
              <a:rPr lang="en-US" altLang="zh-TW" sz="1200" b="1" dirty="0" smtClean="0"/>
              <a:t>ready</a:t>
            </a:r>
            <a:endParaRPr lang="zh-TW" altLang="en-US" sz="1200" b="1" dirty="0"/>
          </a:p>
        </p:txBody>
      </p:sp>
      <p:cxnSp>
        <p:nvCxnSpPr>
          <p:cNvPr id="122" name="直線單箭頭接點 121"/>
          <p:cNvCxnSpPr>
            <a:stCxn id="116" idx="3"/>
            <a:endCxn id="127" idx="1"/>
          </p:cNvCxnSpPr>
          <p:nvPr/>
        </p:nvCxnSpPr>
        <p:spPr>
          <a:xfrm>
            <a:off x="6731412" y="2470125"/>
            <a:ext cx="286373" cy="29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127" idx="3"/>
            <a:endCxn id="119" idx="1"/>
          </p:cNvCxnSpPr>
          <p:nvPr/>
        </p:nvCxnSpPr>
        <p:spPr>
          <a:xfrm flipV="1">
            <a:off x="7665772" y="2484539"/>
            <a:ext cx="309434" cy="15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上彎箭號 136"/>
          <p:cNvSpPr/>
          <p:nvPr/>
        </p:nvSpPr>
        <p:spPr>
          <a:xfrm rot="16200000" flipH="1">
            <a:off x="2928991" y="872632"/>
            <a:ext cx="1658691" cy="5389052"/>
          </a:xfrm>
          <a:prstGeom prst="bentUpArrow">
            <a:avLst>
              <a:gd name="adj1" fmla="val 4959"/>
              <a:gd name="adj2" fmla="val 4601"/>
              <a:gd name="adj3" fmla="val 7081"/>
            </a:avLst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9" name="肘形接點 138"/>
          <p:cNvCxnSpPr>
            <a:stCxn id="14" idx="2"/>
          </p:cNvCxnSpPr>
          <p:nvPr/>
        </p:nvCxnSpPr>
        <p:spPr>
          <a:xfrm rot="5400000" flipH="1" flipV="1">
            <a:off x="4980194" y="1637170"/>
            <a:ext cx="29558" cy="2230840"/>
          </a:xfrm>
          <a:prstGeom prst="bentConnector4">
            <a:avLst>
              <a:gd name="adj1" fmla="val -773395"/>
              <a:gd name="adj2" fmla="val 1005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字方塊 142"/>
          <p:cNvSpPr txBox="1"/>
          <p:nvPr/>
        </p:nvSpPr>
        <p:spPr>
          <a:xfrm>
            <a:off x="4494346" y="2892281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Other cores</a:t>
            </a:r>
            <a:endParaRPr lang="zh-TW" altLang="en-US" sz="80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5579968" y="2332836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main core</a:t>
            </a:r>
            <a:endParaRPr lang="zh-TW" altLang="en-US" sz="800" dirty="0"/>
          </a:p>
        </p:txBody>
      </p:sp>
      <p:grpSp>
        <p:nvGrpSpPr>
          <p:cNvPr id="146" name="群組 145"/>
          <p:cNvGrpSpPr/>
          <p:nvPr/>
        </p:nvGrpSpPr>
        <p:grpSpPr>
          <a:xfrm>
            <a:off x="479193" y="3634758"/>
            <a:ext cx="566727" cy="997844"/>
            <a:chOff x="1219" y="1931502"/>
            <a:chExt cx="566727" cy="1663377"/>
          </a:xfrm>
        </p:grpSpPr>
        <p:sp>
          <p:nvSpPr>
            <p:cNvPr id="147" name="矩形 146"/>
            <p:cNvSpPr/>
            <p:nvPr/>
          </p:nvSpPr>
          <p:spPr>
            <a:xfrm>
              <a:off x="1219" y="1931502"/>
              <a:ext cx="566727" cy="166337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8" name="矩形 147"/>
            <p:cNvSpPr/>
            <p:nvPr/>
          </p:nvSpPr>
          <p:spPr>
            <a:xfrm>
              <a:off x="48053" y="1994988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other core</a:t>
              </a:r>
              <a:endParaRPr lang="zh-TW" altLang="en-US" sz="1000" dirty="0"/>
            </a:p>
          </p:txBody>
        </p:sp>
        <p:sp>
          <p:nvSpPr>
            <p:cNvPr id="149" name="矩形 148"/>
            <p:cNvSpPr/>
            <p:nvPr/>
          </p:nvSpPr>
          <p:spPr>
            <a:xfrm>
              <a:off x="48053" y="3062838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other </a:t>
              </a:r>
              <a:r>
                <a:rPr lang="en-US" altLang="zh-TW" sz="1000" dirty="0" smtClean="0"/>
                <a:t>core</a:t>
              </a:r>
              <a:endParaRPr lang="zh-TW" altLang="en-US" sz="1000" dirty="0"/>
            </a:p>
          </p:txBody>
        </p:sp>
        <p:sp>
          <p:nvSpPr>
            <p:cNvPr id="150" name="矩形 149"/>
            <p:cNvSpPr/>
            <p:nvPr/>
          </p:nvSpPr>
          <p:spPr>
            <a:xfrm>
              <a:off x="35496" y="2541736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other </a:t>
              </a:r>
              <a:r>
                <a:rPr lang="en-US" altLang="zh-TW" sz="1000" dirty="0" smtClean="0"/>
                <a:t>core</a:t>
              </a:r>
              <a:endParaRPr lang="zh-TW" altLang="en-US" sz="1000" dirty="0"/>
            </a:p>
          </p:txBody>
        </p:sp>
      </p:grpSp>
      <p:sp>
        <p:nvSpPr>
          <p:cNvPr id="151" name="矩形 150"/>
          <p:cNvSpPr/>
          <p:nvPr/>
        </p:nvSpPr>
        <p:spPr>
          <a:xfrm>
            <a:off x="477199" y="2157770"/>
            <a:ext cx="491499" cy="45122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Main core</a:t>
            </a:r>
            <a:endParaRPr lang="zh-TW" altLang="en-US" sz="1000" dirty="0"/>
          </a:p>
        </p:txBody>
      </p:sp>
      <p:cxnSp>
        <p:nvCxnSpPr>
          <p:cNvPr id="153" name="直線單箭頭接點 152"/>
          <p:cNvCxnSpPr>
            <a:stCxn id="147" idx="3"/>
            <a:endCxn id="12" idx="1"/>
          </p:cNvCxnSpPr>
          <p:nvPr/>
        </p:nvCxnSpPr>
        <p:spPr>
          <a:xfrm flipV="1">
            <a:off x="1045920" y="2060207"/>
            <a:ext cx="872066" cy="2073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單箭頭接點 164"/>
          <p:cNvCxnSpPr>
            <a:stCxn id="10" idx="3"/>
            <a:endCxn id="14" idx="1"/>
          </p:cNvCxnSpPr>
          <p:nvPr/>
        </p:nvCxnSpPr>
        <p:spPr>
          <a:xfrm flipV="1">
            <a:off x="2908380" y="2551534"/>
            <a:ext cx="467117" cy="577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3643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Light sleep Implementation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2602" y="627534"/>
            <a:ext cx="8842458" cy="4230497"/>
          </a:xfrm>
        </p:spPr>
        <p:txBody>
          <a:bodyPr/>
          <a:lstStyle/>
          <a:p>
            <a:r>
              <a:rPr lang="en-US" altLang="zh-TW" sz="1800" dirty="0" smtClean="0"/>
              <a:t>Light sleep:</a:t>
            </a:r>
          </a:p>
          <a:p>
            <a:pPr lvl="1"/>
            <a:r>
              <a:rPr lang="en-US" altLang="zh-TW" sz="1400" dirty="0" smtClean="0"/>
              <a:t>Wakeup </a:t>
            </a:r>
            <a:r>
              <a:rPr lang="en-US" altLang="zh-TW" sz="1400" dirty="0"/>
              <a:t>PC is the next instruction after </a:t>
            </a:r>
            <a:r>
              <a:rPr lang="en-US" altLang="zh-TW" sz="1400" dirty="0" err="1"/>
              <a:t>wfi</a:t>
            </a:r>
            <a:r>
              <a:rPr lang="en-US" altLang="zh-TW" sz="1400" dirty="0"/>
              <a:t> </a:t>
            </a:r>
            <a:endParaRPr lang="zh-TW" altLang="en-US" sz="1400" dirty="0"/>
          </a:p>
          <a:p>
            <a:pPr marL="1371566" lvl="3" indent="0">
              <a:buNone/>
            </a:pP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275606"/>
            <a:ext cx="6113388" cy="3430855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4832011" y="3925046"/>
            <a:ext cx="1944216" cy="498736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wakeup here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1295636" y="4164310"/>
            <a:ext cx="2556284" cy="207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左箭號 6"/>
          <p:cNvSpPr/>
          <p:nvPr/>
        </p:nvSpPr>
        <p:spPr>
          <a:xfrm rot="20218235">
            <a:off x="3806299" y="3669577"/>
            <a:ext cx="1045629" cy="216024"/>
          </a:xfrm>
          <a:prstGeom prst="leftArrow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4829629" y="3329581"/>
            <a:ext cx="1944216" cy="498736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sleep here</a:t>
            </a:r>
            <a:endParaRPr lang="zh-TW" altLang="en-US" dirty="0"/>
          </a:p>
        </p:txBody>
      </p:sp>
      <p:sp>
        <p:nvSpPr>
          <p:cNvPr id="32" name="向左箭號 31"/>
          <p:cNvSpPr/>
          <p:nvPr/>
        </p:nvSpPr>
        <p:spPr>
          <a:xfrm>
            <a:off x="3947415" y="4093642"/>
            <a:ext cx="892808" cy="216024"/>
          </a:xfrm>
          <a:prstGeom prst="leftArrow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1274696" y="3829798"/>
            <a:ext cx="2556284" cy="190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539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(HW)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Power management </a:t>
            </a:r>
            <a:r>
              <a:rPr lang="en-US" altLang="zh-TW" b="1" dirty="0" smtClean="0">
                <a:solidFill>
                  <a:schemeClr val="accent2"/>
                </a:solidFill>
              </a:rPr>
              <a:t>(SW)</a:t>
            </a:r>
          </a:p>
          <a:p>
            <a:pPr lvl="1"/>
            <a:r>
              <a:rPr lang="en-US" altLang="zh-TW" sz="1800" b="1" dirty="0" err="1" smtClean="0">
                <a:solidFill>
                  <a:schemeClr val="accent2"/>
                </a:solidFill>
              </a:rPr>
              <a:t>OpenSBI</a:t>
            </a:r>
            <a:r>
              <a:rPr lang="en-US" altLang="zh-TW" sz="1800" b="1" dirty="0" smtClean="0">
                <a:solidFill>
                  <a:schemeClr val="accent2"/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b="1" dirty="0" smtClean="0">
                <a:solidFill>
                  <a:schemeClr val="accent2"/>
                </a:solidFill>
              </a:rPr>
              <a:t>Deep sleep implementation</a:t>
            </a:r>
            <a:endParaRPr lang="en-US" altLang="zh-TW" sz="1600" b="1" dirty="0">
              <a:solidFill>
                <a:schemeClr val="accent2"/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512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251520" y="1408782"/>
            <a:ext cx="1714311" cy="216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/>
        </p:nvSpPr>
        <p:spPr>
          <a:xfrm>
            <a:off x="683568" y="1582518"/>
            <a:ext cx="1152128" cy="1800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2040111" y="1355024"/>
            <a:ext cx="6653492" cy="216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Deep sleep Implementation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767009" y="1741749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process </a:t>
            </a:r>
          </a:p>
          <a:p>
            <a:pPr algn="ctr"/>
            <a:r>
              <a:rPr lang="en-US" altLang="zh-TW" sz="1200" dirty="0" smtClean="0"/>
              <a:t>suspend</a:t>
            </a:r>
            <a:endParaRPr lang="zh-TW" altLang="en-US" sz="1200" dirty="0"/>
          </a:p>
        </p:txBody>
      </p:sp>
      <p:sp>
        <p:nvSpPr>
          <p:cNvPr id="9" name="矩形 8"/>
          <p:cNvSpPr/>
          <p:nvPr/>
        </p:nvSpPr>
        <p:spPr>
          <a:xfrm>
            <a:off x="747868" y="2796108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Driver </a:t>
            </a:r>
          </a:p>
          <a:p>
            <a:pPr algn="ctr"/>
            <a:r>
              <a:rPr lang="en-US" altLang="zh-TW" sz="1200" dirty="0" smtClean="0"/>
              <a:t>suspend</a:t>
            </a:r>
            <a:endParaRPr lang="zh-TW" altLang="en-US" sz="1200" dirty="0"/>
          </a:p>
        </p:txBody>
      </p:sp>
      <p:grpSp>
        <p:nvGrpSpPr>
          <p:cNvPr id="19" name="群組 18"/>
          <p:cNvGrpSpPr/>
          <p:nvPr/>
        </p:nvGrpSpPr>
        <p:grpSpPr>
          <a:xfrm>
            <a:off x="2177616" y="1608647"/>
            <a:ext cx="898301" cy="1800200"/>
            <a:chOff x="2282964" y="1624806"/>
            <a:chExt cx="1152128" cy="1800200"/>
          </a:xfrm>
        </p:grpSpPr>
        <p:sp>
          <p:nvSpPr>
            <p:cNvPr id="33" name="矩形 32"/>
            <p:cNvSpPr/>
            <p:nvPr/>
          </p:nvSpPr>
          <p:spPr>
            <a:xfrm>
              <a:off x="2282964" y="162480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2354972" y="229486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Disable</a:t>
              </a:r>
            </a:p>
            <a:p>
              <a:pPr algn="ctr"/>
              <a:r>
                <a:rPr lang="en-US" altLang="zh-TW" sz="1200" dirty="0" smtClean="0"/>
                <a:t>MIE*</a:t>
              </a:r>
              <a:endParaRPr lang="zh-TW" altLang="en-US" sz="1200" dirty="0"/>
            </a:p>
          </p:txBody>
        </p:sp>
      </p:grpSp>
      <p:cxnSp>
        <p:nvCxnSpPr>
          <p:cNvPr id="26" name="直線單箭頭接點 25"/>
          <p:cNvCxnSpPr>
            <a:stCxn id="8" idx="2"/>
            <a:endCxn id="114" idx="0"/>
          </p:cNvCxnSpPr>
          <p:nvPr/>
        </p:nvCxnSpPr>
        <p:spPr>
          <a:xfrm>
            <a:off x="1271065" y="2173797"/>
            <a:ext cx="0" cy="89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4587258" y="1599946"/>
            <a:ext cx="898301" cy="1800200"/>
            <a:chOff x="4860032" y="1624806"/>
            <a:chExt cx="1152128" cy="1800200"/>
          </a:xfrm>
        </p:grpSpPr>
        <p:sp>
          <p:nvSpPr>
            <p:cNvPr id="34" name="矩形 33"/>
            <p:cNvSpPr/>
            <p:nvPr/>
          </p:nvSpPr>
          <p:spPr>
            <a:xfrm>
              <a:off x="4860032" y="162480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932040" y="229486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Check </a:t>
              </a:r>
            </a:p>
            <a:p>
              <a:pPr algn="ctr"/>
              <a:r>
                <a:rPr lang="en-US" altLang="zh-TW" sz="1000" dirty="0" smtClean="0"/>
                <a:t>PCS_STATUS</a:t>
              </a:r>
              <a:endParaRPr lang="zh-TW" altLang="en-US" sz="1000" dirty="0"/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8028382" y="1624806"/>
            <a:ext cx="576065" cy="1800200"/>
            <a:chOff x="7452320" y="1624806"/>
            <a:chExt cx="1152128" cy="1800200"/>
          </a:xfrm>
        </p:grpSpPr>
        <p:sp>
          <p:nvSpPr>
            <p:cNvPr id="36" name="矩形 35"/>
            <p:cNvSpPr/>
            <p:nvPr/>
          </p:nvSpPr>
          <p:spPr>
            <a:xfrm>
              <a:off x="7452320" y="162480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7524328" y="229486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WFI</a:t>
              </a:r>
              <a:endParaRPr lang="zh-TW" altLang="en-US" sz="1000" dirty="0"/>
            </a:p>
          </p:txBody>
        </p:sp>
      </p:grpSp>
      <p:sp>
        <p:nvSpPr>
          <p:cNvPr id="38" name="文字方塊 37"/>
          <p:cNvSpPr txBox="1"/>
          <p:nvPr/>
        </p:nvSpPr>
        <p:spPr>
          <a:xfrm>
            <a:off x="2180188" y="3434822"/>
            <a:ext cx="111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Disable IRQ</a:t>
            </a:r>
            <a:endParaRPr lang="zh-TW" altLang="en-US" sz="12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3368839" y="3444870"/>
            <a:ext cx="111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Setup SMU</a:t>
            </a:r>
            <a:endParaRPr lang="zh-TW" altLang="en-US" sz="12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357415" y="3352117"/>
            <a:ext cx="1259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Wait for other cores ready</a:t>
            </a:r>
            <a:endParaRPr lang="zh-TW" altLang="en-US" sz="12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024409" y="3416712"/>
            <a:ext cx="1251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Disable </a:t>
            </a:r>
          </a:p>
          <a:p>
            <a:r>
              <a:rPr lang="en-US" altLang="zh-TW" sz="1200" b="1" dirty="0" smtClean="0"/>
              <a:t>Cache</a:t>
            </a:r>
            <a:endParaRPr lang="zh-TW" altLang="en-US" sz="1200" b="1" dirty="0"/>
          </a:p>
        </p:txBody>
      </p:sp>
      <p:grpSp>
        <p:nvGrpSpPr>
          <p:cNvPr id="44" name="群組 43"/>
          <p:cNvGrpSpPr/>
          <p:nvPr/>
        </p:nvGrpSpPr>
        <p:grpSpPr>
          <a:xfrm>
            <a:off x="6898562" y="1610596"/>
            <a:ext cx="1037895" cy="1800200"/>
            <a:chOff x="6784329" y="1610596"/>
            <a:chExt cx="1152128" cy="1800200"/>
          </a:xfrm>
        </p:grpSpPr>
        <p:grpSp>
          <p:nvGrpSpPr>
            <p:cNvPr id="4" name="群組 3"/>
            <p:cNvGrpSpPr/>
            <p:nvPr/>
          </p:nvGrpSpPr>
          <p:grpSpPr>
            <a:xfrm>
              <a:off x="6784329" y="1610596"/>
              <a:ext cx="1152128" cy="1800200"/>
              <a:chOff x="6156176" y="1624806"/>
              <a:chExt cx="1152128" cy="1800200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6156176" y="1624806"/>
                <a:ext cx="1152128" cy="1800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6228184" y="1679444"/>
                <a:ext cx="1008112" cy="255779"/>
              </a:xfrm>
              <a:prstGeom prst="rect">
                <a:avLst/>
              </a:prstGeom>
              <a:solidFill>
                <a:srgbClr val="477D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/>
                  <a:t>Disable D$</a:t>
                </a:r>
                <a:endParaRPr lang="zh-TW" altLang="en-US" sz="800" dirty="0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6228184" y="2081679"/>
                <a:ext cx="1008112" cy="249571"/>
              </a:xfrm>
              <a:prstGeom prst="rect">
                <a:avLst/>
              </a:prstGeom>
              <a:solidFill>
                <a:srgbClr val="477D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/>
                  <a:t>Write back</a:t>
                </a:r>
                <a:r>
                  <a:rPr lang="en-US" altLang="zh-TW" sz="800" dirty="0"/>
                  <a:t> </a:t>
                </a:r>
                <a:r>
                  <a:rPr lang="en-US" altLang="zh-TW" sz="800" dirty="0" smtClean="0"/>
                  <a:t>D$</a:t>
                </a:r>
                <a:endParaRPr lang="zh-TW" altLang="en-US" sz="800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228184" y="2439168"/>
                <a:ext cx="1008112" cy="224519"/>
              </a:xfrm>
              <a:prstGeom prst="rect">
                <a:avLst/>
              </a:prstGeom>
              <a:solidFill>
                <a:srgbClr val="477D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/>
                  <a:t>Disable CM</a:t>
                </a:r>
                <a:endParaRPr lang="zh-TW" altLang="en-US" sz="800" dirty="0"/>
              </a:p>
            </p:txBody>
          </p:sp>
        </p:grpSp>
        <p:cxnSp>
          <p:nvCxnSpPr>
            <p:cNvPr id="42" name="直線單箭頭接點 41"/>
            <p:cNvCxnSpPr>
              <a:stCxn id="10" idx="2"/>
              <a:endCxn id="11" idx="0"/>
            </p:cNvCxnSpPr>
            <p:nvPr/>
          </p:nvCxnSpPr>
          <p:spPr>
            <a:xfrm>
              <a:off x="7360392" y="1921013"/>
              <a:ext cx="0" cy="146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>
              <a:stCxn id="11" idx="2"/>
              <a:endCxn id="12" idx="0"/>
            </p:cNvCxnSpPr>
            <p:nvPr/>
          </p:nvCxnSpPr>
          <p:spPr>
            <a:xfrm>
              <a:off x="7360392" y="2317040"/>
              <a:ext cx="0" cy="1079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字方塊 47"/>
          <p:cNvSpPr txBox="1"/>
          <p:nvPr/>
        </p:nvSpPr>
        <p:spPr>
          <a:xfrm>
            <a:off x="8018921" y="3317676"/>
            <a:ext cx="682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Enter sleep mode</a:t>
            </a:r>
            <a:endParaRPr lang="zh-TW" altLang="en-US" sz="1200" b="1" dirty="0"/>
          </a:p>
        </p:txBody>
      </p:sp>
      <p:cxnSp>
        <p:nvCxnSpPr>
          <p:cNvPr id="50" name="直線單箭頭接點 49"/>
          <p:cNvCxnSpPr>
            <a:stCxn id="15" idx="3"/>
            <a:endCxn id="35" idx="1"/>
          </p:cNvCxnSpPr>
          <p:nvPr/>
        </p:nvCxnSpPr>
        <p:spPr>
          <a:xfrm flipV="1">
            <a:off x="4226781" y="2485837"/>
            <a:ext cx="416621" cy="525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35" idx="3"/>
            <a:endCxn id="115" idx="1"/>
          </p:cNvCxnSpPr>
          <p:nvPr/>
        </p:nvCxnSpPr>
        <p:spPr>
          <a:xfrm flipV="1">
            <a:off x="5429415" y="2043368"/>
            <a:ext cx="387430" cy="442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735943" y="1064457"/>
            <a:ext cx="11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92D050"/>
                </a:solidFill>
              </a:rPr>
              <a:t>Kernel</a:t>
            </a:r>
            <a:endParaRPr lang="zh-TW" altLang="en-US" b="1" dirty="0">
              <a:solidFill>
                <a:srgbClr val="92D050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3832287" y="1039354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 smtClean="0">
                <a:solidFill>
                  <a:srgbClr val="FFC000"/>
                </a:solidFill>
              </a:rPr>
              <a:t>OpenSBI</a:t>
            </a:r>
            <a:r>
              <a:rPr lang="en-US" altLang="zh-TW" b="1" dirty="0" smtClean="0">
                <a:solidFill>
                  <a:srgbClr val="FFC000"/>
                </a:solidFill>
              </a:rPr>
              <a:t> SMU Driver </a:t>
            </a:r>
            <a:endParaRPr lang="zh-TW" altLang="en-US" b="1" dirty="0">
              <a:solidFill>
                <a:srgbClr val="FFC000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8053" y="1434639"/>
            <a:ext cx="491499" cy="45122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Main core</a:t>
            </a:r>
            <a:endParaRPr lang="zh-TW" altLang="en-US" sz="1000" dirty="0"/>
          </a:p>
        </p:txBody>
      </p:sp>
      <p:cxnSp>
        <p:nvCxnSpPr>
          <p:cNvPr id="69" name="直線單箭頭接點 68"/>
          <p:cNvCxnSpPr>
            <a:stCxn id="67" idx="3"/>
            <a:endCxn id="8" idx="1"/>
          </p:cNvCxnSpPr>
          <p:nvPr/>
        </p:nvCxnSpPr>
        <p:spPr>
          <a:xfrm>
            <a:off x="539552" y="1660250"/>
            <a:ext cx="227457" cy="297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群組 135"/>
          <p:cNvGrpSpPr/>
          <p:nvPr/>
        </p:nvGrpSpPr>
        <p:grpSpPr>
          <a:xfrm>
            <a:off x="1219" y="1931502"/>
            <a:ext cx="566727" cy="1663377"/>
            <a:chOff x="1219" y="1931502"/>
            <a:chExt cx="566727" cy="1663377"/>
          </a:xfrm>
        </p:grpSpPr>
        <p:sp>
          <p:nvSpPr>
            <p:cNvPr id="100" name="矩形 99"/>
            <p:cNvSpPr/>
            <p:nvPr/>
          </p:nvSpPr>
          <p:spPr>
            <a:xfrm>
              <a:off x="1219" y="1931502"/>
              <a:ext cx="566727" cy="166337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48053" y="1994988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other core</a:t>
              </a:r>
              <a:endParaRPr lang="zh-TW" altLang="en-US" sz="1000" dirty="0"/>
            </a:p>
          </p:txBody>
        </p:sp>
        <p:sp>
          <p:nvSpPr>
            <p:cNvPr id="75" name="矩形 74"/>
            <p:cNvSpPr/>
            <p:nvPr/>
          </p:nvSpPr>
          <p:spPr>
            <a:xfrm>
              <a:off x="48053" y="3062838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other </a:t>
              </a:r>
              <a:r>
                <a:rPr lang="en-US" altLang="zh-TW" sz="1000" dirty="0" smtClean="0"/>
                <a:t>core</a:t>
              </a:r>
              <a:endParaRPr lang="zh-TW" altLang="en-US" sz="1000" dirty="0"/>
            </a:p>
          </p:txBody>
        </p:sp>
        <p:sp>
          <p:nvSpPr>
            <p:cNvPr id="78" name="矩形 77"/>
            <p:cNvSpPr/>
            <p:nvPr/>
          </p:nvSpPr>
          <p:spPr>
            <a:xfrm>
              <a:off x="35496" y="2541736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other </a:t>
              </a:r>
              <a:r>
                <a:rPr lang="en-US" altLang="zh-TW" sz="1000" dirty="0" smtClean="0"/>
                <a:t>core</a:t>
              </a:r>
              <a:endParaRPr lang="zh-TW" altLang="en-US" sz="1000" dirty="0"/>
            </a:p>
          </p:txBody>
        </p:sp>
      </p:grpSp>
      <p:cxnSp>
        <p:nvCxnSpPr>
          <p:cNvPr id="79" name="直線單箭頭接點 78"/>
          <p:cNvCxnSpPr>
            <a:stCxn id="9" idx="3"/>
            <a:endCxn id="14" idx="1"/>
          </p:cNvCxnSpPr>
          <p:nvPr/>
        </p:nvCxnSpPr>
        <p:spPr>
          <a:xfrm flipV="1">
            <a:off x="1755980" y="2510697"/>
            <a:ext cx="598992" cy="50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手繪多邊形 88"/>
          <p:cNvSpPr/>
          <p:nvPr/>
        </p:nvSpPr>
        <p:spPr>
          <a:xfrm>
            <a:off x="467212" y="2241272"/>
            <a:ext cx="2002335" cy="360231"/>
          </a:xfrm>
          <a:custGeom>
            <a:avLst/>
            <a:gdLst>
              <a:gd name="connsiteX0" fmla="*/ 0 w 2002335"/>
              <a:gd name="connsiteY0" fmla="*/ 0 h 360231"/>
              <a:gd name="connsiteX1" fmla="*/ 2002335 w 2002335"/>
              <a:gd name="connsiteY1" fmla="*/ 273653 h 36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2335" h="360231">
                <a:moveTo>
                  <a:pt x="0" y="0"/>
                </a:moveTo>
                <a:cubicBezTo>
                  <a:pt x="985037" y="248067"/>
                  <a:pt x="1970075" y="496135"/>
                  <a:pt x="2002335" y="273653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矩形 104"/>
          <p:cNvSpPr/>
          <p:nvPr/>
        </p:nvSpPr>
        <p:spPr>
          <a:xfrm>
            <a:off x="8830928" y="1408781"/>
            <a:ext cx="313071" cy="2186097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SMU</a:t>
            </a:r>
            <a:endParaRPr lang="zh-TW" altLang="en-US" dirty="0"/>
          </a:p>
        </p:txBody>
      </p:sp>
      <p:cxnSp>
        <p:nvCxnSpPr>
          <p:cNvPr id="106" name="直線單箭頭接點 105"/>
          <p:cNvCxnSpPr>
            <a:stCxn id="146" idx="3"/>
            <a:endCxn id="37" idx="1"/>
          </p:cNvCxnSpPr>
          <p:nvPr/>
        </p:nvCxnSpPr>
        <p:spPr>
          <a:xfrm flipV="1">
            <a:off x="7873327" y="2510697"/>
            <a:ext cx="191059" cy="695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stCxn id="37" idx="3"/>
            <a:endCxn id="105" idx="1"/>
          </p:cNvCxnSpPr>
          <p:nvPr/>
        </p:nvCxnSpPr>
        <p:spPr>
          <a:xfrm flipV="1">
            <a:off x="8532440" y="2501830"/>
            <a:ext cx="298488" cy="8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395536" y="699542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deep sleep power down </a:t>
            </a:r>
            <a:endParaRPr lang="zh-TW" altLang="en-US" dirty="0"/>
          </a:p>
        </p:txBody>
      </p:sp>
      <p:sp>
        <p:nvSpPr>
          <p:cNvPr id="114" name="矩形 113"/>
          <p:cNvSpPr/>
          <p:nvPr/>
        </p:nvSpPr>
        <p:spPr>
          <a:xfrm>
            <a:off x="767009" y="2263272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Other hart</a:t>
            </a:r>
          </a:p>
          <a:p>
            <a:pPr algn="ctr"/>
            <a:r>
              <a:rPr lang="en-US" altLang="zh-TW" sz="1200" dirty="0" smtClean="0"/>
              <a:t>sleep</a:t>
            </a:r>
            <a:endParaRPr lang="zh-TW" altLang="en-US" sz="1200" dirty="0"/>
          </a:p>
        </p:txBody>
      </p:sp>
      <p:cxnSp>
        <p:nvCxnSpPr>
          <p:cNvPr id="121" name="直線單箭頭接點 120"/>
          <p:cNvCxnSpPr>
            <a:stCxn id="114" idx="3"/>
            <a:endCxn id="14" idx="1"/>
          </p:cNvCxnSpPr>
          <p:nvPr/>
        </p:nvCxnSpPr>
        <p:spPr>
          <a:xfrm>
            <a:off x="1775121" y="2479296"/>
            <a:ext cx="579851" cy="31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endCxn id="9" idx="0"/>
          </p:cNvCxnSpPr>
          <p:nvPr/>
        </p:nvCxnSpPr>
        <p:spPr>
          <a:xfrm flipH="1">
            <a:off x="1251924" y="2695320"/>
            <a:ext cx="19141" cy="100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78" idx="3"/>
            <a:endCxn id="8" idx="1"/>
          </p:cNvCxnSpPr>
          <p:nvPr/>
        </p:nvCxnSpPr>
        <p:spPr>
          <a:xfrm flipV="1">
            <a:off x="526995" y="1957773"/>
            <a:ext cx="240014" cy="819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1012858" y="2620677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main core</a:t>
            </a:r>
            <a:endParaRPr lang="zh-TW" altLang="en-US" sz="800" dirty="0"/>
          </a:p>
        </p:txBody>
      </p:sp>
      <p:sp>
        <p:nvSpPr>
          <p:cNvPr id="132" name="文字方塊 131"/>
          <p:cNvSpPr txBox="1"/>
          <p:nvPr/>
        </p:nvSpPr>
        <p:spPr>
          <a:xfrm>
            <a:off x="1698103" y="2354473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Other cores</a:t>
            </a:r>
            <a:endParaRPr lang="zh-TW" altLang="en-US" sz="800" dirty="0"/>
          </a:p>
        </p:txBody>
      </p:sp>
      <p:sp>
        <p:nvSpPr>
          <p:cNvPr id="135" name="文字方塊 134"/>
          <p:cNvSpPr txBox="1"/>
          <p:nvPr/>
        </p:nvSpPr>
        <p:spPr>
          <a:xfrm>
            <a:off x="408125" y="3869304"/>
            <a:ext cx="4948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PCS_WE: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Main core: </a:t>
            </a:r>
            <a:r>
              <a:rPr lang="en-US" altLang="zh-TW" b="1" dirty="0" err="1" smtClean="0"/>
              <a:t>rtc</a:t>
            </a:r>
            <a:r>
              <a:rPr lang="en-US" altLang="zh-TW" b="1" dirty="0" smtClean="0"/>
              <a:t> or </a:t>
            </a:r>
            <a:r>
              <a:rPr lang="en-US" altLang="zh-TW" b="1" dirty="0" err="1" smtClean="0"/>
              <a:t>uart</a:t>
            </a:r>
            <a:endParaRPr lang="en-US" altLang="zh-TW" b="1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Other core: </a:t>
            </a:r>
            <a:r>
              <a:rPr lang="en-US" altLang="zh-TW" b="1" dirty="0" smtClean="0"/>
              <a:t>MSIP</a:t>
            </a:r>
            <a:endParaRPr lang="zh-TW" altLang="en-US" b="1" dirty="0"/>
          </a:p>
        </p:txBody>
      </p:sp>
      <p:grpSp>
        <p:nvGrpSpPr>
          <p:cNvPr id="68" name="群組 67"/>
          <p:cNvGrpSpPr/>
          <p:nvPr/>
        </p:nvGrpSpPr>
        <p:grpSpPr>
          <a:xfrm>
            <a:off x="5742684" y="1599946"/>
            <a:ext cx="898301" cy="1800200"/>
            <a:chOff x="2282964" y="1624806"/>
            <a:chExt cx="1152128" cy="1800200"/>
          </a:xfrm>
        </p:grpSpPr>
        <p:sp>
          <p:nvSpPr>
            <p:cNvPr id="70" name="矩形 69"/>
            <p:cNvSpPr/>
            <p:nvPr/>
          </p:nvSpPr>
          <p:spPr>
            <a:xfrm>
              <a:off x="2282964" y="1624806"/>
              <a:ext cx="1152128" cy="1800200"/>
            </a:xfrm>
            <a:prstGeom prst="rect">
              <a:avLst/>
            </a:prstGeom>
            <a:solidFill>
              <a:srgbClr val="F6AC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2344803" y="2571144"/>
              <a:ext cx="1008112" cy="728600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Store </a:t>
              </a:r>
            </a:p>
            <a:p>
              <a:pPr algn="ctr"/>
              <a:r>
                <a:rPr lang="en-US" altLang="zh-TW" sz="800" dirty="0" err="1" smtClean="0"/>
                <a:t>sp</a:t>
              </a:r>
              <a:r>
                <a:rPr lang="en-US" altLang="zh-TW" sz="800" dirty="0" smtClean="0"/>
                <a:t> address </a:t>
              </a:r>
            </a:p>
            <a:p>
              <a:pPr algn="ctr"/>
              <a:r>
                <a:rPr lang="en-US" altLang="zh-TW" sz="800" dirty="0"/>
                <a:t>t</a:t>
              </a:r>
              <a:r>
                <a:rPr lang="en-US" altLang="zh-TW" sz="800" dirty="0" smtClean="0"/>
                <a:t>o </a:t>
              </a:r>
            </a:p>
            <a:p>
              <a:pPr algn="ctr"/>
              <a:r>
                <a:rPr lang="en-US" altLang="zh-TW" sz="800" dirty="0" smtClean="0"/>
                <a:t>PCS_SCRATCH</a:t>
              </a:r>
              <a:endParaRPr lang="zh-TW" altLang="en-US" sz="800" dirty="0"/>
            </a:p>
          </p:txBody>
        </p:sp>
      </p:grpSp>
      <p:cxnSp>
        <p:nvCxnSpPr>
          <p:cNvPr id="80" name="直線單箭頭接點 79"/>
          <p:cNvCxnSpPr>
            <a:stCxn id="71" idx="3"/>
            <a:endCxn id="10" idx="1"/>
          </p:cNvCxnSpPr>
          <p:nvPr/>
        </p:nvCxnSpPr>
        <p:spPr>
          <a:xfrm flipV="1">
            <a:off x="6576912" y="1793124"/>
            <a:ext cx="386518" cy="1117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5655468" y="1436106"/>
            <a:ext cx="1073424" cy="2330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 83"/>
          <p:cNvSpPr/>
          <p:nvPr/>
        </p:nvSpPr>
        <p:spPr>
          <a:xfrm>
            <a:off x="5220072" y="3942973"/>
            <a:ext cx="1944216" cy="498736"/>
          </a:xfrm>
          <a:prstGeom prst="rect">
            <a:avLst/>
          </a:prstGeom>
          <a:solidFill>
            <a:srgbClr val="639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Deep sleep only</a:t>
            </a:r>
            <a:endParaRPr lang="zh-TW" altLang="en-US" dirty="0"/>
          </a:p>
        </p:txBody>
      </p:sp>
      <p:sp>
        <p:nvSpPr>
          <p:cNvPr id="49" name="向左箭號 48"/>
          <p:cNvSpPr/>
          <p:nvPr/>
        </p:nvSpPr>
        <p:spPr>
          <a:xfrm rot="5400000">
            <a:off x="5909633" y="3605662"/>
            <a:ext cx="542674" cy="221091"/>
          </a:xfrm>
          <a:prstGeom prst="leftArrow">
            <a:avLst/>
          </a:prstGeom>
          <a:solidFill>
            <a:srgbClr val="639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6" name="群組 85"/>
          <p:cNvGrpSpPr/>
          <p:nvPr/>
        </p:nvGrpSpPr>
        <p:grpSpPr>
          <a:xfrm>
            <a:off x="3350409" y="1567940"/>
            <a:ext cx="934796" cy="1800200"/>
            <a:chOff x="3851920" y="1634229"/>
            <a:chExt cx="934796" cy="1800200"/>
          </a:xfrm>
        </p:grpSpPr>
        <p:grpSp>
          <p:nvGrpSpPr>
            <p:cNvPr id="18" name="群組 17"/>
            <p:cNvGrpSpPr/>
            <p:nvPr/>
          </p:nvGrpSpPr>
          <p:grpSpPr>
            <a:xfrm>
              <a:off x="3851920" y="1634229"/>
              <a:ext cx="934796" cy="1800200"/>
              <a:chOff x="3563888" y="1624806"/>
              <a:chExt cx="1152128" cy="180020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3563888" y="1624806"/>
                <a:ext cx="1152128" cy="1800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636341" y="2274295"/>
                <a:ext cx="1008114" cy="432048"/>
              </a:xfrm>
              <a:prstGeom prst="rect">
                <a:avLst/>
              </a:prstGeom>
              <a:solidFill>
                <a:srgbClr val="477D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Set </a:t>
                </a:r>
              </a:p>
              <a:p>
                <a:pPr algn="ctr"/>
                <a:r>
                  <a:rPr lang="en-US" altLang="zh-TW" sz="1200" dirty="0" smtClean="0"/>
                  <a:t>PCS_WE</a:t>
                </a:r>
                <a:endParaRPr lang="zh-TW" altLang="en-US" sz="1200" dirty="0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635896" y="2852529"/>
                <a:ext cx="1008113" cy="432048"/>
              </a:xfrm>
              <a:prstGeom prst="rect">
                <a:avLst/>
              </a:prstGeom>
              <a:solidFill>
                <a:srgbClr val="477D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Set </a:t>
                </a:r>
                <a:r>
                  <a:rPr lang="en-US" altLang="zh-TW" sz="1200" dirty="0" smtClean="0">
                    <a:solidFill>
                      <a:srgbClr val="FF0000"/>
                    </a:solidFill>
                  </a:rPr>
                  <a:t>0xb</a:t>
                </a:r>
                <a:r>
                  <a:rPr lang="en-US" altLang="zh-TW" sz="1200" dirty="0" smtClean="0"/>
                  <a:t> </a:t>
                </a:r>
              </a:p>
              <a:p>
                <a:pPr algn="ctr"/>
                <a:r>
                  <a:rPr lang="en-US" altLang="zh-TW" sz="1200" dirty="0" smtClean="0"/>
                  <a:t>PCS_CTL</a:t>
                </a:r>
                <a:endParaRPr lang="zh-TW" altLang="en-US" sz="1200" dirty="0"/>
              </a:p>
            </p:txBody>
          </p:sp>
          <p:cxnSp>
            <p:nvCxnSpPr>
              <p:cNvPr id="17" name="直線單箭頭接點 16"/>
              <p:cNvCxnSpPr>
                <a:stCxn id="13" idx="2"/>
                <a:endCxn id="15" idx="0"/>
              </p:cNvCxnSpPr>
              <p:nvPr/>
            </p:nvCxnSpPr>
            <p:spPr>
              <a:xfrm flipH="1">
                <a:off x="4139953" y="2706343"/>
                <a:ext cx="444" cy="1461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矩形 94"/>
            <p:cNvSpPr/>
            <p:nvPr/>
          </p:nvSpPr>
          <p:spPr>
            <a:xfrm>
              <a:off x="3915832" y="1712112"/>
              <a:ext cx="817947" cy="432048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Set </a:t>
              </a:r>
            </a:p>
            <a:p>
              <a:pPr algn="ctr"/>
              <a:r>
                <a:rPr lang="en-US" altLang="zh-TW" sz="1000" dirty="0" err="1" smtClean="0"/>
                <a:t>Reset_vec</a:t>
              </a:r>
              <a:endParaRPr lang="zh-TW" altLang="en-US" sz="1000" dirty="0"/>
            </a:p>
          </p:txBody>
        </p:sp>
      </p:grpSp>
      <p:cxnSp>
        <p:nvCxnSpPr>
          <p:cNvPr id="96" name="直線單箭頭接點 95"/>
          <p:cNvCxnSpPr>
            <a:stCxn id="95" idx="2"/>
            <a:endCxn id="13" idx="0"/>
          </p:cNvCxnSpPr>
          <p:nvPr/>
        </p:nvCxnSpPr>
        <p:spPr>
          <a:xfrm flipH="1">
            <a:off x="3818169" y="2077871"/>
            <a:ext cx="5126" cy="13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V="1">
            <a:off x="3026557" y="2457099"/>
            <a:ext cx="389422" cy="61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3264392" y="1593771"/>
            <a:ext cx="1073424" cy="5365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向左箭號 107"/>
          <p:cNvSpPr/>
          <p:nvPr/>
        </p:nvSpPr>
        <p:spPr>
          <a:xfrm rot="2551295">
            <a:off x="3833032" y="2920263"/>
            <a:ext cx="2708300" cy="267236"/>
          </a:xfrm>
          <a:prstGeom prst="leftArrow">
            <a:avLst>
              <a:gd name="adj1" fmla="val 44905"/>
              <a:gd name="adj2" fmla="val 50000"/>
            </a:avLst>
          </a:prstGeom>
          <a:solidFill>
            <a:srgbClr val="639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6" name="肘形接點 55"/>
          <p:cNvCxnSpPr>
            <a:stCxn id="15" idx="3"/>
            <a:endCxn id="115" idx="1"/>
          </p:cNvCxnSpPr>
          <p:nvPr/>
        </p:nvCxnSpPr>
        <p:spPr>
          <a:xfrm flipV="1">
            <a:off x="4226781" y="2043368"/>
            <a:ext cx="1590064" cy="968319"/>
          </a:xfrm>
          <a:prstGeom prst="bentConnector3">
            <a:avLst>
              <a:gd name="adj1" fmla="val 845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/>
          <p:cNvSpPr txBox="1"/>
          <p:nvPr/>
        </p:nvSpPr>
        <p:spPr>
          <a:xfrm>
            <a:off x="4602039" y="2965053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Other cores</a:t>
            </a:r>
            <a:endParaRPr lang="zh-TW" altLang="en-US" sz="800" dirty="0"/>
          </a:p>
        </p:txBody>
      </p:sp>
      <p:sp>
        <p:nvSpPr>
          <p:cNvPr id="60" name="文字方塊 59"/>
          <p:cNvSpPr txBox="1"/>
          <p:nvPr/>
        </p:nvSpPr>
        <p:spPr>
          <a:xfrm rot="18610403">
            <a:off x="4157352" y="2661512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main core</a:t>
            </a:r>
            <a:endParaRPr lang="zh-TW" altLang="en-US" sz="800" dirty="0"/>
          </a:p>
        </p:txBody>
      </p:sp>
      <p:sp>
        <p:nvSpPr>
          <p:cNvPr id="115" name="矩形 114"/>
          <p:cNvSpPr/>
          <p:nvPr/>
        </p:nvSpPr>
        <p:spPr>
          <a:xfrm>
            <a:off x="5816845" y="1730856"/>
            <a:ext cx="786013" cy="625023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Store </a:t>
            </a:r>
          </a:p>
          <a:p>
            <a:pPr algn="ctr"/>
            <a:r>
              <a:rPr lang="en-US" altLang="zh-TW" sz="1000" dirty="0" smtClean="0"/>
              <a:t>Registers</a:t>
            </a:r>
          </a:p>
        </p:txBody>
      </p:sp>
      <p:cxnSp>
        <p:nvCxnSpPr>
          <p:cNvPr id="116" name="直線單箭頭接點 115"/>
          <p:cNvCxnSpPr>
            <a:stCxn id="115" idx="2"/>
            <a:endCxn id="71" idx="0"/>
          </p:cNvCxnSpPr>
          <p:nvPr/>
        </p:nvCxnSpPr>
        <p:spPr>
          <a:xfrm flipH="1">
            <a:off x="6183906" y="2355879"/>
            <a:ext cx="25946" cy="190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6972891" y="2767555"/>
            <a:ext cx="908158" cy="224519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800" dirty="0" smtClean="0"/>
              <a:t>Disable L2</a:t>
            </a:r>
            <a:endParaRPr lang="zh-TW" altLang="en-US" sz="800" dirty="0"/>
          </a:p>
        </p:txBody>
      </p:sp>
      <p:sp>
        <p:nvSpPr>
          <p:cNvPr id="146" name="矩形 145"/>
          <p:cNvSpPr/>
          <p:nvPr/>
        </p:nvSpPr>
        <p:spPr>
          <a:xfrm>
            <a:off x="6965169" y="3093669"/>
            <a:ext cx="908158" cy="224519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800" dirty="0" smtClean="0"/>
              <a:t>Check L2 status</a:t>
            </a:r>
            <a:endParaRPr lang="zh-TW" altLang="en-US" sz="800" dirty="0"/>
          </a:p>
        </p:txBody>
      </p:sp>
      <p:cxnSp>
        <p:nvCxnSpPr>
          <p:cNvPr id="147" name="直線單箭頭接點 146"/>
          <p:cNvCxnSpPr>
            <a:stCxn id="12" idx="2"/>
            <a:endCxn id="145" idx="0"/>
          </p:cNvCxnSpPr>
          <p:nvPr/>
        </p:nvCxnSpPr>
        <p:spPr>
          <a:xfrm>
            <a:off x="7417509" y="2649477"/>
            <a:ext cx="9461" cy="11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>
            <a:stCxn id="145" idx="2"/>
            <a:endCxn id="146" idx="0"/>
          </p:cNvCxnSpPr>
          <p:nvPr/>
        </p:nvCxnSpPr>
        <p:spPr>
          <a:xfrm flipH="1">
            <a:off x="7419248" y="2992074"/>
            <a:ext cx="7722" cy="101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/>
        </p:nvSpPr>
        <p:spPr>
          <a:xfrm>
            <a:off x="6880797" y="2725221"/>
            <a:ext cx="1073424" cy="682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9" name="向左箭號 158"/>
          <p:cNvSpPr/>
          <p:nvPr/>
        </p:nvSpPr>
        <p:spPr>
          <a:xfrm rot="8197755">
            <a:off x="6017237" y="3566173"/>
            <a:ext cx="1005640" cy="221091"/>
          </a:xfrm>
          <a:prstGeom prst="leftArrow">
            <a:avLst/>
          </a:prstGeom>
          <a:solidFill>
            <a:srgbClr val="639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文字方塊 81"/>
          <p:cNvSpPr txBox="1"/>
          <p:nvPr/>
        </p:nvSpPr>
        <p:spPr>
          <a:xfrm>
            <a:off x="5751030" y="3412931"/>
            <a:ext cx="1259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Store </a:t>
            </a:r>
            <a:r>
              <a:rPr lang="en-US" altLang="zh-TW" sz="1200" b="1" dirty="0" err="1" smtClean="0"/>
              <a:t>regs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791299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Deep sleep </a:t>
            </a:r>
            <a:r>
              <a:rPr lang="en-US" altLang="zh-TW" dirty="0" smtClean="0"/>
              <a:t>Implementation</a:t>
            </a:r>
            <a:endParaRPr lang="zh-TW" altLang="en-US" dirty="0"/>
          </a:p>
        </p:txBody>
      </p:sp>
      <p:grpSp>
        <p:nvGrpSpPr>
          <p:cNvPr id="124" name="群組 123"/>
          <p:cNvGrpSpPr/>
          <p:nvPr/>
        </p:nvGrpSpPr>
        <p:grpSpPr>
          <a:xfrm>
            <a:off x="4121358" y="3570185"/>
            <a:ext cx="2394858" cy="369717"/>
            <a:chOff x="5652120" y="4083916"/>
            <a:chExt cx="3456384" cy="576069"/>
          </a:xfrm>
        </p:grpSpPr>
        <p:sp>
          <p:nvSpPr>
            <p:cNvPr id="18" name="矩形 17"/>
            <p:cNvSpPr/>
            <p:nvPr/>
          </p:nvSpPr>
          <p:spPr>
            <a:xfrm>
              <a:off x="5652120" y="4083918"/>
              <a:ext cx="3456384" cy="57606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TW" dirty="0" smtClean="0"/>
                <a:t>HW SMU</a:t>
              </a:r>
              <a:endParaRPr lang="zh-TW" altLang="en-US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5754786" y="4083921"/>
              <a:ext cx="897313" cy="576064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CORE0_</a:t>
              </a:r>
            </a:p>
            <a:p>
              <a:pPr algn="ctr"/>
              <a:r>
                <a:rPr lang="en-US" altLang="zh-TW" sz="800" dirty="0" smtClean="0"/>
                <a:t>PCS_SCRATCH</a:t>
              </a:r>
              <a:endParaRPr lang="zh-TW" altLang="en-US" sz="800" dirty="0"/>
            </a:p>
          </p:txBody>
        </p:sp>
        <p:sp>
          <p:nvSpPr>
            <p:cNvPr id="49" name="矩形 48"/>
            <p:cNvSpPr/>
            <p:nvPr/>
          </p:nvSpPr>
          <p:spPr>
            <a:xfrm>
              <a:off x="6652305" y="4083916"/>
              <a:ext cx="897313" cy="576064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CORE1_</a:t>
              </a:r>
            </a:p>
            <a:p>
              <a:pPr algn="ctr"/>
              <a:r>
                <a:rPr lang="en-US" altLang="zh-TW" sz="800" dirty="0" smtClean="0"/>
                <a:t>PCS_SCRATCH</a:t>
              </a:r>
              <a:endParaRPr lang="zh-TW" altLang="en-US" sz="800" dirty="0"/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5148064" y="771550"/>
            <a:ext cx="936104" cy="1296142"/>
            <a:chOff x="4842868" y="1131590"/>
            <a:chExt cx="1169292" cy="1872208"/>
          </a:xfrm>
        </p:grpSpPr>
        <p:sp>
          <p:nvSpPr>
            <p:cNvPr id="51" name="矩形 50"/>
            <p:cNvSpPr/>
            <p:nvPr/>
          </p:nvSpPr>
          <p:spPr>
            <a:xfrm>
              <a:off x="5292080" y="1131590"/>
              <a:ext cx="720080" cy="1872208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r>
                <a:rPr lang="en-US" altLang="zh-TW" sz="1000" dirty="0" smtClean="0"/>
                <a:t>L1</a:t>
              </a:r>
              <a:endParaRPr lang="zh-TW" altLang="en-US" sz="1000" dirty="0"/>
            </a:p>
          </p:txBody>
        </p:sp>
        <p:sp>
          <p:nvSpPr>
            <p:cNvPr id="52" name="矩形 51"/>
            <p:cNvSpPr/>
            <p:nvPr/>
          </p:nvSpPr>
          <p:spPr>
            <a:xfrm>
              <a:off x="5292079" y="1794223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err="1" smtClean="0">
                  <a:solidFill>
                    <a:schemeClr val="tx1"/>
                  </a:solidFill>
                </a:rPr>
                <a:t>mcache_ctl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5292080" y="113159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x0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5292080" y="149163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x31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 rot="5400000">
              <a:off x="5609610" y="1164138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56" name="文字方塊 55"/>
            <p:cNvSpPr txBox="1"/>
            <p:nvPr/>
          </p:nvSpPr>
          <p:spPr>
            <a:xfrm rot="5400000">
              <a:off x="5537860" y="1580185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57" name="矩形 56"/>
            <p:cNvSpPr/>
            <p:nvPr/>
          </p:nvSpPr>
          <p:spPr>
            <a:xfrm>
              <a:off x="5291824" y="246018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smtClean="0">
                  <a:solidFill>
                    <a:schemeClr val="tx1"/>
                  </a:solidFill>
                </a:rPr>
                <a:t>pmpaddr15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 rot="5400000">
              <a:off x="5555538" y="1859100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5291824" y="2105723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err="1" smtClean="0">
                  <a:solidFill>
                    <a:schemeClr val="tx1"/>
                  </a:solidFill>
                </a:rPr>
                <a:t>satp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 rot="5400000">
              <a:off x="5564462" y="2230777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cxnSp>
          <p:nvCxnSpPr>
            <p:cNvPr id="61" name="直線單箭頭接點 60"/>
            <p:cNvCxnSpPr/>
            <p:nvPr/>
          </p:nvCxnSpPr>
          <p:spPr>
            <a:xfrm>
              <a:off x="5148064" y="2691766"/>
              <a:ext cx="1440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/>
            <p:cNvSpPr txBox="1"/>
            <p:nvPr/>
          </p:nvSpPr>
          <p:spPr>
            <a:xfrm>
              <a:off x="4842868" y="2483742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00" dirty="0" err="1" smtClean="0"/>
                <a:t>sp</a:t>
              </a:r>
              <a:endParaRPr lang="zh-TW" altLang="en-US" sz="800" dirty="0"/>
            </a:p>
          </p:txBody>
        </p:sp>
      </p:grpSp>
      <p:sp>
        <p:nvSpPr>
          <p:cNvPr id="89" name="矩形 88"/>
          <p:cNvSpPr/>
          <p:nvPr/>
        </p:nvSpPr>
        <p:spPr>
          <a:xfrm>
            <a:off x="4283968" y="2283718"/>
            <a:ext cx="1872623" cy="3600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 smtClean="0"/>
              <a:t>L2</a:t>
            </a:r>
            <a:endParaRPr lang="zh-TW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4211960" y="2859782"/>
            <a:ext cx="2031263" cy="36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 smtClean="0"/>
              <a:t>RAM</a:t>
            </a:r>
            <a:endParaRPr lang="zh-TW" altLang="en-US" dirty="0"/>
          </a:p>
        </p:txBody>
      </p:sp>
      <p:grpSp>
        <p:nvGrpSpPr>
          <p:cNvPr id="91" name="群組 90"/>
          <p:cNvGrpSpPr/>
          <p:nvPr/>
        </p:nvGrpSpPr>
        <p:grpSpPr>
          <a:xfrm rot="5400000">
            <a:off x="4859702" y="1809131"/>
            <a:ext cx="346963" cy="1296142"/>
            <a:chOff x="5292080" y="1131590"/>
            <a:chExt cx="720080" cy="1872208"/>
          </a:xfrm>
        </p:grpSpPr>
        <p:sp>
          <p:nvSpPr>
            <p:cNvPr id="92" name="矩形 91"/>
            <p:cNvSpPr/>
            <p:nvPr/>
          </p:nvSpPr>
          <p:spPr>
            <a:xfrm>
              <a:off x="5292080" y="1131590"/>
              <a:ext cx="720080" cy="1872208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/>
            </a:p>
          </p:txBody>
        </p:sp>
        <p:sp>
          <p:nvSpPr>
            <p:cNvPr id="93" name="矩形 92"/>
            <p:cNvSpPr/>
            <p:nvPr/>
          </p:nvSpPr>
          <p:spPr>
            <a:xfrm>
              <a:off x="5292080" y="185167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err="1" smtClean="0">
                  <a:solidFill>
                    <a:schemeClr val="tx1"/>
                  </a:solidFill>
                </a:rPr>
                <a:t>mcache_ctl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5292080" y="113159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x0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5292080" y="149163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x31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6" name="文字方塊 95"/>
            <p:cNvSpPr txBox="1"/>
            <p:nvPr/>
          </p:nvSpPr>
          <p:spPr>
            <a:xfrm rot="5400000">
              <a:off x="5609610" y="1164138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97" name="文字方塊 96"/>
            <p:cNvSpPr txBox="1"/>
            <p:nvPr/>
          </p:nvSpPr>
          <p:spPr>
            <a:xfrm rot="5400000">
              <a:off x="5537860" y="1580185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98" name="矩形 97"/>
            <p:cNvSpPr/>
            <p:nvPr/>
          </p:nvSpPr>
          <p:spPr>
            <a:xfrm>
              <a:off x="5292080" y="2643758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smtClean="0">
                  <a:solidFill>
                    <a:schemeClr val="tx1"/>
                  </a:solidFill>
                </a:rPr>
                <a:t>pmpaddr15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99" name="文字方塊 98"/>
            <p:cNvSpPr txBox="1"/>
            <p:nvPr/>
          </p:nvSpPr>
          <p:spPr>
            <a:xfrm rot="5400000">
              <a:off x="5555538" y="1892220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00" name="矩形 99"/>
            <p:cNvSpPr/>
            <p:nvPr/>
          </p:nvSpPr>
          <p:spPr>
            <a:xfrm>
              <a:off x="5292080" y="221171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err="1" smtClean="0">
                  <a:solidFill>
                    <a:schemeClr val="tx1"/>
                  </a:solidFill>
                </a:rPr>
                <a:t>satp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1" name="文字方塊 100"/>
            <p:cNvSpPr txBox="1"/>
            <p:nvPr/>
          </p:nvSpPr>
          <p:spPr>
            <a:xfrm rot="5400000">
              <a:off x="5555538" y="2308267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</p:grpSp>
      <p:grpSp>
        <p:nvGrpSpPr>
          <p:cNvPr id="104" name="群組 103"/>
          <p:cNvGrpSpPr/>
          <p:nvPr/>
        </p:nvGrpSpPr>
        <p:grpSpPr>
          <a:xfrm rot="5400000">
            <a:off x="4815994" y="2400185"/>
            <a:ext cx="376942" cy="1296142"/>
            <a:chOff x="5292080" y="1131590"/>
            <a:chExt cx="720080" cy="1872208"/>
          </a:xfrm>
        </p:grpSpPr>
        <p:sp>
          <p:nvSpPr>
            <p:cNvPr id="105" name="矩形 104"/>
            <p:cNvSpPr/>
            <p:nvPr/>
          </p:nvSpPr>
          <p:spPr>
            <a:xfrm>
              <a:off x="5292080" y="1131590"/>
              <a:ext cx="720080" cy="1872208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5292080" y="185167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err="1" smtClean="0">
                  <a:solidFill>
                    <a:schemeClr val="tx1"/>
                  </a:solidFill>
                </a:rPr>
                <a:t>mcache_ctl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5292080" y="113159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x0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5292080" y="149163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x31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9" name="文字方塊 108"/>
            <p:cNvSpPr txBox="1"/>
            <p:nvPr/>
          </p:nvSpPr>
          <p:spPr>
            <a:xfrm rot="5400000">
              <a:off x="5609610" y="1164138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10" name="文字方塊 109"/>
            <p:cNvSpPr txBox="1"/>
            <p:nvPr/>
          </p:nvSpPr>
          <p:spPr>
            <a:xfrm rot="5400000">
              <a:off x="5537860" y="1580185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5292080" y="2643758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smtClean="0">
                  <a:solidFill>
                    <a:schemeClr val="tx1"/>
                  </a:solidFill>
                </a:rPr>
                <a:t>pmpaddr15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2" name="文字方塊 111"/>
            <p:cNvSpPr txBox="1"/>
            <p:nvPr/>
          </p:nvSpPr>
          <p:spPr>
            <a:xfrm rot="5400000">
              <a:off x="5555538" y="1892220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5292080" y="221171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err="1" smtClean="0">
                  <a:solidFill>
                    <a:schemeClr val="tx1"/>
                  </a:solidFill>
                </a:rPr>
                <a:t>satp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14" name="文字方塊 113"/>
            <p:cNvSpPr txBox="1"/>
            <p:nvPr/>
          </p:nvSpPr>
          <p:spPr>
            <a:xfrm rot="5400000">
              <a:off x="5555538" y="2308267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</p:grpSp>
      <p:sp>
        <p:nvSpPr>
          <p:cNvPr id="115" name="向左箭號 114"/>
          <p:cNvSpPr/>
          <p:nvPr/>
        </p:nvSpPr>
        <p:spPr>
          <a:xfrm rot="15834571">
            <a:off x="4765147" y="2115559"/>
            <a:ext cx="269367" cy="149538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向左箭號 115"/>
          <p:cNvSpPr/>
          <p:nvPr/>
        </p:nvSpPr>
        <p:spPr>
          <a:xfrm rot="15834571">
            <a:off x="5128153" y="2688654"/>
            <a:ext cx="269367" cy="149538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文字方塊 116"/>
          <p:cNvSpPr txBox="1"/>
          <p:nvPr/>
        </p:nvSpPr>
        <p:spPr>
          <a:xfrm>
            <a:off x="3850424" y="2030329"/>
            <a:ext cx="1074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/>
              <a:t>L1_cctl_wb</a:t>
            </a:r>
            <a:endParaRPr lang="zh-TW" altLang="en-US" sz="1200" b="1" dirty="0"/>
          </a:p>
        </p:txBody>
      </p:sp>
      <p:sp>
        <p:nvSpPr>
          <p:cNvPr id="119" name="文字方塊 118"/>
          <p:cNvSpPr txBox="1"/>
          <p:nvPr/>
        </p:nvSpPr>
        <p:spPr>
          <a:xfrm>
            <a:off x="4249237" y="2604661"/>
            <a:ext cx="1074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/>
              <a:t>L2_cctl_wb</a:t>
            </a:r>
            <a:endParaRPr lang="zh-TW" altLang="en-US" sz="1200" b="1" dirty="0"/>
          </a:p>
        </p:txBody>
      </p:sp>
      <p:sp>
        <p:nvSpPr>
          <p:cNvPr id="120" name="矩形 119"/>
          <p:cNvSpPr/>
          <p:nvPr/>
        </p:nvSpPr>
        <p:spPr>
          <a:xfrm>
            <a:off x="4138252" y="1707654"/>
            <a:ext cx="226983" cy="254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2" name="弧形接點 121"/>
          <p:cNvCxnSpPr>
            <a:stCxn id="120" idx="1"/>
            <a:endCxn id="19" idx="0"/>
          </p:cNvCxnSpPr>
          <p:nvPr/>
        </p:nvCxnSpPr>
        <p:spPr>
          <a:xfrm rot="10800000" flipH="1" flipV="1">
            <a:off x="4138252" y="1834714"/>
            <a:ext cx="365106" cy="1735474"/>
          </a:xfrm>
          <a:prstGeom prst="curvedConnector4">
            <a:avLst>
              <a:gd name="adj1" fmla="val -62612"/>
              <a:gd name="adj2" fmla="val 536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5129859" y="1707654"/>
            <a:ext cx="297291" cy="254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6" name="弧形接點 125"/>
          <p:cNvCxnSpPr>
            <a:stCxn id="125" idx="2"/>
            <a:endCxn id="49" idx="0"/>
          </p:cNvCxnSpPr>
          <p:nvPr/>
        </p:nvCxnSpPr>
        <p:spPr>
          <a:xfrm rot="5400000">
            <a:off x="4397663" y="2689342"/>
            <a:ext cx="1608411" cy="153274"/>
          </a:xfrm>
          <a:prstGeom prst="curvedConnector3">
            <a:avLst>
              <a:gd name="adj1" fmla="val 668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2602" y="627534"/>
            <a:ext cx="3579492" cy="4515966"/>
          </a:xfrm>
        </p:spPr>
        <p:txBody>
          <a:bodyPr/>
          <a:lstStyle/>
          <a:p>
            <a:r>
              <a:rPr lang="en-US" altLang="zh-TW" sz="1800" dirty="0" smtClean="0"/>
              <a:t>Deep sleep:</a:t>
            </a:r>
          </a:p>
          <a:p>
            <a:pPr lvl="1"/>
            <a:r>
              <a:rPr lang="en-US" altLang="zh-TW" sz="1400" dirty="0" smtClean="0"/>
              <a:t>Backup CSR to </a:t>
            </a:r>
            <a:r>
              <a:rPr lang="en-US" altLang="zh-TW" sz="1400" dirty="0" err="1" smtClean="0"/>
              <a:t>sp</a:t>
            </a:r>
            <a:endParaRPr lang="en-US" altLang="zh-TW" sz="1400" dirty="0" smtClean="0"/>
          </a:p>
          <a:p>
            <a:pPr lvl="2"/>
            <a:r>
              <a:rPr lang="en-US" altLang="zh-TW" sz="1200" dirty="0" smtClean="0"/>
              <a:t>X0~X31</a:t>
            </a:r>
          </a:p>
          <a:p>
            <a:pPr lvl="2"/>
            <a:r>
              <a:rPr lang="en-US" altLang="zh-TW" sz="1200" dirty="0" smtClean="0"/>
              <a:t>Floating CSR (Not implemented)</a:t>
            </a:r>
          </a:p>
          <a:p>
            <a:pPr lvl="2"/>
            <a:r>
              <a:rPr lang="en-US" altLang="zh-TW" sz="1200" dirty="0" smtClean="0"/>
              <a:t>Machine mode CSR</a:t>
            </a:r>
          </a:p>
          <a:p>
            <a:pPr lvl="2"/>
            <a:r>
              <a:rPr lang="en-US" altLang="zh-TW" sz="1200" dirty="0" smtClean="0"/>
              <a:t>Supervisor mode CSR</a:t>
            </a:r>
          </a:p>
          <a:p>
            <a:pPr lvl="2"/>
            <a:r>
              <a:rPr lang="en-US" altLang="zh-TW" sz="1200" dirty="0" smtClean="0"/>
              <a:t>Andes Custom CSR</a:t>
            </a:r>
          </a:p>
          <a:p>
            <a:pPr lvl="2"/>
            <a:r>
              <a:rPr lang="en-US" altLang="zh-TW" sz="1200" dirty="0" smtClean="0"/>
              <a:t>PMP CSR</a:t>
            </a:r>
          </a:p>
          <a:p>
            <a:pPr lvl="1"/>
            <a:r>
              <a:rPr lang="en-US" altLang="zh-TW" sz="1400" dirty="0" smtClean="0"/>
              <a:t>Save “</a:t>
            </a:r>
            <a:r>
              <a:rPr lang="en-US" altLang="zh-TW" sz="1400" dirty="0" err="1" smtClean="0"/>
              <a:t>sp</a:t>
            </a:r>
            <a:r>
              <a:rPr lang="en-US" altLang="zh-TW" sz="1400" dirty="0" smtClean="0"/>
              <a:t>” to PCS_SCRATCH</a:t>
            </a:r>
          </a:p>
          <a:p>
            <a:pPr lvl="1"/>
            <a:r>
              <a:rPr lang="en-US" altLang="zh-TW" sz="1400" dirty="0"/>
              <a:t>Set </a:t>
            </a:r>
            <a:r>
              <a:rPr lang="en-US" altLang="zh-TW" sz="1400" dirty="0" smtClean="0"/>
              <a:t>reset vector</a:t>
            </a:r>
          </a:p>
          <a:p>
            <a:pPr lvl="2"/>
            <a:r>
              <a:rPr lang="en-US" altLang="zh-TW" sz="1200" dirty="0" smtClean="0"/>
              <a:t>Hart “PC” will be reset</a:t>
            </a:r>
          </a:p>
          <a:p>
            <a:pPr lvl="2"/>
            <a:r>
              <a:rPr lang="en-US" altLang="zh-TW" sz="1200" dirty="0" smtClean="0"/>
              <a:t>Need to set return </a:t>
            </a:r>
            <a:r>
              <a:rPr lang="en-US" altLang="zh-TW" sz="1200" dirty="0"/>
              <a:t>PC in </a:t>
            </a:r>
            <a:r>
              <a:rPr lang="en-US" altLang="zh-TW" sz="1200" dirty="0" smtClean="0"/>
              <a:t>HART0_RESET_VECTOR_LO</a:t>
            </a:r>
          </a:p>
          <a:p>
            <a:pPr lvl="1"/>
            <a:r>
              <a:rPr lang="en-US" altLang="zh-TW" sz="1400" dirty="0"/>
              <a:t>Disable </a:t>
            </a:r>
            <a:r>
              <a:rPr lang="en-US" altLang="zh-TW" sz="1400" dirty="0" smtClean="0"/>
              <a:t>D-cache &amp; </a:t>
            </a:r>
            <a:r>
              <a:rPr lang="en-US" altLang="zh-TW" sz="1400" dirty="0" err="1" smtClean="0"/>
              <a:t>wb</a:t>
            </a:r>
            <a:endParaRPr lang="en-US" altLang="zh-TW" sz="1400" dirty="0" smtClean="0"/>
          </a:p>
          <a:p>
            <a:pPr lvl="2"/>
            <a:r>
              <a:rPr lang="en-US" altLang="zh-TW" sz="1200" dirty="0" smtClean="0"/>
              <a:t>Write back L1 to L2</a:t>
            </a:r>
          </a:p>
          <a:p>
            <a:pPr lvl="1"/>
            <a:r>
              <a:rPr lang="en-US" altLang="zh-TW" sz="1400" dirty="0" smtClean="0"/>
              <a:t>Disable CM</a:t>
            </a:r>
          </a:p>
          <a:p>
            <a:pPr lvl="1"/>
            <a:r>
              <a:rPr lang="en-US" altLang="zh-TW" sz="1400" dirty="0" smtClean="0"/>
              <a:t>Disable L2 &amp; </a:t>
            </a:r>
            <a:r>
              <a:rPr lang="en-US" altLang="zh-TW" sz="1400" dirty="0" err="1" smtClean="0"/>
              <a:t>wb</a:t>
            </a:r>
            <a:endParaRPr lang="en-US" altLang="zh-TW" sz="1400" dirty="0" smtClean="0"/>
          </a:p>
          <a:p>
            <a:pPr lvl="2"/>
            <a:r>
              <a:rPr lang="en-US" altLang="zh-TW" sz="1200" dirty="0"/>
              <a:t>Write back </a:t>
            </a:r>
            <a:r>
              <a:rPr lang="en-US" altLang="zh-TW" sz="1200" dirty="0" smtClean="0"/>
              <a:t>L2 </a:t>
            </a:r>
            <a:r>
              <a:rPr lang="en-US" altLang="zh-TW" sz="1200" dirty="0"/>
              <a:t>to </a:t>
            </a:r>
            <a:r>
              <a:rPr lang="en-US" altLang="zh-TW" sz="1200" dirty="0" smtClean="0"/>
              <a:t>RAM</a:t>
            </a:r>
          </a:p>
          <a:p>
            <a:pPr lvl="1"/>
            <a:r>
              <a:rPr lang="en-US" altLang="zh-TW" sz="1400" dirty="0" smtClean="0"/>
              <a:t>WFI</a:t>
            </a:r>
            <a:endParaRPr lang="en-US" altLang="zh-TW" sz="1200" dirty="0" smtClean="0"/>
          </a:p>
          <a:p>
            <a:pPr lvl="2"/>
            <a:endParaRPr lang="zh-TW" altLang="en-US" sz="1200" dirty="0"/>
          </a:p>
          <a:p>
            <a:pPr marL="1371566" lvl="3" indent="0">
              <a:buNone/>
            </a:pP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139" name="文字方塊 138"/>
          <p:cNvSpPr txBox="1"/>
          <p:nvPr/>
        </p:nvSpPr>
        <p:spPr>
          <a:xfrm>
            <a:off x="4766929" y="4255774"/>
            <a:ext cx="3756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TW" sz="1400" b="1" dirty="0">
                <a:solidFill>
                  <a:srgbClr val="FF0000"/>
                </a:solidFill>
              </a:rPr>
              <a:t>L1 &amp; L2 will be reset 0 after deep </a:t>
            </a:r>
            <a:r>
              <a:rPr lang="en-US" altLang="zh-TW" sz="1400" b="1" dirty="0" smtClean="0">
                <a:solidFill>
                  <a:srgbClr val="FF0000"/>
                </a:solidFill>
              </a:rPr>
              <a:t>sleep</a:t>
            </a:r>
            <a:endParaRPr lang="en-US" altLang="zh-TW" sz="1400" b="1" dirty="0">
              <a:solidFill>
                <a:srgbClr val="FF0000"/>
              </a:solidFill>
            </a:endParaRPr>
          </a:p>
        </p:txBody>
      </p:sp>
      <p:cxnSp>
        <p:nvCxnSpPr>
          <p:cNvPr id="143" name="直線接點 142"/>
          <p:cNvCxnSpPr/>
          <p:nvPr/>
        </p:nvCxnSpPr>
        <p:spPr>
          <a:xfrm>
            <a:off x="6588224" y="693606"/>
            <a:ext cx="0" cy="32462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矩形 330"/>
          <p:cNvSpPr/>
          <p:nvPr/>
        </p:nvSpPr>
        <p:spPr>
          <a:xfrm>
            <a:off x="7093362" y="771550"/>
            <a:ext cx="576477" cy="1296141"/>
          </a:xfrm>
          <a:prstGeom prst="rect">
            <a:avLst/>
          </a:prstGeom>
          <a:solidFill>
            <a:srgbClr val="477DC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1000" dirty="0" smtClean="0"/>
          </a:p>
          <a:p>
            <a:pPr algn="ctr"/>
            <a:endParaRPr lang="en-US" altLang="zh-TW" sz="1000" dirty="0"/>
          </a:p>
          <a:p>
            <a:pPr algn="ctr"/>
            <a:endParaRPr lang="en-US" altLang="zh-TW" sz="1000" dirty="0" smtClean="0"/>
          </a:p>
          <a:p>
            <a:pPr algn="ctr"/>
            <a:endParaRPr lang="en-US" altLang="zh-TW" sz="1000" dirty="0"/>
          </a:p>
          <a:p>
            <a:pPr algn="ctr"/>
            <a:endParaRPr lang="en-US" altLang="zh-TW" sz="1000" dirty="0" smtClean="0"/>
          </a:p>
          <a:p>
            <a:pPr algn="ctr"/>
            <a:endParaRPr lang="en-US" altLang="zh-TW" sz="1000" dirty="0"/>
          </a:p>
          <a:p>
            <a:pPr algn="ctr"/>
            <a:endParaRPr lang="en-US" altLang="zh-TW" sz="1000" dirty="0" smtClean="0"/>
          </a:p>
          <a:p>
            <a:pPr algn="ctr"/>
            <a:r>
              <a:rPr lang="en-US" altLang="zh-TW" sz="1000" dirty="0" smtClean="0"/>
              <a:t>L1</a:t>
            </a:r>
            <a:endParaRPr lang="zh-TW" altLang="en-US" sz="1000" dirty="0"/>
          </a:p>
        </p:txBody>
      </p:sp>
      <p:grpSp>
        <p:nvGrpSpPr>
          <p:cNvPr id="343" name="群組 342"/>
          <p:cNvGrpSpPr/>
          <p:nvPr/>
        </p:nvGrpSpPr>
        <p:grpSpPr>
          <a:xfrm>
            <a:off x="6715142" y="3575705"/>
            <a:ext cx="2394858" cy="369717"/>
            <a:chOff x="5652120" y="4083916"/>
            <a:chExt cx="3456384" cy="576069"/>
          </a:xfrm>
        </p:grpSpPr>
        <p:sp>
          <p:nvSpPr>
            <p:cNvPr id="344" name="矩形 343"/>
            <p:cNvSpPr/>
            <p:nvPr/>
          </p:nvSpPr>
          <p:spPr>
            <a:xfrm>
              <a:off x="5652120" y="4083918"/>
              <a:ext cx="3456384" cy="57606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TW" dirty="0" smtClean="0"/>
                <a:t>HW SMU</a:t>
              </a:r>
              <a:endParaRPr lang="zh-TW" altLang="en-US" dirty="0"/>
            </a:p>
          </p:txBody>
        </p:sp>
        <p:sp>
          <p:nvSpPr>
            <p:cNvPr id="345" name="矩形 344"/>
            <p:cNvSpPr/>
            <p:nvPr/>
          </p:nvSpPr>
          <p:spPr>
            <a:xfrm>
              <a:off x="5754786" y="4083921"/>
              <a:ext cx="897313" cy="576064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CORE0_</a:t>
              </a:r>
            </a:p>
            <a:p>
              <a:pPr algn="ctr"/>
              <a:r>
                <a:rPr lang="en-US" altLang="zh-TW" sz="800" dirty="0" smtClean="0"/>
                <a:t>PCS_SCRATCH</a:t>
              </a:r>
              <a:endParaRPr lang="zh-TW" altLang="en-US" sz="800" dirty="0"/>
            </a:p>
          </p:txBody>
        </p:sp>
        <p:sp>
          <p:nvSpPr>
            <p:cNvPr id="346" name="矩形 345"/>
            <p:cNvSpPr/>
            <p:nvPr/>
          </p:nvSpPr>
          <p:spPr>
            <a:xfrm>
              <a:off x="6652305" y="4083916"/>
              <a:ext cx="897313" cy="576064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CORE1_</a:t>
              </a:r>
            </a:p>
            <a:p>
              <a:pPr algn="ctr"/>
              <a:r>
                <a:rPr lang="en-US" altLang="zh-TW" sz="800" dirty="0" smtClean="0"/>
                <a:t>PCS_SCRATCH</a:t>
              </a:r>
              <a:endParaRPr lang="zh-TW" altLang="en-US" sz="800" dirty="0"/>
            </a:p>
          </p:txBody>
        </p:sp>
      </p:grpSp>
      <p:sp>
        <p:nvSpPr>
          <p:cNvPr id="360" name="矩形 359"/>
          <p:cNvSpPr/>
          <p:nvPr/>
        </p:nvSpPr>
        <p:spPr>
          <a:xfrm>
            <a:off x="6877752" y="2289238"/>
            <a:ext cx="1872623" cy="3600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 smtClean="0"/>
              <a:t>L2</a:t>
            </a:r>
            <a:endParaRPr lang="zh-TW" altLang="en-US" dirty="0"/>
          </a:p>
        </p:txBody>
      </p:sp>
      <p:sp>
        <p:nvSpPr>
          <p:cNvPr id="361" name="矩形 360"/>
          <p:cNvSpPr/>
          <p:nvPr/>
        </p:nvSpPr>
        <p:spPr>
          <a:xfrm>
            <a:off x="6805744" y="2865302"/>
            <a:ext cx="2031263" cy="36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 smtClean="0"/>
              <a:t>RAM</a:t>
            </a:r>
            <a:endParaRPr lang="zh-TW" altLang="en-US" dirty="0"/>
          </a:p>
        </p:txBody>
      </p:sp>
      <p:grpSp>
        <p:nvGrpSpPr>
          <p:cNvPr id="373" name="群組 372"/>
          <p:cNvGrpSpPr/>
          <p:nvPr/>
        </p:nvGrpSpPr>
        <p:grpSpPr>
          <a:xfrm rot="5400000">
            <a:off x="7409778" y="2405705"/>
            <a:ext cx="376942" cy="1296142"/>
            <a:chOff x="5292080" y="1131590"/>
            <a:chExt cx="720080" cy="1872208"/>
          </a:xfrm>
        </p:grpSpPr>
        <p:sp>
          <p:nvSpPr>
            <p:cNvPr id="374" name="矩形 373"/>
            <p:cNvSpPr/>
            <p:nvPr/>
          </p:nvSpPr>
          <p:spPr>
            <a:xfrm>
              <a:off x="5292080" y="1131590"/>
              <a:ext cx="720080" cy="1872208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/>
            </a:p>
          </p:txBody>
        </p:sp>
        <p:sp>
          <p:nvSpPr>
            <p:cNvPr id="375" name="矩形 374"/>
            <p:cNvSpPr/>
            <p:nvPr/>
          </p:nvSpPr>
          <p:spPr>
            <a:xfrm>
              <a:off x="5292080" y="185167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err="1" smtClean="0">
                  <a:solidFill>
                    <a:schemeClr val="tx1"/>
                  </a:solidFill>
                </a:rPr>
                <a:t>mcache_ctl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376" name="矩形 375"/>
            <p:cNvSpPr/>
            <p:nvPr/>
          </p:nvSpPr>
          <p:spPr>
            <a:xfrm>
              <a:off x="5292080" y="113159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x0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77" name="矩形 376"/>
            <p:cNvSpPr/>
            <p:nvPr/>
          </p:nvSpPr>
          <p:spPr>
            <a:xfrm>
              <a:off x="5292080" y="149163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x31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78" name="文字方塊 377"/>
            <p:cNvSpPr txBox="1"/>
            <p:nvPr/>
          </p:nvSpPr>
          <p:spPr>
            <a:xfrm rot="5400000">
              <a:off x="5609610" y="1164138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379" name="文字方塊 378"/>
            <p:cNvSpPr txBox="1"/>
            <p:nvPr/>
          </p:nvSpPr>
          <p:spPr>
            <a:xfrm rot="5400000">
              <a:off x="5537860" y="1580185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380" name="矩形 379"/>
            <p:cNvSpPr/>
            <p:nvPr/>
          </p:nvSpPr>
          <p:spPr>
            <a:xfrm>
              <a:off x="5292080" y="2643758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smtClean="0">
                  <a:solidFill>
                    <a:schemeClr val="tx1"/>
                  </a:solidFill>
                </a:rPr>
                <a:t>pmpaddr15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381" name="文字方塊 380"/>
            <p:cNvSpPr txBox="1"/>
            <p:nvPr/>
          </p:nvSpPr>
          <p:spPr>
            <a:xfrm rot="5400000">
              <a:off x="5555538" y="1892220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382" name="矩形 381"/>
            <p:cNvSpPr/>
            <p:nvPr/>
          </p:nvSpPr>
          <p:spPr>
            <a:xfrm>
              <a:off x="5292080" y="221171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err="1" smtClean="0">
                  <a:solidFill>
                    <a:schemeClr val="tx1"/>
                  </a:solidFill>
                </a:rPr>
                <a:t>satp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83" name="文字方塊 382"/>
            <p:cNvSpPr txBox="1"/>
            <p:nvPr/>
          </p:nvSpPr>
          <p:spPr>
            <a:xfrm rot="5400000">
              <a:off x="5555538" y="2308267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</p:grpSp>
      <p:grpSp>
        <p:nvGrpSpPr>
          <p:cNvPr id="392" name="群組 391"/>
          <p:cNvGrpSpPr/>
          <p:nvPr/>
        </p:nvGrpSpPr>
        <p:grpSpPr>
          <a:xfrm>
            <a:off x="4139952" y="771550"/>
            <a:ext cx="936104" cy="1296142"/>
            <a:chOff x="4842868" y="1131590"/>
            <a:chExt cx="1169292" cy="1872208"/>
          </a:xfrm>
        </p:grpSpPr>
        <p:sp>
          <p:nvSpPr>
            <p:cNvPr id="393" name="矩形 392"/>
            <p:cNvSpPr/>
            <p:nvPr/>
          </p:nvSpPr>
          <p:spPr>
            <a:xfrm>
              <a:off x="5292080" y="1131590"/>
              <a:ext cx="720080" cy="1872208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r>
                <a:rPr lang="en-US" altLang="zh-TW" sz="1000" dirty="0" smtClean="0"/>
                <a:t>L1</a:t>
              </a:r>
              <a:endParaRPr lang="zh-TW" altLang="en-US" sz="1000" dirty="0"/>
            </a:p>
          </p:txBody>
        </p:sp>
        <p:sp>
          <p:nvSpPr>
            <p:cNvPr id="394" name="矩形 393"/>
            <p:cNvSpPr/>
            <p:nvPr/>
          </p:nvSpPr>
          <p:spPr>
            <a:xfrm>
              <a:off x="5292079" y="1794223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err="1" smtClean="0">
                  <a:solidFill>
                    <a:schemeClr val="tx1"/>
                  </a:solidFill>
                </a:rPr>
                <a:t>mcache_ctl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395" name="矩形 394"/>
            <p:cNvSpPr/>
            <p:nvPr/>
          </p:nvSpPr>
          <p:spPr>
            <a:xfrm>
              <a:off x="5292080" y="113159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x0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96" name="矩形 395"/>
            <p:cNvSpPr/>
            <p:nvPr/>
          </p:nvSpPr>
          <p:spPr>
            <a:xfrm>
              <a:off x="5292080" y="149163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x31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97" name="文字方塊 396"/>
            <p:cNvSpPr txBox="1"/>
            <p:nvPr/>
          </p:nvSpPr>
          <p:spPr>
            <a:xfrm rot="5400000">
              <a:off x="5609610" y="1164138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398" name="文字方塊 397"/>
            <p:cNvSpPr txBox="1"/>
            <p:nvPr/>
          </p:nvSpPr>
          <p:spPr>
            <a:xfrm rot="5400000">
              <a:off x="5537860" y="1580185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399" name="矩形 398"/>
            <p:cNvSpPr/>
            <p:nvPr/>
          </p:nvSpPr>
          <p:spPr>
            <a:xfrm>
              <a:off x="5291824" y="246018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smtClean="0">
                  <a:solidFill>
                    <a:schemeClr val="tx1"/>
                  </a:solidFill>
                </a:rPr>
                <a:t>pmpaddr15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400" name="文字方塊 399"/>
            <p:cNvSpPr txBox="1"/>
            <p:nvPr/>
          </p:nvSpPr>
          <p:spPr>
            <a:xfrm rot="5400000">
              <a:off x="5555538" y="1859100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401" name="矩形 400"/>
            <p:cNvSpPr/>
            <p:nvPr/>
          </p:nvSpPr>
          <p:spPr>
            <a:xfrm>
              <a:off x="5291824" y="2105723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err="1" smtClean="0">
                  <a:solidFill>
                    <a:schemeClr val="tx1"/>
                  </a:solidFill>
                </a:rPr>
                <a:t>satp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02" name="文字方塊 401"/>
            <p:cNvSpPr txBox="1"/>
            <p:nvPr/>
          </p:nvSpPr>
          <p:spPr>
            <a:xfrm rot="5400000">
              <a:off x="5564462" y="2230777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cxnSp>
          <p:nvCxnSpPr>
            <p:cNvPr id="403" name="直線單箭頭接點 402"/>
            <p:cNvCxnSpPr/>
            <p:nvPr/>
          </p:nvCxnSpPr>
          <p:spPr>
            <a:xfrm>
              <a:off x="5148064" y="2651204"/>
              <a:ext cx="1440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文字方塊 403"/>
            <p:cNvSpPr txBox="1"/>
            <p:nvPr/>
          </p:nvSpPr>
          <p:spPr>
            <a:xfrm>
              <a:off x="4842868" y="2483742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00" dirty="0" err="1" smtClean="0"/>
                <a:t>sp</a:t>
              </a:r>
              <a:endParaRPr lang="zh-TW" altLang="en-US" sz="800" dirty="0"/>
            </a:p>
          </p:txBody>
        </p:sp>
      </p:grpSp>
      <p:sp>
        <p:nvSpPr>
          <p:cNvPr id="420" name="矩形 419"/>
          <p:cNvSpPr/>
          <p:nvPr/>
        </p:nvSpPr>
        <p:spPr>
          <a:xfrm>
            <a:off x="8061203" y="763256"/>
            <a:ext cx="576477" cy="1296141"/>
          </a:xfrm>
          <a:prstGeom prst="rect">
            <a:avLst/>
          </a:prstGeom>
          <a:solidFill>
            <a:srgbClr val="477DC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1000" dirty="0" smtClean="0"/>
          </a:p>
          <a:p>
            <a:pPr algn="ctr"/>
            <a:endParaRPr lang="en-US" altLang="zh-TW" sz="1000" dirty="0"/>
          </a:p>
          <a:p>
            <a:pPr algn="ctr"/>
            <a:endParaRPr lang="en-US" altLang="zh-TW" sz="1000" dirty="0" smtClean="0"/>
          </a:p>
          <a:p>
            <a:pPr algn="ctr"/>
            <a:endParaRPr lang="en-US" altLang="zh-TW" sz="1000" dirty="0"/>
          </a:p>
          <a:p>
            <a:pPr algn="ctr"/>
            <a:endParaRPr lang="en-US" altLang="zh-TW" sz="1000" dirty="0" smtClean="0"/>
          </a:p>
          <a:p>
            <a:pPr algn="ctr"/>
            <a:endParaRPr lang="en-US" altLang="zh-TW" sz="1000" dirty="0"/>
          </a:p>
          <a:p>
            <a:pPr algn="ctr"/>
            <a:endParaRPr lang="en-US" altLang="zh-TW" sz="1000" dirty="0" smtClean="0"/>
          </a:p>
          <a:p>
            <a:pPr algn="ctr"/>
            <a:r>
              <a:rPr lang="en-US" altLang="zh-TW" sz="1000" dirty="0" smtClean="0"/>
              <a:t>L1</a:t>
            </a:r>
            <a:endParaRPr lang="zh-TW" altLang="en-US" sz="1000" dirty="0"/>
          </a:p>
        </p:txBody>
      </p:sp>
      <p:sp>
        <p:nvSpPr>
          <p:cNvPr id="422" name="向右箭號 421"/>
          <p:cNvSpPr/>
          <p:nvPr/>
        </p:nvSpPr>
        <p:spPr>
          <a:xfrm>
            <a:off x="6184894" y="1876027"/>
            <a:ext cx="806659" cy="366739"/>
          </a:xfrm>
          <a:prstGeom prst="rightArrow">
            <a:avLst/>
          </a:prstGeom>
          <a:solidFill>
            <a:srgbClr val="F6A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3" name="文字方塊 422"/>
          <p:cNvSpPr txBox="1"/>
          <p:nvPr/>
        </p:nvSpPr>
        <p:spPr>
          <a:xfrm>
            <a:off x="6019118" y="1904694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 smtClean="0"/>
              <a:t>Deep Sleep</a:t>
            </a:r>
            <a:endParaRPr lang="zh-TW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12051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Deep sleep </a:t>
            </a:r>
            <a:r>
              <a:rPr lang="en-US" altLang="zh-TW" dirty="0" smtClean="0"/>
              <a:t>Implementation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2602" y="627534"/>
            <a:ext cx="3579492" cy="3096344"/>
          </a:xfrm>
        </p:spPr>
        <p:txBody>
          <a:bodyPr/>
          <a:lstStyle/>
          <a:p>
            <a:r>
              <a:rPr lang="en-US" altLang="zh-TW" sz="1800" dirty="0" smtClean="0"/>
              <a:t>Deep sleep:</a:t>
            </a:r>
          </a:p>
          <a:p>
            <a:pPr lvl="1"/>
            <a:r>
              <a:rPr lang="en-US" altLang="zh-TW" sz="1400" dirty="0" smtClean="0"/>
              <a:t>Enable CM</a:t>
            </a:r>
          </a:p>
          <a:p>
            <a:pPr lvl="1"/>
            <a:r>
              <a:rPr lang="en-US" altLang="zh-TW" sz="1400" dirty="0" smtClean="0"/>
              <a:t>Enable I/D Cache</a:t>
            </a:r>
          </a:p>
          <a:p>
            <a:pPr lvl="1"/>
            <a:r>
              <a:rPr lang="en-US" altLang="zh-TW" sz="1400" dirty="0" smtClean="0"/>
              <a:t>Enable L2</a:t>
            </a:r>
          </a:p>
          <a:p>
            <a:pPr lvl="1"/>
            <a:r>
              <a:rPr lang="en-US" altLang="zh-TW" sz="1400" dirty="0" smtClean="0"/>
              <a:t>restore “</a:t>
            </a:r>
            <a:r>
              <a:rPr lang="en-US" altLang="zh-TW" sz="1400" dirty="0" err="1" smtClean="0"/>
              <a:t>sp</a:t>
            </a:r>
            <a:r>
              <a:rPr lang="en-US" altLang="zh-TW" sz="1400" dirty="0" smtClean="0"/>
              <a:t>” from PCS_SCRATCH</a:t>
            </a:r>
          </a:p>
          <a:p>
            <a:pPr lvl="1"/>
            <a:r>
              <a:rPr lang="en-US" altLang="zh-TW" sz="1400" dirty="0" smtClean="0"/>
              <a:t>Restore CSR</a:t>
            </a:r>
          </a:p>
          <a:p>
            <a:pPr lvl="2"/>
            <a:r>
              <a:rPr lang="en-US" altLang="zh-TW" sz="1200" dirty="0" smtClean="0"/>
              <a:t>X0~X31</a:t>
            </a:r>
          </a:p>
          <a:p>
            <a:pPr lvl="2"/>
            <a:r>
              <a:rPr lang="en-US" altLang="zh-TW" sz="1200" dirty="0" smtClean="0"/>
              <a:t>Floating CSR (Not implemented)</a:t>
            </a:r>
          </a:p>
          <a:p>
            <a:pPr lvl="2"/>
            <a:r>
              <a:rPr lang="en-US" altLang="zh-TW" sz="1200" dirty="0" smtClean="0"/>
              <a:t>Machine mode CSR</a:t>
            </a:r>
          </a:p>
          <a:p>
            <a:pPr lvl="2"/>
            <a:r>
              <a:rPr lang="en-US" altLang="zh-TW" sz="1200" dirty="0" smtClean="0"/>
              <a:t>Supervisor mode CSR</a:t>
            </a:r>
          </a:p>
          <a:p>
            <a:pPr lvl="2"/>
            <a:r>
              <a:rPr lang="en-US" altLang="zh-TW" sz="1200" dirty="0" smtClean="0"/>
              <a:t>Andes Custom CSR</a:t>
            </a:r>
          </a:p>
          <a:p>
            <a:pPr lvl="2"/>
            <a:r>
              <a:rPr lang="en-US" altLang="zh-TW" sz="1200" dirty="0" smtClean="0"/>
              <a:t>PMP CSR</a:t>
            </a:r>
          </a:p>
          <a:p>
            <a:pPr marL="457188" lvl="1" indent="0">
              <a:buNone/>
            </a:pPr>
            <a:endParaRPr lang="en-US" altLang="zh-TW" sz="1200" dirty="0" smtClean="0"/>
          </a:p>
          <a:p>
            <a:pPr lvl="2"/>
            <a:endParaRPr lang="zh-TW" altLang="en-US" sz="1200" dirty="0"/>
          </a:p>
          <a:p>
            <a:pPr marL="1371566" lvl="3" indent="0">
              <a:buNone/>
            </a:pP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/>
          </a:p>
          <a:p>
            <a:pPr lvl="1"/>
            <a:endParaRPr lang="en-US" altLang="zh-TW" dirty="0"/>
          </a:p>
        </p:txBody>
      </p:sp>
      <p:grpSp>
        <p:nvGrpSpPr>
          <p:cNvPr id="102" name="群組 101"/>
          <p:cNvGrpSpPr/>
          <p:nvPr/>
        </p:nvGrpSpPr>
        <p:grpSpPr>
          <a:xfrm>
            <a:off x="6660232" y="3570185"/>
            <a:ext cx="2394858" cy="369717"/>
            <a:chOff x="5652120" y="4083916"/>
            <a:chExt cx="3456384" cy="576069"/>
          </a:xfrm>
        </p:grpSpPr>
        <p:sp>
          <p:nvSpPr>
            <p:cNvPr id="103" name="矩形 102"/>
            <p:cNvSpPr/>
            <p:nvPr/>
          </p:nvSpPr>
          <p:spPr>
            <a:xfrm>
              <a:off x="5652120" y="4083918"/>
              <a:ext cx="3456384" cy="57606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TW" dirty="0" smtClean="0"/>
                <a:t>HW SMU</a:t>
              </a:r>
              <a:endParaRPr lang="zh-TW" altLang="en-US" dirty="0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5754786" y="4083921"/>
              <a:ext cx="897313" cy="576064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CORE0_</a:t>
              </a:r>
            </a:p>
            <a:p>
              <a:pPr algn="ctr"/>
              <a:r>
                <a:rPr lang="en-US" altLang="zh-TW" sz="800" dirty="0" smtClean="0"/>
                <a:t>PCS_SCRATCH</a:t>
              </a:r>
              <a:endParaRPr lang="zh-TW" altLang="en-US" sz="800" dirty="0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652305" y="4083916"/>
              <a:ext cx="897313" cy="576064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CORE1_</a:t>
              </a:r>
            </a:p>
            <a:p>
              <a:pPr algn="ctr"/>
              <a:r>
                <a:rPr lang="en-US" altLang="zh-TW" sz="800" dirty="0" smtClean="0"/>
                <a:t>PCS_SCRATCH</a:t>
              </a:r>
              <a:endParaRPr lang="zh-TW" altLang="en-US" sz="800" dirty="0"/>
            </a:p>
          </p:txBody>
        </p:sp>
      </p:grpSp>
      <p:grpSp>
        <p:nvGrpSpPr>
          <p:cNvPr id="123" name="群組 122"/>
          <p:cNvGrpSpPr/>
          <p:nvPr/>
        </p:nvGrpSpPr>
        <p:grpSpPr>
          <a:xfrm>
            <a:off x="7686938" y="771550"/>
            <a:ext cx="936104" cy="1296142"/>
            <a:chOff x="4842868" y="1131590"/>
            <a:chExt cx="1169292" cy="1872208"/>
          </a:xfrm>
        </p:grpSpPr>
        <p:sp>
          <p:nvSpPr>
            <p:cNvPr id="127" name="矩形 126"/>
            <p:cNvSpPr/>
            <p:nvPr/>
          </p:nvSpPr>
          <p:spPr>
            <a:xfrm>
              <a:off x="5292080" y="1131590"/>
              <a:ext cx="720080" cy="1872208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r>
                <a:rPr lang="en-US" altLang="zh-TW" sz="1000" dirty="0" smtClean="0"/>
                <a:t>L1</a:t>
              </a:r>
              <a:endParaRPr lang="zh-TW" altLang="en-US" sz="1000" dirty="0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5292079" y="1794223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err="1" smtClean="0">
                  <a:solidFill>
                    <a:schemeClr val="tx1"/>
                  </a:solidFill>
                </a:rPr>
                <a:t>mcache_ctl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5292080" y="113159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x0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5292080" y="149163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x31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1" name="文字方塊 130"/>
            <p:cNvSpPr txBox="1"/>
            <p:nvPr/>
          </p:nvSpPr>
          <p:spPr>
            <a:xfrm rot="5400000">
              <a:off x="5609610" y="1164138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32" name="文字方塊 131"/>
            <p:cNvSpPr txBox="1"/>
            <p:nvPr/>
          </p:nvSpPr>
          <p:spPr>
            <a:xfrm rot="5400000">
              <a:off x="5537860" y="1580185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33" name="矩形 132"/>
            <p:cNvSpPr/>
            <p:nvPr/>
          </p:nvSpPr>
          <p:spPr>
            <a:xfrm>
              <a:off x="5291824" y="246018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smtClean="0">
                  <a:solidFill>
                    <a:schemeClr val="tx1"/>
                  </a:solidFill>
                </a:rPr>
                <a:t>pmpaddr15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34" name="文字方塊 133"/>
            <p:cNvSpPr txBox="1"/>
            <p:nvPr/>
          </p:nvSpPr>
          <p:spPr>
            <a:xfrm rot="5400000">
              <a:off x="5555538" y="1859100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35" name="矩形 134"/>
            <p:cNvSpPr/>
            <p:nvPr/>
          </p:nvSpPr>
          <p:spPr>
            <a:xfrm>
              <a:off x="5291824" y="2105723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err="1" smtClean="0">
                  <a:solidFill>
                    <a:schemeClr val="tx1"/>
                  </a:solidFill>
                </a:rPr>
                <a:t>satp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6" name="文字方塊 135"/>
            <p:cNvSpPr txBox="1"/>
            <p:nvPr/>
          </p:nvSpPr>
          <p:spPr>
            <a:xfrm rot="5400000">
              <a:off x="5564462" y="2230777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cxnSp>
          <p:nvCxnSpPr>
            <p:cNvPr id="137" name="直線單箭頭接點 136"/>
            <p:cNvCxnSpPr/>
            <p:nvPr/>
          </p:nvCxnSpPr>
          <p:spPr>
            <a:xfrm>
              <a:off x="5148064" y="2691766"/>
              <a:ext cx="1440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文字方塊 137"/>
            <p:cNvSpPr txBox="1"/>
            <p:nvPr/>
          </p:nvSpPr>
          <p:spPr>
            <a:xfrm>
              <a:off x="4842868" y="2483742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00" dirty="0" err="1" smtClean="0"/>
                <a:t>sp</a:t>
              </a:r>
              <a:endParaRPr lang="zh-TW" altLang="en-US" sz="800" dirty="0"/>
            </a:p>
          </p:txBody>
        </p:sp>
      </p:grpSp>
      <p:sp>
        <p:nvSpPr>
          <p:cNvPr id="139" name="矩形 138"/>
          <p:cNvSpPr/>
          <p:nvPr/>
        </p:nvSpPr>
        <p:spPr>
          <a:xfrm>
            <a:off x="6822842" y="2283718"/>
            <a:ext cx="1872623" cy="3600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 smtClean="0"/>
              <a:t>L2</a:t>
            </a:r>
            <a:endParaRPr lang="zh-TW" altLang="en-US" dirty="0"/>
          </a:p>
        </p:txBody>
      </p:sp>
      <p:sp>
        <p:nvSpPr>
          <p:cNvPr id="140" name="矩形 139"/>
          <p:cNvSpPr/>
          <p:nvPr/>
        </p:nvSpPr>
        <p:spPr>
          <a:xfrm>
            <a:off x="6750834" y="2859782"/>
            <a:ext cx="2031263" cy="36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 smtClean="0"/>
              <a:t>RAM</a:t>
            </a:r>
            <a:endParaRPr lang="zh-TW" altLang="en-US" dirty="0"/>
          </a:p>
        </p:txBody>
      </p:sp>
      <p:grpSp>
        <p:nvGrpSpPr>
          <p:cNvPr id="152" name="群組 151"/>
          <p:cNvGrpSpPr/>
          <p:nvPr/>
        </p:nvGrpSpPr>
        <p:grpSpPr>
          <a:xfrm rot="5400000">
            <a:off x="7354868" y="2400185"/>
            <a:ext cx="376942" cy="1296142"/>
            <a:chOff x="5292080" y="1131590"/>
            <a:chExt cx="720080" cy="1872208"/>
          </a:xfrm>
        </p:grpSpPr>
        <p:sp>
          <p:nvSpPr>
            <p:cNvPr id="153" name="矩形 152"/>
            <p:cNvSpPr/>
            <p:nvPr/>
          </p:nvSpPr>
          <p:spPr>
            <a:xfrm>
              <a:off x="5292080" y="1131590"/>
              <a:ext cx="720080" cy="1872208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/>
            </a:p>
          </p:txBody>
        </p:sp>
        <p:sp>
          <p:nvSpPr>
            <p:cNvPr id="154" name="矩形 153"/>
            <p:cNvSpPr/>
            <p:nvPr/>
          </p:nvSpPr>
          <p:spPr>
            <a:xfrm>
              <a:off x="5292080" y="185167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err="1" smtClean="0">
                  <a:solidFill>
                    <a:schemeClr val="tx1"/>
                  </a:solidFill>
                </a:rPr>
                <a:t>mcache_ctl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55" name="矩形 154"/>
            <p:cNvSpPr/>
            <p:nvPr/>
          </p:nvSpPr>
          <p:spPr>
            <a:xfrm>
              <a:off x="5292080" y="113159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x0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6" name="矩形 155"/>
            <p:cNvSpPr/>
            <p:nvPr/>
          </p:nvSpPr>
          <p:spPr>
            <a:xfrm>
              <a:off x="5292080" y="149163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x31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7" name="文字方塊 156"/>
            <p:cNvSpPr txBox="1"/>
            <p:nvPr/>
          </p:nvSpPr>
          <p:spPr>
            <a:xfrm rot="5400000">
              <a:off x="5609610" y="1164138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58" name="文字方塊 157"/>
            <p:cNvSpPr txBox="1"/>
            <p:nvPr/>
          </p:nvSpPr>
          <p:spPr>
            <a:xfrm rot="5400000">
              <a:off x="5537860" y="1580185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59" name="矩形 158"/>
            <p:cNvSpPr/>
            <p:nvPr/>
          </p:nvSpPr>
          <p:spPr>
            <a:xfrm>
              <a:off x="5292080" y="2643758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smtClean="0">
                  <a:solidFill>
                    <a:schemeClr val="tx1"/>
                  </a:solidFill>
                </a:rPr>
                <a:t>pmpaddr15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60" name="文字方塊 159"/>
            <p:cNvSpPr txBox="1"/>
            <p:nvPr/>
          </p:nvSpPr>
          <p:spPr>
            <a:xfrm rot="5400000">
              <a:off x="5555538" y="1892220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61" name="矩形 160"/>
            <p:cNvSpPr/>
            <p:nvPr/>
          </p:nvSpPr>
          <p:spPr>
            <a:xfrm>
              <a:off x="5292080" y="221171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err="1" smtClean="0">
                  <a:solidFill>
                    <a:schemeClr val="tx1"/>
                  </a:solidFill>
                </a:rPr>
                <a:t>satp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2" name="文字方塊 161"/>
            <p:cNvSpPr txBox="1"/>
            <p:nvPr/>
          </p:nvSpPr>
          <p:spPr>
            <a:xfrm rot="5400000">
              <a:off x="5555538" y="2308267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</p:grpSp>
      <p:sp>
        <p:nvSpPr>
          <p:cNvPr id="166" name="矩形 165"/>
          <p:cNvSpPr/>
          <p:nvPr/>
        </p:nvSpPr>
        <p:spPr>
          <a:xfrm>
            <a:off x="6677126" y="1707654"/>
            <a:ext cx="226983" cy="254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矩形 167"/>
          <p:cNvSpPr/>
          <p:nvPr/>
        </p:nvSpPr>
        <p:spPr>
          <a:xfrm>
            <a:off x="7668733" y="1707654"/>
            <a:ext cx="297291" cy="254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1" name="直線接點 170"/>
          <p:cNvCxnSpPr/>
          <p:nvPr/>
        </p:nvCxnSpPr>
        <p:spPr>
          <a:xfrm>
            <a:off x="6372200" y="693606"/>
            <a:ext cx="0" cy="32462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群組 189"/>
          <p:cNvGrpSpPr/>
          <p:nvPr/>
        </p:nvGrpSpPr>
        <p:grpSpPr>
          <a:xfrm>
            <a:off x="6678826" y="771550"/>
            <a:ext cx="936104" cy="1296142"/>
            <a:chOff x="4842868" y="1131590"/>
            <a:chExt cx="1169292" cy="1872208"/>
          </a:xfrm>
        </p:grpSpPr>
        <p:sp>
          <p:nvSpPr>
            <p:cNvPr id="191" name="矩形 190"/>
            <p:cNvSpPr/>
            <p:nvPr/>
          </p:nvSpPr>
          <p:spPr>
            <a:xfrm>
              <a:off x="5292080" y="1131590"/>
              <a:ext cx="720080" cy="1872208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r>
                <a:rPr lang="en-US" altLang="zh-TW" sz="1000" dirty="0" smtClean="0"/>
                <a:t>L1</a:t>
              </a:r>
              <a:endParaRPr lang="zh-TW" altLang="en-US" sz="1000" dirty="0"/>
            </a:p>
          </p:txBody>
        </p:sp>
        <p:sp>
          <p:nvSpPr>
            <p:cNvPr id="192" name="矩形 191"/>
            <p:cNvSpPr/>
            <p:nvPr/>
          </p:nvSpPr>
          <p:spPr>
            <a:xfrm>
              <a:off x="5292079" y="1794223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err="1" smtClean="0">
                  <a:solidFill>
                    <a:schemeClr val="tx1"/>
                  </a:solidFill>
                </a:rPr>
                <a:t>mcache_ctl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93" name="矩形 192"/>
            <p:cNvSpPr/>
            <p:nvPr/>
          </p:nvSpPr>
          <p:spPr>
            <a:xfrm>
              <a:off x="5292080" y="113159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x0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94" name="矩形 193"/>
            <p:cNvSpPr/>
            <p:nvPr/>
          </p:nvSpPr>
          <p:spPr>
            <a:xfrm>
              <a:off x="5292080" y="149163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x31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95" name="文字方塊 194"/>
            <p:cNvSpPr txBox="1"/>
            <p:nvPr/>
          </p:nvSpPr>
          <p:spPr>
            <a:xfrm rot="5400000">
              <a:off x="5609610" y="1164138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96" name="文字方塊 195"/>
            <p:cNvSpPr txBox="1"/>
            <p:nvPr/>
          </p:nvSpPr>
          <p:spPr>
            <a:xfrm rot="5400000">
              <a:off x="5537860" y="1580185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97" name="矩形 196"/>
            <p:cNvSpPr/>
            <p:nvPr/>
          </p:nvSpPr>
          <p:spPr>
            <a:xfrm>
              <a:off x="5291824" y="2460180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 smtClean="0">
                  <a:solidFill>
                    <a:schemeClr val="tx1"/>
                  </a:solidFill>
                </a:rPr>
                <a:t>pmpaddr15</a:t>
              </a:r>
              <a:endParaRPr lang="zh-TW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98" name="文字方塊 197"/>
            <p:cNvSpPr txBox="1"/>
            <p:nvPr/>
          </p:nvSpPr>
          <p:spPr>
            <a:xfrm rot="5400000">
              <a:off x="5555538" y="1859100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sp>
          <p:nvSpPr>
            <p:cNvPr id="199" name="矩形 198"/>
            <p:cNvSpPr/>
            <p:nvPr/>
          </p:nvSpPr>
          <p:spPr>
            <a:xfrm>
              <a:off x="5291824" y="2105723"/>
              <a:ext cx="720080" cy="21602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err="1" smtClean="0">
                  <a:solidFill>
                    <a:schemeClr val="tx1"/>
                  </a:solidFill>
                </a:rPr>
                <a:t>satp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0" name="文字方塊 199"/>
            <p:cNvSpPr txBox="1"/>
            <p:nvPr/>
          </p:nvSpPr>
          <p:spPr>
            <a:xfrm rot="5400000">
              <a:off x="5564462" y="2230777"/>
              <a:ext cx="337182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…</a:t>
              </a:r>
              <a:endParaRPr lang="zh-TW" altLang="en-US" sz="1200" dirty="0"/>
            </a:p>
          </p:txBody>
        </p:sp>
        <p:cxnSp>
          <p:nvCxnSpPr>
            <p:cNvPr id="201" name="直線單箭頭接點 200"/>
            <p:cNvCxnSpPr/>
            <p:nvPr/>
          </p:nvCxnSpPr>
          <p:spPr>
            <a:xfrm>
              <a:off x="5148064" y="2651204"/>
              <a:ext cx="1440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字方塊 201"/>
            <p:cNvSpPr txBox="1"/>
            <p:nvPr/>
          </p:nvSpPr>
          <p:spPr>
            <a:xfrm>
              <a:off x="4842868" y="2483742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00" dirty="0" err="1" smtClean="0"/>
                <a:t>sp</a:t>
              </a:r>
              <a:endParaRPr lang="zh-TW" altLang="en-US" sz="800" dirty="0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5957610" y="2233053"/>
            <a:ext cx="894797" cy="366739"/>
            <a:chOff x="5876976" y="2082090"/>
            <a:chExt cx="894797" cy="366739"/>
          </a:xfrm>
        </p:grpSpPr>
        <p:sp>
          <p:nvSpPr>
            <p:cNvPr id="204" name="向右箭號 203"/>
            <p:cNvSpPr/>
            <p:nvPr/>
          </p:nvSpPr>
          <p:spPr>
            <a:xfrm>
              <a:off x="5916992" y="2082090"/>
              <a:ext cx="806659" cy="366739"/>
            </a:xfrm>
            <a:prstGeom prst="rightArrow">
              <a:avLst/>
            </a:prstGeom>
            <a:solidFill>
              <a:srgbClr val="F6AC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5" name="文字方塊 204"/>
            <p:cNvSpPr txBox="1"/>
            <p:nvPr/>
          </p:nvSpPr>
          <p:spPr>
            <a:xfrm>
              <a:off x="5876976" y="2086083"/>
              <a:ext cx="8947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 smtClean="0"/>
                <a:t>wakeup</a:t>
              </a:r>
              <a:endParaRPr lang="zh-TW" altLang="en-US" sz="1400" b="1" dirty="0"/>
            </a:p>
          </p:txBody>
        </p:sp>
      </p:grpSp>
      <p:grpSp>
        <p:nvGrpSpPr>
          <p:cNvPr id="6" name="群組 5"/>
          <p:cNvGrpSpPr/>
          <p:nvPr/>
        </p:nvGrpSpPr>
        <p:grpSpPr>
          <a:xfrm>
            <a:off x="3903570" y="757733"/>
            <a:ext cx="2394858" cy="3182166"/>
            <a:chOff x="1135811" y="1085504"/>
            <a:chExt cx="2394858" cy="3182166"/>
          </a:xfrm>
        </p:grpSpPr>
        <p:sp>
          <p:nvSpPr>
            <p:cNvPr id="207" name="矩形 206"/>
            <p:cNvSpPr/>
            <p:nvPr/>
          </p:nvSpPr>
          <p:spPr>
            <a:xfrm>
              <a:off x="1514031" y="1093798"/>
              <a:ext cx="576477" cy="1296141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r>
                <a:rPr lang="en-US" altLang="zh-TW" sz="1000" dirty="0" smtClean="0"/>
                <a:t>L1</a:t>
              </a:r>
              <a:endParaRPr lang="zh-TW" altLang="en-US" sz="1000" dirty="0"/>
            </a:p>
          </p:txBody>
        </p:sp>
        <p:grpSp>
          <p:nvGrpSpPr>
            <p:cNvPr id="208" name="群組 207"/>
            <p:cNvGrpSpPr/>
            <p:nvPr/>
          </p:nvGrpSpPr>
          <p:grpSpPr>
            <a:xfrm>
              <a:off x="1135811" y="3897953"/>
              <a:ext cx="2394858" cy="369717"/>
              <a:chOff x="5652120" y="4083916"/>
              <a:chExt cx="3456384" cy="576069"/>
            </a:xfrm>
          </p:grpSpPr>
          <p:sp>
            <p:nvSpPr>
              <p:cNvPr id="209" name="矩形 208"/>
              <p:cNvSpPr/>
              <p:nvPr/>
            </p:nvSpPr>
            <p:spPr>
              <a:xfrm>
                <a:off x="5652120" y="4083918"/>
                <a:ext cx="3456384" cy="576064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zh-TW" dirty="0" smtClean="0"/>
                  <a:t>HW SMU</a:t>
                </a:r>
                <a:endParaRPr lang="zh-TW" altLang="en-US" dirty="0"/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5754786" y="4083921"/>
                <a:ext cx="897313" cy="576064"/>
              </a:xfrm>
              <a:prstGeom prst="rect">
                <a:avLst/>
              </a:prstGeom>
              <a:solidFill>
                <a:srgbClr val="477DC7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/>
                  <a:t>CORE0_</a:t>
                </a:r>
              </a:p>
              <a:p>
                <a:pPr algn="ctr"/>
                <a:r>
                  <a:rPr lang="en-US" altLang="zh-TW" sz="800" dirty="0" smtClean="0"/>
                  <a:t>PCS_SCRATCH</a:t>
                </a:r>
                <a:endParaRPr lang="zh-TW" altLang="en-US" sz="800" dirty="0"/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6652305" y="4083916"/>
                <a:ext cx="897313" cy="576064"/>
              </a:xfrm>
              <a:prstGeom prst="rect">
                <a:avLst/>
              </a:prstGeom>
              <a:solidFill>
                <a:srgbClr val="477DC7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/>
                  <a:t>CORE1_</a:t>
                </a:r>
              </a:p>
              <a:p>
                <a:pPr algn="ctr"/>
                <a:r>
                  <a:rPr lang="en-US" altLang="zh-TW" sz="800" dirty="0" smtClean="0"/>
                  <a:t>PCS_SCRATCH</a:t>
                </a:r>
                <a:endParaRPr lang="zh-TW" altLang="en-US" sz="800" dirty="0"/>
              </a:p>
            </p:txBody>
          </p:sp>
        </p:grpSp>
        <p:sp>
          <p:nvSpPr>
            <p:cNvPr id="212" name="矩形 211"/>
            <p:cNvSpPr/>
            <p:nvPr/>
          </p:nvSpPr>
          <p:spPr>
            <a:xfrm>
              <a:off x="1298421" y="2611486"/>
              <a:ext cx="1872623" cy="36004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TW" dirty="0" smtClean="0"/>
                <a:t>L2</a:t>
              </a:r>
              <a:endParaRPr lang="zh-TW" altLang="en-US" dirty="0"/>
            </a:p>
          </p:txBody>
        </p:sp>
        <p:sp>
          <p:nvSpPr>
            <p:cNvPr id="213" name="矩形 212"/>
            <p:cNvSpPr/>
            <p:nvPr/>
          </p:nvSpPr>
          <p:spPr>
            <a:xfrm>
              <a:off x="1226413" y="3187550"/>
              <a:ext cx="2031263" cy="360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TW" dirty="0" smtClean="0"/>
                <a:t>RAM</a:t>
              </a:r>
              <a:endParaRPr lang="zh-TW" altLang="en-US" dirty="0"/>
            </a:p>
          </p:txBody>
        </p:sp>
        <p:grpSp>
          <p:nvGrpSpPr>
            <p:cNvPr id="214" name="群組 213"/>
            <p:cNvGrpSpPr/>
            <p:nvPr/>
          </p:nvGrpSpPr>
          <p:grpSpPr>
            <a:xfrm rot="5400000">
              <a:off x="1830447" y="2727953"/>
              <a:ext cx="376942" cy="1296142"/>
              <a:chOff x="5292080" y="1131590"/>
              <a:chExt cx="720080" cy="1872208"/>
            </a:xfrm>
          </p:grpSpPr>
          <p:sp>
            <p:nvSpPr>
              <p:cNvPr id="215" name="矩形 214"/>
              <p:cNvSpPr/>
              <p:nvPr/>
            </p:nvSpPr>
            <p:spPr>
              <a:xfrm>
                <a:off x="5292080" y="1131590"/>
                <a:ext cx="720080" cy="1872208"/>
              </a:xfrm>
              <a:prstGeom prst="rect">
                <a:avLst/>
              </a:prstGeom>
              <a:solidFill>
                <a:srgbClr val="477DC7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dirty="0"/>
              </a:p>
            </p:txBody>
          </p:sp>
          <p:sp>
            <p:nvSpPr>
              <p:cNvPr id="216" name="矩形 215"/>
              <p:cNvSpPr/>
              <p:nvPr/>
            </p:nvSpPr>
            <p:spPr>
              <a:xfrm>
                <a:off x="5292080" y="1851670"/>
                <a:ext cx="720080" cy="216023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600" dirty="0" err="1" smtClean="0">
                    <a:solidFill>
                      <a:schemeClr val="tx1"/>
                    </a:solidFill>
                  </a:rPr>
                  <a:t>mcache_ctl</a:t>
                </a:r>
                <a:endParaRPr lang="zh-TW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5292080" y="1131590"/>
                <a:ext cx="720080" cy="216023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x0</a:t>
                </a:r>
                <a:endParaRPr lang="zh-TW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5292080" y="1491630"/>
                <a:ext cx="720080" cy="216023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x31</a:t>
                </a:r>
                <a:endParaRPr lang="zh-TW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9" name="文字方塊 218"/>
              <p:cNvSpPr txBox="1"/>
              <p:nvPr/>
            </p:nvSpPr>
            <p:spPr>
              <a:xfrm rot="5400000">
                <a:off x="5609610" y="1164138"/>
                <a:ext cx="337182" cy="288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 smtClean="0"/>
                  <a:t>…</a:t>
                </a:r>
                <a:endParaRPr lang="zh-TW" altLang="en-US" sz="1200" dirty="0"/>
              </a:p>
            </p:txBody>
          </p:sp>
          <p:sp>
            <p:nvSpPr>
              <p:cNvPr id="220" name="文字方塊 219"/>
              <p:cNvSpPr txBox="1"/>
              <p:nvPr/>
            </p:nvSpPr>
            <p:spPr>
              <a:xfrm rot="5400000">
                <a:off x="5537860" y="1580185"/>
                <a:ext cx="337182" cy="288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 smtClean="0"/>
                  <a:t>…</a:t>
                </a:r>
                <a:endParaRPr lang="zh-TW" altLang="en-US" sz="1200" dirty="0"/>
              </a:p>
            </p:txBody>
          </p:sp>
          <p:sp>
            <p:nvSpPr>
              <p:cNvPr id="221" name="矩形 220"/>
              <p:cNvSpPr/>
              <p:nvPr/>
            </p:nvSpPr>
            <p:spPr>
              <a:xfrm>
                <a:off x="5292080" y="2643758"/>
                <a:ext cx="720080" cy="216023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600" dirty="0" smtClean="0">
                    <a:solidFill>
                      <a:schemeClr val="tx1"/>
                    </a:solidFill>
                  </a:rPr>
                  <a:t>pmpaddr15</a:t>
                </a:r>
                <a:endParaRPr lang="zh-TW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文字方塊 221"/>
              <p:cNvSpPr txBox="1"/>
              <p:nvPr/>
            </p:nvSpPr>
            <p:spPr>
              <a:xfrm rot="5400000">
                <a:off x="5555538" y="1892220"/>
                <a:ext cx="337182" cy="288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 smtClean="0"/>
                  <a:t>…</a:t>
                </a:r>
                <a:endParaRPr lang="zh-TW" altLang="en-US" sz="1200" dirty="0"/>
              </a:p>
            </p:txBody>
          </p:sp>
          <p:sp>
            <p:nvSpPr>
              <p:cNvPr id="223" name="矩形 222"/>
              <p:cNvSpPr/>
              <p:nvPr/>
            </p:nvSpPr>
            <p:spPr>
              <a:xfrm>
                <a:off x="5292080" y="2211710"/>
                <a:ext cx="720080" cy="216023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err="1" smtClean="0">
                    <a:solidFill>
                      <a:schemeClr val="tx1"/>
                    </a:solidFill>
                  </a:rPr>
                  <a:t>satp</a:t>
                </a:r>
                <a:endParaRPr lang="zh-TW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文字方塊 223"/>
              <p:cNvSpPr txBox="1"/>
              <p:nvPr/>
            </p:nvSpPr>
            <p:spPr>
              <a:xfrm rot="5400000">
                <a:off x="5555538" y="2308267"/>
                <a:ext cx="337182" cy="288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 smtClean="0"/>
                  <a:t>…</a:t>
                </a:r>
                <a:endParaRPr lang="zh-TW" altLang="en-US" sz="1200" dirty="0"/>
              </a:p>
            </p:txBody>
          </p:sp>
        </p:grpSp>
        <p:sp>
          <p:nvSpPr>
            <p:cNvPr id="225" name="矩形 224"/>
            <p:cNvSpPr/>
            <p:nvPr/>
          </p:nvSpPr>
          <p:spPr>
            <a:xfrm>
              <a:off x="2481872" y="1085504"/>
              <a:ext cx="576477" cy="1296141"/>
            </a:xfrm>
            <a:prstGeom prst="rect">
              <a:avLst/>
            </a:prstGeom>
            <a:solidFill>
              <a:srgbClr val="477D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endParaRPr lang="en-US" altLang="zh-TW" sz="1000" dirty="0"/>
            </a:p>
            <a:p>
              <a:pPr algn="ctr"/>
              <a:endParaRPr lang="en-US" altLang="zh-TW" sz="1000" dirty="0" smtClean="0"/>
            </a:p>
            <a:p>
              <a:pPr algn="ctr"/>
              <a:r>
                <a:rPr lang="en-US" altLang="zh-TW" sz="1000" dirty="0" smtClean="0"/>
                <a:t>L1</a:t>
              </a:r>
              <a:endParaRPr lang="zh-TW" altLang="en-US" sz="1000" dirty="0"/>
            </a:p>
          </p:txBody>
        </p:sp>
      </p:grpSp>
      <p:cxnSp>
        <p:nvCxnSpPr>
          <p:cNvPr id="11" name="弧形接點 10"/>
          <p:cNvCxnSpPr>
            <a:stCxn id="118" idx="1"/>
            <a:endCxn id="166" idx="1"/>
          </p:cNvCxnSpPr>
          <p:nvPr/>
        </p:nvCxnSpPr>
        <p:spPr>
          <a:xfrm rot="10800000">
            <a:off x="6677127" y="1834715"/>
            <a:ext cx="54241" cy="1920331"/>
          </a:xfrm>
          <a:prstGeom prst="curvedConnector3">
            <a:avLst>
              <a:gd name="adj1" fmla="val 5214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弧形接點 12"/>
          <p:cNvCxnSpPr>
            <a:stCxn id="121" idx="1"/>
            <a:endCxn id="168" idx="1"/>
          </p:cNvCxnSpPr>
          <p:nvPr/>
        </p:nvCxnSpPr>
        <p:spPr>
          <a:xfrm rot="10800000" flipH="1">
            <a:off x="7353239" y="1834714"/>
            <a:ext cx="315493" cy="1920328"/>
          </a:xfrm>
          <a:prstGeom prst="curvedConnector3">
            <a:avLst>
              <a:gd name="adj1" fmla="val -724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向左箭號 225"/>
          <p:cNvSpPr/>
          <p:nvPr/>
        </p:nvSpPr>
        <p:spPr>
          <a:xfrm rot="5400000">
            <a:off x="7159328" y="2657275"/>
            <a:ext cx="269367" cy="149538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7" name="向左箭號 226"/>
          <p:cNvSpPr/>
          <p:nvPr/>
        </p:nvSpPr>
        <p:spPr>
          <a:xfrm rot="5400000">
            <a:off x="7159328" y="2118630"/>
            <a:ext cx="269367" cy="149538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8" name="向左箭號 227"/>
          <p:cNvSpPr/>
          <p:nvPr/>
        </p:nvSpPr>
        <p:spPr>
          <a:xfrm rot="5400000">
            <a:off x="7930823" y="2665372"/>
            <a:ext cx="269367" cy="149538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9" name="向左箭號 228"/>
          <p:cNvSpPr/>
          <p:nvPr/>
        </p:nvSpPr>
        <p:spPr>
          <a:xfrm rot="5400000">
            <a:off x="8051206" y="2118631"/>
            <a:ext cx="269367" cy="149538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0" name="文字方塊 229"/>
          <p:cNvSpPr txBox="1"/>
          <p:nvPr/>
        </p:nvSpPr>
        <p:spPr>
          <a:xfrm>
            <a:off x="3709420" y="4167985"/>
            <a:ext cx="5345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TW" sz="1400" b="1" dirty="0">
                <a:solidFill>
                  <a:srgbClr val="FF0000"/>
                </a:solidFill>
              </a:rPr>
              <a:t>L1 &amp; L2 </a:t>
            </a:r>
            <a:r>
              <a:rPr lang="en-US" altLang="zh-TW" sz="1400" b="1" dirty="0" smtClean="0">
                <a:solidFill>
                  <a:srgbClr val="FF0000"/>
                </a:solidFill>
              </a:rPr>
              <a:t>do not have the data and will fetch the data from ram.</a:t>
            </a:r>
            <a:endParaRPr lang="en-US" altLang="zh-TW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5807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1390799" y="1480790"/>
            <a:ext cx="3321100" cy="216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Deep sleep Implementation</a:t>
            </a:r>
            <a:endParaRPr lang="zh-TW" altLang="en-US" dirty="0"/>
          </a:p>
        </p:txBody>
      </p:sp>
      <p:grpSp>
        <p:nvGrpSpPr>
          <p:cNvPr id="16" name="群組 15"/>
          <p:cNvGrpSpPr/>
          <p:nvPr/>
        </p:nvGrpSpPr>
        <p:grpSpPr>
          <a:xfrm>
            <a:off x="3662428" y="1665643"/>
            <a:ext cx="967637" cy="1800200"/>
            <a:chOff x="830918" y="2053665"/>
            <a:chExt cx="1152128" cy="1800200"/>
          </a:xfrm>
        </p:grpSpPr>
        <p:sp>
          <p:nvSpPr>
            <p:cNvPr id="33" name="矩形 32"/>
            <p:cNvSpPr/>
            <p:nvPr/>
          </p:nvSpPr>
          <p:spPr>
            <a:xfrm>
              <a:off x="830918" y="2053665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902926" y="2723720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Enable</a:t>
              </a:r>
            </a:p>
            <a:p>
              <a:pPr algn="ctr"/>
              <a:r>
                <a:rPr lang="en-US" altLang="zh-TW" sz="1200" dirty="0" smtClean="0"/>
                <a:t>MIE*</a:t>
              </a:r>
              <a:endParaRPr lang="zh-TW" altLang="en-US" sz="1200" dirty="0"/>
            </a:p>
          </p:txBody>
        </p:sp>
      </p:grpSp>
      <p:sp>
        <p:nvSpPr>
          <p:cNvPr id="38" name="文字方塊 37"/>
          <p:cNvSpPr txBox="1"/>
          <p:nvPr/>
        </p:nvSpPr>
        <p:spPr>
          <a:xfrm>
            <a:off x="3697189" y="3449943"/>
            <a:ext cx="111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Enable IRQ</a:t>
            </a:r>
            <a:endParaRPr lang="zh-TW" altLang="en-US" sz="1200" b="1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5064212" y="1140434"/>
            <a:ext cx="11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92D050"/>
                </a:solidFill>
              </a:rPr>
              <a:t>Kernel</a:t>
            </a:r>
            <a:endParaRPr lang="zh-TW" altLang="en-US" b="1" dirty="0">
              <a:solidFill>
                <a:srgbClr val="92D050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900268" y="1123068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 smtClean="0">
                <a:solidFill>
                  <a:srgbClr val="FFC000"/>
                </a:solidFill>
              </a:rPr>
              <a:t>OpenSBI</a:t>
            </a:r>
            <a:r>
              <a:rPr lang="en-US" altLang="zh-TW" b="1" dirty="0" smtClean="0">
                <a:solidFill>
                  <a:srgbClr val="FFC000"/>
                </a:solidFill>
              </a:rPr>
              <a:t> SMU Driver </a:t>
            </a:r>
            <a:endParaRPr lang="zh-TW" altLang="en-US" b="1" dirty="0">
              <a:solidFill>
                <a:srgbClr val="FFC000"/>
              </a:solidFill>
            </a:endParaRPr>
          </a:p>
        </p:txBody>
      </p:sp>
      <p:sp>
        <p:nvSpPr>
          <p:cNvPr id="89" name="手繪多邊形 88"/>
          <p:cNvSpPr/>
          <p:nvPr/>
        </p:nvSpPr>
        <p:spPr>
          <a:xfrm>
            <a:off x="588909" y="2260446"/>
            <a:ext cx="2002335" cy="360231"/>
          </a:xfrm>
          <a:custGeom>
            <a:avLst/>
            <a:gdLst>
              <a:gd name="connsiteX0" fmla="*/ 0 w 2002335"/>
              <a:gd name="connsiteY0" fmla="*/ 0 h 360231"/>
              <a:gd name="connsiteX1" fmla="*/ 2002335 w 2002335"/>
              <a:gd name="connsiteY1" fmla="*/ 273653 h 36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2335" h="360231">
                <a:moveTo>
                  <a:pt x="0" y="0"/>
                </a:moveTo>
                <a:cubicBezTo>
                  <a:pt x="985037" y="248067"/>
                  <a:pt x="1970075" y="496135"/>
                  <a:pt x="2002335" y="273653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矩形 104"/>
          <p:cNvSpPr/>
          <p:nvPr/>
        </p:nvSpPr>
        <p:spPr>
          <a:xfrm>
            <a:off x="325207" y="1467861"/>
            <a:ext cx="901797" cy="3336137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SMU</a:t>
            </a:r>
            <a:endParaRPr lang="zh-TW" altLang="en-US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395536" y="699542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Deep sleep power up </a:t>
            </a:r>
            <a:endParaRPr lang="zh-TW" altLang="en-US" dirty="0"/>
          </a:p>
        </p:txBody>
      </p:sp>
      <p:sp>
        <p:nvSpPr>
          <p:cNvPr id="18" name="向下箭號 17"/>
          <p:cNvSpPr/>
          <p:nvPr/>
        </p:nvSpPr>
        <p:spPr>
          <a:xfrm>
            <a:off x="526703" y="1068875"/>
            <a:ext cx="360040" cy="1091660"/>
          </a:xfrm>
          <a:prstGeom prst="down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353446" y="1028843"/>
            <a:ext cx="945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/>
              <a:t>Wakeup event</a:t>
            </a:r>
            <a:endParaRPr lang="zh-TW" altLang="en-US" sz="1400" b="1" dirty="0"/>
          </a:p>
        </p:txBody>
      </p:sp>
      <p:sp>
        <p:nvSpPr>
          <p:cNvPr id="25" name="矩形 24"/>
          <p:cNvSpPr/>
          <p:nvPr/>
        </p:nvSpPr>
        <p:spPr>
          <a:xfrm>
            <a:off x="4885142" y="1480790"/>
            <a:ext cx="4079346" cy="216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單箭頭接點 75"/>
          <p:cNvCxnSpPr>
            <a:stCxn id="12" idx="3"/>
            <a:endCxn id="14" idx="1"/>
          </p:cNvCxnSpPr>
          <p:nvPr/>
        </p:nvCxnSpPr>
        <p:spPr>
          <a:xfrm flipV="1">
            <a:off x="2920318" y="2551534"/>
            <a:ext cx="455179" cy="575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字方塊 97"/>
          <p:cNvSpPr txBox="1"/>
          <p:nvPr/>
        </p:nvSpPr>
        <p:spPr>
          <a:xfrm>
            <a:off x="3244184" y="4043925"/>
            <a:ext cx="2921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Send MSIP to wake other cores up</a:t>
            </a:r>
            <a:endParaRPr lang="zh-TW" altLang="en-US" sz="1200" b="1" dirty="0"/>
          </a:p>
        </p:txBody>
      </p:sp>
      <p:grpSp>
        <p:nvGrpSpPr>
          <p:cNvPr id="107" name="群組 106"/>
          <p:cNvGrpSpPr/>
          <p:nvPr/>
        </p:nvGrpSpPr>
        <p:grpSpPr>
          <a:xfrm>
            <a:off x="4974883" y="1606967"/>
            <a:ext cx="821253" cy="1800200"/>
            <a:chOff x="5133608" y="1606546"/>
            <a:chExt cx="1152128" cy="1800200"/>
          </a:xfrm>
        </p:grpSpPr>
        <p:sp>
          <p:nvSpPr>
            <p:cNvPr id="102" name="矩形 101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5205616" y="227660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Driver </a:t>
              </a:r>
            </a:p>
            <a:p>
              <a:pPr algn="ctr"/>
              <a:r>
                <a:rPr lang="en-US" altLang="zh-TW" sz="1000" dirty="0" smtClean="0"/>
                <a:t>resume</a:t>
              </a:r>
              <a:endParaRPr lang="zh-TW" altLang="en-US" sz="1000" dirty="0"/>
            </a:p>
          </p:txBody>
        </p:sp>
      </p:grpSp>
      <p:cxnSp>
        <p:nvCxnSpPr>
          <p:cNvPr id="80" name="直線單箭頭接點 79"/>
          <p:cNvCxnSpPr>
            <a:stCxn id="14" idx="3"/>
            <a:endCxn id="103" idx="1"/>
          </p:cNvCxnSpPr>
          <p:nvPr/>
        </p:nvCxnSpPr>
        <p:spPr>
          <a:xfrm flipV="1">
            <a:off x="4383609" y="2492858"/>
            <a:ext cx="642602" cy="58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群組 113"/>
          <p:cNvGrpSpPr/>
          <p:nvPr/>
        </p:nvGrpSpPr>
        <p:grpSpPr>
          <a:xfrm>
            <a:off x="5971676" y="1584235"/>
            <a:ext cx="810385" cy="1800200"/>
            <a:chOff x="5133608" y="1606546"/>
            <a:chExt cx="1152128" cy="1800200"/>
          </a:xfrm>
        </p:grpSpPr>
        <p:sp>
          <p:nvSpPr>
            <p:cNvPr id="115" name="矩形 114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5205616" y="2201056"/>
              <a:ext cx="1008112" cy="582760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Other</a:t>
              </a:r>
            </a:p>
            <a:p>
              <a:pPr algn="ctr"/>
              <a:r>
                <a:rPr lang="en-US" altLang="zh-TW" sz="1000" dirty="0" smtClean="0"/>
                <a:t>Cores</a:t>
              </a:r>
            </a:p>
            <a:p>
              <a:pPr algn="ctr"/>
              <a:r>
                <a:rPr lang="en-US" altLang="zh-TW" sz="1000" dirty="0" smtClean="0"/>
                <a:t>wakeup</a:t>
              </a:r>
              <a:endParaRPr lang="zh-TW" altLang="en-US" sz="1000" dirty="0"/>
            </a:p>
          </p:txBody>
        </p:sp>
      </p:grpSp>
      <p:grpSp>
        <p:nvGrpSpPr>
          <p:cNvPr id="117" name="群組 116"/>
          <p:cNvGrpSpPr/>
          <p:nvPr/>
        </p:nvGrpSpPr>
        <p:grpSpPr>
          <a:xfrm>
            <a:off x="7926961" y="1598648"/>
            <a:ext cx="771921" cy="1800200"/>
            <a:chOff x="5133608" y="1606546"/>
            <a:chExt cx="1152128" cy="1800200"/>
          </a:xfrm>
        </p:grpSpPr>
        <p:sp>
          <p:nvSpPr>
            <p:cNvPr id="118" name="矩形 117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5205616" y="227660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process </a:t>
              </a:r>
            </a:p>
            <a:p>
              <a:pPr algn="ctr"/>
              <a:r>
                <a:rPr lang="en-US" altLang="zh-TW" sz="1000" dirty="0" smtClean="0"/>
                <a:t>resume</a:t>
              </a:r>
              <a:endParaRPr lang="zh-TW" altLang="en-US" sz="1000" dirty="0"/>
            </a:p>
          </p:txBody>
        </p:sp>
      </p:grpSp>
      <p:cxnSp>
        <p:nvCxnSpPr>
          <p:cNvPr id="120" name="直線單箭頭接點 119"/>
          <p:cNvCxnSpPr>
            <a:stCxn id="103" idx="3"/>
            <a:endCxn id="116" idx="1"/>
          </p:cNvCxnSpPr>
          <p:nvPr/>
        </p:nvCxnSpPr>
        <p:spPr>
          <a:xfrm flipV="1">
            <a:off x="5744807" y="2470125"/>
            <a:ext cx="277518" cy="2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/>
          <p:cNvGrpSpPr/>
          <p:nvPr/>
        </p:nvGrpSpPr>
        <p:grpSpPr>
          <a:xfrm>
            <a:off x="6971501" y="1614705"/>
            <a:ext cx="740556" cy="1800200"/>
            <a:chOff x="5133608" y="1606546"/>
            <a:chExt cx="1152128" cy="1800200"/>
          </a:xfrm>
        </p:grpSpPr>
        <p:sp>
          <p:nvSpPr>
            <p:cNvPr id="126" name="矩形 125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5205615" y="2221646"/>
              <a:ext cx="1008113" cy="540273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Main </a:t>
              </a:r>
            </a:p>
            <a:p>
              <a:pPr algn="ctr"/>
              <a:r>
                <a:rPr lang="en-US" altLang="zh-TW" sz="1000" dirty="0" smtClean="0"/>
                <a:t>Core</a:t>
              </a:r>
            </a:p>
            <a:p>
              <a:pPr algn="ctr"/>
              <a:r>
                <a:rPr lang="en-US" altLang="zh-TW" sz="1000" dirty="0" smtClean="0"/>
                <a:t>wait </a:t>
              </a:r>
              <a:endParaRPr lang="zh-TW" altLang="en-US" sz="1000" dirty="0"/>
            </a:p>
          </p:txBody>
        </p:sp>
      </p:grpSp>
      <p:sp>
        <p:nvSpPr>
          <p:cNvPr id="131" name="文字方塊 130"/>
          <p:cNvSpPr txBox="1"/>
          <p:nvPr/>
        </p:nvSpPr>
        <p:spPr>
          <a:xfrm>
            <a:off x="6882670" y="3243288"/>
            <a:ext cx="1075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Wait for </a:t>
            </a:r>
          </a:p>
          <a:p>
            <a:r>
              <a:rPr lang="en-US" altLang="zh-TW" sz="1200" b="1" dirty="0" smtClean="0"/>
              <a:t>other cores </a:t>
            </a:r>
          </a:p>
          <a:p>
            <a:r>
              <a:rPr lang="en-US" altLang="zh-TW" sz="1200" b="1" dirty="0" smtClean="0"/>
              <a:t>ready</a:t>
            </a:r>
            <a:endParaRPr lang="zh-TW" altLang="en-US" sz="1200" b="1" dirty="0"/>
          </a:p>
        </p:txBody>
      </p:sp>
      <p:cxnSp>
        <p:nvCxnSpPr>
          <p:cNvPr id="122" name="直線單箭頭接點 121"/>
          <p:cNvCxnSpPr>
            <a:stCxn id="116" idx="3"/>
            <a:endCxn id="127" idx="1"/>
          </p:cNvCxnSpPr>
          <p:nvPr/>
        </p:nvCxnSpPr>
        <p:spPr>
          <a:xfrm>
            <a:off x="6731412" y="2470125"/>
            <a:ext cx="286373" cy="29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127" idx="3"/>
            <a:endCxn id="119" idx="1"/>
          </p:cNvCxnSpPr>
          <p:nvPr/>
        </p:nvCxnSpPr>
        <p:spPr>
          <a:xfrm flipV="1">
            <a:off x="7665772" y="2484539"/>
            <a:ext cx="309434" cy="15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上彎箭號 136"/>
          <p:cNvSpPr/>
          <p:nvPr/>
        </p:nvSpPr>
        <p:spPr>
          <a:xfrm rot="16200000" flipH="1">
            <a:off x="2928991" y="872632"/>
            <a:ext cx="1658691" cy="5389052"/>
          </a:xfrm>
          <a:prstGeom prst="bentUpArrow">
            <a:avLst>
              <a:gd name="adj1" fmla="val 4959"/>
              <a:gd name="adj2" fmla="val 4601"/>
              <a:gd name="adj3" fmla="val 7081"/>
            </a:avLst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9" name="肘形接點 138"/>
          <p:cNvCxnSpPr>
            <a:stCxn id="14" idx="2"/>
          </p:cNvCxnSpPr>
          <p:nvPr/>
        </p:nvCxnSpPr>
        <p:spPr>
          <a:xfrm rot="5400000" flipH="1" flipV="1">
            <a:off x="5113540" y="1770516"/>
            <a:ext cx="29558" cy="1964147"/>
          </a:xfrm>
          <a:prstGeom prst="bentConnector4">
            <a:avLst>
              <a:gd name="adj1" fmla="val -773395"/>
              <a:gd name="adj2" fmla="val 992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字方塊 142"/>
          <p:cNvSpPr txBox="1"/>
          <p:nvPr/>
        </p:nvSpPr>
        <p:spPr>
          <a:xfrm>
            <a:off x="4494346" y="2892281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Other cores</a:t>
            </a:r>
            <a:endParaRPr lang="zh-TW" altLang="en-US" sz="80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5579968" y="2332836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main core</a:t>
            </a:r>
            <a:endParaRPr lang="zh-TW" altLang="en-US" sz="800" dirty="0"/>
          </a:p>
        </p:txBody>
      </p:sp>
      <p:grpSp>
        <p:nvGrpSpPr>
          <p:cNvPr id="146" name="群組 145"/>
          <p:cNvGrpSpPr/>
          <p:nvPr/>
        </p:nvGrpSpPr>
        <p:grpSpPr>
          <a:xfrm>
            <a:off x="479193" y="3634758"/>
            <a:ext cx="566727" cy="997844"/>
            <a:chOff x="1219" y="1931502"/>
            <a:chExt cx="566727" cy="1663377"/>
          </a:xfrm>
        </p:grpSpPr>
        <p:sp>
          <p:nvSpPr>
            <p:cNvPr id="147" name="矩形 146"/>
            <p:cNvSpPr/>
            <p:nvPr/>
          </p:nvSpPr>
          <p:spPr>
            <a:xfrm>
              <a:off x="1219" y="1931502"/>
              <a:ext cx="566727" cy="166337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8" name="矩形 147"/>
            <p:cNvSpPr/>
            <p:nvPr/>
          </p:nvSpPr>
          <p:spPr>
            <a:xfrm>
              <a:off x="48053" y="1994988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other core</a:t>
              </a:r>
              <a:endParaRPr lang="zh-TW" altLang="en-US" sz="1000" dirty="0"/>
            </a:p>
          </p:txBody>
        </p:sp>
        <p:sp>
          <p:nvSpPr>
            <p:cNvPr id="149" name="矩形 148"/>
            <p:cNvSpPr/>
            <p:nvPr/>
          </p:nvSpPr>
          <p:spPr>
            <a:xfrm>
              <a:off x="48053" y="3062838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other </a:t>
              </a:r>
              <a:r>
                <a:rPr lang="en-US" altLang="zh-TW" sz="1000" dirty="0" smtClean="0"/>
                <a:t>core</a:t>
              </a:r>
              <a:endParaRPr lang="zh-TW" altLang="en-US" sz="1000" dirty="0"/>
            </a:p>
          </p:txBody>
        </p:sp>
        <p:sp>
          <p:nvSpPr>
            <p:cNvPr id="150" name="矩形 149"/>
            <p:cNvSpPr/>
            <p:nvPr/>
          </p:nvSpPr>
          <p:spPr>
            <a:xfrm>
              <a:off x="35496" y="2541736"/>
              <a:ext cx="491499" cy="47039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/>
                <a:t>other </a:t>
              </a:r>
              <a:r>
                <a:rPr lang="en-US" altLang="zh-TW" sz="1000" dirty="0" smtClean="0"/>
                <a:t>core</a:t>
              </a:r>
              <a:endParaRPr lang="zh-TW" altLang="en-US" sz="1000" dirty="0"/>
            </a:p>
          </p:txBody>
        </p:sp>
      </p:grpSp>
      <p:sp>
        <p:nvSpPr>
          <p:cNvPr id="151" name="矩形 150"/>
          <p:cNvSpPr/>
          <p:nvPr/>
        </p:nvSpPr>
        <p:spPr>
          <a:xfrm>
            <a:off x="477199" y="2157770"/>
            <a:ext cx="491499" cy="45122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Main core</a:t>
            </a:r>
            <a:endParaRPr lang="zh-TW" altLang="en-US" sz="1000" dirty="0"/>
          </a:p>
        </p:txBody>
      </p:sp>
      <p:grpSp>
        <p:nvGrpSpPr>
          <p:cNvPr id="55" name="群組 54"/>
          <p:cNvGrpSpPr/>
          <p:nvPr/>
        </p:nvGrpSpPr>
        <p:grpSpPr>
          <a:xfrm>
            <a:off x="1571216" y="1678678"/>
            <a:ext cx="991513" cy="1800200"/>
            <a:chOff x="4704130" y="2053665"/>
            <a:chExt cx="1152128" cy="1800200"/>
          </a:xfrm>
        </p:grpSpPr>
        <p:sp>
          <p:nvSpPr>
            <p:cNvPr id="56" name="矩形 55"/>
            <p:cNvSpPr/>
            <p:nvPr/>
          </p:nvSpPr>
          <p:spPr>
            <a:xfrm>
              <a:off x="4704130" y="2053665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4769779" y="2798166"/>
              <a:ext cx="1008112" cy="432048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enable </a:t>
              </a:r>
            </a:p>
            <a:p>
              <a:pPr algn="ctr"/>
              <a:r>
                <a:rPr lang="en-US" altLang="zh-TW" sz="1200" dirty="0" smtClean="0"/>
                <a:t>D$/I$</a:t>
              </a:r>
              <a:endParaRPr lang="zh-TW" altLang="en-US" sz="1200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4781918" y="2214936"/>
              <a:ext cx="1008112" cy="432048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enable </a:t>
              </a:r>
            </a:p>
            <a:p>
              <a:pPr algn="ctr"/>
              <a:r>
                <a:rPr lang="en-US" altLang="zh-TW" sz="1200" dirty="0" smtClean="0"/>
                <a:t>CM</a:t>
              </a:r>
              <a:endParaRPr lang="zh-TW" altLang="en-US" sz="1200" dirty="0"/>
            </a:p>
          </p:txBody>
        </p:sp>
        <p:cxnSp>
          <p:nvCxnSpPr>
            <p:cNvPr id="59" name="直線單箭頭接點 58"/>
            <p:cNvCxnSpPr>
              <a:stCxn id="58" idx="2"/>
              <a:endCxn id="57" idx="0"/>
            </p:cNvCxnSpPr>
            <p:nvPr/>
          </p:nvCxnSpPr>
          <p:spPr>
            <a:xfrm flipH="1">
              <a:off x="5273835" y="2646984"/>
              <a:ext cx="12139" cy="1511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線單箭頭接點 71"/>
          <p:cNvCxnSpPr>
            <a:stCxn id="151" idx="3"/>
            <a:endCxn id="58" idx="1"/>
          </p:cNvCxnSpPr>
          <p:nvPr/>
        </p:nvCxnSpPr>
        <p:spPr>
          <a:xfrm flipV="1">
            <a:off x="968698" y="2055973"/>
            <a:ext cx="669462" cy="327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>
            <a:stCxn id="147" idx="3"/>
            <a:endCxn id="58" idx="1"/>
          </p:cNvCxnSpPr>
          <p:nvPr/>
        </p:nvCxnSpPr>
        <p:spPr>
          <a:xfrm flipV="1">
            <a:off x="1045920" y="2055973"/>
            <a:ext cx="592240" cy="2077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2666026" y="1665643"/>
            <a:ext cx="898301" cy="1800200"/>
            <a:chOff x="2282964" y="1624806"/>
            <a:chExt cx="1152128" cy="1800200"/>
          </a:xfrm>
        </p:grpSpPr>
        <p:sp>
          <p:nvSpPr>
            <p:cNvPr id="66" name="矩形 65"/>
            <p:cNvSpPr/>
            <p:nvPr/>
          </p:nvSpPr>
          <p:spPr>
            <a:xfrm>
              <a:off x="2282964" y="1624806"/>
              <a:ext cx="1152128" cy="1800200"/>
            </a:xfrm>
            <a:prstGeom prst="rect">
              <a:avLst/>
            </a:prstGeom>
            <a:solidFill>
              <a:srgbClr val="F6AC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2358209" y="2642854"/>
              <a:ext cx="1008112" cy="72347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 smtClean="0"/>
                <a:t>restore </a:t>
              </a:r>
            </a:p>
            <a:p>
              <a:pPr algn="ctr"/>
              <a:r>
                <a:rPr lang="en-US" altLang="zh-TW" sz="900" dirty="0" smtClean="0"/>
                <a:t>Registers</a:t>
              </a:r>
            </a:p>
            <a:p>
              <a:pPr algn="ctr"/>
              <a:r>
                <a:rPr lang="en-US" altLang="zh-TW" sz="900" dirty="0" smtClean="0"/>
                <a:t>from ram</a:t>
              </a:r>
            </a:p>
            <a:p>
              <a:pPr algn="ctr"/>
              <a:r>
                <a:rPr lang="en-US" altLang="zh-TW" sz="900" dirty="0" smtClean="0"/>
                <a:t>(</a:t>
              </a:r>
              <a:r>
                <a:rPr lang="en-US" altLang="zh-TW" sz="900" dirty="0" err="1" smtClean="0"/>
                <a:t>sp</a:t>
              </a:r>
              <a:r>
                <a:rPr lang="en-US" altLang="zh-TW" sz="900" dirty="0" smtClean="0"/>
                <a:t> address)</a:t>
              </a:r>
              <a:endParaRPr lang="zh-TW" altLang="en-US" sz="900" dirty="0"/>
            </a:p>
          </p:txBody>
        </p:sp>
      </p:grpSp>
      <p:sp>
        <p:nvSpPr>
          <p:cNvPr id="68" name="文字方塊 67"/>
          <p:cNvSpPr txBox="1"/>
          <p:nvPr/>
        </p:nvSpPr>
        <p:spPr>
          <a:xfrm>
            <a:off x="2566861" y="3437424"/>
            <a:ext cx="1251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Restore </a:t>
            </a:r>
            <a:r>
              <a:rPr lang="en-US" altLang="zh-TW" sz="1200" b="1" dirty="0" err="1" smtClean="0"/>
              <a:t>regs</a:t>
            </a:r>
            <a:endParaRPr lang="zh-TW" altLang="en-US" sz="1200" b="1" dirty="0"/>
          </a:p>
        </p:txBody>
      </p:sp>
      <p:sp>
        <p:nvSpPr>
          <p:cNvPr id="69" name="矩形 68"/>
          <p:cNvSpPr/>
          <p:nvPr/>
        </p:nvSpPr>
        <p:spPr>
          <a:xfrm>
            <a:off x="2570010" y="1482765"/>
            <a:ext cx="1073424" cy="2330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/>
        </p:nvSpPr>
        <p:spPr>
          <a:xfrm>
            <a:off x="2012859" y="4623839"/>
            <a:ext cx="1944216" cy="498736"/>
          </a:xfrm>
          <a:prstGeom prst="rect">
            <a:avLst/>
          </a:prstGeom>
          <a:solidFill>
            <a:srgbClr val="639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Deep sleep only</a:t>
            </a:r>
            <a:endParaRPr lang="zh-TW" altLang="en-US" dirty="0"/>
          </a:p>
        </p:txBody>
      </p:sp>
      <p:sp>
        <p:nvSpPr>
          <p:cNvPr id="71" name="向左箭號 70"/>
          <p:cNvSpPr/>
          <p:nvPr/>
        </p:nvSpPr>
        <p:spPr>
          <a:xfrm rot="5400000">
            <a:off x="2649955" y="4076499"/>
            <a:ext cx="891114" cy="221091"/>
          </a:xfrm>
          <a:prstGeom prst="leftArrow">
            <a:avLst/>
          </a:prstGeom>
          <a:solidFill>
            <a:srgbClr val="639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2735360" y="1774410"/>
            <a:ext cx="786013" cy="764605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/>
              <a:t>Get “</a:t>
            </a:r>
            <a:r>
              <a:rPr lang="en-US" altLang="zh-TW" sz="900" dirty="0" err="1" smtClean="0"/>
              <a:t>sp</a:t>
            </a:r>
            <a:r>
              <a:rPr lang="en-US" altLang="zh-TW" sz="900" dirty="0" smtClean="0"/>
              <a:t>” </a:t>
            </a:r>
          </a:p>
          <a:p>
            <a:pPr algn="ctr"/>
            <a:r>
              <a:rPr lang="en-US" altLang="zh-TW" sz="900" dirty="0" smtClean="0"/>
              <a:t>address </a:t>
            </a:r>
          </a:p>
          <a:p>
            <a:pPr algn="ctr"/>
            <a:r>
              <a:rPr lang="en-US" altLang="zh-TW" sz="900" dirty="0" smtClean="0"/>
              <a:t>From</a:t>
            </a:r>
          </a:p>
          <a:p>
            <a:pPr algn="ctr"/>
            <a:r>
              <a:rPr lang="en-US" altLang="zh-TW" sz="900" dirty="0" smtClean="0"/>
              <a:t>PCS_SCRATCH</a:t>
            </a:r>
            <a:endParaRPr lang="zh-TW" altLang="en-US" sz="900" dirty="0"/>
          </a:p>
        </p:txBody>
      </p:sp>
      <p:cxnSp>
        <p:nvCxnSpPr>
          <p:cNvPr id="75" name="直線單箭頭接點 74"/>
          <p:cNvCxnSpPr>
            <a:endCxn id="67" idx="0"/>
          </p:cNvCxnSpPr>
          <p:nvPr/>
        </p:nvCxnSpPr>
        <p:spPr>
          <a:xfrm flipH="1">
            <a:off x="3117701" y="2539015"/>
            <a:ext cx="14140" cy="144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1645441" y="2965149"/>
            <a:ext cx="867574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enable </a:t>
            </a:r>
          </a:p>
          <a:p>
            <a:pPr algn="ctr"/>
            <a:r>
              <a:rPr lang="en-US" altLang="zh-TW" sz="1200" dirty="0" smtClean="0"/>
              <a:t>L2</a:t>
            </a:r>
            <a:endParaRPr lang="zh-TW" altLang="en-US" sz="1200" dirty="0"/>
          </a:p>
        </p:txBody>
      </p:sp>
      <p:cxnSp>
        <p:nvCxnSpPr>
          <p:cNvPr id="81" name="直線單箭頭接點 80"/>
          <p:cNvCxnSpPr>
            <a:endCxn id="79" idx="0"/>
          </p:cNvCxnSpPr>
          <p:nvPr/>
        </p:nvCxnSpPr>
        <p:spPr>
          <a:xfrm flipH="1">
            <a:off x="2079228" y="2871934"/>
            <a:ext cx="10607" cy="93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1560494" y="2916482"/>
            <a:ext cx="1009515" cy="6119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1677753" y="3397197"/>
            <a:ext cx="87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Enable </a:t>
            </a:r>
          </a:p>
          <a:p>
            <a:r>
              <a:rPr lang="en-US" altLang="zh-TW" sz="1200" b="1" dirty="0" smtClean="0"/>
              <a:t>Cache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0624460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Deep sleep </a:t>
            </a:r>
            <a:r>
              <a:rPr lang="en-US" altLang="zh-TW" dirty="0" smtClean="0"/>
              <a:t>Implementation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2602" y="627534"/>
            <a:ext cx="8842458" cy="4230497"/>
          </a:xfrm>
        </p:spPr>
        <p:txBody>
          <a:bodyPr/>
          <a:lstStyle/>
          <a:p>
            <a:r>
              <a:rPr lang="en-US" altLang="zh-TW" sz="1800" dirty="0" smtClean="0"/>
              <a:t>Deep sleep:</a:t>
            </a:r>
          </a:p>
          <a:p>
            <a:pPr lvl="1"/>
            <a:r>
              <a:rPr lang="en-US" altLang="zh-TW" sz="1400" dirty="0" smtClean="0"/>
              <a:t>Wakeup </a:t>
            </a:r>
            <a:r>
              <a:rPr lang="en-US" altLang="zh-TW" sz="1400" dirty="0"/>
              <a:t>PC is the </a:t>
            </a:r>
            <a:r>
              <a:rPr lang="en-US" altLang="zh-TW" sz="1400" b="1" dirty="0" smtClean="0"/>
              <a:t>not </a:t>
            </a:r>
            <a:r>
              <a:rPr lang="en-US" altLang="zh-TW" sz="1400" dirty="0" smtClean="0"/>
              <a:t>the next </a:t>
            </a:r>
            <a:r>
              <a:rPr lang="en-US" altLang="zh-TW" sz="1400" dirty="0"/>
              <a:t>instruction after </a:t>
            </a:r>
            <a:r>
              <a:rPr lang="en-US" altLang="zh-TW" sz="1400" dirty="0" err="1" smtClean="0"/>
              <a:t>wfi</a:t>
            </a:r>
            <a:r>
              <a:rPr lang="en-US" altLang="zh-TW" sz="1400" dirty="0" smtClean="0"/>
              <a:t>, it will jump to HART0_RESET_VECTOR_LO.</a:t>
            </a:r>
          </a:p>
          <a:p>
            <a:pPr lvl="2"/>
            <a:r>
              <a:rPr lang="en-US" altLang="zh-TW" sz="1200" dirty="0" smtClean="0"/>
              <a:t>Set HART0_RESET_VECTOR_LO=</a:t>
            </a:r>
            <a:r>
              <a:rPr lang="en-US" altLang="zh-TW" sz="1200" dirty="0" err="1" smtClean="0"/>
              <a:t>cpu_resume</a:t>
            </a:r>
            <a:r>
              <a:rPr lang="en-US" altLang="zh-TW" sz="1200" dirty="0" smtClean="0"/>
              <a:t>()</a:t>
            </a:r>
          </a:p>
          <a:p>
            <a:pPr lvl="2"/>
            <a:r>
              <a:rPr lang="en-US" altLang="zh-TW" sz="1200" dirty="0" smtClean="0"/>
              <a:t>deep sleep (</a:t>
            </a:r>
            <a:r>
              <a:rPr lang="en-US" altLang="zh-TW" sz="1200" dirty="0" err="1" smtClean="0"/>
              <a:t>wfi</a:t>
            </a:r>
            <a:r>
              <a:rPr lang="en-US" altLang="zh-TW" sz="1200" dirty="0" smtClean="0"/>
              <a:t>)</a:t>
            </a:r>
          </a:p>
          <a:p>
            <a:pPr lvl="2"/>
            <a:r>
              <a:rPr lang="en-US" altLang="zh-TW" sz="1200" dirty="0" smtClean="0"/>
              <a:t>First instruction will be </a:t>
            </a:r>
            <a:r>
              <a:rPr lang="en-US" altLang="zh-TW" sz="1200" dirty="0" err="1" smtClean="0"/>
              <a:t>cpu_resume</a:t>
            </a:r>
            <a:r>
              <a:rPr lang="en-US" altLang="zh-TW" sz="1200" dirty="0" smtClean="0"/>
              <a:t>()</a:t>
            </a:r>
          </a:p>
          <a:p>
            <a:pPr lvl="3"/>
            <a:r>
              <a:rPr lang="en-US" altLang="zh-TW" sz="1000" dirty="0" err="1" smtClean="0"/>
              <a:t>Csrr</a:t>
            </a:r>
            <a:r>
              <a:rPr lang="en-US" altLang="zh-TW" sz="1000" dirty="0" smtClean="0"/>
              <a:t> t0, CSR_MCAUSE</a:t>
            </a:r>
            <a:endParaRPr lang="zh-TW" altLang="en-US" sz="1000" dirty="0"/>
          </a:p>
          <a:p>
            <a:pPr marL="1371566" lvl="3" indent="0">
              <a:buNone/>
            </a:pP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15" y="2317032"/>
            <a:ext cx="2663835" cy="2318049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2410907" y="4185493"/>
            <a:ext cx="1944216" cy="498736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sleep here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736419" y="4399196"/>
            <a:ext cx="1030758" cy="207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左箭號 13"/>
          <p:cNvSpPr/>
          <p:nvPr/>
        </p:nvSpPr>
        <p:spPr>
          <a:xfrm>
            <a:off x="1837516" y="4406714"/>
            <a:ext cx="471774" cy="216024"/>
          </a:xfrm>
          <a:prstGeom prst="leftArrow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326" y="2148113"/>
            <a:ext cx="3372203" cy="2655885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481140" y="1993962"/>
            <a:ext cx="2662860" cy="68095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wakeup here:</a:t>
            </a:r>
          </a:p>
          <a:p>
            <a:pPr algn="ctr"/>
            <a:r>
              <a:rPr lang="en-US" altLang="zh-TW" sz="1400" dirty="0"/>
              <a:t>HART0_RESET_VECTOR_LO</a:t>
            </a:r>
            <a:endParaRPr lang="zh-TW" altLang="en-US" sz="1400" dirty="0"/>
          </a:p>
        </p:txBody>
      </p:sp>
      <p:sp>
        <p:nvSpPr>
          <p:cNvPr id="16" name="矩形 15"/>
          <p:cNvSpPr/>
          <p:nvPr/>
        </p:nvSpPr>
        <p:spPr>
          <a:xfrm>
            <a:off x="4884027" y="2213212"/>
            <a:ext cx="1030758" cy="207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左箭號 16"/>
          <p:cNvSpPr/>
          <p:nvPr/>
        </p:nvSpPr>
        <p:spPr>
          <a:xfrm>
            <a:off x="5984986" y="2211710"/>
            <a:ext cx="471774" cy="216024"/>
          </a:xfrm>
          <a:prstGeom prst="leftArrow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3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(HW)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Power management </a:t>
            </a:r>
            <a:r>
              <a:rPr lang="en-US" altLang="zh-TW" b="1" dirty="0" smtClean="0">
                <a:solidFill>
                  <a:schemeClr val="accent2"/>
                </a:solidFill>
              </a:rPr>
              <a:t>(SW)</a:t>
            </a:r>
          </a:p>
          <a:p>
            <a:pPr lvl="1"/>
            <a:r>
              <a:rPr lang="en-US" altLang="zh-TW" sz="1800" b="1" dirty="0" err="1" smtClean="0">
                <a:solidFill>
                  <a:schemeClr val="accent2"/>
                </a:solidFill>
              </a:rPr>
              <a:t>OpenSBI</a:t>
            </a:r>
            <a:r>
              <a:rPr lang="en-US" altLang="zh-TW" sz="1800" b="1" dirty="0" smtClean="0">
                <a:solidFill>
                  <a:schemeClr val="accent2"/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b="1" dirty="0" smtClean="0">
                <a:solidFill>
                  <a:schemeClr val="accent2"/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0512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251520" y="1408782"/>
            <a:ext cx="1714311" cy="216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/>
        </p:nvSpPr>
        <p:spPr>
          <a:xfrm>
            <a:off x="683568" y="1582518"/>
            <a:ext cx="1152128" cy="1800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2040111" y="1355024"/>
            <a:ext cx="6653492" cy="216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000" dirty="0"/>
              <a:t>CPU Hotplug Deep sleep Implementation</a:t>
            </a:r>
            <a:endParaRPr lang="zh-TW" altLang="en-US" sz="3000" dirty="0"/>
          </a:p>
        </p:txBody>
      </p:sp>
      <p:sp>
        <p:nvSpPr>
          <p:cNvPr id="8" name="矩形 7"/>
          <p:cNvSpPr/>
          <p:nvPr/>
        </p:nvSpPr>
        <p:spPr>
          <a:xfrm>
            <a:off x="767009" y="1741749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process </a:t>
            </a:r>
          </a:p>
          <a:p>
            <a:pPr algn="ctr"/>
            <a:r>
              <a:rPr lang="en-US" altLang="zh-TW" sz="1200" dirty="0" smtClean="0"/>
              <a:t>suspend</a:t>
            </a:r>
            <a:endParaRPr lang="zh-TW" altLang="en-US" sz="1200" dirty="0"/>
          </a:p>
        </p:txBody>
      </p:sp>
      <p:sp>
        <p:nvSpPr>
          <p:cNvPr id="9" name="矩形 8"/>
          <p:cNvSpPr/>
          <p:nvPr/>
        </p:nvSpPr>
        <p:spPr>
          <a:xfrm>
            <a:off x="747868" y="2796108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Driver </a:t>
            </a:r>
          </a:p>
          <a:p>
            <a:pPr algn="ctr"/>
            <a:r>
              <a:rPr lang="en-US" altLang="zh-TW" sz="1200" dirty="0" smtClean="0"/>
              <a:t>suspend</a:t>
            </a:r>
            <a:endParaRPr lang="zh-TW" altLang="en-US" sz="1200" dirty="0"/>
          </a:p>
        </p:txBody>
      </p:sp>
      <p:grpSp>
        <p:nvGrpSpPr>
          <p:cNvPr id="19" name="群組 18"/>
          <p:cNvGrpSpPr/>
          <p:nvPr/>
        </p:nvGrpSpPr>
        <p:grpSpPr>
          <a:xfrm>
            <a:off x="2177616" y="1608647"/>
            <a:ext cx="898301" cy="1800200"/>
            <a:chOff x="2282964" y="1624806"/>
            <a:chExt cx="1152128" cy="1800200"/>
          </a:xfrm>
        </p:grpSpPr>
        <p:sp>
          <p:nvSpPr>
            <p:cNvPr id="33" name="矩形 32"/>
            <p:cNvSpPr/>
            <p:nvPr/>
          </p:nvSpPr>
          <p:spPr>
            <a:xfrm>
              <a:off x="2282964" y="162480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2354972" y="229486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Disable</a:t>
              </a:r>
            </a:p>
            <a:p>
              <a:pPr algn="ctr"/>
              <a:r>
                <a:rPr lang="en-US" altLang="zh-TW" sz="1200" dirty="0" smtClean="0"/>
                <a:t>MIE*</a:t>
              </a:r>
              <a:endParaRPr lang="zh-TW" altLang="en-US" sz="1200" dirty="0"/>
            </a:p>
          </p:txBody>
        </p:sp>
      </p:grpSp>
      <p:cxnSp>
        <p:nvCxnSpPr>
          <p:cNvPr id="26" name="直線單箭頭接點 25"/>
          <p:cNvCxnSpPr>
            <a:stCxn id="8" idx="2"/>
            <a:endCxn id="114" idx="0"/>
          </p:cNvCxnSpPr>
          <p:nvPr/>
        </p:nvCxnSpPr>
        <p:spPr>
          <a:xfrm>
            <a:off x="1271065" y="2173797"/>
            <a:ext cx="0" cy="89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4587258" y="1599946"/>
            <a:ext cx="898301" cy="1800200"/>
            <a:chOff x="4860032" y="1624806"/>
            <a:chExt cx="1152128" cy="1800200"/>
          </a:xfrm>
        </p:grpSpPr>
        <p:sp>
          <p:nvSpPr>
            <p:cNvPr id="34" name="矩形 33"/>
            <p:cNvSpPr/>
            <p:nvPr/>
          </p:nvSpPr>
          <p:spPr>
            <a:xfrm>
              <a:off x="4860032" y="162480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932040" y="229486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Check </a:t>
              </a:r>
            </a:p>
            <a:p>
              <a:pPr algn="ctr"/>
              <a:r>
                <a:rPr lang="en-US" altLang="zh-TW" sz="1000" dirty="0" smtClean="0"/>
                <a:t>PCS_STATUS</a:t>
              </a:r>
              <a:endParaRPr lang="zh-TW" altLang="en-US" sz="1000" dirty="0"/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8028382" y="1624806"/>
            <a:ext cx="576065" cy="1800200"/>
            <a:chOff x="7452320" y="1624806"/>
            <a:chExt cx="1152128" cy="1800200"/>
          </a:xfrm>
        </p:grpSpPr>
        <p:sp>
          <p:nvSpPr>
            <p:cNvPr id="36" name="矩形 35"/>
            <p:cNvSpPr/>
            <p:nvPr/>
          </p:nvSpPr>
          <p:spPr>
            <a:xfrm>
              <a:off x="7452320" y="162480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7524328" y="229486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WFI</a:t>
              </a:r>
              <a:endParaRPr lang="zh-TW" altLang="en-US" sz="1000" dirty="0"/>
            </a:p>
          </p:txBody>
        </p:sp>
      </p:grpSp>
      <p:sp>
        <p:nvSpPr>
          <p:cNvPr id="40" name="文字方塊 39"/>
          <p:cNvSpPr txBox="1"/>
          <p:nvPr/>
        </p:nvSpPr>
        <p:spPr>
          <a:xfrm>
            <a:off x="4357415" y="3352117"/>
            <a:ext cx="1259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Wait for other cores ready</a:t>
            </a:r>
            <a:endParaRPr lang="zh-TW" altLang="en-US" sz="12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024409" y="3416712"/>
            <a:ext cx="1251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Disable </a:t>
            </a:r>
          </a:p>
          <a:p>
            <a:r>
              <a:rPr lang="en-US" altLang="zh-TW" sz="1200" b="1" dirty="0" smtClean="0"/>
              <a:t>Cache</a:t>
            </a:r>
            <a:endParaRPr lang="zh-TW" altLang="en-US" sz="1200" b="1" dirty="0"/>
          </a:p>
        </p:txBody>
      </p:sp>
      <p:grpSp>
        <p:nvGrpSpPr>
          <p:cNvPr id="44" name="群組 43"/>
          <p:cNvGrpSpPr/>
          <p:nvPr/>
        </p:nvGrpSpPr>
        <p:grpSpPr>
          <a:xfrm>
            <a:off x="6898562" y="1610596"/>
            <a:ext cx="1037895" cy="1800200"/>
            <a:chOff x="6784329" y="1610596"/>
            <a:chExt cx="1152128" cy="1800200"/>
          </a:xfrm>
        </p:grpSpPr>
        <p:grpSp>
          <p:nvGrpSpPr>
            <p:cNvPr id="4" name="群組 3"/>
            <p:cNvGrpSpPr/>
            <p:nvPr/>
          </p:nvGrpSpPr>
          <p:grpSpPr>
            <a:xfrm>
              <a:off x="6784329" y="1610596"/>
              <a:ext cx="1152128" cy="1800200"/>
              <a:chOff x="6156176" y="1624806"/>
              <a:chExt cx="1152128" cy="1800200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6156176" y="1624806"/>
                <a:ext cx="1152128" cy="1800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6228184" y="1679444"/>
                <a:ext cx="1008112" cy="255779"/>
              </a:xfrm>
              <a:prstGeom prst="rect">
                <a:avLst/>
              </a:prstGeom>
              <a:solidFill>
                <a:srgbClr val="477D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/>
                  <a:t>Disable D$</a:t>
                </a:r>
                <a:endParaRPr lang="zh-TW" altLang="en-US" sz="800" dirty="0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6228184" y="2081679"/>
                <a:ext cx="1008112" cy="249571"/>
              </a:xfrm>
              <a:prstGeom prst="rect">
                <a:avLst/>
              </a:prstGeom>
              <a:solidFill>
                <a:srgbClr val="477D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/>
                  <a:t>Write back</a:t>
                </a:r>
                <a:r>
                  <a:rPr lang="en-US" altLang="zh-TW" sz="800" dirty="0"/>
                  <a:t> </a:t>
                </a:r>
                <a:r>
                  <a:rPr lang="en-US" altLang="zh-TW" sz="800" dirty="0" smtClean="0"/>
                  <a:t>D$</a:t>
                </a:r>
                <a:endParaRPr lang="zh-TW" altLang="en-US" sz="800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228184" y="2439168"/>
                <a:ext cx="1008112" cy="224519"/>
              </a:xfrm>
              <a:prstGeom prst="rect">
                <a:avLst/>
              </a:prstGeom>
              <a:solidFill>
                <a:srgbClr val="477D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/>
                  <a:t>Disable CM</a:t>
                </a:r>
                <a:endParaRPr lang="zh-TW" altLang="en-US" sz="800" dirty="0"/>
              </a:p>
            </p:txBody>
          </p:sp>
        </p:grpSp>
        <p:cxnSp>
          <p:nvCxnSpPr>
            <p:cNvPr id="42" name="直線單箭頭接點 41"/>
            <p:cNvCxnSpPr>
              <a:stCxn id="10" idx="2"/>
              <a:endCxn id="11" idx="0"/>
            </p:cNvCxnSpPr>
            <p:nvPr/>
          </p:nvCxnSpPr>
          <p:spPr>
            <a:xfrm>
              <a:off x="7360392" y="1921013"/>
              <a:ext cx="0" cy="146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>
              <a:stCxn id="11" idx="2"/>
              <a:endCxn id="12" idx="0"/>
            </p:cNvCxnSpPr>
            <p:nvPr/>
          </p:nvCxnSpPr>
          <p:spPr>
            <a:xfrm>
              <a:off x="7360392" y="2317040"/>
              <a:ext cx="0" cy="1079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字方塊 47"/>
          <p:cNvSpPr txBox="1"/>
          <p:nvPr/>
        </p:nvSpPr>
        <p:spPr>
          <a:xfrm>
            <a:off x="8018921" y="3317676"/>
            <a:ext cx="682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Enter sleep mode</a:t>
            </a:r>
            <a:endParaRPr lang="zh-TW" altLang="en-US" sz="1200" b="1" dirty="0"/>
          </a:p>
        </p:txBody>
      </p:sp>
      <p:cxnSp>
        <p:nvCxnSpPr>
          <p:cNvPr id="52" name="直線單箭頭接點 51"/>
          <p:cNvCxnSpPr>
            <a:stCxn id="35" idx="3"/>
            <a:endCxn id="115" idx="1"/>
          </p:cNvCxnSpPr>
          <p:nvPr/>
        </p:nvCxnSpPr>
        <p:spPr>
          <a:xfrm flipV="1">
            <a:off x="5429415" y="2043368"/>
            <a:ext cx="387430" cy="442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735943" y="1064457"/>
            <a:ext cx="11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92D050"/>
                </a:solidFill>
              </a:rPr>
              <a:t>Kernel</a:t>
            </a:r>
            <a:endParaRPr lang="zh-TW" altLang="en-US" b="1" dirty="0">
              <a:solidFill>
                <a:srgbClr val="92D050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3832287" y="1039354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 smtClean="0">
                <a:solidFill>
                  <a:srgbClr val="FFC000"/>
                </a:solidFill>
              </a:rPr>
              <a:t>OpenSBI</a:t>
            </a:r>
            <a:r>
              <a:rPr lang="en-US" altLang="zh-TW" b="1" dirty="0" smtClean="0">
                <a:solidFill>
                  <a:srgbClr val="FFC000"/>
                </a:solidFill>
              </a:rPr>
              <a:t> SMU Driver </a:t>
            </a:r>
            <a:endParaRPr lang="zh-TW" altLang="en-US" b="1" dirty="0">
              <a:solidFill>
                <a:srgbClr val="FFC000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-39949" y="2111064"/>
            <a:ext cx="491499" cy="45122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Main core</a:t>
            </a:r>
            <a:endParaRPr lang="zh-TW" altLang="en-US" sz="1000" dirty="0"/>
          </a:p>
        </p:txBody>
      </p:sp>
      <p:cxnSp>
        <p:nvCxnSpPr>
          <p:cNvPr id="69" name="直線單箭頭接點 68"/>
          <p:cNvCxnSpPr>
            <a:stCxn id="67" idx="3"/>
            <a:endCxn id="8" idx="1"/>
          </p:cNvCxnSpPr>
          <p:nvPr/>
        </p:nvCxnSpPr>
        <p:spPr>
          <a:xfrm flipV="1">
            <a:off x="451550" y="1957773"/>
            <a:ext cx="315459" cy="378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手繪多邊形 88"/>
          <p:cNvSpPr/>
          <p:nvPr/>
        </p:nvSpPr>
        <p:spPr>
          <a:xfrm>
            <a:off x="467212" y="2241272"/>
            <a:ext cx="2002335" cy="360231"/>
          </a:xfrm>
          <a:custGeom>
            <a:avLst/>
            <a:gdLst>
              <a:gd name="connsiteX0" fmla="*/ 0 w 2002335"/>
              <a:gd name="connsiteY0" fmla="*/ 0 h 360231"/>
              <a:gd name="connsiteX1" fmla="*/ 2002335 w 2002335"/>
              <a:gd name="connsiteY1" fmla="*/ 273653 h 36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2335" h="360231">
                <a:moveTo>
                  <a:pt x="0" y="0"/>
                </a:moveTo>
                <a:cubicBezTo>
                  <a:pt x="985037" y="248067"/>
                  <a:pt x="1970075" y="496135"/>
                  <a:pt x="2002335" y="273653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矩形 104"/>
          <p:cNvSpPr/>
          <p:nvPr/>
        </p:nvSpPr>
        <p:spPr>
          <a:xfrm>
            <a:off x="8830928" y="1408781"/>
            <a:ext cx="313071" cy="2186097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SMU</a:t>
            </a:r>
            <a:endParaRPr lang="zh-TW" altLang="en-US" dirty="0"/>
          </a:p>
        </p:txBody>
      </p:sp>
      <p:cxnSp>
        <p:nvCxnSpPr>
          <p:cNvPr id="109" name="直線單箭頭接點 108"/>
          <p:cNvCxnSpPr>
            <a:stCxn id="37" idx="3"/>
            <a:endCxn id="105" idx="1"/>
          </p:cNvCxnSpPr>
          <p:nvPr/>
        </p:nvCxnSpPr>
        <p:spPr>
          <a:xfrm flipV="1">
            <a:off x="8532440" y="2501830"/>
            <a:ext cx="298488" cy="8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395536" y="699542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CPU </a:t>
            </a:r>
            <a:r>
              <a:rPr lang="en-US" altLang="zh-TW" dirty="0" smtClean="0"/>
              <a:t>hotplug deep sleep power down </a:t>
            </a:r>
            <a:endParaRPr lang="zh-TW" altLang="en-US" dirty="0"/>
          </a:p>
        </p:txBody>
      </p:sp>
      <p:sp>
        <p:nvSpPr>
          <p:cNvPr id="114" name="矩形 113"/>
          <p:cNvSpPr/>
          <p:nvPr/>
        </p:nvSpPr>
        <p:spPr>
          <a:xfrm>
            <a:off x="767009" y="2263272"/>
            <a:ext cx="1008112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Other hart</a:t>
            </a:r>
          </a:p>
          <a:p>
            <a:pPr algn="ctr"/>
            <a:r>
              <a:rPr lang="en-US" altLang="zh-TW" sz="1200" dirty="0" smtClean="0"/>
              <a:t>sleep</a:t>
            </a:r>
            <a:endParaRPr lang="zh-TW" altLang="en-US" sz="1200" dirty="0"/>
          </a:p>
        </p:txBody>
      </p:sp>
      <p:cxnSp>
        <p:nvCxnSpPr>
          <p:cNvPr id="121" name="直線單箭頭接點 120"/>
          <p:cNvCxnSpPr>
            <a:stCxn id="114" idx="3"/>
            <a:endCxn id="14" idx="1"/>
          </p:cNvCxnSpPr>
          <p:nvPr/>
        </p:nvCxnSpPr>
        <p:spPr>
          <a:xfrm>
            <a:off x="1775121" y="2479296"/>
            <a:ext cx="579851" cy="31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endCxn id="9" idx="0"/>
          </p:cNvCxnSpPr>
          <p:nvPr/>
        </p:nvCxnSpPr>
        <p:spPr>
          <a:xfrm flipH="1">
            <a:off x="1251924" y="2695320"/>
            <a:ext cx="19141" cy="100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1012858" y="2620677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main core</a:t>
            </a:r>
            <a:endParaRPr lang="zh-TW" altLang="en-US" sz="800" dirty="0"/>
          </a:p>
        </p:txBody>
      </p:sp>
      <p:sp>
        <p:nvSpPr>
          <p:cNvPr id="135" name="文字方塊 134"/>
          <p:cNvSpPr txBox="1"/>
          <p:nvPr/>
        </p:nvSpPr>
        <p:spPr>
          <a:xfrm>
            <a:off x="408125" y="3869304"/>
            <a:ext cx="387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PCS_WE: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core: </a:t>
            </a:r>
            <a:r>
              <a:rPr lang="en-US" altLang="zh-TW" b="1" dirty="0" smtClean="0">
                <a:solidFill>
                  <a:srgbClr val="FF0000"/>
                </a:solidFill>
              </a:rPr>
              <a:t>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Should not be waken up by any wakeup event </a:t>
            </a:r>
            <a:r>
              <a:rPr lang="en-US" altLang="zh-TW" b="1" dirty="0" smtClean="0"/>
              <a:t> </a:t>
            </a:r>
          </a:p>
        </p:txBody>
      </p:sp>
      <p:grpSp>
        <p:nvGrpSpPr>
          <p:cNvPr id="68" name="群組 67"/>
          <p:cNvGrpSpPr/>
          <p:nvPr/>
        </p:nvGrpSpPr>
        <p:grpSpPr>
          <a:xfrm>
            <a:off x="5742684" y="1599946"/>
            <a:ext cx="898301" cy="1800200"/>
            <a:chOff x="2282964" y="1624806"/>
            <a:chExt cx="1152128" cy="1800200"/>
          </a:xfrm>
        </p:grpSpPr>
        <p:sp>
          <p:nvSpPr>
            <p:cNvPr id="70" name="矩形 69"/>
            <p:cNvSpPr/>
            <p:nvPr/>
          </p:nvSpPr>
          <p:spPr>
            <a:xfrm>
              <a:off x="2282964" y="162480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2344803" y="2571144"/>
              <a:ext cx="1008112" cy="728600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Store </a:t>
              </a:r>
            </a:p>
            <a:p>
              <a:pPr algn="ctr"/>
              <a:r>
                <a:rPr lang="en-US" altLang="zh-TW" sz="800" dirty="0" err="1" smtClean="0"/>
                <a:t>sp</a:t>
              </a:r>
              <a:r>
                <a:rPr lang="en-US" altLang="zh-TW" sz="800" dirty="0" smtClean="0"/>
                <a:t> address </a:t>
              </a:r>
            </a:p>
            <a:p>
              <a:pPr algn="ctr"/>
              <a:r>
                <a:rPr lang="en-US" altLang="zh-TW" sz="800" dirty="0"/>
                <a:t>t</a:t>
              </a:r>
              <a:r>
                <a:rPr lang="en-US" altLang="zh-TW" sz="800" dirty="0" smtClean="0"/>
                <a:t>o </a:t>
              </a:r>
            </a:p>
            <a:p>
              <a:pPr algn="ctr"/>
              <a:r>
                <a:rPr lang="en-US" altLang="zh-TW" sz="800" dirty="0" smtClean="0"/>
                <a:t>PCS_SCRATCH</a:t>
              </a:r>
              <a:endParaRPr lang="zh-TW" altLang="en-US" sz="800" dirty="0"/>
            </a:p>
          </p:txBody>
        </p:sp>
      </p:grpSp>
      <p:cxnSp>
        <p:nvCxnSpPr>
          <p:cNvPr id="80" name="直線單箭頭接點 79"/>
          <p:cNvCxnSpPr>
            <a:stCxn id="71" idx="3"/>
            <a:endCxn id="10" idx="1"/>
          </p:cNvCxnSpPr>
          <p:nvPr/>
        </p:nvCxnSpPr>
        <p:spPr>
          <a:xfrm flipV="1">
            <a:off x="6576912" y="1793124"/>
            <a:ext cx="386518" cy="1117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4495166" y="1414905"/>
            <a:ext cx="1073424" cy="2330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 83"/>
          <p:cNvSpPr/>
          <p:nvPr/>
        </p:nvSpPr>
        <p:spPr>
          <a:xfrm>
            <a:off x="4357415" y="3972687"/>
            <a:ext cx="3878970" cy="498736"/>
          </a:xfrm>
          <a:prstGeom prst="rect">
            <a:avLst/>
          </a:prstGeom>
          <a:solidFill>
            <a:srgbClr val="639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No need in CPU hotplug Deep sleep</a:t>
            </a:r>
            <a:endParaRPr lang="zh-TW" altLang="en-US" dirty="0"/>
          </a:p>
        </p:txBody>
      </p:sp>
      <p:grpSp>
        <p:nvGrpSpPr>
          <p:cNvPr id="86" name="群組 85"/>
          <p:cNvGrpSpPr/>
          <p:nvPr/>
        </p:nvGrpSpPr>
        <p:grpSpPr>
          <a:xfrm>
            <a:off x="3350409" y="1567940"/>
            <a:ext cx="934796" cy="1800200"/>
            <a:chOff x="3851920" y="1634229"/>
            <a:chExt cx="934796" cy="1800200"/>
          </a:xfrm>
        </p:grpSpPr>
        <p:grpSp>
          <p:nvGrpSpPr>
            <p:cNvPr id="18" name="群組 17"/>
            <p:cNvGrpSpPr/>
            <p:nvPr/>
          </p:nvGrpSpPr>
          <p:grpSpPr>
            <a:xfrm>
              <a:off x="3851920" y="1634229"/>
              <a:ext cx="934796" cy="1800200"/>
              <a:chOff x="3563888" y="1624806"/>
              <a:chExt cx="1152128" cy="180020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3563888" y="1624806"/>
                <a:ext cx="1152128" cy="1800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636341" y="2274295"/>
                <a:ext cx="1008114" cy="432048"/>
              </a:xfrm>
              <a:prstGeom prst="rect">
                <a:avLst/>
              </a:prstGeom>
              <a:solidFill>
                <a:srgbClr val="477D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Set </a:t>
                </a:r>
              </a:p>
              <a:p>
                <a:pPr algn="ctr"/>
                <a:r>
                  <a:rPr lang="en-US" altLang="zh-TW" sz="1200" dirty="0" smtClean="0"/>
                  <a:t>PCS_WE</a:t>
                </a:r>
                <a:endParaRPr lang="zh-TW" altLang="en-US" sz="1200" dirty="0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635896" y="2852529"/>
                <a:ext cx="1008113" cy="432048"/>
              </a:xfrm>
              <a:prstGeom prst="rect">
                <a:avLst/>
              </a:prstGeom>
              <a:solidFill>
                <a:srgbClr val="477D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Set </a:t>
                </a:r>
                <a:r>
                  <a:rPr lang="en-US" altLang="zh-TW" sz="1200" dirty="0" smtClean="0">
                    <a:solidFill>
                      <a:srgbClr val="FF0000"/>
                    </a:solidFill>
                  </a:rPr>
                  <a:t>0xb</a:t>
                </a:r>
                <a:r>
                  <a:rPr lang="en-US" altLang="zh-TW" sz="1200" dirty="0" smtClean="0"/>
                  <a:t> </a:t>
                </a:r>
              </a:p>
              <a:p>
                <a:pPr algn="ctr"/>
                <a:r>
                  <a:rPr lang="en-US" altLang="zh-TW" sz="1200" dirty="0" smtClean="0"/>
                  <a:t>PCS_CTL</a:t>
                </a:r>
                <a:endParaRPr lang="zh-TW" altLang="en-US" sz="1200" dirty="0"/>
              </a:p>
            </p:txBody>
          </p:sp>
          <p:cxnSp>
            <p:nvCxnSpPr>
              <p:cNvPr id="17" name="直線單箭頭接點 16"/>
              <p:cNvCxnSpPr>
                <a:stCxn id="13" idx="2"/>
                <a:endCxn id="15" idx="0"/>
              </p:cNvCxnSpPr>
              <p:nvPr/>
            </p:nvCxnSpPr>
            <p:spPr>
              <a:xfrm flipH="1">
                <a:off x="4139953" y="2706343"/>
                <a:ext cx="444" cy="1461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矩形 94"/>
            <p:cNvSpPr/>
            <p:nvPr/>
          </p:nvSpPr>
          <p:spPr>
            <a:xfrm>
              <a:off x="3915832" y="1712112"/>
              <a:ext cx="817947" cy="432048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Set </a:t>
              </a:r>
            </a:p>
            <a:p>
              <a:pPr algn="ctr"/>
              <a:r>
                <a:rPr lang="en-US" altLang="zh-TW" sz="1000" dirty="0" err="1" smtClean="0"/>
                <a:t>Reset_vec</a:t>
              </a:r>
              <a:endParaRPr lang="zh-TW" altLang="en-US" sz="1000" dirty="0"/>
            </a:p>
          </p:txBody>
        </p:sp>
      </p:grpSp>
      <p:cxnSp>
        <p:nvCxnSpPr>
          <p:cNvPr id="96" name="直線單箭頭接點 95"/>
          <p:cNvCxnSpPr>
            <a:stCxn id="95" idx="2"/>
            <a:endCxn id="13" idx="0"/>
          </p:cNvCxnSpPr>
          <p:nvPr/>
        </p:nvCxnSpPr>
        <p:spPr>
          <a:xfrm flipH="1">
            <a:off x="3818169" y="2077871"/>
            <a:ext cx="5126" cy="13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V="1">
            <a:off x="3026557" y="2457099"/>
            <a:ext cx="389422" cy="61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向左箭號 107"/>
          <p:cNvSpPr/>
          <p:nvPr/>
        </p:nvSpPr>
        <p:spPr>
          <a:xfrm rot="2551295">
            <a:off x="5396247" y="3676676"/>
            <a:ext cx="797373" cy="267236"/>
          </a:xfrm>
          <a:prstGeom prst="leftArrow">
            <a:avLst>
              <a:gd name="adj1" fmla="val 44905"/>
              <a:gd name="adj2" fmla="val 50000"/>
            </a:avLst>
          </a:prstGeom>
          <a:solidFill>
            <a:srgbClr val="639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6" name="肘形接點 55"/>
          <p:cNvCxnSpPr>
            <a:stCxn id="15" idx="3"/>
            <a:endCxn id="115" idx="1"/>
          </p:cNvCxnSpPr>
          <p:nvPr/>
        </p:nvCxnSpPr>
        <p:spPr>
          <a:xfrm flipV="1">
            <a:off x="4226781" y="2043368"/>
            <a:ext cx="1590064" cy="968319"/>
          </a:xfrm>
          <a:prstGeom prst="bentConnector3">
            <a:avLst>
              <a:gd name="adj1" fmla="val 845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114"/>
          <p:cNvSpPr/>
          <p:nvPr/>
        </p:nvSpPr>
        <p:spPr>
          <a:xfrm>
            <a:off x="5816845" y="1730856"/>
            <a:ext cx="786013" cy="625023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Store </a:t>
            </a:r>
          </a:p>
          <a:p>
            <a:pPr algn="ctr"/>
            <a:r>
              <a:rPr lang="en-US" altLang="zh-TW" sz="1000" dirty="0" smtClean="0"/>
              <a:t>Registers</a:t>
            </a:r>
          </a:p>
        </p:txBody>
      </p:sp>
      <p:cxnSp>
        <p:nvCxnSpPr>
          <p:cNvPr id="116" name="直線單箭頭接點 115"/>
          <p:cNvCxnSpPr>
            <a:stCxn id="115" idx="2"/>
            <a:endCxn id="71" idx="0"/>
          </p:cNvCxnSpPr>
          <p:nvPr/>
        </p:nvCxnSpPr>
        <p:spPr>
          <a:xfrm flipH="1">
            <a:off x="6183906" y="2355879"/>
            <a:ext cx="25946" cy="190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6972891" y="2767555"/>
            <a:ext cx="908158" cy="224519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800" dirty="0" smtClean="0"/>
              <a:t>Disable L2</a:t>
            </a:r>
            <a:endParaRPr lang="zh-TW" altLang="en-US" sz="800" dirty="0"/>
          </a:p>
        </p:txBody>
      </p:sp>
      <p:sp>
        <p:nvSpPr>
          <p:cNvPr id="146" name="矩形 145"/>
          <p:cNvSpPr/>
          <p:nvPr/>
        </p:nvSpPr>
        <p:spPr>
          <a:xfrm>
            <a:off x="6965169" y="3093669"/>
            <a:ext cx="908158" cy="224519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800" dirty="0" smtClean="0"/>
              <a:t>Check L2 status</a:t>
            </a:r>
            <a:endParaRPr lang="zh-TW" altLang="en-US" sz="800" dirty="0"/>
          </a:p>
        </p:txBody>
      </p:sp>
      <p:cxnSp>
        <p:nvCxnSpPr>
          <p:cNvPr id="150" name="直線單箭頭接點 149"/>
          <p:cNvCxnSpPr>
            <a:stCxn id="145" idx="2"/>
            <a:endCxn id="146" idx="0"/>
          </p:cNvCxnSpPr>
          <p:nvPr/>
        </p:nvCxnSpPr>
        <p:spPr>
          <a:xfrm flipH="1">
            <a:off x="7419248" y="2992074"/>
            <a:ext cx="7722" cy="101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/>
        </p:nvSpPr>
        <p:spPr>
          <a:xfrm>
            <a:off x="6880797" y="2725221"/>
            <a:ext cx="1073424" cy="682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文字方塊 81"/>
          <p:cNvSpPr txBox="1"/>
          <p:nvPr/>
        </p:nvSpPr>
        <p:spPr>
          <a:xfrm>
            <a:off x="5751030" y="3412931"/>
            <a:ext cx="1259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Store </a:t>
            </a:r>
            <a:r>
              <a:rPr lang="en-US" altLang="zh-TW" sz="1200" b="1" dirty="0" err="1" smtClean="0"/>
              <a:t>regs</a:t>
            </a:r>
            <a:endParaRPr lang="zh-TW" altLang="en-US" sz="1200" b="1" dirty="0"/>
          </a:p>
        </p:txBody>
      </p:sp>
      <p:sp>
        <p:nvSpPr>
          <p:cNvPr id="87" name="矩形 86"/>
          <p:cNvSpPr/>
          <p:nvPr/>
        </p:nvSpPr>
        <p:spPr>
          <a:xfrm>
            <a:off x="726875" y="2690715"/>
            <a:ext cx="1073424" cy="709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向左箭號 87"/>
          <p:cNvSpPr/>
          <p:nvPr/>
        </p:nvSpPr>
        <p:spPr>
          <a:xfrm rot="1143786">
            <a:off x="1773886" y="3490355"/>
            <a:ext cx="3052064" cy="267236"/>
          </a:xfrm>
          <a:prstGeom prst="leftArrow">
            <a:avLst>
              <a:gd name="adj1" fmla="val 44905"/>
              <a:gd name="adj2" fmla="val 50000"/>
            </a:avLst>
          </a:prstGeom>
          <a:solidFill>
            <a:srgbClr val="639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2180188" y="3434822"/>
            <a:ext cx="111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Disable IRQ</a:t>
            </a:r>
            <a:endParaRPr lang="zh-TW" altLang="en-US" sz="12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3368839" y="3444870"/>
            <a:ext cx="111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Setup SMU</a:t>
            </a:r>
            <a:endParaRPr lang="zh-TW" altLang="en-US" sz="1200" b="1" dirty="0"/>
          </a:p>
        </p:txBody>
      </p:sp>
      <p:sp>
        <p:nvSpPr>
          <p:cNvPr id="90" name="向左箭號 89"/>
          <p:cNvSpPr/>
          <p:nvPr/>
        </p:nvSpPr>
        <p:spPr>
          <a:xfrm rot="7665422">
            <a:off x="6344694" y="3614033"/>
            <a:ext cx="797373" cy="267236"/>
          </a:xfrm>
          <a:prstGeom prst="leftArrow">
            <a:avLst>
              <a:gd name="adj1" fmla="val 44905"/>
              <a:gd name="adj2" fmla="val 50000"/>
            </a:avLst>
          </a:prstGeom>
          <a:solidFill>
            <a:srgbClr val="639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6" name="直線單箭頭接點 105"/>
          <p:cNvCxnSpPr>
            <a:stCxn id="12" idx="3"/>
            <a:endCxn id="37" idx="1"/>
          </p:cNvCxnSpPr>
          <p:nvPr/>
        </p:nvCxnSpPr>
        <p:spPr>
          <a:xfrm flipV="1">
            <a:off x="7871588" y="2510697"/>
            <a:ext cx="192798" cy="26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乘號 20"/>
          <p:cNvSpPr/>
          <p:nvPr/>
        </p:nvSpPr>
        <p:spPr>
          <a:xfrm>
            <a:off x="4731725" y="2540106"/>
            <a:ext cx="611560" cy="610769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乘號 92"/>
          <p:cNvSpPr/>
          <p:nvPr/>
        </p:nvSpPr>
        <p:spPr>
          <a:xfrm>
            <a:off x="7095272" y="2748513"/>
            <a:ext cx="611560" cy="610769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乘號 93"/>
          <p:cNvSpPr/>
          <p:nvPr/>
        </p:nvSpPr>
        <p:spPr>
          <a:xfrm>
            <a:off x="1280846" y="2717320"/>
            <a:ext cx="611560" cy="610769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3706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1390799" y="2323161"/>
            <a:ext cx="3321100" cy="216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000" dirty="0"/>
              <a:t>CPU Hotplug Deep sleep Implementation</a:t>
            </a:r>
            <a:endParaRPr lang="zh-TW" altLang="en-US" sz="3000" dirty="0"/>
          </a:p>
        </p:txBody>
      </p:sp>
      <p:grpSp>
        <p:nvGrpSpPr>
          <p:cNvPr id="16" name="群組 15"/>
          <p:cNvGrpSpPr/>
          <p:nvPr/>
        </p:nvGrpSpPr>
        <p:grpSpPr>
          <a:xfrm>
            <a:off x="3662428" y="2508014"/>
            <a:ext cx="967637" cy="1800200"/>
            <a:chOff x="830918" y="2053665"/>
            <a:chExt cx="1152128" cy="1800200"/>
          </a:xfrm>
        </p:grpSpPr>
        <p:sp>
          <p:nvSpPr>
            <p:cNvPr id="33" name="矩形 32"/>
            <p:cNvSpPr/>
            <p:nvPr/>
          </p:nvSpPr>
          <p:spPr>
            <a:xfrm>
              <a:off x="830918" y="2053665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902926" y="2723720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Enable</a:t>
              </a:r>
            </a:p>
            <a:p>
              <a:pPr algn="ctr"/>
              <a:r>
                <a:rPr lang="en-US" altLang="zh-TW" sz="1200" dirty="0" smtClean="0"/>
                <a:t>MIE*</a:t>
              </a:r>
              <a:endParaRPr lang="zh-TW" altLang="en-US" sz="1200" dirty="0"/>
            </a:p>
          </p:txBody>
        </p:sp>
      </p:grpSp>
      <p:sp>
        <p:nvSpPr>
          <p:cNvPr id="38" name="文字方塊 37"/>
          <p:cNvSpPr txBox="1"/>
          <p:nvPr/>
        </p:nvSpPr>
        <p:spPr>
          <a:xfrm>
            <a:off x="3697189" y="4292314"/>
            <a:ext cx="111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Enable IRQ</a:t>
            </a:r>
            <a:endParaRPr lang="zh-TW" altLang="en-US" sz="1200" b="1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5064212" y="1982805"/>
            <a:ext cx="11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92D050"/>
                </a:solidFill>
              </a:rPr>
              <a:t>Kernel</a:t>
            </a:r>
            <a:endParaRPr lang="zh-TW" altLang="en-US" b="1" dirty="0">
              <a:solidFill>
                <a:srgbClr val="92D050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900268" y="1965439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 smtClean="0">
                <a:solidFill>
                  <a:srgbClr val="FFC000"/>
                </a:solidFill>
              </a:rPr>
              <a:t>OpenSBI</a:t>
            </a:r>
            <a:r>
              <a:rPr lang="en-US" altLang="zh-TW" b="1" dirty="0" smtClean="0">
                <a:solidFill>
                  <a:srgbClr val="FFC000"/>
                </a:solidFill>
              </a:rPr>
              <a:t> SMU Driver </a:t>
            </a:r>
            <a:endParaRPr lang="zh-TW" altLang="en-US" b="1" dirty="0">
              <a:solidFill>
                <a:srgbClr val="FFC000"/>
              </a:solidFill>
            </a:endParaRPr>
          </a:p>
        </p:txBody>
      </p:sp>
      <p:sp>
        <p:nvSpPr>
          <p:cNvPr id="89" name="手繪多邊形 88"/>
          <p:cNvSpPr/>
          <p:nvPr/>
        </p:nvSpPr>
        <p:spPr>
          <a:xfrm>
            <a:off x="588909" y="3102817"/>
            <a:ext cx="2002335" cy="360231"/>
          </a:xfrm>
          <a:custGeom>
            <a:avLst/>
            <a:gdLst>
              <a:gd name="connsiteX0" fmla="*/ 0 w 2002335"/>
              <a:gd name="connsiteY0" fmla="*/ 0 h 360231"/>
              <a:gd name="connsiteX1" fmla="*/ 2002335 w 2002335"/>
              <a:gd name="connsiteY1" fmla="*/ 273653 h 36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2335" h="360231">
                <a:moveTo>
                  <a:pt x="0" y="0"/>
                </a:moveTo>
                <a:cubicBezTo>
                  <a:pt x="985037" y="248067"/>
                  <a:pt x="1970075" y="496135"/>
                  <a:pt x="2002335" y="273653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矩形 104"/>
          <p:cNvSpPr/>
          <p:nvPr/>
        </p:nvSpPr>
        <p:spPr>
          <a:xfrm>
            <a:off x="325207" y="2310232"/>
            <a:ext cx="901797" cy="2173169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SMU</a:t>
            </a:r>
            <a:endParaRPr lang="zh-TW" altLang="en-US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395536" y="699542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Deep sleep power up </a:t>
            </a:r>
            <a:endParaRPr lang="zh-TW" altLang="en-US" dirty="0"/>
          </a:p>
        </p:txBody>
      </p:sp>
      <p:sp>
        <p:nvSpPr>
          <p:cNvPr id="18" name="向下箭號 17"/>
          <p:cNvSpPr/>
          <p:nvPr/>
        </p:nvSpPr>
        <p:spPr>
          <a:xfrm>
            <a:off x="535088" y="1734616"/>
            <a:ext cx="360040" cy="1091660"/>
          </a:xfrm>
          <a:prstGeom prst="down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177208" y="1213274"/>
            <a:ext cx="2231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/>
              <a:t>Other core write </a:t>
            </a:r>
          </a:p>
          <a:p>
            <a:r>
              <a:rPr lang="en-US" altLang="zh-TW" sz="1400" b="1" dirty="0" smtClean="0"/>
              <a:t>wakeup signal(</a:t>
            </a:r>
            <a:r>
              <a:rPr lang="en-US" altLang="zh-TW" sz="1400" b="1" dirty="0" smtClean="0">
                <a:solidFill>
                  <a:srgbClr val="FF0000"/>
                </a:solidFill>
              </a:rPr>
              <a:t>0x8</a:t>
            </a:r>
            <a:r>
              <a:rPr lang="en-US" altLang="zh-TW" sz="1400" b="1" dirty="0" smtClean="0"/>
              <a:t>) to </a:t>
            </a:r>
          </a:p>
          <a:p>
            <a:r>
              <a:rPr lang="en-US" altLang="zh-TW" sz="1400" b="1" dirty="0" smtClean="0"/>
              <a:t>HART[n]_PCS_CTL </a:t>
            </a:r>
            <a:endParaRPr lang="zh-TW" altLang="en-US" sz="1400" b="1" dirty="0"/>
          </a:p>
        </p:txBody>
      </p:sp>
      <p:sp>
        <p:nvSpPr>
          <p:cNvPr id="25" name="矩形 24"/>
          <p:cNvSpPr/>
          <p:nvPr/>
        </p:nvSpPr>
        <p:spPr>
          <a:xfrm>
            <a:off x="4885142" y="2323161"/>
            <a:ext cx="4079346" cy="216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單箭頭接點 75"/>
          <p:cNvCxnSpPr>
            <a:endCxn id="14" idx="1"/>
          </p:cNvCxnSpPr>
          <p:nvPr/>
        </p:nvCxnSpPr>
        <p:spPr>
          <a:xfrm flipV="1">
            <a:off x="2920318" y="3393905"/>
            <a:ext cx="455179" cy="575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群組 106"/>
          <p:cNvGrpSpPr/>
          <p:nvPr/>
        </p:nvGrpSpPr>
        <p:grpSpPr>
          <a:xfrm>
            <a:off x="4974883" y="2449338"/>
            <a:ext cx="821253" cy="1800200"/>
            <a:chOff x="5133608" y="1606546"/>
            <a:chExt cx="1152128" cy="1800200"/>
          </a:xfrm>
        </p:grpSpPr>
        <p:sp>
          <p:nvSpPr>
            <p:cNvPr id="102" name="矩形 101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5205616" y="227660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Driver </a:t>
              </a:r>
            </a:p>
            <a:p>
              <a:pPr algn="ctr"/>
              <a:r>
                <a:rPr lang="en-US" altLang="zh-TW" sz="1000" dirty="0" smtClean="0"/>
                <a:t>resume</a:t>
              </a:r>
              <a:endParaRPr lang="zh-TW" altLang="en-US" sz="1000" dirty="0"/>
            </a:p>
          </p:txBody>
        </p:sp>
      </p:grpSp>
      <p:grpSp>
        <p:nvGrpSpPr>
          <p:cNvPr id="114" name="群組 113"/>
          <p:cNvGrpSpPr/>
          <p:nvPr/>
        </p:nvGrpSpPr>
        <p:grpSpPr>
          <a:xfrm>
            <a:off x="5971676" y="2426606"/>
            <a:ext cx="810385" cy="1800200"/>
            <a:chOff x="5133608" y="1606546"/>
            <a:chExt cx="1152128" cy="1800200"/>
          </a:xfrm>
        </p:grpSpPr>
        <p:sp>
          <p:nvSpPr>
            <p:cNvPr id="115" name="矩形 114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5205616" y="2201056"/>
              <a:ext cx="1008112" cy="582760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Other</a:t>
              </a:r>
            </a:p>
            <a:p>
              <a:pPr algn="ctr"/>
              <a:r>
                <a:rPr lang="en-US" altLang="zh-TW" sz="1000" dirty="0" smtClean="0"/>
                <a:t>Cores</a:t>
              </a:r>
            </a:p>
            <a:p>
              <a:pPr algn="ctr"/>
              <a:r>
                <a:rPr lang="en-US" altLang="zh-TW" sz="1000" dirty="0" smtClean="0"/>
                <a:t>wakeup</a:t>
              </a:r>
              <a:endParaRPr lang="zh-TW" altLang="en-US" sz="1000" dirty="0"/>
            </a:p>
          </p:txBody>
        </p:sp>
      </p:grpSp>
      <p:grpSp>
        <p:nvGrpSpPr>
          <p:cNvPr id="117" name="群組 116"/>
          <p:cNvGrpSpPr/>
          <p:nvPr/>
        </p:nvGrpSpPr>
        <p:grpSpPr>
          <a:xfrm>
            <a:off x="7926961" y="2441019"/>
            <a:ext cx="771921" cy="1800200"/>
            <a:chOff x="5133608" y="1606546"/>
            <a:chExt cx="1152128" cy="1800200"/>
          </a:xfrm>
        </p:grpSpPr>
        <p:sp>
          <p:nvSpPr>
            <p:cNvPr id="118" name="矩形 117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5205616" y="2276601"/>
              <a:ext cx="1008112" cy="431671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process </a:t>
              </a:r>
            </a:p>
            <a:p>
              <a:pPr algn="ctr"/>
              <a:r>
                <a:rPr lang="en-US" altLang="zh-TW" sz="1000" dirty="0" smtClean="0"/>
                <a:t>resume</a:t>
              </a:r>
              <a:endParaRPr lang="zh-TW" altLang="en-US" sz="1000" dirty="0"/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6971501" y="2457076"/>
            <a:ext cx="740556" cy="1800200"/>
            <a:chOff x="5133608" y="1606546"/>
            <a:chExt cx="1152128" cy="1800200"/>
          </a:xfrm>
        </p:grpSpPr>
        <p:sp>
          <p:nvSpPr>
            <p:cNvPr id="126" name="矩形 125"/>
            <p:cNvSpPr/>
            <p:nvPr/>
          </p:nvSpPr>
          <p:spPr>
            <a:xfrm>
              <a:off x="5133608" y="160654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5205615" y="2221646"/>
              <a:ext cx="1008113" cy="540273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Main </a:t>
              </a:r>
            </a:p>
            <a:p>
              <a:pPr algn="ctr"/>
              <a:r>
                <a:rPr lang="en-US" altLang="zh-TW" sz="1000" dirty="0" smtClean="0"/>
                <a:t>Core</a:t>
              </a:r>
            </a:p>
            <a:p>
              <a:pPr algn="ctr"/>
              <a:r>
                <a:rPr lang="en-US" altLang="zh-TW" sz="1000" dirty="0" smtClean="0"/>
                <a:t>wait </a:t>
              </a:r>
              <a:endParaRPr lang="zh-TW" altLang="en-US" sz="1000" dirty="0"/>
            </a:p>
          </p:txBody>
        </p:sp>
      </p:grpSp>
      <p:sp>
        <p:nvSpPr>
          <p:cNvPr id="131" name="文字方塊 130"/>
          <p:cNvSpPr txBox="1"/>
          <p:nvPr/>
        </p:nvSpPr>
        <p:spPr>
          <a:xfrm>
            <a:off x="6882670" y="4085659"/>
            <a:ext cx="1075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Wait for </a:t>
            </a:r>
          </a:p>
          <a:p>
            <a:r>
              <a:rPr lang="en-US" altLang="zh-TW" sz="1200" b="1" dirty="0" smtClean="0"/>
              <a:t>other cores </a:t>
            </a:r>
          </a:p>
          <a:p>
            <a:r>
              <a:rPr lang="en-US" altLang="zh-TW" sz="1200" b="1" dirty="0" smtClean="0"/>
              <a:t>ready</a:t>
            </a:r>
            <a:endParaRPr lang="zh-TW" altLang="en-US" sz="1200" b="1" dirty="0"/>
          </a:p>
        </p:txBody>
      </p:sp>
      <p:cxnSp>
        <p:nvCxnSpPr>
          <p:cNvPr id="122" name="直線單箭頭接點 121"/>
          <p:cNvCxnSpPr>
            <a:stCxn id="116" idx="3"/>
            <a:endCxn id="127" idx="1"/>
          </p:cNvCxnSpPr>
          <p:nvPr/>
        </p:nvCxnSpPr>
        <p:spPr>
          <a:xfrm>
            <a:off x="6731412" y="3312496"/>
            <a:ext cx="286373" cy="29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127" idx="3"/>
            <a:endCxn id="119" idx="1"/>
          </p:cNvCxnSpPr>
          <p:nvPr/>
        </p:nvCxnSpPr>
        <p:spPr>
          <a:xfrm flipV="1">
            <a:off x="7665772" y="3326910"/>
            <a:ext cx="309434" cy="15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肘形接點 138"/>
          <p:cNvCxnSpPr>
            <a:stCxn id="14" idx="2"/>
            <a:endCxn id="119" idx="2"/>
          </p:cNvCxnSpPr>
          <p:nvPr/>
        </p:nvCxnSpPr>
        <p:spPr>
          <a:xfrm rot="5400000" flipH="1" flipV="1">
            <a:off x="6196086" y="1492905"/>
            <a:ext cx="66995" cy="4166676"/>
          </a:xfrm>
          <a:prstGeom prst="bentConnector3">
            <a:avLst>
              <a:gd name="adj1" fmla="val -3412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460967" y="2826276"/>
            <a:ext cx="491499" cy="45122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/>
              <a:t>core</a:t>
            </a:r>
            <a:endParaRPr lang="zh-TW" altLang="en-US" sz="1000" dirty="0"/>
          </a:p>
        </p:txBody>
      </p:sp>
      <p:grpSp>
        <p:nvGrpSpPr>
          <p:cNvPr id="55" name="群組 54"/>
          <p:cNvGrpSpPr/>
          <p:nvPr/>
        </p:nvGrpSpPr>
        <p:grpSpPr>
          <a:xfrm>
            <a:off x="1571216" y="2521049"/>
            <a:ext cx="991513" cy="1800200"/>
            <a:chOff x="4704130" y="2053665"/>
            <a:chExt cx="1152128" cy="1800200"/>
          </a:xfrm>
        </p:grpSpPr>
        <p:sp>
          <p:nvSpPr>
            <p:cNvPr id="56" name="矩形 55"/>
            <p:cNvSpPr/>
            <p:nvPr/>
          </p:nvSpPr>
          <p:spPr>
            <a:xfrm>
              <a:off x="4704130" y="2053665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4769779" y="2798166"/>
              <a:ext cx="1008112" cy="432048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enable </a:t>
              </a:r>
            </a:p>
            <a:p>
              <a:pPr algn="ctr"/>
              <a:r>
                <a:rPr lang="en-US" altLang="zh-TW" sz="1200" dirty="0" smtClean="0"/>
                <a:t>D$/I$</a:t>
              </a:r>
              <a:endParaRPr lang="zh-TW" altLang="en-US" sz="1200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4781918" y="2214936"/>
              <a:ext cx="1008112" cy="432048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enable </a:t>
              </a:r>
            </a:p>
            <a:p>
              <a:pPr algn="ctr"/>
              <a:r>
                <a:rPr lang="en-US" altLang="zh-TW" sz="1200" dirty="0" smtClean="0"/>
                <a:t>CM</a:t>
              </a:r>
              <a:endParaRPr lang="zh-TW" altLang="en-US" sz="1200" dirty="0"/>
            </a:p>
          </p:txBody>
        </p:sp>
        <p:cxnSp>
          <p:nvCxnSpPr>
            <p:cNvPr id="59" name="直線單箭頭接點 58"/>
            <p:cNvCxnSpPr>
              <a:stCxn id="58" idx="2"/>
              <a:endCxn id="57" idx="0"/>
            </p:cNvCxnSpPr>
            <p:nvPr/>
          </p:nvCxnSpPr>
          <p:spPr>
            <a:xfrm flipH="1">
              <a:off x="5273835" y="2646984"/>
              <a:ext cx="12139" cy="1511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線單箭頭接點 71"/>
          <p:cNvCxnSpPr>
            <a:stCxn id="151" idx="3"/>
            <a:endCxn id="58" idx="1"/>
          </p:cNvCxnSpPr>
          <p:nvPr/>
        </p:nvCxnSpPr>
        <p:spPr>
          <a:xfrm flipV="1">
            <a:off x="968698" y="2898344"/>
            <a:ext cx="669462" cy="327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2666026" y="2508014"/>
            <a:ext cx="898301" cy="1800200"/>
            <a:chOff x="2282964" y="1624806"/>
            <a:chExt cx="1152128" cy="1800200"/>
          </a:xfrm>
        </p:grpSpPr>
        <p:sp>
          <p:nvSpPr>
            <p:cNvPr id="66" name="矩形 65"/>
            <p:cNvSpPr/>
            <p:nvPr/>
          </p:nvSpPr>
          <p:spPr>
            <a:xfrm>
              <a:off x="2282964" y="1624806"/>
              <a:ext cx="1152128" cy="18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2358209" y="2642854"/>
              <a:ext cx="1008112" cy="723476"/>
            </a:xfrm>
            <a:prstGeom prst="rect">
              <a:avLst/>
            </a:prstGeom>
            <a:solidFill>
              <a:srgbClr val="477D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 smtClean="0"/>
                <a:t>restore </a:t>
              </a:r>
            </a:p>
            <a:p>
              <a:pPr algn="ctr"/>
              <a:r>
                <a:rPr lang="en-US" altLang="zh-TW" sz="900" dirty="0" smtClean="0"/>
                <a:t>Registers</a:t>
              </a:r>
            </a:p>
            <a:p>
              <a:pPr algn="ctr"/>
              <a:r>
                <a:rPr lang="en-US" altLang="zh-TW" sz="900" dirty="0" smtClean="0"/>
                <a:t>from ram</a:t>
              </a:r>
            </a:p>
            <a:p>
              <a:pPr algn="ctr"/>
              <a:r>
                <a:rPr lang="en-US" altLang="zh-TW" sz="900" dirty="0" smtClean="0"/>
                <a:t>(</a:t>
              </a:r>
              <a:r>
                <a:rPr lang="en-US" altLang="zh-TW" sz="900" dirty="0" err="1" smtClean="0"/>
                <a:t>sp</a:t>
              </a:r>
              <a:r>
                <a:rPr lang="en-US" altLang="zh-TW" sz="900" dirty="0" smtClean="0"/>
                <a:t> address)</a:t>
              </a:r>
              <a:endParaRPr lang="zh-TW" altLang="en-US" sz="900" dirty="0"/>
            </a:p>
          </p:txBody>
        </p:sp>
      </p:grpSp>
      <p:sp>
        <p:nvSpPr>
          <p:cNvPr id="68" name="文字方塊 67"/>
          <p:cNvSpPr txBox="1"/>
          <p:nvPr/>
        </p:nvSpPr>
        <p:spPr>
          <a:xfrm>
            <a:off x="2566861" y="4279795"/>
            <a:ext cx="1251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Restore </a:t>
            </a:r>
            <a:r>
              <a:rPr lang="en-US" altLang="zh-TW" sz="1200" b="1" dirty="0" err="1" smtClean="0"/>
              <a:t>regs</a:t>
            </a:r>
            <a:endParaRPr lang="zh-TW" altLang="en-US" sz="1200" b="1" dirty="0"/>
          </a:p>
        </p:txBody>
      </p:sp>
      <p:sp>
        <p:nvSpPr>
          <p:cNvPr id="69" name="矩形 68"/>
          <p:cNvSpPr/>
          <p:nvPr/>
        </p:nvSpPr>
        <p:spPr>
          <a:xfrm>
            <a:off x="4835890" y="2302589"/>
            <a:ext cx="2962603" cy="22099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2735360" y="2616781"/>
            <a:ext cx="786013" cy="764605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/>
              <a:t>Get “</a:t>
            </a:r>
            <a:r>
              <a:rPr lang="en-US" altLang="zh-TW" sz="900" dirty="0" err="1" smtClean="0"/>
              <a:t>sp</a:t>
            </a:r>
            <a:r>
              <a:rPr lang="en-US" altLang="zh-TW" sz="900" dirty="0" smtClean="0"/>
              <a:t>” </a:t>
            </a:r>
          </a:p>
          <a:p>
            <a:pPr algn="ctr"/>
            <a:r>
              <a:rPr lang="en-US" altLang="zh-TW" sz="900" dirty="0" smtClean="0"/>
              <a:t>address </a:t>
            </a:r>
          </a:p>
          <a:p>
            <a:pPr algn="ctr"/>
            <a:r>
              <a:rPr lang="en-US" altLang="zh-TW" sz="900" dirty="0" smtClean="0"/>
              <a:t>From</a:t>
            </a:r>
          </a:p>
          <a:p>
            <a:pPr algn="ctr"/>
            <a:r>
              <a:rPr lang="en-US" altLang="zh-TW" sz="900" dirty="0" smtClean="0"/>
              <a:t>PCS_SCRATCH</a:t>
            </a:r>
            <a:endParaRPr lang="zh-TW" altLang="en-US" sz="900" dirty="0"/>
          </a:p>
        </p:txBody>
      </p:sp>
      <p:cxnSp>
        <p:nvCxnSpPr>
          <p:cNvPr id="75" name="直線單箭頭接點 74"/>
          <p:cNvCxnSpPr>
            <a:endCxn id="67" idx="0"/>
          </p:cNvCxnSpPr>
          <p:nvPr/>
        </p:nvCxnSpPr>
        <p:spPr>
          <a:xfrm flipH="1">
            <a:off x="3117701" y="3381386"/>
            <a:ext cx="14140" cy="144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1645441" y="3807520"/>
            <a:ext cx="867574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enable </a:t>
            </a:r>
          </a:p>
          <a:p>
            <a:pPr algn="ctr"/>
            <a:r>
              <a:rPr lang="en-US" altLang="zh-TW" sz="1200" dirty="0" smtClean="0"/>
              <a:t>L2</a:t>
            </a:r>
            <a:endParaRPr lang="zh-TW" altLang="en-US" sz="1200" dirty="0"/>
          </a:p>
        </p:txBody>
      </p:sp>
      <p:cxnSp>
        <p:nvCxnSpPr>
          <p:cNvPr id="81" name="直線單箭頭接點 80"/>
          <p:cNvCxnSpPr>
            <a:endCxn id="79" idx="0"/>
          </p:cNvCxnSpPr>
          <p:nvPr/>
        </p:nvCxnSpPr>
        <p:spPr>
          <a:xfrm flipH="1">
            <a:off x="2079228" y="3714305"/>
            <a:ext cx="10607" cy="93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1560494" y="3758853"/>
            <a:ext cx="1009515" cy="6119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1677753" y="4239568"/>
            <a:ext cx="87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/>
              <a:t>Enable </a:t>
            </a:r>
          </a:p>
          <a:p>
            <a:r>
              <a:rPr lang="en-US" altLang="zh-TW" sz="1200" b="1" dirty="0" smtClean="0"/>
              <a:t>Cache</a:t>
            </a:r>
            <a:endParaRPr lang="zh-TW" altLang="en-US" sz="1200" b="1" dirty="0"/>
          </a:p>
        </p:txBody>
      </p:sp>
      <p:sp>
        <p:nvSpPr>
          <p:cNvPr id="73" name="乘號 72"/>
          <p:cNvSpPr/>
          <p:nvPr/>
        </p:nvSpPr>
        <p:spPr>
          <a:xfrm>
            <a:off x="2019565" y="3884183"/>
            <a:ext cx="611560" cy="610769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乘號 76"/>
          <p:cNvSpPr/>
          <p:nvPr/>
        </p:nvSpPr>
        <p:spPr>
          <a:xfrm>
            <a:off x="5744807" y="3884183"/>
            <a:ext cx="611560" cy="610769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62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(HW)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Power management </a:t>
            </a:r>
            <a:r>
              <a:rPr lang="en-US" altLang="zh-TW" b="1" dirty="0" smtClean="0">
                <a:solidFill>
                  <a:schemeClr val="accent2"/>
                </a:solidFill>
              </a:rPr>
              <a:t>(SW)</a:t>
            </a:r>
          </a:p>
          <a:p>
            <a:pPr lvl="1"/>
            <a:r>
              <a:rPr lang="en-US" altLang="zh-TW" sz="1800" dirty="0" err="1" smtClean="0">
                <a:solidFill>
                  <a:schemeClr val="bg1">
                    <a:lumMod val="75000"/>
                  </a:schemeClr>
                </a:solidFill>
              </a:rPr>
              <a:t>OpenSBI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b="1" dirty="0" smtClean="0">
                <a:solidFill>
                  <a:schemeClr val="accent2"/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7422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Power management interface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/>
              <a:t>ACPI</a:t>
            </a:r>
          </a:p>
          <a:p>
            <a:pPr lvl="1"/>
            <a:r>
              <a:rPr lang="en-US" altLang="zh-TW" dirty="0" smtClean="0"/>
              <a:t>Intel x86</a:t>
            </a:r>
          </a:p>
          <a:p>
            <a:r>
              <a:rPr lang="en-US" altLang="zh-TW" dirty="0" smtClean="0"/>
              <a:t>PSCI</a:t>
            </a:r>
          </a:p>
          <a:p>
            <a:pPr lvl="1"/>
            <a:r>
              <a:rPr lang="en-US" altLang="zh-TW" dirty="0" smtClean="0"/>
              <a:t>arm</a:t>
            </a:r>
          </a:p>
          <a:p>
            <a:r>
              <a:rPr lang="en-US" altLang="zh-TW" dirty="0" err="1" smtClean="0"/>
              <a:t>OpenSBI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RISC-V</a:t>
            </a:r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grpSp>
        <p:nvGrpSpPr>
          <p:cNvPr id="4" name="群組 3"/>
          <p:cNvGrpSpPr/>
          <p:nvPr/>
        </p:nvGrpSpPr>
        <p:grpSpPr>
          <a:xfrm>
            <a:off x="4583672" y="778368"/>
            <a:ext cx="3554397" cy="3928828"/>
            <a:chOff x="5652120" y="771550"/>
            <a:chExt cx="3554397" cy="3928828"/>
          </a:xfrm>
        </p:grpSpPr>
        <p:sp>
          <p:nvSpPr>
            <p:cNvPr id="5" name="矩形 4"/>
            <p:cNvSpPr/>
            <p:nvPr/>
          </p:nvSpPr>
          <p:spPr>
            <a:xfrm>
              <a:off x="7020780" y="771550"/>
              <a:ext cx="1224136" cy="57606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sysfs</a:t>
              </a:r>
              <a:endParaRPr lang="zh-TW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7020780" y="1635646"/>
              <a:ext cx="1224136" cy="60757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PM</a:t>
              </a:r>
              <a:endParaRPr lang="zh-TW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7020272" y="2498428"/>
              <a:ext cx="1224136" cy="57606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PM</a:t>
              </a:r>
            </a:p>
            <a:p>
              <a:pPr algn="ctr"/>
              <a:r>
                <a:rPr lang="en-US" altLang="zh-TW" dirty="0" smtClean="0"/>
                <a:t>interface</a:t>
              </a:r>
              <a:endParaRPr lang="zh-TW" altLang="en-US" dirty="0"/>
            </a:p>
          </p:txBody>
        </p:sp>
        <p:cxnSp>
          <p:nvCxnSpPr>
            <p:cNvPr id="8" name="直線接點 7"/>
            <p:cNvCxnSpPr/>
            <p:nvPr/>
          </p:nvCxnSpPr>
          <p:spPr>
            <a:xfrm>
              <a:off x="6588224" y="3219822"/>
              <a:ext cx="25396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7026325" y="3354851"/>
              <a:ext cx="1224136" cy="57606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SMU</a:t>
              </a:r>
              <a:endParaRPr lang="zh-TW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7502169" y="4124314"/>
              <a:ext cx="720080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mem</a:t>
              </a:r>
              <a:endParaRPr lang="zh-TW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388423" y="4124314"/>
              <a:ext cx="739417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bus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615915" y="4124314"/>
              <a:ext cx="720080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cpu</a:t>
              </a:r>
              <a:endParaRPr lang="zh-TW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5652120" y="4124314"/>
              <a:ext cx="813781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Peripheral device</a:t>
              </a:r>
              <a:endParaRPr lang="zh-TW" altLang="en-US" sz="10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8630453" y="285049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/>
                <a:t>sw</a:t>
              </a:r>
              <a:endParaRPr lang="zh-TW" altLang="en-US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8604448" y="3147814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/>
                <a:t>h</a:t>
              </a:r>
              <a:r>
                <a:rPr lang="en-US" altLang="zh-TW" dirty="0" err="1" smtClean="0"/>
                <a:t>w</a:t>
              </a:r>
              <a:endParaRPr lang="zh-TW" altLang="en-US" dirty="0"/>
            </a:p>
          </p:txBody>
        </p:sp>
        <p:cxnSp>
          <p:nvCxnSpPr>
            <p:cNvPr id="16" name="直線單箭頭接點 15"/>
            <p:cNvCxnSpPr>
              <a:stCxn id="9" idx="2"/>
            </p:cNvCxnSpPr>
            <p:nvPr/>
          </p:nvCxnSpPr>
          <p:spPr>
            <a:xfrm flipH="1">
              <a:off x="6059010" y="3930915"/>
              <a:ext cx="1579383" cy="1831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9" idx="2"/>
              <a:endCxn id="12" idx="0"/>
            </p:cNvCxnSpPr>
            <p:nvPr/>
          </p:nvCxnSpPr>
          <p:spPr>
            <a:xfrm flipH="1">
              <a:off x="6975955" y="3930915"/>
              <a:ext cx="662438" cy="193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2"/>
              <a:endCxn id="10" idx="0"/>
            </p:cNvCxnSpPr>
            <p:nvPr/>
          </p:nvCxnSpPr>
          <p:spPr>
            <a:xfrm>
              <a:off x="7638393" y="3930915"/>
              <a:ext cx="223816" cy="193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11" idx="0"/>
            </p:cNvCxnSpPr>
            <p:nvPr/>
          </p:nvCxnSpPr>
          <p:spPr>
            <a:xfrm>
              <a:off x="7638393" y="3930915"/>
              <a:ext cx="1119739" cy="193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stCxn id="5" idx="2"/>
              <a:endCxn id="6" idx="0"/>
            </p:cNvCxnSpPr>
            <p:nvPr/>
          </p:nvCxnSpPr>
          <p:spPr>
            <a:xfrm>
              <a:off x="7632848" y="1347614"/>
              <a:ext cx="0" cy="2880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stCxn id="6" idx="2"/>
              <a:endCxn id="7" idx="0"/>
            </p:cNvCxnSpPr>
            <p:nvPr/>
          </p:nvCxnSpPr>
          <p:spPr>
            <a:xfrm flipH="1">
              <a:off x="7632340" y="2243220"/>
              <a:ext cx="508" cy="255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stCxn id="7" idx="2"/>
              <a:endCxn id="9" idx="0"/>
            </p:cNvCxnSpPr>
            <p:nvPr/>
          </p:nvCxnSpPr>
          <p:spPr>
            <a:xfrm>
              <a:off x="7632340" y="3074492"/>
              <a:ext cx="6053" cy="280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6975955" y="2418792"/>
              <a:ext cx="1340462" cy="72902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560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Power management </a:t>
            </a:r>
            <a:r>
              <a:rPr lang="en-US" altLang="zh-TW" dirty="0"/>
              <a:t>interface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/>
              <a:t>ACPI (</a:t>
            </a:r>
            <a:r>
              <a:rPr lang="en-US" altLang="zh-TW" dirty="0"/>
              <a:t>Advanced Configuration and Power Interface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924" y="1278124"/>
            <a:ext cx="5238750" cy="331236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91630"/>
            <a:ext cx="4320480" cy="29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290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Power management </a:t>
            </a:r>
            <a:r>
              <a:rPr lang="en-US" altLang="zh-TW" dirty="0"/>
              <a:t>interface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/>
              <a:t>ACPI (</a:t>
            </a:r>
            <a:r>
              <a:rPr lang="en-US" altLang="zh-TW" dirty="0"/>
              <a:t>Advanced Configuration and Power Interface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924" y="1278124"/>
            <a:ext cx="5238750" cy="331236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91630"/>
            <a:ext cx="4320480" cy="29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984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Power management interface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/>
              <a:t>PSCI (</a:t>
            </a:r>
            <a:r>
              <a:rPr lang="en-US" altLang="zh-TW" dirty="0"/>
              <a:t>The Power State Coordination Interface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20482" name="Picture 2" descr="Power state system topologies and coordin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75606"/>
            <a:ext cx="5324922" cy="358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Local power states and composite power stat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446" y="1275606"/>
            <a:ext cx="3628380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52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(HW)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Power management </a:t>
            </a:r>
            <a:r>
              <a:rPr lang="en-US" altLang="zh-TW" b="1" dirty="0" smtClean="0">
                <a:solidFill>
                  <a:schemeClr val="accent2"/>
                </a:solidFill>
              </a:rPr>
              <a:t>(SW)</a:t>
            </a:r>
          </a:p>
          <a:p>
            <a:pPr lvl="1"/>
            <a:r>
              <a:rPr lang="en-US" altLang="zh-TW" sz="1800" dirty="0" err="1" smtClean="0">
                <a:solidFill>
                  <a:schemeClr val="bg1">
                    <a:lumMod val="75000"/>
                  </a:schemeClr>
                </a:solidFill>
              </a:rPr>
              <a:t>OpenSBI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b="1" dirty="0" smtClean="0">
                <a:solidFill>
                  <a:schemeClr val="accent2"/>
                </a:solidFill>
              </a:rPr>
              <a:t>Linux Power management framework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4964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200" dirty="0" smtClean="0"/>
              <a:t>Linux Power management framework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/>
              <a:t>Linux power management framework</a:t>
            </a:r>
          </a:p>
          <a:p>
            <a:pPr lvl="1"/>
            <a:r>
              <a:rPr lang="en-US" altLang="zh-TW" dirty="0" smtClean="0"/>
              <a:t>Core status management</a:t>
            </a:r>
          </a:p>
          <a:p>
            <a:pPr lvl="2"/>
            <a:r>
              <a:rPr lang="en-US" altLang="zh-TW" dirty="0" smtClean="0"/>
              <a:t>Idle, </a:t>
            </a:r>
            <a:r>
              <a:rPr lang="en-US" altLang="zh-TW" dirty="0" err="1" smtClean="0"/>
              <a:t>cpu_up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cpu_die</a:t>
            </a:r>
            <a:r>
              <a:rPr lang="en-US" altLang="zh-TW" dirty="0" smtClean="0"/>
              <a:t> …</a:t>
            </a:r>
          </a:p>
          <a:p>
            <a:pPr lvl="1"/>
            <a:r>
              <a:rPr lang="en-US" altLang="zh-TW" dirty="0" smtClean="0"/>
              <a:t>CPU hotplug management</a:t>
            </a:r>
          </a:p>
          <a:p>
            <a:pPr lvl="1"/>
            <a:r>
              <a:rPr lang="en-US" altLang="zh-TW" dirty="0" smtClean="0"/>
              <a:t>System suspend/resume management</a:t>
            </a:r>
          </a:p>
          <a:p>
            <a:pPr lvl="2"/>
            <a:r>
              <a:rPr lang="en-US" altLang="zh-TW" dirty="0" smtClean="0"/>
              <a:t>Peripheral device suspend/resume</a:t>
            </a:r>
          </a:p>
          <a:p>
            <a:pPr lvl="2"/>
            <a:r>
              <a:rPr lang="en-US" altLang="zh-TW" dirty="0" smtClean="0"/>
              <a:t>Console suspend/resume</a:t>
            </a:r>
          </a:p>
          <a:p>
            <a:pPr lvl="2"/>
            <a:r>
              <a:rPr lang="en-US" altLang="zh-TW" dirty="0" smtClean="0"/>
              <a:t>Process suspend/resume</a:t>
            </a:r>
          </a:p>
          <a:p>
            <a:pPr lvl="1"/>
            <a:r>
              <a:rPr lang="en-US" altLang="zh-TW" dirty="0" smtClean="0"/>
              <a:t>CPU frequency management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grpSp>
        <p:nvGrpSpPr>
          <p:cNvPr id="4" name="群組 3"/>
          <p:cNvGrpSpPr/>
          <p:nvPr/>
        </p:nvGrpSpPr>
        <p:grpSpPr>
          <a:xfrm>
            <a:off x="5338083" y="778368"/>
            <a:ext cx="3554397" cy="3928828"/>
            <a:chOff x="5652120" y="771550"/>
            <a:chExt cx="3554397" cy="3928828"/>
          </a:xfrm>
        </p:grpSpPr>
        <p:sp>
          <p:nvSpPr>
            <p:cNvPr id="5" name="矩形 4"/>
            <p:cNvSpPr/>
            <p:nvPr/>
          </p:nvSpPr>
          <p:spPr>
            <a:xfrm>
              <a:off x="7020780" y="771550"/>
              <a:ext cx="1224136" cy="57606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sysfs</a:t>
              </a:r>
              <a:endParaRPr lang="zh-TW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7020780" y="1635646"/>
              <a:ext cx="1224136" cy="60757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PM</a:t>
              </a:r>
              <a:endParaRPr lang="zh-TW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7020272" y="2498428"/>
              <a:ext cx="1224136" cy="57606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PM</a:t>
              </a:r>
            </a:p>
            <a:p>
              <a:pPr algn="ctr"/>
              <a:r>
                <a:rPr lang="en-US" altLang="zh-TW" dirty="0" smtClean="0"/>
                <a:t>interface</a:t>
              </a:r>
              <a:endParaRPr lang="zh-TW" altLang="en-US" dirty="0"/>
            </a:p>
          </p:txBody>
        </p:sp>
        <p:cxnSp>
          <p:nvCxnSpPr>
            <p:cNvPr id="8" name="直線接點 7"/>
            <p:cNvCxnSpPr/>
            <p:nvPr/>
          </p:nvCxnSpPr>
          <p:spPr>
            <a:xfrm>
              <a:off x="6588224" y="3219822"/>
              <a:ext cx="25396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7026325" y="3354851"/>
              <a:ext cx="1224136" cy="57606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SMU</a:t>
              </a:r>
              <a:endParaRPr lang="zh-TW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7502169" y="4124314"/>
              <a:ext cx="720080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mem</a:t>
              </a:r>
              <a:endParaRPr lang="zh-TW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388423" y="4124314"/>
              <a:ext cx="739417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bus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615915" y="4124314"/>
              <a:ext cx="720080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cpu</a:t>
              </a:r>
              <a:endParaRPr lang="zh-TW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5652120" y="4124314"/>
              <a:ext cx="813781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Peripheral device</a:t>
              </a:r>
              <a:endParaRPr lang="zh-TW" altLang="en-US" sz="10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8630453" y="285049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/>
                <a:t>sw</a:t>
              </a:r>
              <a:endParaRPr lang="zh-TW" altLang="en-US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8604448" y="3147814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/>
                <a:t>h</a:t>
              </a:r>
              <a:r>
                <a:rPr lang="en-US" altLang="zh-TW" dirty="0" err="1" smtClean="0"/>
                <a:t>w</a:t>
              </a:r>
              <a:endParaRPr lang="zh-TW" altLang="en-US" dirty="0"/>
            </a:p>
          </p:txBody>
        </p:sp>
        <p:cxnSp>
          <p:nvCxnSpPr>
            <p:cNvPr id="16" name="直線單箭頭接點 15"/>
            <p:cNvCxnSpPr>
              <a:stCxn id="9" idx="2"/>
            </p:cNvCxnSpPr>
            <p:nvPr/>
          </p:nvCxnSpPr>
          <p:spPr>
            <a:xfrm flipH="1">
              <a:off x="6059010" y="3930915"/>
              <a:ext cx="1579383" cy="1831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9" idx="2"/>
              <a:endCxn id="12" idx="0"/>
            </p:cNvCxnSpPr>
            <p:nvPr/>
          </p:nvCxnSpPr>
          <p:spPr>
            <a:xfrm flipH="1">
              <a:off x="6975955" y="3930915"/>
              <a:ext cx="662438" cy="193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2"/>
              <a:endCxn id="10" idx="0"/>
            </p:cNvCxnSpPr>
            <p:nvPr/>
          </p:nvCxnSpPr>
          <p:spPr>
            <a:xfrm>
              <a:off x="7638393" y="3930915"/>
              <a:ext cx="223816" cy="193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11" idx="0"/>
            </p:cNvCxnSpPr>
            <p:nvPr/>
          </p:nvCxnSpPr>
          <p:spPr>
            <a:xfrm>
              <a:off x="7638393" y="3930915"/>
              <a:ext cx="1119739" cy="193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stCxn id="5" idx="2"/>
              <a:endCxn id="6" idx="0"/>
            </p:cNvCxnSpPr>
            <p:nvPr/>
          </p:nvCxnSpPr>
          <p:spPr>
            <a:xfrm>
              <a:off x="7632848" y="1347614"/>
              <a:ext cx="0" cy="2880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stCxn id="6" idx="2"/>
              <a:endCxn id="7" idx="0"/>
            </p:cNvCxnSpPr>
            <p:nvPr/>
          </p:nvCxnSpPr>
          <p:spPr>
            <a:xfrm flipH="1">
              <a:off x="7632340" y="2243220"/>
              <a:ext cx="508" cy="255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stCxn id="7" idx="2"/>
              <a:endCxn id="9" idx="0"/>
            </p:cNvCxnSpPr>
            <p:nvPr/>
          </p:nvCxnSpPr>
          <p:spPr>
            <a:xfrm>
              <a:off x="7632340" y="3074492"/>
              <a:ext cx="6053" cy="280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6975955" y="1556820"/>
              <a:ext cx="1340462" cy="72902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46412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200" dirty="0" smtClean="0"/>
              <a:t>Linux Power management framework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/>
              <a:t>Linux power management framework</a:t>
            </a:r>
          </a:p>
          <a:p>
            <a:pPr lvl="1"/>
            <a:endParaRPr lang="en-US" altLang="zh-TW" dirty="0"/>
          </a:p>
        </p:txBody>
      </p:sp>
      <p:pic>
        <p:nvPicPr>
          <p:cNvPr id="22530" name="Picture 2" descr="linux cpu core p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45463"/>
            <a:ext cx="6912768" cy="37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1219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200" dirty="0"/>
              <a:t>Linux Power management framework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6" name="Picture 4" descr="suspend_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888" y="699542"/>
            <a:ext cx="6799859" cy="428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接點 7"/>
          <p:cNvCxnSpPr/>
          <p:nvPr/>
        </p:nvCxnSpPr>
        <p:spPr>
          <a:xfrm>
            <a:off x="1403648" y="3507854"/>
            <a:ext cx="770485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7909399" y="2735448"/>
            <a:ext cx="116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Generic </a:t>
            </a:r>
          </a:p>
          <a:p>
            <a:r>
              <a:rPr lang="en-US" altLang="zh-TW" dirty="0" smtClean="0"/>
              <a:t>pm driver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909399" y="3579863"/>
            <a:ext cx="116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</a:t>
            </a:r>
          </a:p>
          <a:p>
            <a:r>
              <a:rPr lang="en-US" altLang="zh-TW" dirty="0" smtClean="0"/>
              <a:t>pm driver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45313" y="2705650"/>
            <a:ext cx="2239611" cy="6565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Disable other CPUs:</a:t>
            </a:r>
          </a:p>
          <a:p>
            <a:pPr algn="ctr"/>
            <a:r>
              <a:rPr lang="en-US" altLang="zh-TW" sz="1200" dirty="0" smtClean="0"/>
              <a:t>Other cores jump to M-mode</a:t>
            </a:r>
            <a:endParaRPr lang="zh-TW" altLang="en-US" sz="1200" dirty="0"/>
          </a:p>
        </p:txBody>
      </p:sp>
      <p:sp>
        <p:nvSpPr>
          <p:cNvPr id="12" name="向右箭號 11"/>
          <p:cNvSpPr/>
          <p:nvPr/>
        </p:nvSpPr>
        <p:spPr>
          <a:xfrm>
            <a:off x="2461705" y="2846089"/>
            <a:ext cx="553058" cy="288032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5496" y="4098969"/>
            <a:ext cx="2304256" cy="79208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Main core:</a:t>
            </a:r>
          </a:p>
          <a:p>
            <a:pPr algn="ctr"/>
            <a:r>
              <a:rPr lang="en-US" altLang="zh-TW" sz="1400" dirty="0" smtClean="0"/>
              <a:t>Move these functions to  </a:t>
            </a:r>
            <a:r>
              <a:rPr lang="en-US" altLang="zh-TW" sz="1400" dirty="0" err="1" smtClean="0"/>
              <a:t>OpenSBI</a:t>
            </a:r>
            <a:r>
              <a:rPr lang="en-US" altLang="zh-TW" sz="1400" dirty="0" smtClean="0"/>
              <a:t> SMU driver</a:t>
            </a:r>
            <a:endParaRPr lang="zh-TW" altLang="en-US" sz="1400" dirty="0"/>
          </a:p>
        </p:txBody>
      </p:sp>
      <p:sp>
        <p:nvSpPr>
          <p:cNvPr id="16" name="向右箭號 15"/>
          <p:cNvSpPr/>
          <p:nvPr/>
        </p:nvSpPr>
        <p:spPr>
          <a:xfrm>
            <a:off x="2372815" y="4442496"/>
            <a:ext cx="684177" cy="28803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3084578" y="3928273"/>
            <a:ext cx="4943805" cy="962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7181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200" dirty="0"/>
              <a:t>Linux Power management framework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6" name="Picture 4" descr="suspend_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650342"/>
            <a:ext cx="3484651" cy="428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接點 7"/>
          <p:cNvCxnSpPr/>
          <p:nvPr/>
        </p:nvCxnSpPr>
        <p:spPr>
          <a:xfrm>
            <a:off x="5148064" y="3507854"/>
            <a:ext cx="39604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7909399" y="2735448"/>
            <a:ext cx="116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Generic </a:t>
            </a:r>
          </a:p>
          <a:p>
            <a:r>
              <a:rPr lang="en-US" altLang="zh-TW" dirty="0" smtClean="0"/>
              <a:t>pm driver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909399" y="3579863"/>
            <a:ext cx="116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</a:t>
            </a:r>
          </a:p>
          <a:p>
            <a:r>
              <a:rPr lang="en-US" altLang="zh-TW" dirty="0" smtClean="0"/>
              <a:t>pm driver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5142959" y="1573672"/>
            <a:ext cx="3050800" cy="350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366076" y="650342"/>
            <a:ext cx="42059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freezing of </a:t>
            </a:r>
            <a:r>
              <a:rPr lang="en-US" altLang="zh-TW" dirty="0" smtClean="0"/>
              <a:t>tasks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Freeze </a:t>
            </a:r>
            <a:r>
              <a:rPr lang="en-US" altLang="zh-TW" sz="1400" dirty="0" err="1" smtClean="0"/>
              <a:t>work_queue</a:t>
            </a:r>
            <a:endParaRPr lang="en-US" altLang="zh-TW" sz="14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set </a:t>
            </a:r>
            <a:r>
              <a:rPr lang="en-US" altLang="zh-TW" sz="1400" dirty="0" err="1" smtClean="0"/>
              <a:t>max_active</a:t>
            </a:r>
            <a:r>
              <a:rPr lang="en-US" altLang="zh-TW" sz="1400" dirty="0" smtClean="0"/>
              <a:t>=0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/>
              <a:t>Freeze user process &amp; </a:t>
            </a:r>
            <a:r>
              <a:rPr lang="en-US" altLang="zh-TW" sz="1400" dirty="0" err="1" smtClean="0"/>
              <a:t>kthread</a:t>
            </a:r>
            <a:r>
              <a:rPr lang="en-US" altLang="zh-TW" sz="1400" dirty="0" smtClean="0"/>
              <a:t> </a:t>
            </a:r>
          </a:p>
          <a:p>
            <a:pPr lvl="1"/>
            <a:endParaRPr lang="en-US" altLang="zh-TW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pic>
        <p:nvPicPr>
          <p:cNvPr id="24578" name="Picture 2" descr="http://www.wowotech.net/content/uploadfile/201511/295514483485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59" y="1772947"/>
            <a:ext cx="3856755" cy="316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5358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200" dirty="0"/>
              <a:t>Linux Power management framework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6" name="Picture 4" descr="suspend_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650342"/>
            <a:ext cx="3484651" cy="428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接點 7"/>
          <p:cNvCxnSpPr/>
          <p:nvPr/>
        </p:nvCxnSpPr>
        <p:spPr>
          <a:xfrm>
            <a:off x="5148064" y="3507854"/>
            <a:ext cx="39604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7909399" y="2735448"/>
            <a:ext cx="116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Generic </a:t>
            </a:r>
          </a:p>
          <a:p>
            <a:r>
              <a:rPr lang="en-US" altLang="zh-TW" dirty="0" smtClean="0"/>
              <a:t>pm driver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909399" y="3579863"/>
            <a:ext cx="116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</a:t>
            </a:r>
          </a:p>
          <a:p>
            <a:r>
              <a:rPr lang="en-US" altLang="zh-TW" dirty="0" smtClean="0"/>
              <a:t>pm driver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5004048" y="2013662"/>
            <a:ext cx="305080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366076" y="650342"/>
            <a:ext cx="44939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Suspend console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Redirect console to </a:t>
            </a:r>
            <a:r>
              <a:rPr lang="en-US" altLang="zh-TW" dirty="0" err="1" smtClean="0">
                <a:solidFill>
                  <a:srgbClr val="FF0000"/>
                </a:solidFill>
              </a:rPr>
              <a:t>kmsg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Lock console in kernel/</a:t>
            </a:r>
            <a:r>
              <a:rPr lang="en-US" altLang="zh-TW" dirty="0" err="1" smtClean="0"/>
              <a:t>printk.c</a:t>
            </a:r>
            <a:endParaRPr lang="en-US" altLang="zh-TW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Resume console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Unlock console in </a:t>
            </a:r>
            <a:r>
              <a:rPr lang="en-US" altLang="zh-TW" dirty="0"/>
              <a:t>kernel/</a:t>
            </a:r>
            <a:r>
              <a:rPr lang="en-US" altLang="zh-TW" dirty="0" err="1"/>
              <a:t>printk.c</a:t>
            </a:r>
            <a:endParaRPr lang="en-US" altLang="zh-TW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Redirect console to </a:t>
            </a:r>
            <a:r>
              <a:rPr lang="en-US" altLang="zh-TW" dirty="0" smtClean="0">
                <a:solidFill>
                  <a:srgbClr val="FF0000"/>
                </a:solidFill>
              </a:rPr>
              <a:t>original console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endParaRPr lang="en-US" altLang="zh-TW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1230173" y="1275606"/>
            <a:ext cx="2592288" cy="1087616"/>
            <a:chOff x="1230173" y="1558880"/>
            <a:chExt cx="2592288" cy="1087616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0173" y="1558880"/>
              <a:ext cx="2592288" cy="1087616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>
            <a:xfrm>
              <a:off x="1835696" y="2301694"/>
              <a:ext cx="1575792" cy="1847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228409" y="2581374"/>
            <a:ext cx="2623511" cy="800406"/>
            <a:chOff x="1198949" y="2941413"/>
            <a:chExt cx="2623511" cy="926481"/>
          </a:xfrm>
        </p:grpSpPr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8949" y="2941413"/>
              <a:ext cx="2623511" cy="926481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1486250" y="3101768"/>
              <a:ext cx="2149646" cy="1847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80034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200" dirty="0"/>
              <a:t>Linux Power management framework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6" name="Picture 4" descr="suspend_f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650342"/>
            <a:ext cx="3484651" cy="428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接點 7"/>
          <p:cNvCxnSpPr/>
          <p:nvPr/>
        </p:nvCxnSpPr>
        <p:spPr>
          <a:xfrm>
            <a:off x="5148064" y="3507854"/>
            <a:ext cx="39604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7909399" y="2735448"/>
            <a:ext cx="116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Generic </a:t>
            </a:r>
          </a:p>
          <a:p>
            <a:r>
              <a:rPr lang="en-US" altLang="zh-TW" dirty="0" smtClean="0"/>
              <a:t>pm driver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909399" y="3579863"/>
            <a:ext cx="116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</a:t>
            </a:r>
          </a:p>
          <a:p>
            <a:r>
              <a:rPr lang="en-US" altLang="zh-TW" dirty="0" smtClean="0"/>
              <a:t>pm driver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98722" y="650342"/>
            <a:ext cx="47613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Suspend/resume peripheral devices driver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If not</a:t>
            </a:r>
            <a:r>
              <a:rPr lang="zh-TW" altLang="en-US" dirty="0" smtClean="0"/>
              <a:t> </a:t>
            </a:r>
            <a:r>
              <a:rPr lang="en-US" altLang="zh-TW" dirty="0" smtClean="0"/>
              <a:t>suspend peripherals may cause unexpected bus hang.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Peripheral data loss ??</a:t>
            </a:r>
            <a:endParaRPr lang="en-US" altLang="zh-TW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lvl="1"/>
            <a:endParaRPr lang="en-US" altLang="zh-TW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97" y="1748440"/>
            <a:ext cx="4238640" cy="32666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5004048" y="2355726"/>
            <a:ext cx="305080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827584" y="1995686"/>
            <a:ext cx="100811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683568" y="2445648"/>
            <a:ext cx="3744416" cy="558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乘號 22"/>
          <p:cNvSpPr/>
          <p:nvPr/>
        </p:nvSpPr>
        <p:spPr>
          <a:xfrm>
            <a:off x="3863364" y="2471571"/>
            <a:ext cx="611560" cy="610769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3677" y="3052945"/>
            <a:ext cx="2277866" cy="1341272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Bus hanged occurs when MAC or LCD keep sending signal to bus after deep sleep.</a:t>
            </a:r>
          </a:p>
          <a:p>
            <a:pPr algn="ctr"/>
            <a:r>
              <a:rPr lang="en-US" altLang="zh-TW" sz="1200" dirty="0" smtClean="0"/>
              <a:t>Bus wants to connect with L2, but L2 is powered down.</a:t>
            </a:r>
            <a:endParaRPr lang="zh-TW" altLang="en-US" sz="1200" dirty="0"/>
          </a:p>
        </p:txBody>
      </p:sp>
      <p:sp>
        <p:nvSpPr>
          <p:cNvPr id="12" name="向下箭號 11"/>
          <p:cNvSpPr/>
          <p:nvPr/>
        </p:nvSpPr>
        <p:spPr>
          <a:xfrm>
            <a:off x="1223628" y="2238639"/>
            <a:ext cx="216024" cy="247246"/>
          </a:xfrm>
          <a:prstGeom prst="downArrow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460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overview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Power management (HW)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power domain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Ax45 SMU 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registers</a:t>
            </a:r>
          </a:p>
          <a:p>
            <a:r>
              <a:rPr lang="en-US" altLang="zh-TW" b="1" dirty="0">
                <a:solidFill>
                  <a:schemeClr val="accent2"/>
                </a:solidFill>
              </a:rPr>
              <a:t>Power management </a:t>
            </a:r>
            <a:r>
              <a:rPr lang="en-US" altLang="zh-TW" b="1" dirty="0" smtClean="0">
                <a:solidFill>
                  <a:schemeClr val="accent2"/>
                </a:solidFill>
              </a:rPr>
              <a:t>(SW)</a:t>
            </a:r>
          </a:p>
          <a:p>
            <a:pPr lvl="1"/>
            <a:r>
              <a:rPr lang="en-US" altLang="zh-TW" sz="1800" dirty="0" err="1" smtClean="0">
                <a:solidFill>
                  <a:schemeClr val="bg1">
                    <a:lumMod val="75000"/>
                  </a:schemeClr>
                </a:solidFill>
              </a:rPr>
              <a:t>OpenSBI</a:t>
            </a:r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 SMU Driver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Light sleep implementation</a:t>
            </a: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Deep sleep implementation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CPU hotplug implementation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Power management interface</a:t>
            </a:r>
          </a:p>
          <a:p>
            <a:pPr lvl="1"/>
            <a:r>
              <a:rPr lang="en-US" altLang="zh-TW" sz="1800" dirty="0" smtClean="0">
                <a:solidFill>
                  <a:schemeClr val="bg1">
                    <a:lumMod val="75000"/>
                  </a:schemeClr>
                </a:solidFill>
              </a:rPr>
              <a:t>Linux Power management framework</a:t>
            </a:r>
          </a:p>
          <a:p>
            <a:pPr lvl="1"/>
            <a:r>
              <a:rPr lang="en-US" altLang="zh-TW" sz="1800" b="1" dirty="0" smtClean="0">
                <a:solidFill>
                  <a:schemeClr val="accent2"/>
                </a:solidFill>
              </a:rPr>
              <a:t>User space power management command</a:t>
            </a:r>
          </a:p>
          <a:p>
            <a:pPr lvl="1"/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4828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User space command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9DE88-DC51-405B-AC57-73F7AA49F9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2602" y="627534"/>
            <a:ext cx="4854682" cy="4230497"/>
          </a:xfrm>
        </p:spPr>
        <p:txBody>
          <a:bodyPr/>
          <a:lstStyle/>
          <a:p>
            <a:r>
              <a:rPr lang="en-US" altLang="zh-TW" dirty="0" smtClean="0"/>
              <a:t>CPU Hotplug with deep sleep</a:t>
            </a:r>
          </a:p>
          <a:p>
            <a:pPr lvl="1"/>
            <a:r>
              <a:rPr lang="en-US" altLang="zh-TW" sz="1200" dirty="0" smtClean="0"/>
              <a:t>offline</a:t>
            </a:r>
          </a:p>
          <a:p>
            <a:pPr lvl="2"/>
            <a:r>
              <a:rPr lang="en-US" altLang="zh-TW" sz="1000" dirty="0" smtClean="0"/>
              <a:t>echo </a:t>
            </a:r>
            <a:r>
              <a:rPr lang="en-US" altLang="zh-TW" sz="1000" dirty="0"/>
              <a:t>0 &gt; /sys/devices/system/</a:t>
            </a:r>
            <a:r>
              <a:rPr lang="en-US" altLang="zh-TW" sz="1000" dirty="0" err="1"/>
              <a:t>cpu</a:t>
            </a:r>
            <a:r>
              <a:rPr lang="en-US" altLang="zh-TW" sz="1000" dirty="0"/>
              <a:t>/</a:t>
            </a:r>
            <a:r>
              <a:rPr lang="en-US" altLang="zh-TW" sz="1000" dirty="0" err="1"/>
              <a:t>cpu</a:t>
            </a:r>
            <a:r>
              <a:rPr lang="en-US" altLang="zh-TW" sz="1000" dirty="0"/>
              <a:t>[X]/</a:t>
            </a:r>
            <a:r>
              <a:rPr lang="en-US" altLang="zh-TW" sz="1000" dirty="0" smtClean="0"/>
              <a:t>online</a:t>
            </a:r>
          </a:p>
          <a:p>
            <a:pPr lvl="1"/>
            <a:r>
              <a:rPr lang="en-US" altLang="zh-TW" sz="1200" dirty="0" smtClean="0"/>
              <a:t>online</a:t>
            </a:r>
          </a:p>
          <a:p>
            <a:pPr lvl="2"/>
            <a:r>
              <a:rPr lang="en-US" altLang="zh-TW" sz="1000" dirty="0" smtClean="0"/>
              <a:t>echo 1 </a:t>
            </a:r>
            <a:r>
              <a:rPr lang="en-US" altLang="zh-TW" sz="1000" dirty="0"/>
              <a:t>&gt; /sys/devices/system/</a:t>
            </a:r>
            <a:r>
              <a:rPr lang="en-US" altLang="zh-TW" sz="1000" dirty="0" err="1"/>
              <a:t>cpu</a:t>
            </a:r>
            <a:r>
              <a:rPr lang="en-US" altLang="zh-TW" sz="1000" dirty="0"/>
              <a:t>/</a:t>
            </a:r>
            <a:r>
              <a:rPr lang="en-US" altLang="zh-TW" sz="1000" dirty="0" err="1"/>
              <a:t>cpu</a:t>
            </a:r>
            <a:r>
              <a:rPr lang="en-US" altLang="zh-TW" sz="1000" dirty="0"/>
              <a:t>[X]/online</a:t>
            </a:r>
            <a:endParaRPr lang="en-US" altLang="zh-TW" sz="1000" dirty="0" smtClean="0"/>
          </a:p>
          <a:p>
            <a:r>
              <a:rPr lang="en-US" altLang="zh-TW" dirty="0" smtClean="0"/>
              <a:t>Deep/Light sleep</a:t>
            </a:r>
          </a:p>
          <a:p>
            <a:pPr lvl="1"/>
            <a:r>
              <a:rPr lang="en-US" altLang="zh-TW" sz="1200" dirty="0" smtClean="0"/>
              <a:t>Setup wakeup source</a:t>
            </a:r>
          </a:p>
          <a:p>
            <a:pPr lvl="2"/>
            <a:r>
              <a:rPr lang="en-US" altLang="zh-TW" sz="1200" dirty="0"/>
              <a:t>echo enabled &gt; /</a:t>
            </a:r>
            <a:r>
              <a:rPr lang="en-US" altLang="zh-TW" sz="1200" dirty="0" smtClean="0"/>
              <a:t>sys/devices/platform/</a:t>
            </a:r>
            <a:r>
              <a:rPr lang="en-US" altLang="zh-TW" sz="1200" dirty="0" err="1" smtClean="0"/>
              <a:t>soc</a:t>
            </a:r>
            <a:r>
              <a:rPr lang="en-US" altLang="zh-TW" sz="1200" dirty="0" smtClean="0"/>
              <a:t>/f0300000.serial/</a:t>
            </a:r>
            <a:r>
              <a:rPr lang="en-US" altLang="zh-TW" sz="1200" dirty="0" err="1" smtClean="0"/>
              <a:t>tty</a:t>
            </a:r>
            <a:r>
              <a:rPr lang="en-US" altLang="zh-TW" sz="1200" dirty="0" smtClean="0"/>
              <a:t>/ttyS0/power/wakeup</a:t>
            </a:r>
          </a:p>
          <a:p>
            <a:pPr lvl="1"/>
            <a:r>
              <a:rPr lang="en-US" altLang="zh-TW" sz="1200" dirty="0" smtClean="0"/>
              <a:t>Sleep</a:t>
            </a:r>
          </a:p>
          <a:p>
            <a:pPr lvl="2"/>
            <a:r>
              <a:rPr lang="en-US" altLang="zh-TW" sz="1000" dirty="0" smtClean="0"/>
              <a:t>Deep sleep:</a:t>
            </a:r>
          </a:p>
          <a:p>
            <a:pPr lvl="3"/>
            <a:r>
              <a:rPr lang="en-US" altLang="zh-TW" sz="800" dirty="0"/>
              <a:t>echo mem &gt; /</a:t>
            </a:r>
            <a:r>
              <a:rPr lang="en-US" altLang="zh-TW" sz="800" dirty="0" smtClean="0"/>
              <a:t>sys/power/state</a:t>
            </a:r>
          </a:p>
          <a:p>
            <a:pPr lvl="2"/>
            <a:r>
              <a:rPr lang="en-US" altLang="zh-TW" sz="1000" dirty="0" smtClean="0"/>
              <a:t>Light sleep:</a:t>
            </a:r>
          </a:p>
          <a:p>
            <a:pPr lvl="3"/>
            <a:r>
              <a:rPr lang="en-US" altLang="zh-TW" sz="800" dirty="0"/>
              <a:t>echo standby &gt; /sys/power/state</a:t>
            </a:r>
            <a:endParaRPr lang="en-US" altLang="zh-TW" sz="800" dirty="0" smtClean="0"/>
          </a:p>
          <a:p>
            <a:pPr lvl="1"/>
            <a:r>
              <a:rPr lang="en-US" altLang="zh-TW" sz="1200" dirty="0" smtClean="0"/>
              <a:t>Wakeup</a:t>
            </a:r>
          </a:p>
          <a:p>
            <a:pPr lvl="2"/>
            <a:r>
              <a:rPr lang="en-US" altLang="zh-TW" sz="1000" dirty="0" smtClean="0"/>
              <a:t>Press any key on keyboard</a:t>
            </a:r>
          </a:p>
          <a:p>
            <a:pPr marL="457188" lvl="1" indent="0">
              <a:buNone/>
            </a:pPr>
            <a:endParaRPr lang="en-US" altLang="zh-TW" dirty="0"/>
          </a:p>
        </p:txBody>
      </p:sp>
      <p:grpSp>
        <p:nvGrpSpPr>
          <p:cNvPr id="4" name="群組 3"/>
          <p:cNvGrpSpPr/>
          <p:nvPr/>
        </p:nvGrpSpPr>
        <p:grpSpPr>
          <a:xfrm>
            <a:off x="5148064" y="743496"/>
            <a:ext cx="3554397" cy="3998571"/>
            <a:chOff x="5652120" y="701807"/>
            <a:chExt cx="3554397" cy="3998571"/>
          </a:xfrm>
        </p:grpSpPr>
        <p:sp>
          <p:nvSpPr>
            <p:cNvPr id="5" name="矩形 4"/>
            <p:cNvSpPr/>
            <p:nvPr/>
          </p:nvSpPr>
          <p:spPr>
            <a:xfrm>
              <a:off x="7020780" y="771550"/>
              <a:ext cx="1224136" cy="57606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sysfs</a:t>
              </a:r>
              <a:endParaRPr lang="zh-TW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7020780" y="1635646"/>
              <a:ext cx="1224136" cy="60757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PM</a:t>
              </a:r>
              <a:endParaRPr lang="zh-TW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7020272" y="2498428"/>
              <a:ext cx="1224136" cy="57606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PM</a:t>
              </a:r>
            </a:p>
            <a:p>
              <a:pPr algn="ctr"/>
              <a:r>
                <a:rPr lang="en-US" altLang="zh-TW" dirty="0" smtClean="0"/>
                <a:t>interface</a:t>
              </a:r>
              <a:endParaRPr lang="zh-TW" altLang="en-US" dirty="0"/>
            </a:p>
          </p:txBody>
        </p:sp>
        <p:cxnSp>
          <p:nvCxnSpPr>
            <p:cNvPr id="8" name="直線接點 7"/>
            <p:cNvCxnSpPr/>
            <p:nvPr/>
          </p:nvCxnSpPr>
          <p:spPr>
            <a:xfrm>
              <a:off x="6588224" y="3219822"/>
              <a:ext cx="25396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7026325" y="3354851"/>
              <a:ext cx="1224136" cy="57606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SMU</a:t>
              </a:r>
              <a:endParaRPr lang="zh-TW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7502169" y="4124314"/>
              <a:ext cx="720080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mem</a:t>
              </a:r>
              <a:endParaRPr lang="zh-TW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388423" y="4124314"/>
              <a:ext cx="739417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bus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615915" y="4124314"/>
              <a:ext cx="720080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cpu</a:t>
              </a:r>
              <a:endParaRPr lang="zh-TW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5652120" y="4124314"/>
              <a:ext cx="813781" cy="57606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/>
                <a:t>Peripheral device</a:t>
              </a:r>
              <a:endParaRPr lang="zh-TW" altLang="en-US" sz="10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8630453" y="285049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/>
                <a:t>sw</a:t>
              </a:r>
              <a:endParaRPr lang="zh-TW" altLang="en-US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8604448" y="3147814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/>
                <a:t>h</a:t>
              </a:r>
              <a:r>
                <a:rPr lang="en-US" altLang="zh-TW" dirty="0" err="1" smtClean="0"/>
                <a:t>w</a:t>
              </a:r>
              <a:endParaRPr lang="zh-TW" altLang="en-US" dirty="0"/>
            </a:p>
          </p:txBody>
        </p:sp>
        <p:cxnSp>
          <p:nvCxnSpPr>
            <p:cNvPr id="16" name="直線單箭頭接點 15"/>
            <p:cNvCxnSpPr>
              <a:stCxn id="9" idx="2"/>
            </p:cNvCxnSpPr>
            <p:nvPr/>
          </p:nvCxnSpPr>
          <p:spPr>
            <a:xfrm flipH="1">
              <a:off x="6059010" y="3930915"/>
              <a:ext cx="1579383" cy="1831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9" idx="2"/>
              <a:endCxn id="12" idx="0"/>
            </p:cNvCxnSpPr>
            <p:nvPr/>
          </p:nvCxnSpPr>
          <p:spPr>
            <a:xfrm flipH="1">
              <a:off x="6975955" y="3930915"/>
              <a:ext cx="662438" cy="193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2"/>
              <a:endCxn id="10" idx="0"/>
            </p:cNvCxnSpPr>
            <p:nvPr/>
          </p:nvCxnSpPr>
          <p:spPr>
            <a:xfrm>
              <a:off x="7638393" y="3930915"/>
              <a:ext cx="223816" cy="193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11" idx="0"/>
            </p:cNvCxnSpPr>
            <p:nvPr/>
          </p:nvCxnSpPr>
          <p:spPr>
            <a:xfrm>
              <a:off x="7638393" y="3930915"/>
              <a:ext cx="1119739" cy="193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stCxn id="5" idx="2"/>
              <a:endCxn id="6" idx="0"/>
            </p:cNvCxnSpPr>
            <p:nvPr/>
          </p:nvCxnSpPr>
          <p:spPr>
            <a:xfrm>
              <a:off x="7632848" y="1347614"/>
              <a:ext cx="0" cy="2880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stCxn id="6" idx="2"/>
              <a:endCxn id="7" idx="0"/>
            </p:cNvCxnSpPr>
            <p:nvPr/>
          </p:nvCxnSpPr>
          <p:spPr>
            <a:xfrm flipH="1">
              <a:off x="7632340" y="2243220"/>
              <a:ext cx="508" cy="255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>
              <a:stCxn id="7" idx="2"/>
              <a:endCxn id="9" idx="0"/>
            </p:cNvCxnSpPr>
            <p:nvPr/>
          </p:nvCxnSpPr>
          <p:spPr>
            <a:xfrm>
              <a:off x="7632340" y="3074492"/>
              <a:ext cx="6053" cy="280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6962109" y="701807"/>
              <a:ext cx="1340462" cy="72902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408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92F6832-37D0-4333-BA78-4AD3FB32C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 smtClean="0"/>
              <a:t>User space command</a:t>
            </a:r>
            <a:endParaRPr lang="zh-TW" altLang="en-US" dirty="0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15566"/>
            <a:ext cx="2808312" cy="3528392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915566"/>
            <a:ext cx="2952327" cy="3528392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827584" y="4443958"/>
            <a:ext cx="1512168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Deep sleep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4067943" y="4443958"/>
            <a:ext cx="1512168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light sleep</a:t>
            </a:r>
            <a:endParaRPr lang="zh-TW" altLang="en-US" dirty="0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915566"/>
            <a:ext cx="2621762" cy="3528392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6588224" y="4443958"/>
            <a:ext cx="2304256" cy="432048"/>
          </a:xfrm>
          <a:prstGeom prst="rect">
            <a:avLst/>
          </a:prstGeom>
          <a:solidFill>
            <a:srgbClr val="47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 smtClean="0"/>
              <a:t>Cpu</a:t>
            </a:r>
            <a:r>
              <a:rPr lang="en-US" altLang="zh-TW" sz="1200" dirty="0" smtClean="0"/>
              <a:t> hotplug with deep sleep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0338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315A3C-58FA-0542-858D-8B823907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4010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ents Slide Master">
  <a:themeElements>
    <a:clrScheme name="ALLPPT-COLOR-A2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7A3DE"/>
      </a:accent1>
      <a:accent2>
        <a:srgbClr val="477DC7"/>
      </a:accent2>
      <a:accent3>
        <a:srgbClr val="47A3DE"/>
      </a:accent3>
      <a:accent4>
        <a:srgbClr val="477DC7"/>
      </a:accent4>
      <a:accent5>
        <a:srgbClr val="47A3DE"/>
      </a:accent5>
      <a:accent6>
        <a:srgbClr val="477DC7"/>
      </a:accent6>
      <a:hlink>
        <a:srgbClr val="FFFFFF"/>
      </a:hlink>
      <a:folHlink>
        <a:srgbClr val="FFFFFF"/>
      </a:folHlink>
    </a:clrScheme>
    <a:fontScheme name="自訂 3">
      <a:majorFont>
        <a:latin typeface="Tahoma"/>
        <a:ea typeface="Tahoma"/>
        <a:cs typeface="Helvetica"/>
      </a:majorFont>
      <a:minorFont>
        <a:latin typeface="Tahoma"/>
        <a:ea typeface="Tahoma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77DC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20750</TotalTime>
  <Words>2614</Words>
  <Application>Microsoft Office PowerPoint</Application>
  <PresentationFormat>如螢幕大小 (16:9)</PresentationFormat>
  <Paragraphs>1149</Paragraphs>
  <Slides>62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62</vt:i4>
      </vt:variant>
    </vt:vector>
  </HeadingPairs>
  <TitlesOfParts>
    <vt:vector size="68" baseType="lpstr">
      <vt:lpstr>新細明體</vt:lpstr>
      <vt:lpstr>Arial</vt:lpstr>
      <vt:lpstr>Calibri</vt:lpstr>
      <vt:lpstr>Tahoma</vt:lpstr>
      <vt:lpstr>Wingdings</vt:lpstr>
      <vt:lpstr>Contents Slide Master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Dylan Dai-Rong Jhong(鍾岱融)</cp:lastModifiedBy>
  <cp:revision>930</cp:revision>
  <dcterms:created xsi:type="dcterms:W3CDTF">2016-12-05T23:26:54Z</dcterms:created>
  <dcterms:modified xsi:type="dcterms:W3CDTF">2021-09-06T09:14:41Z</dcterms:modified>
</cp:coreProperties>
</file>