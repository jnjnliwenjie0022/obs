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2" r:id="rId1"/>
  </p:sldMasterIdLst>
  <p:notesMasterIdLst>
    <p:notesMasterId r:id="rId27"/>
  </p:notesMasterIdLst>
  <p:handoutMasterIdLst>
    <p:handoutMasterId r:id="rId28"/>
  </p:handoutMasterIdLst>
  <p:sldIdLst>
    <p:sldId id="525" r:id="rId2"/>
    <p:sldId id="984" r:id="rId3"/>
    <p:sldId id="1000" r:id="rId4"/>
    <p:sldId id="998" r:id="rId5"/>
    <p:sldId id="986" r:id="rId6"/>
    <p:sldId id="987" r:id="rId7"/>
    <p:sldId id="1003" r:id="rId8"/>
    <p:sldId id="1004" r:id="rId9"/>
    <p:sldId id="1011" r:id="rId10"/>
    <p:sldId id="1007" r:id="rId11"/>
    <p:sldId id="988" r:id="rId12"/>
    <p:sldId id="1012" r:id="rId13"/>
    <p:sldId id="989" r:id="rId14"/>
    <p:sldId id="994" r:id="rId15"/>
    <p:sldId id="995" r:id="rId16"/>
    <p:sldId id="996" r:id="rId17"/>
    <p:sldId id="1008" r:id="rId18"/>
    <p:sldId id="1009" r:id="rId19"/>
    <p:sldId id="997" r:id="rId20"/>
    <p:sldId id="1010" r:id="rId21"/>
    <p:sldId id="564" r:id="rId22"/>
    <p:sldId id="983" r:id="rId23"/>
    <p:sldId id="1001" r:id="rId24"/>
    <p:sldId id="1005" r:id="rId25"/>
    <p:sldId id="1006" r:id="rId26"/>
  </p:sldIdLst>
  <p:sldSz cx="9144000" cy="6858000" type="screen4x3"/>
  <p:notesSz cx="6797675" cy="9928225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Arial" charset="0"/>
        <a:ea typeface="新細明體" charset="-120"/>
        <a:cs typeface="+mn-cs"/>
      </a:defRPr>
    </a:lvl1pPr>
    <a:lvl2pPr marL="457200" algn="l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Arial" charset="0"/>
        <a:ea typeface="新細明體" charset="-120"/>
        <a:cs typeface="+mn-cs"/>
      </a:defRPr>
    </a:lvl2pPr>
    <a:lvl3pPr marL="914400" algn="l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Arial" charset="0"/>
        <a:ea typeface="新細明體" charset="-120"/>
        <a:cs typeface="+mn-cs"/>
      </a:defRPr>
    </a:lvl3pPr>
    <a:lvl4pPr marL="1371600" algn="l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Arial" charset="0"/>
        <a:ea typeface="新細明體" charset="-120"/>
        <a:cs typeface="+mn-cs"/>
      </a:defRPr>
    </a:lvl4pPr>
    <a:lvl5pPr marL="1828800" algn="l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Arial" charset="0"/>
        <a:ea typeface="新細明體" charset="-120"/>
        <a:cs typeface="+mn-cs"/>
      </a:defRPr>
    </a:lvl5pPr>
    <a:lvl6pPr marL="2286000" algn="l" defTabSz="914400" rtl="0" eaLnBrk="1" latinLnBrk="0" hangingPunct="1">
      <a:defRPr b="1" kern="1200">
        <a:solidFill>
          <a:schemeClr val="tx1"/>
        </a:solidFill>
        <a:latin typeface="Arial" charset="0"/>
        <a:ea typeface="新細明體" charset="-120"/>
        <a:cs typeface="+mn-cs"/>
      </a:defRPr>
    </a:lvl6pPr>
    <a:lvl7pPr marL="2743200" algn="l" defTabSz="914400" rtl="0" eaLnBrk="1" latinLnBrk="0" hangingPunct="1">
      <a:defRPr b="1" kern="1200">
        <a:solidFill>
          <a:schemeClr val="tx1"/>
        </a:solidFill>
        <a:latin typeface="Arial" charset="0"/>
        <a:ea typeface="新細明體" charset="-120"/>
        <a:cs typeface="+mn-cs"/>
      </a:defRPr>
    </a:lvl7pPr>
    <a:lvl8pPr marL="3200400" algn="l" defTabSz="914400" rtl="0" eaLnBrk="1" latinLnBrk="0" hangingPunct="1">
      <a:defRPr b="1" kern="1200">
        <a:solidFill>
          <a:schemeClr val="tx1"/>
        </a:solidFill>
        <a:latin typeface="Arial" charset="0"/>
        <a:ea typeface="新細明體" charset="-120"/>
        <a:cs typeface="+mn-cs"/>
      </a:defRPr>
    </a:lvl8pPr>
    <a:lvl9pPr marL="3657600" algn="l" defTabSz="914400" rtl="0" eaLnBrk="1" latinLnBrk="0" hangingPunct="1">
      <a:defRPr b="1" kern="1200">
        <a:solidFill>
          <a:schemeClr val="tx1"/>
        </a:solidFill>
        <a:latin typeface="Arial" charset="0"/>
        <a:ea typeface="新細明體" charset="-120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9F090"/>
    <a:srgbClr val="8BFFA7"/>
    <a:srgbClr val="1C71A6"/>
    <a:srgbClr val="000066"/>
    <a:srgbClr val="FFF78F"/>
    <a:srgbClr val="78A4C7"/>
    <a:srgbClr val="AEC8DD"/>
    <a:srgbClr val="32AECB"/>
    <a:srgbClr val="00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00A15C55-8517-42AA-B614-E9B94910E393}" styleName="中等深淺樣式 2 - 輔色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505E3EF-67EA-436B-97B2-0124C06EBD24}" styleName="中等深淺樣式 4 - 輔色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69C7853C-536D-4A76-A0AE-DD22124D55A5}" styleName="佈景主題樣式 1 - 輔色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3B4B98B0-60AC-42C2-AFA5-B58CD77FA1E5}" styleName="淺色樣式 1 - 輔色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279" autoAdjust="0"/>
    <p:restoredTop sz="90263" autoAdjust="0"/>
  </p:normalViewPr>
  <p:slideViewPr>
    <p:cSldViewPr snapToGrid="0">
      <p:cViewPr varScale="1">
        <p:scale>
          <a:sx n="105" d="100"/>
          <a:sy n="105" d="100"/>
        </p:scale>
        <p:origin x="-1956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37" d="100"/>
          <a:sy n="37" d="100"/>
        </p:scale>
        <p:origin x="-2496" y="-96"/>
      </p:cViewPr>
      <p:guideLst>
        <p:guide orient="horz" pos="3127"/>
        <p:guide pos="2141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quarter" idx="1"/>
          </p:nvPr>
        </p:nvSpPr>
        <p:spPr>
          <a:xfrm>
            <a:off x="3849688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DFE1479-1B44-46F7-B2B0-D9B1309EF560}" type="datetimeFigureOut">
              <a:rPr lang="zh-TW" altLang="en-US" smtClean="0"/>
              <a:t>2019/3/4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2"/>
          </p:nvPr>
        </p:nvSpPr>
        <p:spPr>
          <a:xfrm>
            <a:off x="0" y="942975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3"/>
          </p:nvPr>
        </p:nvSpPr>
        <p:spPr>
          <a:xfrm>
            <a:off x="3849688" y="942975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FC35F32-C31C-4AC4-8E45-5890523DDA8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9734915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0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46400" cy="495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84850" tIns="42426" rIns="84850" bIns="42426" numCol="1" anchor="t" anchorCtr="0" compatLnSpc="1">
            <a:prstTxWarp prst="textNoShape">
              <a:avLst/>
            </a:prstTxWarp>
          </a:bodyPr>
          <a:lstStyle>
            <a:lvl1pPr defTabSz="849313">
              <a:defRPr sz="1000" b="0">
                <a:ea typeface="+mn-ea"/>
              </a:defRPr>
            </a:lvl1pPr>
          </a:lstStyle>
          <a:p>
            <a:pPr>
              <a:defRPr/>
            </a:pPr>
            <a:endParaRPr lang="en-US" altLang="zh-TW" dirty="0"/>
          </a:p>
        </p:txBody>
      </p:sp>
      <p:sp>
        <p:nvSpPr>
          <p:cNvPr id="25907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49688" y="0"/>
            <a:ext cx="2946400" cy="495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84850" tIns="42426" rIns="84850" bIns="42426" numCol="1" anchor="t" anchorCtr="0" compatLnSpc="1">
            <a:prstTxWarp prst="textNoShape">
              <a:avLst/>
            </a:prstTxWarp>
          </a:bodyPr>
          <a:lstStyle>
            <a:lvl1pPr algn="r" defTabSz="849313">
              <a:defRPr sz="1000" b="0">
                <a:ea typeface="+mn-ea"/>
              </a:defRPr>
            </a:lvl1pPr>
          </a:lstStyle>
          <a:p>
            <a:pPr>
              <a:defRPr/>
            </a:pPr>
            <a:endParaRPr lang="en-US" altLang="zh-TW" dirty="0"/>
          </a:p>
        </p:txBody>
      </p:sp>
      <p:sp>
        <p:nvSpPr>
          <p:cNvPr id="5325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19163" y="746125"/>
            <a:ext cx="4960937" cy="3722688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5907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79450" y="4716463"/>
            <a:ext cx="5438775" cy="44656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84850" tIns="42426" rIns="84850" bIns="42426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noProof="0" smtClean="0"/>
              <a:t>按一下以編輯母片</a:t>
            </a:r>
          </a:p>
          <a:p>
            <a:pPr lvl="1"/>
            <a:r>
              <a:rPr lang="zh-TW" altLang="en-US" noProof="0" smtClean="0"/>
              <a:t>第二層</a:t>
            </a:r>
          </a:p>
          <a:p>
            <a:pPr lvl="2"/>
            <a:r>
              <a:rPr lang="zh-TW" altLang="en-US" noProof="0" smtClean="0"/>
              <a:t>第三層</a:t>
            </a:r>
          </a:p>
          <a:p>
            <a:pPr lvl="3"/>
            <a:r>
              <a:rPr lang="zh-TW" altLang="en-US" noProof="0" smtClean="0"/>
              <a:t>第四層</a:t>
            </a:r>
          </a:p>
          <a:p>
            <a:pPr lvl="4"/>
            <a:r>
              <a:rPr lang="zh-TW" altLang="en-US" noProof="0" smtClean="0"/>
              <a:t>第五層</a:t>
            </a:r>
          </a:p>
        </p:txBody>
      </p:sp>
      <p:sp>
        <p:nvSpPr>
          <p:cNvPr id="25907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432925"/>
            <a:ext cx="2946400" cy="493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84850" tIns="42426" rIns="84850" bIns="42426" numCol="1" anchor="b" anchorCtr="0" compatLnSpc="1">
            <a:prstTxWarp prst="textNoShape">
              <a:avLst/>
            </a:prstTxWarp>
          </a:bodyPr>
          <a:lstStyle>
            <a:lvl1pPr defTabSz="849313">
              <a:defRPr sz="1000" b="0">
                <a:ea typeface="+mn-ea"/>
              </a:defRPr>
            </a:lvl1pPr>
          </a:lstStyle>
          <a:p>
            <a:pPr>
              <a:defRPr/>
            </a:pPr>
            <a:endParaRPr lang="en-US" altLang="zh-TW" dirty="0"/>
          </a:p>
        </p:txBody>
      </p:sp>
      <p:sp>
        <p:nvSpPr>
          <p:cNvPr id="25907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49688" y="9432925"/>
            <a:ext cx="2946400" cy="493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84850" tIns="42426" rIns="84850" bIns="42426" numCol="1" anchor="b" anchorCtr="0" compatLnSpc="1">
            <a:prstTxWarp prst="textNoShape">
              <a:avLst/>
            </a:prstTxWarp>
          </a:bodyPr>
          <a:lstStyle>
            <a:lvl1pPr algn="r" defTabSz="849313">
              <a:defRPr sz="1000" b="0">
                <a:ea typeface="+mn-ea"/>
              </a:defRPr>
            </a:lvl1pPr>
          </a:lstStyle>
          <a:p>
            <a:pPr>
              <a:defRPr/>
            </a:pPr>
            <a:fld id="{C79FA509-B1DE-4A2A-816D-4E4A94353D1D}" type="slidenum">
              <a:rPr lang="zh-TW" altLang="en-US"/>
              <a:pPr>
                <a:defRPr/>
              </a:pPr>
              <a:t>‹#›</a:t>
            </a:fld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375457259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8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C0941E5-DFE5-45FE-9949-0CAB0B51B56A}" type="slidenum">
              <a:rPr lang="zh-TW" altLang="en-US" smtClean="0"/>
              <a:pPr>
                <a:defRPr/>
              </a:pPr>
              <a:t>1</a:t>
            </a:fld>
            <a:endParaRPr lang="en-US" altLang="zh-TW" dirty="0" smtClean="0"/>
          </a:p>
        </p:txBody>
      </p:sp>
      <p:sp>
        <p:nvSpPr>
          <p:cNvPr id="5529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529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zh-TW" altLang="en-US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79FA509-B1DE-4A2A-816D-4E4A94353D1D}" type="slidenum">
              <a:rPr lang="zh-TW" altLang="en-US" smtClean="0"/>
              <a:pPr>
                <a:defRPr/>
              </a:pPr>
              <a:t>6</a:t>
            </a:fld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364885490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dirty="0" smtClean="0"/>
              <a:t>SMU address mapping=0xF0100000~0xF01FFFFF</a:t>
            </a:r>
            <a:endParaRPr lang="zh-TW" altLang="en-US" dirty="0" smtClean="0"/>
          </a:p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79FA509-B1DE-4A2A-816D-4E4A94353D1D}" type="slidenum">
              <a:rPr lang="zh-TW" altLang="en-US" smtClean="0"/>
              <a:pPr>
                <a:defRPr/>
              </a:pPr>
              <a:t>8</a:t>
            </a:fld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214490277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626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8E8DD757-109B-43B9-B605-064D5CE39788}" type="slidenum">
              <a:rPr lang="zh-TW" altLang="en-US" smtClean="0"/>
              <a:pPr>
                <a:defRPr/>
              </a:pPr>
              <a:t>21</a:t>
            </a:fld>
            <a:endParaRPr lang="en-US" altLang="zh-TW" dirty="0" smtClean="0"/>
          </a:p>
        </p:txBody>
      </p:sp>
      <p:sp>
        <p:nvSpPr>
          <p:cNvPr id="593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19163" y="744538"/>
            <a:ext cx="4960937" cy="3722687"/>
          </a:xfrm>
          <a:ln/>
        </p:spPr>
      </p:sp>
      <p:sp>
        <p:nvSpPr>
          <p:cNvPr id="593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06463" y="4716463"/>
            <a:ext cx="4984750" cy="4467225"/>
          </a:xfrm>
          <a:noFill/>
          <a:ln/>
        </p:spPr>
        <p:txBody>
          <a:bodyPr/>
          <a:lstStyle/>
          <a:p>
            <a:pPr eaLnBrk="1" hangingPunct="1"/>
            <a:endParaRPr lang="zh-TW" altLang="en-US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226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BBC8CCC-1454-49B8-B8EC-74F2C178A1FE}" type="slidenum">
              <a:rPr lang="zh-TW" altLang="en-US" smtClean="0"/>
              <a:pPr>
                <a:defRPr/>
              </a:pPr>
              <a:t>22</a:t>
            </a:fld>
            <a:endParaRPr lang="en-US" altLang="zh-TW" dirty="0" smtClean="0"/>
          </a:p>
        </p:txBody>
      </p:sp>
      <p:sp>
        <p:nvSpPr>
          <p:cNvPr id="614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44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1038" y="4716463"/>
            <a:ext cx="5435600" cy="4465637"/>
          </a:xfrm>
          <a:noFill/>
          <a:ln/>
        </p:spPr>
        <p:txBody>
          <a:bodyPr/>
          <a:lstStyle/>
          <a:p>
            <a:pPr eaLnBrk="1" hangingPunct="1"/>
            <a:endParaRPr lang="zh-TW" altLang="en-US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dirty="0" smtClean="0"/>
              <a:t> Wake-up and Reset Status Register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79FA509-B1DE-4A2A-816D-4E4A94353D1D}" type="slidenum">
              <a:rPr lang="zh-TW" altLang="en-US" smtClean="0"/>
              <a:pPr>
                <a:defRPr/>
              </a:pPr>
              <a:t>24</a:t>
            </a:fld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265731544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_標題投影片">
    <p:bg bwMode="lt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ndes-logo"/>
          <p:cNvPicPr>
            <a:picLocks noChangeAspect="1" noChangeArrowheads="1"/>
          </p:cNvPicPr>
          <p:nvPr userDrawn="1"/>
        </p:nvPicPr>
        <p:blipFill>
          <a:blip r:embed="rId2"/>
          <a:srcRect/>
          <a:stretch>
            <a:fillRect/>
          </a:stretch>
        </p:blipFill>
        <p:spPr bwMode="auto">
          <a:xfrm>
            <a:off x="179388" y="188913"/>
            <a:ext cx="1133475" cy="4095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Text Box 20"/>
          <p:cNvSpPr txBox="1">
            <a:spLocks noChangeArrowheads="1"/>
          </p:cNvSpPr>
          <p:nvPr userDrawn="1"/>
        </p:nvSpPr>
        <p:spPr bwMode="auto">
          <a:xfrm>
            <a:off x="7586663" y="6554788"/>
            <a:ext cx="1547812" cy="22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US" altLang="zh-TW" sz="900" b="0" dirty="0">
                <a:solidFill>
                  <a:schemeClr val="bg1"/>
                </a:solidFill>
                <a:ea typeface="新細明體" pitchFamily="18" charset="-120"/>
              </a:rPr>
              <a:t>WWW.ANDESTECH.COM</a:t>
            </a:r>
          </a:p>
        </p:txBody>
      </p:sp>
      <p:pic>
        <p:nvPicPr>
          <p:cNvPr id="6" name="Picture 24"/>
          <p:cNvPicPr>
            <a:picLocks noChangeAspect="1" noChangeArrowheads="1"/>
          </p:cNvPicPr>
          <p:nvPr userDrawn="1"/>
        </p:nvPicPr>
        <p:blipFill>
          <a:blip r:embed="rId3"/>
          <a:srcRect/>
          <a:stretch>
            <a:fillRect/>
          </a:stretch>
        </p:blipFill>
        <p:spPr bwMode="auto">
          <a:xfrm>
            <a:off x="0" y="2976563"/>
            <a:ext cx="9144000" cy="3876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3" name="Rectangle 13"/>
          <p:cNvSpPr>
            <a:spLocks noGrp="1" noChangeArrowheads="1"/>
          </p:cNvSpPr>
          <p:nvPr>
            <p:ph type="subTitle" idx="1"/>
          </p:nvPr>
        </p:nvSpPr>
        <p:spPr bwMode="gray">
          <a:xfrm>
            <a:off x="3590925" y="2286000"/>
            <a:ext cx="5324475" cy="381000"/>
          </a:xfrm>
          <a:prstGeom prst="rect">
            <a:avLst/>
          </a:prstGeom>
        </p:spPr>
        <p:txBody>
          <a:bodyPr/>
          <a:lstStyle>
            <a:lvl1pPr marL="0" indent="0" algn="r">
              <a:buFont typeface="Wingdings" pitchFamily="2" charset="2"/>
              <a:buNone/>
              <a:defRPr sz="2200">
                <a:solidFill>
                  <a:srgbClr val="000000"/>
                </a:solidFill>
                <a:latin typeface="Tahoma" pitchFamily="34" charset="0"/>
                <a:cs typeface="Tahoma" pitchFamily="34" charset="0"/>
              </a:defRPr>
            </a:lvl1pPr>
          </a:lstStyle>
          <a:p>
            <a:r>
              <a:rPr lang="zh-TW" altLang="en-US" smtClean="0"/>
              <a:t>按一下以編輯母片副標題樣式</a:t>
            </a:r>
            <a:endParaRPr lang="en-US" altLang="zh-TW" dirty="0"/>
          </a:p>
        </p:txBody>
      </p:sp>
      <p:sp>
        <p:nvSpPr>
          <p:cNvPr id="54" name="Rectangle 14"/>
          <p:cNvSpPr>
            <a:spLocks noGrp="1" noChangeArrowheads="1"/>
          </p:cNvSpPr>
          <p:nvPr>
            <p:ph type="ctrTitle"/>
          </p:nvPr>
        </p:nvSpPr>
        <p:spPr>
          <a:xfrm>
            <a:off x="1905000" y="1447800"/>
            <a:ext cx="7010400" cy="762000"/>
          </a:xfrm>
          <a:effectLst>
            <a:outerShdw dist="17961" dir="2700000" algn="ctr" rotWithShape="0">
              <a:srgbClr val="C0C0C0"/>
            </a:outerShdw>
          </a:effectLst>
        </p:spPr>
        <p:txBody>
          <a:bodyPr/>
          <a:lstStyle>
            <a:lvl1pPr algn="r">
              <a:defRPr sz="3600" b="1">
                <a:solidFill>
                  <a:schemeClr val="tx1"/>
                </a:solidFill>
                <a:latin typeface="Tahoma" pitchFamily="34" charset="0"/>
                <a:cs typeface="Tahoma" pitchFamily="34" charset="0"/>
              </a:defRPr>
            </a:lvl1pPr>
          </a:lstStyle>
          <a:p>
            <a:r>
              <a:rPr lang="zh-TW" altLang="en-US" smtClean="0"/>
              <a:t>按一下以編輯母片標題樣式</a:t>
            </a:r>
            <a:endParaRPr lang="en-US" altLang="zh-TW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323851" y="142875"/>
            <a:ext cx="8515350" cy="608013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81000" y="1054100"/>
            <a:ext cx="8420100" cy="5331460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標題，文字及圖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字版面配置區 2"/>
          <p:cNvSpPr>
            <a:spLocks noGrp="1"/>
          </p:cNvSpPr>
          <p:nvPr>
            <p:ph type="body" sz="half" idx="1"/>
          </p:nvPr>
        </p:nvSpPr>
        <p:spPr>
          <a:xfrm>
            <a:off x="381000" y="1052513"/>
            <a:ext cx="4133850" cy="5333047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 dirty="0"/>
          </a:p>
        </p:txBody>
      </p:sp>
      <p:sp>
        <p:nvSpPr>
          <p:cNvPr id="4" name="圖表版面配置區 3"/>
          <p:cNvSpPr>
            <a:spLocks noGrp="1"/>
          </p:cNvSpPr>
          <p:nvPr>
            <p:ph type="chart" sz="half" idx="2"/>
          </p:nvPr>
        </p:nvSpPr>
        <p:spPr>
          <a:xfrm>
            <a:off x="4667250" y="1052513"/>
            <a:ext cx="4133850" cy="5348287"/>
          </a:xfrm>
        </p:spPr>
        <p:txBody>
          <a:bodyPr/>
          <a:lstStyle/>
          <a:p>
            <a:pPr lvl="0"/>
            <a:r>
              <a:rPr lang="zh-TW" altLang="en-US" noProof="0" smtClean="0"/>
              <a:t>按一下圖示以新增圖表</a:t>
            </a:r>
          </a:p>
        </p:txBody>
      </p:sp>
      <p:sp>
        <p:nvSpPr>
          <p:cNvPr id="5" name="標題 1"/>
          <p:cNvSpPr>
            <a:spLocks noGrp="1"/>
          </p:cNvSpPr>
          <p:nvPr>
            <p:ph type="title"/>
          </p:nvPr>
        </p:nvSpPr>
        <p:spPr>
          <a:xfrm>
            <a:off x="323851" y="142875"/>
            <a:ext cx="8515350" cy="608013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標題及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表格版面配置區 2"/>
          <p:cNvSpPr>
            <a:spLocks noGrp="1"/>
          </p:cNvSpPr>
          <p:nvPr>
            <p:ph type="tbl" idx="1"/>
          </p:nvPr>
        </p:nvSpPr>
        <p:spPr>
          <a:xfrm>
            <a:off x="381000" y="1052513"/>
            <a:ext cx="8420100" cy="5333047"/>
          </a:xfrm>
        </p:spPr>
        <p:txBody>
          <a:bodyPr/>
          <a:lstStyle/>
          <a:p>
            <a:pPr lvl="0"/>
            <a:r>
              <a:rPr lang="zh-TW" altLang="en-US" noProof="0" smtClean="0"/>
              <a:t>按一下圖示以新增表格</a:t>
            </a:r>
          </a:p>
        </p:txBody>
      </p:sp>
      <p:sp>
        <p:nvSpPr>
          <p:cNvPr id="4" name="標題 1"/>
          <p:cNvSpPr>
            <a:spLocks noGrp="1"/>
          </p:cNvSpPr>
          <p:nvPr>
            <p:ph type="title"/>
          </p:nvPr>
        </p:nvSpPr>
        <p:spPr>
          <a:xfrm>
            <a:off x="323851" y="142875"/>
            <a:ext cx="8515350" cy="608013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381000" y="1052513"/>
            <a:ext cx="4133850" cy="532099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 dirty="0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67250" y="1052513"/>
            <a:ext cx="4133850" cy="532099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 dirty="0"/>
          </a:p>
        </p:txBody>
      </p:sp>
      <p:sp>
        <p:nvSpPr>
          <p:cNvPr id="5" name="標題 1"/>
          <p:cNvSpPr>
            <a:spLocks noGrp="1"/>
          </p:cNvSpPr>
          <p:nvPr>
            <p:ph type="title"/>
          </p:nvPr>
        </p:nvSpPr>
        <p:spPr>
          <a:xfrm>
            <a:off x="323851" y="142875"/>
            <a:ext cx="8515350" cy="608013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標題，文字及多媒體項目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字版面配置區 2"/>
          <p:cNvSpPr>
            <a:spLocks noGrp="1"/>
          </p:cNvSpPr>
          <p:nvPr>
            <p:ph type="body" sz="half" idx="1"/>
          </p:nvPr>
        </p:nvSpPr>
        <p:spPr>
          <a:xfrm>
            <a:off x="381000" y="1054099"/>
            <a:ext cx="4133850" cy="5305757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 dirty="0"/>
          </a:p>
        </p:txBody>
      </p:sp>
      <p:sp>
        <p:nvSpPr>
          <p:cNvPr id="4" name="媒體版面配置區 3"/>
          <p:cNvSpPr>
            <a:spLocks noGrp="1"/>
          </p:cNvSpPr>
          <p:nvPr>
            <p:ph type="media" sz="half" idx="2"/>
          </p:nvPr>
        </p:nvSpPr>
        <p:spPr>
          <a:xfrm>
            <a:off x="4667250" y="1054100"/>
            <a:ext cx="4133850" cy="5319404"/>
          </a:xfrm>
        </p:spPr>
        <p:txBody>
          <a:bodyPr/>
          <a:lstStyle/>
          <a:p>
            <a:pPr lvl="0"/>
            <a:r>
              <a:rPr lang="zh-TW" altLang="en-US" noProof="0" smtClean="0"/>
              <a:t>按一下圖示以新增多媒體</a:t>
            </a:r>
          </a:p>
        </p:txBody>
      </p:sp>
      <p:sp>
        <p:nvSpPr>
          <p:cNvPr id="5" name="標題 1"/>
          <p:cNvSpPr>
            <a:spLocks noGrp="1"/>
          </p:cNvSpPr>
          <p:nvPr>
            <p:ph type="title"/>
          </p:nvPr>
        </p:nvSpPr>
        <p:spPr>
          <a:xfrm>
            <a:off x="323851" y="142875"/>
            <a:ext cx="8515350" cy="608013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1054100"/>
            <a:ext cx="5238750" cy="5319404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 dirty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368300" y="1054099"/>
            <a:ext cx="3097213" cy="5319405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7" name="標題 1"/>
          <p:cNvSpPr>
            <a:spLocks noGrp="1"/>
          </p:cNvSpPr>
          <p:nvPr>
            <p:ph type="title"/>
          </p:nvPr>
        </p:nvSpPr>
        <p:spPr>
          <a:xfrm>
            <a:off x="323851" y="142875"/>
            <a:ext cx="8515350" cy="608013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381000" y="1052513"/>
            <a:ext cx="8420100" cy="5320991"/>
          </a:xfrm>
        </p:spPr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 dirty="0"/>
          </a:p>
        </p:txBody>
      </p:sp>
      <p:sp>
        <p:nvSpPr>
          <p:cNvPr id="5" name="標題 1"/>
          <p:cNvSpPr>
            <a:spLocks noGrp="1"/>
          </p:cNvSpPr>
          <p:nvPr>
            <p:ph type="title"/>
          </p:nvPr>
        </p:nvSpPr>
        <p:spPr>
          <a:xfrm>
            <a:off x="323851" y="142875"/>
            <a:ext cx="8515350" cy="608013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72263" y="133350"/>
            <a:ext cx="2119312" cy="6181725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zh-TW" altLang="en-US" dirty="0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323850" y="142875"/>
            <a:ext cx="6205538" cy="6181725"/>
          </a:xfrm>
        </p:spPr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1"/>
          <p:cNvSpPr>
            <a:spLocks noGrp="1"/>
          </p:cNvSpPr>
          <p:nvPr>
            <p:ph type="title"/>
          </p:nvPr>
        </p:nvSpPr>
        <p:spPr>
          <a:xfrm>
            <a:off x="323851" y="142875"/>
            <a:ext cx="8515350" cy="608013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jpe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3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36" descr="Line Bar"/>
          <p:cNvPicPr>
            <a:picLocks noChangeAspect="1" noChangeArrowheads="1"/>
          </p:cNvPicPr>
          <p:nvPr/>
        </p:nvPicPr>
        <p:blipFill>
          <a:blip r:embed="rId12"/>
          <a:srcRect/>
          <a:stretch>
            <a:fillRect/>
          </a:stretch>
        </p:blipFill>
        <p:spPr bwMode="auto">
          <a:xfrm>
            <a:off x="8975725" y="0"/>
            <a:ext cx="179388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48834" name="Rectangle 2"/>
          <p:cNvSpPr>
            <a:spLocks noChangeArrowheads="1"/>
          </p:cNvSpPr>
          <p:nvPr/>
        </p:nvSpPr>
        <p:spPr bwMode="gray">
          <a:xfrm>
            <a:off x="0" y="0"/>
            <a:ext cx="9144000" cy="914400"/>
          </a:xfrm>
          <a:prstGeom prst="rect">
            <a:avLst/>
          </a:prstGeom>
          <a:solidFill>
            <a:schemeClr val="accent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zh-TW" altLang="en-US">
              <a:ea typeface="+mn-ea"/>
            </a:endParaRPr>
          </a:p>
        </p:txBody>
      </p:sp>
      <p:sp>
        <p:nvSpPr>
          <p:cNvPr id="248841" name="Rectangle 9"/>
          <p:cNvSpPr>
            <a:spLocks noGrp="1" noChangeArrowheads="1"/>
          </p:cNvSpPr>
          <p:nvPr>
            <p:ph type="title"/>
          </p:nvPr>
        </p:nvSpPr>
        <p:spPr bwMode="gray">
          <a:xfrm>
            <a:off x="323850" y="142875"/>
            <a:ext cx="8658225" cy="6080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dist="35921" dir="2700000" algn="ctr" rotWithShape="0">
              <a:srgbClr val="000000"/>
            </a:outerShdw>
          </a:effec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smtClean="0"/>
              <a:t>按一下以編輯母片標題樣式</a:t>
            </a:r>
            <a:endParaRPr lang="en-US" altLang="zh-TW" dirty="0" smtClean="0"/>
          </a:p>
        </p:txBody>
      </p:sp>
      <p:sp>
        <p:nvSpPr>
          <p:cNvPr id="248836" name="Freeform 4"/>
          <p:cNvSpPr>
            <a:spLocks/>
          </p:cNvSpPr>
          <p:nvPr/>
        </p:nvSpPr>
        <p:spPr bwMode="gray">
          <a:xfrm>
            <a:off x="-12700" y="342900"/>
            <a:ext cx="6032500" cy="679450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3800" y="0"/>
              </a:cxn>
              <a:cxn ang="0">
                <a:pos x="3456" y="428"/>
              </a:cxn>
            </a:cxnLst>
            <a:rect l="0" t="0" r="r" b="b"/>
            <a:pathLst>
              <a:path w="3800" h="428">
                <a:moveTo>
                  <a:pt x="0" y="0"/>
                </a:moveTo>
                <a:lnTo>
                  <a:pt x="3800" y="0"/>
                </a:lnTo>
                <a:lnTo>
                  <a:pt x="3456" y="428"/>
                </a:lnTo>
              </a:path>
            </a:pathLst>
          </a:custGeom>
          <a:noFill/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zh-TW" altLang="en-US">
              <a:ea typeface="+mn-ea"/>
            </a:endParaRPr>
          </a:p>
        </p:txBody>
      </p:sp>
      <p:sp>
        <p:nvSpPr>
          <p:cNvPr id="1030" name="Rectangle 5"/>
          <p:cNvSpPr>
            <a:spLocks noGrp="1" noChangeArrowheads="1"/>
          </p:cNvSpPr>
          <p:nvPr>
            <p:ph type="body" idx="1"/>
          </p:nvPr>
        </p:nvSpPr>
        <p:spPr bwMode="black">
          <a:xfrm>
            <a:off x="381000" y="1052513"/>
            <a:ext cx="8420100" cy="52720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altLang="zh-TW" smtClean="0"/>
          </a:p>
        </p:txBody>
      </p:sp>
      <p:pic>
        <p:nvPicPr>
          <p:cNvPr id="1031" name="Picture 12"/>
          <p:cNvPicPr>
            <a:picLocks noChangeAspect="1" noChangeArrowheads="1"/>
          </p:cNvPicPr>
          <p:nvPr/>
        </p:nvPicPr>
        <p:blipFill>
          <a:blip r:embed="rId13"/>
          <a:srcRect/>
          <a:stretch>
            <a:fillRect/>
          </a:stretch>
        </p:blipFill>
        <p:spPr bwMode="auto">
          <a:xfrm>
            <a:off x="8050213" y="52388"/>
            <a:ext cx="1019175" cy="923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32" name="Picture 12" descr="andes-logo"/>
          <p:cNvPicPr>
            <a:picLocks noChangeAspect="1" noChangeArrowheads="1"/>
          </p:cNvPicPr>
          <p:nvPr/>
        </p:nvPicPr>
        <p:blipFill>
          <a:blip r:embed="rId14"/>
          <a:srcRect/>
          <a:stretch>
            <a:fillRect/>
          </a:stretch>
        </p:blipFill>
        <p:spPr bwMode="auto">
          <a:xfrm>
            <a:off x="4763" y="6486525"/>
            <a:ext cx="989012" cy="3571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9" name="Footer Placeholder 3"/>
          <p:cNvSpPr txBox="1">
            <a:spLocks noGrp="1"/>
          </p:cNvSpPr>
          <p:nvPr/>
        </p:nvSpPr>
        <p:spPr bwMode="gray">
          <a:xfrm>
            <a:off x="811213" y="6502400"/>
            <a:ext cx="1497012" cy="384175"/>
          </a:xfrm>
          <a:prstGeom prst="rect">
            <a:avLst/>
          </a:prstGeom>
          <a:noFill/>
          <a:ln>
            <a:noFill/>
            <a:miter lim="800000"/>
            <a:headEnd/>
            <a:tailEnd/>
          </a:ln>
        </p:spPr>
        <p:txBody>
          <a:bodyPr/>
          <a:lstStyle/>
          <a:p>
            <a:pPr algn="ctr">
              <a:defRPr/>
            </a:pPr>
            <a:r>
              <a:rPr lang="en-US" altLang="zh-TW" sz="1600" dirty="0">
                <a:solidFill>
                  <a:srgbClr val="002060"/>
                </a:solidFill>
                <a:latin typeface="Tahoma" pitchFamily="34" charset="0"/>
                <a:ea typeface="+mn-ea"/>
              </a:rPr>
              <a:t>Confidential</a:t>
            </a:r>
            <a:endParaRPr lang="en-US" altLang="zh-TW" sz="1200" dirty="0">
              <a:solidFill>
                <a:srgbClr val="002060"/>
              </a:solidFill>
              <a:latin typeface="Tahoma" pitchFamily="34" charset="0"/>
              <a:ea typeface="+mn-ea"/>
            </a:endParaRPr>
          </a:p>
        </p:txBody>
      </p:sp>
      <p:sp>
        <p:nvSpPr>
          <p:cNvPr id="10" name="Rectangle 26"/>
          <p:cNvSpPr>
            <a:spLocks noChangeArrowheads="1"/>
          </p:cNvSpPr>
          <p:nvPr/>
        </p:nvSpPr>
        <p:spPr bwMode="gray">
          <a:xfrm>
            <a:off x="6821488" y="6618288"/>
            <a:ext cx="2170112" cy="239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algn="r"/>
            <a:r>
              <a:rPr lang="en-US" altLang="zh-TW" sz="1100" dirty="0">
                <a:latin typeface="Verdana" pitchFamily="34" charset="0"/>
              </a:rPr>
              <a:t>Driving Innovations™</a:t>
            </a:r>
            <a:endParaRPr lang="en-US" altLang="zh-TW" sz="1000" dirty="0">
              <a:latin typeface="Verdana" pitchFamily="34" charset="0"/>
            </a:endParaRPr>
          </a:p>
        </p:txBody>
      </p:sp>
      <p:sp>
        <p:nvSpPr>
          <p:cNvPr id="11" name="Rectangle 27"/>
          <p:cNvSpPr>
            <a:spLocks noChangeArrowheads="1"/>
          </p:cNvSpPr>
          <p:nvPr/>
        </p:nvSpPr>
        <p:spPr bwMode="gray">
          <a:xfrm>
            <a:off x="3924300" y="6597650"/>
            <a:ext cx="838200" cy="260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algn="ctr">
              <a:defRPr/>
            </a:pPr>
            <a:fld id="{538D94C5-BC46-4B0D-B46B-3E7F715B45EE}" type="slidenum">
              <a:rPr lang="zh-TW" altLang="en-US" sz="1000">
                <a:latin typeface="Verdana" pitchFamily="34" charset="0"/>
              </a:rPr>
              <a:pPr algn="ctr">
                <a:defRPr/>
              </a:pPr>
              <a:t>‹#›</a:t>
            </a:fld>
            <a:endParaRPr lang="en-US" altLang="zh-TW" sz="1000" dirty="0">
              <a:latin typeface="Verdana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64" r:id="rId1"/>
    <p:sldLayoutId id="2147483752" r:id="rId2"/>
    <p:sldLayoutId id="2147483743" r:id="rId3"/>
    <p:sldLayoutId id="2147483744" r:id="rId4"/>
    <p:sldLayoutId id="2147483751" r:id="rId5"/>
    <p:sldLayoutId id="2147483741" r:id="rId6"/>
    <p:sldLayoutId id="2147483748" r:id="rId7"/>
    <p:sldLayoutId id="2147483746" r:id="rId8"/>
    <p:sldLayoutId id="2147483745" r:id="rId9"/>
    <p:sldLayoutId id="2147483740" r:id="rId10"/>
  </p:sldLayoutIdLst>
  <p:timing>
    <p:tnLst>
      <p:par>
        <p:cTn id="1" dur="indefinite" restart="never" nodeType="tmRoot"/>
      </p:par>
    </p:tnLst>
  </p:timing>
  <p:hf sldNum="0"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kumimoji="1" sz="3200" b="1">
          <a:solidFill>
            <a:schemeClr val="bg1"/>
          </a:solidFill>
          <a:latin typeface="Tahoma" pitchFamily="34" charset="0"/>
          <a:ea typeface="新細明體" pitchFamily="18" charset="-120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kumimoji="1" sz="3200" b="1">
          <a:solidFill>
            <a:schemeClr val="bg1"/>
          </a:solidFill>
          <a:latin typeface="Tahoma" pitchFamily="34" charset="0"/>
          <a:ea typeface="新細明體" pitchFamily="18" charset="-12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kumimoji="1" sz="3200" b="1">
          <a:solidFill>
            <a:schemeClr val="bg1"/>
          </a:solidFill>
          <a:latin typeface="Tahoma" pitchFamily="34" charset="0"/>
          <a:ea typeface="新細明體" pitchFamily="18" charset="-12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kumimoji="1" sz="3200" b="1">
          <a:solidFill>
            <a:schemeClr val="bg1"/>
          </a:solidFill>
          <a:latin typeface="Tahoma" pitchFamily="34" charset="0"/>
          <a:ea typeface="新細明體" pitchFamily="18" charset="-12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kumimoji="1" sz="3200" b="1">
          <a:solidFill>
            <a:schemeClr val="bg1"/>
          </a:solidFill>
          <a:latin typeface="Tahoma" pitchFamily="34" charset="0"/>
          <a:ea typeface="新細明體" pitchFamily="18" charset="-12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kumimoji="1" sz="3200" b="1">
          <a:solidFill>
            <a:schemeClr val="bg1"/>
          </a:solidFill>
          <a:latin typeface="Tahoma" pitchFamily="34" charset="0"/>
          <a:ea typeface="新細明體" pitchFamily="18" charset="-12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kumimoji="1" sz="3200" b="1">
          <a:solidFill>
            <a:schemeClr val="bg1"/>
          </a:solidFill>
          <a:latin typeface="Tahoma" pitchFamily="34" charset="0"/>
          <a:ea typeface="新細明體" pitchFamily="18" charset="-12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kumimoji="1" sz="3200" b="1">
          <a:solidFill>
            <a:schemeClr val="bg1"/>
          </a:solidFill>
          <a:latin typeface="Tahoma" pitchFamily="34" charset="0"/>
          <a:ea typeface="新細明體" pitchFamily="18" charset="-12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kumimoji="1" sz="3200" b="1">
          <a:solidFill>
            <a:schemeClr val="bg1"/>
          </a:solidFill>
          <a:latin typeface="Tahoma" pitchFamily="34" charset="0"/>
          <a:ea typeface="新細明體" pitchFamily="18" charset="-12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lr>
          <a:schemeClr val="tx2"/>
        </a:buClr>
        <a:buFont typeface="Wingdings" pitchFamily="2" charset="2"/>
        <a:buChar char="v"/>
        <a:defRPr kumimoji="1" sz="2800">
          <a:solidFill>
            <a:schemeClr val="tx1"/>
          </a:solidFill>
          <a:latin typeface="Tahoma" pitchFamily="34" charset="0"/>
          <a:ea typeface="新細明體" pitchFamily="18" charset="-120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lr>
          <a:srgbClr val="080808"/>
        </a:buClr>
        <a:buFont typeface="Wingdings" pitchFamily="2" charset="2"/>
        <a:buChar char="n"/>
        <a:defRPr kumimoji="1" sz="2400">
          <a:solidFill>
            <a:schemeClr val="tx1"/>
          </a:solidFill>
          <a:latin typeface="Tahoma" pitchFamily="34" charset="0"/>
          <a:ea typeface="新細明體" pitchFamily="18" charset="-120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lr>
          <a:srgbClr val="080808"/>
        </a:buClr>
        <a:buFont typeface="Wingdings" pitchFamily="2" charset="2"/>
        <a:buChar char="u"/>
        <a:defRPr kumimoji="1" sz="2000">
          <a:solidFill>
            <a:schemeClr val="tx1"/>
          </a:solidFill>
          <a:latin typeface="Tahoma" pitchFamily="34" charset="0"/>
          <a:ea typeface="新細明體" pitchFamily="18" charset="-120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lr>
          <a:srgbClr val="080808"/>
        </a:buClr>
        <a:buFont typeface="Wingdings" pitchFamily="2" charset="2"/>
        <a:buChar char="l"/>
        <a:defRPr kumimoji="1" sz="2000">
          <a:solidFill>
            <a:schemeClr val="tx1"/>
          </a:solidFill>
          <a:latin typeface="Tahoma" pitchFamily="34" charset="0"/>
          <a:ea typeface="新細明體" pitchFamily="18" charset="-120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lr>
          <a:srgbClr val="080808"/>
        </a:buClr>
        <a:buFont typeface="Wingdings" pitchFamily="2" charset="2"/>
        <a:buChar char="Ø"/>
        <a:defRPr kumimoji="1" sz="1600">
          <a:solidFill>
            <a:schemeClr val="tx1"/>
          </a:solidFill>
          <a:latin typeface="Tahoma" pitchFamily="34" charset="0"/>
          <a:ea typeface="新細明體" pitchFamily="18" charset="-120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lr>
          <a:srgbClr val="080808"/>
        </a:buClr>
        <a:buFont typeface="Wingdings" pitchFamily="2" charset="2"/>
        <a:buChar char="Ø"/>
        <a:defRPr kumimoji="1" sz="1600">
          <a:solidFill>
            <a:schemeClr val="tx1"/>
          </a:solidFill>
          <a:latin typeface="+mn-lt"/>
          <a:ea typeface="+mn-ea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lr>
          <a:srgbClr val="080808"/>
        </a:buClr>
        <a:buFont typeface="Wingdings" pitchFamily="2" charset="2"/>
        <a:buChar char="Ø"/>
        <a:defRPr kumimoji="1" sz="1600">
          <a:solidFill>
            <a:schemeClr val="tx1"/>
          </a:solidFill>
          <a:latin typeface="+mn-lt"/>
          <a:ea typeface="+mn-ea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lr>
          <a:srgbClr val="080808"/>
        </a:buClr>
        <a:buFont typeface="Wingdings" pitchFamily="2" charset="2"/>
        <a:buChar char="Ø"/>
        <a:defRPr kumimoji="1" sz="1600">
          <a:solidFill>
            <a:schemeClr val="tx1"/>
          </a:solidFill>
          <a:latin typeface="+mn-lt"/>
          <a:ea typeface="+mn-ea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lr>
          <a:srgbClr val="080808"/>
        </a:buClr>
        <a:buFont typeface="Wingdings" pitchFamily="2" charset="2"/>
        <a:buChar char="Ø"/>
        <a:defRPr kumimoji="1" sz="16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3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3563938" y="2290763"/>
            <a:ext cx="5324475" cy="381000"/>
          </a:xfrm>
        </p:spPr>
        <p:txBody>
          <a:bodyPr/>
          <a:lstStyle/>
          <a:p>
            <a:r>
              <a:rPr lang="en-US" altLang="zh-TW" sz="2800" dirty="0" smtClean="0">
                <a:ea typeface="新細明體" charset="-120"/>
              </a:rPr>
              <a:t>Driving Innovations™</a:t>
            </a:r>
            <a:endParaRPr lang="zh-TW" altLang="en-US" sz="2800" baseline="30000" smtClean="0">
              <a:ea typeface="新細明體" charset="-120"/>
            </a:endParaRPr>
          </a:p>
        </p:txBody>
      </p:sp>
      <p:sp>
        <p:nvSpPr>
          <p:cNvPr id="80281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249238" y="1106600"/>
            <a:ext cx="8666162" cy="762000"/>
          </a:xfrm>
        </p:spPr>
        <p:txBody>
          <a:bodyPr/>
          <a:lstStyle/>
          <a:p>
            <a:pPr>
              <a:defRPr/>
            </a:pPr>
            <a:r>
              <a:rPr lang="en-US" altLang="zh-TW" sz="4400" dirty="0" smtClean="0">
                <a:solidFill>
                  <a:srgbClr val="333333"/>
                </a:solidFill>
                <a:ea typeface="新細明體" charset="-120"/>
              </a:rPr>
              <a:t>Vicuna AE350 SMU Design </a:t>
            </a:r>
            <a:r>
              <a:rPr lang="en-US" altLang="zh-TW" sz="4400" dirty="0">
                <a:solidFill>
                  <a:srgbClr val="333333"/>
                </a:solidFill>
                <a:ea typeface="新細明體" charset="-120"/>
              </a:rPr>
              <a:t>S</a:t>
            </a:r>
            <a:r>
              <a:rPr lang="en-US" altLang="zh-TW" sz="4400" dirty="0" smtClean="0">
                <a:solidFill>
                  <a:srgbClr val="333333"/>
                </a:solidFill>
                <a:ea typeface="新細明體" charset="-120"/>
              </a:rPr>
              <a:t>pecification</a:t>
            </a:r>
          </a:p>
        </p:txBody>
      </p:sp>
      <p:sp>
        <p:nvSpPr>
          <p:cNvPr id="54275" name="Text Box 4"/>
          <p:cNvSpPr txBox="1">
            <a:spLocks noChangeArrowheads="1"/>
          </p:cNvSpPr>
          <p:nvPr/>
        </p:nvSpPr>
        <p:spPr bwMode="auto">
          <a:xfrm>
            <a:off x="7060565" y="5507354"/>
            <a:ext cx="2038350" cy="646331"/>
          </a:xfrm>
          <a:prstGeom prst="rect">
            <a:avLst/>
          </a:prstGeom>
          <a:solidFill>
            <a:schemeClr val="accent1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altLang="zh-TW" dirty="0" smtClean="0">
                <a:solidFill>
                  <a:schemeClr val="bg1"/>
                </a:solidFill>
              </a:rPr>
              <a:t>Ellis Chen</a:t>
            </a:r>
            <a:endParaRPr lang="en-US" altLang="zh-TW" dirty="0">
              <a:solidFill>
                <a:schemeClr val="bg1"/>
              </a:solidFill>
            </a:endParaRPr>
          </a:p>
          <a:p>
            <a:pPr algn="ctr"/>
            <a:r>
              <a:rPr lang="en-US" altLang="zh-TW" dirty="0" smtClean="0">
                <a:solidFill>
                  <a:schemeClr val="bg1"/>
                </a:solidFill>
              </a:rPr>
              <a:t>2019-03-05</a:t>
            </a:r>
            <a:endParaRPr lang="en-US" altLang="zh-TW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Outline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sz="2400" dirty="0"/>
              <a:t>Feature of </a:t>
            </a:r>
            <a:r>
              <a:rPr lang="en-US" altLang="zh-TW" sz="2400" dirty="0" smtClean="0"/>
              <a:t>ae350_smu_pd</a:t>
            </a:r>
          </a:p>
          <a:p>
            <a:r>
              <a:rPr lang="en-US" altLang="zh-TW" sz="2400" dirty="0" smtClean="0"/>
              <a:t>ae350_rstgen</a:t>
            </a:r>
          </a:p>
          <a:p>
            <a:pPr lvl="1"/>
            <a:r>
              <a:rPr lang="en-US" altLang="zh-TW" sz="2000" dirty="0" smtClean="0"/>
              <a:t>Add path for reset core 0</a:t>
            </a:r>
          </a:p>
          <a:p>
            <a:r>
              <a:rPr lang="en-US" altLang="zh-TW" sz="2400" dirty="0" smtClean="0"/>
              <a:t>ae350_smu</a:t>
            </a:r>
          </a:p>
          <a:p>
            <a:pPr lvl="1"/>
            <a:r>
              <a:rPr lang="en-US" altLang="zh-TW" sz="2000" dirty="0" smtClean="0"/>
              <a:t>Old/New hierarchy block diagram</a:t>
            </a:r>
          </a:p>
          <a:p>
            <a:r>
              <a:rPr lang="en-US" altLang="zh-TW" sz="2400" dirty="0" smtClean="0"/>
              <a:t>ae350_smu_apbif</a:t>
            </a:r>
            <a:endParaRPr lang="en-US" altLang="zh-TW" sz="2400" dirty="0"/>
          </a:p>
          <a:p>
            <a:pPr lvl="1"/>
            <a:r>
              <a:rPr lang="en-US" altLang="zh-TW" sz="2000" dirty="0" smtClean="0"/>
              <a:t>New register for power control</a:t>
            </a:r>
          </a:p>
          <a:p>
            <a:r>
              <a:rPr lang="en-US" altLang="zh-TW" sz="2400" dirty="0" smtClean="0"/>
              <a:t>ae350_smu_mpd (Main power domain)</a:t>
            </a:r>
          </a:p>
          <a:p>
            <a:pPr lvl="1"/>
            <a:r>
              <a:rPr lang="en-US" altLang="zh-TW" sz="2000" dirty="0" smtClean="0"/>
              <a:t>Remove core clock/power related logic</a:t>
            </a:r>
          </a:p>
          <a:p>
            <a:r>
              <a:rPr lang="en-US" altLang="zh-TW" sz="2400" dirty="0" smtClean="0"/>
              <a:t>ae350_smu_pd (Core/L2 power domain)</a:t>
            </a:r>
          </a:p>
          <a:p>
            <a:pPr lvl="1"/>
            <a:r>
              <a:rPr lang="en-US" altLang="zh-TW" sz="2000" dirty="0" smtClean="0"/>
              <a:t>Interface</a:t>
            </a:r>
          </a:p>
          <a:p>
            <a:pPr lvl="1"/>
            <a:r>
              <a:rPr lang="en-US" altLang="zh-TW" sz="2000" dirty="0" smtClean="0"/>
              <a:t>FSM for power control </a:t>
            </a:r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3828412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Feature of ae350_smu_pd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sz="2400" dirty="0"/>
              <a:t>Support for a </a:t>
            </a:r>
            <a:r>
              <a:rPr lang="en-US" altLang="zh-TW" sz="2400" dirty="0" smtClean="0"/>
              <a:t>power/clock domain control </a:t>
            </a:r>
            <a:endParaRPr lang="en-US" altLang="zh-TW" sz="2400" dirty="0"/>
          </a:p>
          <a:p>
            <a:pPr lvl="1"/>
            <a:r>
              <a:rPr lang="en-US" altLang="zh-TW" sz="2000" dirty="0" smtClean="0"/>
              <a:t>Power source</a:t>
            </a:r>
          </a:p>
          <a:p>
            <a:pPr lvl="1"/>
            <a:r>
              <a:rPr lang="en-US" altLang="zh-TW" sz="2000" dirty="0" smtClean="0"/>
              <a:t>Clock source</a:t>
            </a:r>
          </a:p>
          <a:p>
            <a:pPr lvl="1"/>
            <a:r>
              <a:rPr lang="en-US" altLang="zh-TW" sz="2000" dirty="0" smtClean="0"/>
              <a:t>Isolation cell</a:t>
            </a:r>
          </a:p>
          <a:p>
            <a:pPr lvl="1"/>
            <a:r>
              <a:rPr lang="en-US" altLang="zh-TW" sz="2000" dirty="0" smtClean="0"/>
              <a:t>Retention cell</a:t>
            </a:r>
          </a:p>
          <a:p>
            <a:r>
              <a:rPr lang="en-US" altLang="zh-TW" sz="2400" dirty="0" smtClean="0"/>
              <a:t>Support </a:t>
            </a:r>
            <a:r>
              <a:rPr lang="en-US" altLang="zh-TW" sz="2400" dirty="0"/>
              <a:t>for wakeup event mask</a:t>
            </a:r>
          </a:p>
          <a:p>
            <a:r>
              <a:rPr lang="en-US" altLang="zh-TW" sz="2400" dirty="0" smtClean="0"/>
              <a:t>Support </a:t>
            </a:r>
            <a:r>
              <a:rPr lang="en-US" altLang="zh-TW" sz="2400" dirty="0"/>
              <a:t>for </a:t>
            </a:r>
            <a:r>
              <a:rPr lang="en-US" altLang="zh-TW" sz="2400" dirty="0" smtClean="0"/>
              <a:t>light sleep/deep sleep </a:t>
            </a:r>
            <a:r>
              <a:rPr lang="en-US" altLang="zh-TW" sz="2400" dirty="0"/>
              <a:t>modes </a:t>
            </a:r>
            <a:endParaRPr lang="en-US" altLang="zh-TW" sz="2400" dirty="0" smtClean="0"/>
          </a:p>
          <a:p>
            <a:r>
              <a:rPr lang="en-US" altLang="zh-TW" sz="2400" dirty="0" smtClean="0"/>
              <a:t>Support </a:t>
            </a:r>
            <a:r>
              <a:rPr lang="en-US" altLang="zh-TW" sz="2400" dirty="0"/>
              <a:t>for dynamic voltage frequency scaling (DVFS)</a:t>
            </a:r>
          </a:p>
          <a:p>
            <a:endParaRPr lang="zh-TW" altLang="en-US" sz="2400" dirty="0"/>
          </a:p>
        </p:txBody>
      </p:sp>
    </p:spTree>
    <p:extLst>
      <p:ext uri="{BB962C8B-B14F-4D97-AF65-F5344CB8AC3E}">
        <p14:creationId xmlns:p14="http://schemas.microsoft.com/office/powerpoint/2010/main" val="17040029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ae350_rstgen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In ae350_rstgen, </a:t>
            </a:r>
            <a:r>
              <a:rPr lang="en-US" altLang="zh-TW" dirty="0" smtClean="0"/>
              <a:t>core0_resetn is </a:t>
            </a:r>
            <a:r>
              <a:rPr lang="en-US" altLang="zh-TW" dirty="0"/>
              <a:t>controlled by </a:t>
            </a:r>
            <a:r>
              <a:rPr lang="en-US" altLang="zh-TW" dirty="0" err="1" smtClean="0"/>
              <a:t>aresetn_src</a:t>
            </a:r>
            <a:r>
              <a:rPr lang="en-US" altLang="zh-TW" dirty="0" smtClean="0"/>
              <a:t>.</a:t>
            </a:r>
          </a:p>
          <a:p>
            <a:r>
              <a:rPr lang="en-US" altLang="zh-TW" dirty="0"/>
              <a:t>c</a:t>
            </a:r>
            <a:r>
              <a:rPr lang="en-US" altLang="zh-TW" dirty="0" smtClean="0"/>
              <a:t>ore[1~3]_</a:t>
            </a:r>
            <a:r>
              <a:rPr lang="en-US" altLang="zh-TW" dirty="0" err="1" smtClean="0"/>
              <a:t>resetn</a:t>
            </a:r>
            <a:r>
              <a:rPr lang="en-US" altLang="zh-TW" dirty="0" smtClean="0"/>
              <a:t> </a:t>
            </a:r>
            <a:r>
              <a:rPr lang="en-US" altLang="zh-TW" dirty="0"/>
              <a:t>is controlled by </a:t>
            </a:r>
            <a:r>
              <a:rPr lang="en-US" altLang="zh-TW" dirty="0" smtClean="0"/>
              <a:t>SMU.</a:t>
            </a:r>
          </a:p>
          <a:p>
            <a:r>
              <a:rPr lang="en-US" altLang="zh-TW" dirty="0" smtClean="0"/>
              <a:t>Add a </a:t>
            </a:r>
            <a:r>
              <a:rPr lang="en-US" altLang="zh-TW" dirty="0"/>
              <a:t>path for reset core </a:t>
            </a:r>
            <a:r>
              <a:rPr lang="en-US" altLang="zh-TW" dirty="0" smtClean="0"/>
              <a:t>0</a:t>
            </a:r>
          </a:p>
          <a:p>
            <a:endParaRPr lang="en-US" altLang="zh-TW" dirty="0"/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0901816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1" algn="l"/>
            <a:r>
              <a:rPr lang="en-US" altLang="zh-TW" dirty="0" smtClean="0"/>
              <a:t>Old </a:t>
            </a:r>
            <a:r>
              <a:rPr lang="en-US" altLang="zh-TW" dirty="0"/>
              <a:t>hierarchy block </a:t>
            </a:r>
            <a:r>
              <a:rPr lang="en-US" altLang="zh-TW" dirty="0" smtClean="0"/>
              <a:t>diagram in AE350</a:t>
            </a:r>
            <a:endParaRPr lang="zh-TW" altLang="en-US" dirty="0"/>
          </a:p>
        </p:txBody>
      </p:sp>
      <p:sp>
        <p:nvSpPr>
          <p:cNvPr id="4" name="矩形 3"/>
          <p:cNvSpPr/>
          <p:nvPr/>
        </p:nvSpPr>
        <p:spPr bwMode="auto">
          <a:xfrm>
            <a:off x="638174" y="1051440"/>
            <a:ext cx="7762875" cy="5273159"/>
          </a:xfrm>
          <a:prstGeom prst="rect">
            <a:avLst/>
          </a:prstGeom>
          <a:noFill/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TW" altLang="en-US" sz="18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5" name="矩形 4"/>
          <p:cNvSpPr/>
          <p:nvPr/>
        </p:nvSpPr>
        <p:spPr bwMode="auto">
          <a:xfrm>
            <a:off x="790574" y="1176814"/>
            <a:ext cx="2743202" cy="1454229"/>
          </a:xfrm>
          <a:prstGeom prst="rect">
            <a:avLst/>
          </a:prstGeom>
          <a:noFill/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TW" altLang="en-US" sz="18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790574" y="2261711"/>
            <a:ext cx="210826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dirty="0"/>
              <a:t>ae350_smu_apbif</a:t>
            </a:r>
            <a:endParaRPr lang="zh-TW" altLang="en-US" dirty="0"/>
          </a:p>
        </p:txBody>
      </p:sp>
      <p:sp>
        <p:nvSpPr>
          <p:cNvPr id="7" name="矩形 6"/>
          <p:cNvSpPr/>
          <p:nvPr/>
        </p:nvSpPr>
        <p:spPr>
          <a:xfrm>
            <a:off x="771523" y="3883699"/>
            <a:ext cx="204414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dirty="0"/>
              <a:t>ae350_smu_mpd</a:t>
            </a:r>
            <a:endParaRPr lang="zh-TW" altLang="en-US" dirty="0"/>
          </a:p>
        </p:txBody>
      </p:sp>
      <p:sp>
        <p:nvSpPr>
          <p:cNvPr id="8" name="矩形 7"/>
          <p:cNvSpPr/>
          <p:nvPr/>
        </p:nvSpPr>
        <p:spPr>
          <a:xfrm>
            <a:off x="3686175" y="5688568"/>
            <a:ext cx="259558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dirty="0"/>
              <a:t>ae350_smu_aopd_top</a:t>
            </a:r>
            <a:endParaRPr lang="zh-TW" altLang="en-US" dirty="0"/>
          </a:p>
        </p:txBody>
      </p:sp>
      <p:sp>
        <p:nvSpPr>
          <p:cNvPr id="9" name="矩形 8"/>
          <p:cNvSpPr/>
          <p:nvPr/>
        </p:nvSpPr>
        <p:spPr>
          <a:xfrm>
            <a:off x="3852861" y="1685925"/>
            <a:ext cx="272382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dirty="0"/>
              <a:t>ae350_smu_aopd_core</a:t>
            </a:r>
            <a:endParaRPr lang="zh-TW" altLang="en-US" dirty="0"/>
          </a:p>
        </p:txBody>
      </p:sp>
      <p:sp>
        <p:nvSpPr>
          <p:cNvPr id="10" name="矩形 9"/>
          <p:cNvSpPr/>
          <p:nvPr/>
        </p:nvSpPr>
        <p:spPr>
          <a:xfrm>
            <a:off x="3852861" y="2570202"/>
            <a:ext cx="198002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dirty="0"/>
              <a:t>ae350_aopd_pin</a:t>
            </a:r>
            <a:endParaRPr lang="zh-TW" altLang="en-US" dirty="0"/>
          </a:p>
        </p:txBody>
      </p:sp>
      <p:sp>
        <p:nvSpPr>
          <p:cNvPr id="11" name="矩形 10"/>
          <p:cNvSpPr/>
          <p:nvPr/>
        </p:nvSpPr>
        <p:spPr>
          <a:xfrm>
            <a:off x="3852861" y="3432691"/>
            <a:ext cx="236475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dirty="0"/>
              <a:t>ae350_aopd_clkgen</a:t>
            </a:r>
            <a:endParaRPr lang="zh-TW" altLang="en-US" dirty="0"/>
          </a:p>
        </p:txBody>
      </p:sp>
      <p:sp>
        <p:nvSpPr>
          <p:cNvPr id="12" name="矩形 11"/>
          <p:cNvSpPr/>
          <p:nvPr/>
        </p:nvSpPr>
        <p:spPr>
          <a:xfrm>
            <a:off x="3838575" y="4308991"/>
            <a:ext cx="233910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dirty="0" smtClean="0"/>
              <a:t>ae350_aopd_rstgen</a:t>
            </a:r>
            <a:endParaRPr lang="zh-TW" altLang="en-US" dirty="0"/>
          </a:p>
        </p:txBody>
      </p:sp>
      <p:sp>
        <p:nvSpPr>
          <p:cNvPr id="13" name="矩形 12"/>
          <p:cNvSpPr/>
          <p:nvPr/>
        </p:nvSpPr>
        <p:spPr>
          <a:xfrm>
            <a:off x="3852861" y="5193626"/>
            <a:ext cx="245451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dirty="0" smtClean="0"/>
              <a:t>ae350_aopd_testgen</a:t>
            </a:r>
            <a:endParaRPr lang="zh-TW" altLang="en-US" dirty="0"/>
          </a:p>
        </p:txBody>
      </p:sp>
      <p:sp>
        <p:nvSpPr>
          <p:cNvPr id="14" name="矩形 13"/>
          <p:cNvSpPr/>
          <p:nvPr/>
        </p:nvSpPr>
        <p:spPr bwMode="auto">
          <a:xfrm>
            <a:off x="790574" y="2798802"/>
            <a:ext cx="2743202" cy="1454229"/>
          </a:xfrm>
          <a:prstGeom prst="rect">
            <a:avLst/>
          </a:prstGeom>
          <a:noFill/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TW" altLang="en-US" sz="18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5" name="矩形 14"/>
          <p:cNvSpPr/>
          <p:nvPr/>
        </p:nvSpPr>
        <p:spPr bwMode="auto">
          <a:xfrm>
            <a:off x="3686175" y="1176814"/>
            <a:ext cx="4552949" cy="4881086"/>
          </a:xfrm>
          <a:prstGeom prst="rect">
            <a:avLst/>
          </a:prstGeom>
          <a:noFill/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TW" altLang="en-US" sz="18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6" name="矩形 15"/>
          <p:cNvSpPr/>
          <p:nvPr/>
        </p:nvSpPr>
        <p:spPr bwMode="auto">
          <a:xfrm>
            <a:off x="3838575" y="1323380"/>
            <a:ext cx="4219575" cy="731877"/>
          </a:xfrm>
          <a:prstGeom prst="rect">
            <a:avLst/>
          </a:prstGeom>
          <a:noFill/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TW" altLang="en-US" sz="18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21" name="矩形 20"/>
          <p:cNvSpPr/>
          <p:nvPr/>
        </p:nvSpPr>
        <p:spPr bwMode="auto">
          <a:xfrm>
            <a:off x="3838574" y="2207657"/>
            <a:ext cx="4219575" cy="731877"/>
          </a:xfrm>
          <a:prstGeom prst="rect">
            <a:avLst/>
          </a:prstGeom>
          <a:noFill/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TW" altLang="en-US" sz="18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22" name="矩形 21"/>
          <p:cNvSpPr/>
          <p:nvPr/>
        </p:nvSpPr>
        <p:spPr bwMode="auto">
          <a:xfrm>
            <a:off x="3852861" y="3070146"/>
            <a:ext cx="4219575" cy="731877"/>
          </a:xfrm>
          <a:prstGeom prst="rect">
            <a:avLst/>
          </a:prstGeom>
          <a:noFill/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TW" altLang="en-US" sz="18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23" name="矩形 22"/>
          <p:cNvSpPr/>
          <p:nvPr/>
        </p:nvSpPr>
        <p:spPr bwMode="auto">
          <a:xfrm>
            <a:off x="3852861" y="3961805"/>
            <a:ext cx="4219575" cy="731877"/>
          </a:xfrm>
          <a:prstGeom prst="rect">
            <a:avLst/>
          </a:prstGeom>
          <a:noFill/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TW" altLang="en-US" sz="18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24" name="矩形 23"/>
          <p:cNvSpPr/>
          <p:nvPr/>
        </p:nvSpPr>
        <p:spPr bwMode="auto">
          <a:xfrm>
            <a:off x="3852861" y="4831081"/>
            <a:ext cx="4219575" cy="731877"/>
          </a:xfrm>
          <a:prstGeom prst="rect">
            <a:avLst/>
          </a:prstGeom>
          <a:noFill/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TW" altLang="en-US" sz="18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25" name="矩形 24"/>
          <p:cNvSpPr/>
          <p:nvPr/>
        </p:nvSpPr>
        <p:spPr>
          <a:xfrm>
            <a:off x="638174" y="5957769"/>
            <a:ext cx="142859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dirty="0" smtClean="0"/>
              <a:t>ae350_smu</a:t>
            </a:r>
            <a:endParaRPr lang="zh-TW" altLang="en-US" dirty="0"/>
          </a:p>
        </p:txBody>
      </p:sp>
      <p:sp>
        <p:nvSpPr>
          <p:cNvPr id="26" name="矩形 25"/>
          <p:cNvSpPr/>
          <p:nvPr/>
        </p:nvSpPr>
        <p:spPr bwMode="auto">
          <a:xfrm>
            <a:off x="990367" y="1323380"/>
            <a:ext cx="2343383" cy="28634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lg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/>
            <a:r>
              <a:rPr lang="en-US" altLang="zh-TW" sz="1400" b="0" dirty="0"/>
              <a:t>R</a:t>
            </a:r>
            <a:r>
              <a:rPr lang="en-US" altLang="zh-TW" sz="1400" b="0" dirty="0" smtClean="0"/>
              <a:t>egisters</a:t>
            </a:r>
            <a:endParaRPr lang="zh-TW" altLang="en-US" sz="1400" b="0" dirty="0"/>
          </a:p>
        </p:txBody>
      </p:sp>
      <p:sp>
        <p:nvSpPr>
          <p:cNvPr id="28" name="矩形 27"/>
          <p:cNvSpPr/>
          <p:nvPr/>
        </p:nvSpPr>
        <p:spPr bwMode="auto">
          <a:xfrm>
            <a:off x="990366" y="2939892"/>
            <a:ext cx="2343383" cy="289083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lg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/>
            <a:r>
              <a:rPr lang="en-US" altLang="zh-TW" sz="1400" b="0" dirty="0" smtClean="0"/>
              <a:t>FSM for power mode</a:t>
            </a:r>
            <a:endParaRPr lang="zh-TW" altLang="en-US" sz="1400" b="0" dirty="0"/>
          </a:p>
        </p:txBody>
      </p:sp>
      <p:sp>
        <p:nvSpPr>
          <p:cNvPr id="29" name="矩形 28"/>
          <p:cNvSpPr/>
          <p:nvPr/>
        </p:nvSpPr>
        <p:spPr bwMode="auto">
          <a:xfrm>
            <a:off x="3938375" y="4909572"/>
            <a:ext cx="2890840" cy="287447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lg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r>
              <a:rPr lang="en-US" altLang="zh-TW" sz="1400" b="0" dirty="0" smtClean="0"/>
              <a:t>Test signal connection</a:t>
            </a:r>
            <a:endParaRPr lang="zh-TW" altLang="en-US" sz="1400" b="0" dirty="0"/>
          </a:p>
        </p:txBody>
      </p:sp>
      <p:sp>
        <p:nvSpPr>
          <p:cNvPr id="30" name="矩形 29"/>
          <p:cNvSpPr/>
          <p:nvPr/>
        </p:nvSpPr>
        <p:spPr bwMode="auto">
          <a:xfrm>
            <a:off x="3938375" y="3159576"/>
            <a:ext cx="2890840" cy="287447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lg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r>
              <a:rPr lang="en-US" altLang="zh-TW" sz="1400" b="0" dirty="0" smtClean="0"/>
              <a:t>Clock signal with </a:t>
            </a:r>
            <a:r>
              <a:rPr lang="en-US" altLang="zh-TW" sz="1400" b="0" dirty="0" err="1" smtClean="0"/>
              <a:t>test_mode</a:t>
            </a:r>
            <a:r>
              <a:rPr lang="en-US" altLang="zh-TW" sz="1400" b="0" dirty="0" smtClean="0"/>
              <a:t> mux</a:t>
            </a:r>
            <a:endParaRPr lang="zh-TW" altLang="en-US" sz="1400" b="0" dirty="0"/>
          </a:p>
        </p:txBody>
      </p:sp>
      <p:sp>
        <p:nvSpPr>
          <p:cNvPr id="31" name="矩形 30"/>
          <p:cNvSpPr/>
          <p:nvPr/>
        </p:nvSpPr>
        <p:spPr bwMode="auto">
          <a:xfrm>
            <a:off x="3938375" y="4058840"/>
            <a:ext cx="2890840" cy="287447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lg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r>
              <a:rPr lang="en-US" altLang="zh-TW" sz="1400" b="0" dirty="0" smtClean="0"/>
              <a:t>Reset signal with </a:t>
            </a:r>
            <a:r>
              <a:rPr lang="en-US" altLang="zh-TW" sz="1400" b="0" dirty="0" err="1" smtClean="0"/>
              <a:t>test_mode</a:t>
            </a:r>
            <a:r>
              <a:rPr lang="en-US" altLang="zh-TW" sz="1400" b="0" dirty="0" smtClean="0"/>
              <a:t> mux</a:t>
            </a:r>
            <a:endParaRPr lang="zh-TW" altLang="en-US" sz="1400" b="0" dirty="0"/>
          </a:p>
        </p:txBody>
      </p:sp>
      <p:sp>
        <p:nvSpPr>
          <p:cNvPr id="32" name="矩形 31"/>
          <p:cNvSpPr/>
          <p:nvPr/>
        </p:nvSpPr>
        <p:spPr bwMode="auto">
          <a:xfrm>
            <a:off x="3976475" y="2348686"/>
            <a:ext cx="3653050" cy="232589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lg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/>
            <a:r>
              <a:rPr lang="en-US" altLang="zh-TW" sz="900" b="0" dirty="0" smtClean="0"/>
              <a:t>IO Pad for </a:t>
            </a:r>
            <a:r>
              <a:rPr lang="en-US" altLang="zh-TW" sz="900" b="0" dirty="0" err="1" smtClean="0"/>
              <a:t>aopd_porb</a:t>
            </a:r>
            <a:r>
              <a:rPr lang="en-US" altLang="zh-TW" sz="900" b="0" dirty="0" smtClean="0"/>
              <a:t>/</a:t>
            </a:r>
            <a:r>
              <a:rPr lang="en-US" altLang="zh-TW" sz="900" b="0" dirty="0" err="1" smtClean="0"/>
              <a:t>om</a:t>
            </a:r>
            <a:r>
              <a:rPr lang="en-US" altLang="zh-TW" sz="900" b="0" dirty="0" smtClean="0"/>
              <a:t>/</a:t>
            </a:r>
            <a:r>
              <a:rPr lang="en-US" altLang="zh-TW" sz="900" b="0" dirty="0" err="1" smtClean="0"/>
              <a:t>jtag_tck</a:t>
            </a:r>
            <a:r>
              <a:rPr lang="en-US" altLang="zh-TW" sz="900" b="0" dirty="0" smtClean="0"/>
              <a:t>/wakeup/</a:t>
            </a:r>
            <a:r>
              <a:rPr lang="en-US" altLang="zh-TW" sz="900" b="0" dirty="0" err="1" smtClean="0"/>
              <a:t>rtc_wakeup</a:t>
            </a:r>
            <a:r>
              <a:rPr lang="en-US" altLang="zh-TW" sz="900" b="0" dirty="0" smtClean="0"/>
              <a:t>/</a:t>
            </a:r>
            <a:r>
              <a:rPr lang="en-US" altLang="zh-TW" sz="900" b="0" dirty="0" err="1" smtClean="0"/>
              <a:t>mpd_pwr_pff</a:t>
            </a:r>
            <a:endParaRPr lang="zh-TW" altLang="en-US" sz="900" b="0" dirty="0"/>
          </a:p>
        </p:txBody>
      </p:sp>
      <p:sp>
        <p:nvSpPr>
          <p:cNvPr id="34" name="矩形 33"/>
          <p:cNvSpPr/>
          <p:nvPr/>
        </p:nvSpPr>
        <p:spPr bwMode="auto">
          <a:xfrm>
            <a:off x="3976475" y="1437680"/>
            <a:ext cx="2852740" cy="28634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lg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r>
              <a:rPr lang="en-US" altLang="zh-TW" sz="1400" b="0" dirty="0" smtClean="0"/>
              <a:t>Synchronizer for RTC signal</a:t>
            </a:r>
            <a:endParaRPr lang="zh-TW" altLang="en-US" sz="1400" b="0" dirty="0"/>
          </a:p>
        </p:txBody>
      </p:sp>
    </p:spTree>
    <p:extLst>
      <p:ext uri="{BB962C8B-B14F-4D97-AF65-F5344CB8AC3E}">
        <p14:creationId xmlns:p14="http://schemas.microsoft.com/office/powerpoint/2010/main" val="31405037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矩形 32"/>
          <p:cNvSpPr/>
          <p:nvPr/>
        </p:nvSpPr>
        <p:spPr bwMode="auto">
          <a:xfrm>
            <a:off x="1090457" y="4647844"/>
            <a:ext cx="1895476" cy="1096447"/>
          </a:xfrm>
          <a:prstGeom prst="rect">
            <a:avLst/>
          </a:prstGeom>
          <a:solidFill>
            <a:schemeClr val="bg1"/>
          </a:solidFill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TW" altLang="en-US" sz="1800" b="1" i="0" u="none" strike="noStrike" cap="none" normalizeH="0" baseline="0" smtClean="0">
              <a:ln>
                <a:noFill/>
              </a:ln>
              <a:solidFill>
                <a:srgbClr val="FF0000"/>
              </a:solidFill>
              <a:effectLst/>
              <a:latin typeface="Arial" charset="0"/>
            </a:endParaRPr>
          </a:p>
        </p:txBody>
      </p:sp>
      <p:sp>
        <p:nvSpPr>
          <p:cNvPr id="32" name="矩形 31"/>
          <p:cNvSpPr/>
          <p:nvPr/>
        </p:nvSpPr>
        <p:spPr bwMode="auto">
          <a:xfrm>
            <a:off x="993842" y="4535448"/>
            <a:ext cx="1895476" cy="1096447"/>
          </a:xfrm>
          <a:prstGeom prst="rect">
            <a:avLst/>
          </a:prstGeom>
          <a:solidFill>
            <a:schemeClr val="bg1"/>
          </a:solidFill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TW" altLang="en-US" sz="1800" b="1" i="0" u="none" strike="noStrike" cap="none" normalizeH="0" baseline="0" smtClean="0">
              <a:ln>
                <a:noFill/>
              </a:ln>
              <a:solidFill>
                <a:srgbClr val="FF0000"/>
              </a:solidFill>
              <a:effectLst/>
              <a:latin typeface="Arial" charset="0"/>
            </a:endParaRPr>
          </a:p>
        </p:txBody>
      </p:sp>
      <p:sp>
        <p:nvSpPr>
          <p:cNvPr id="31" name="矩形 30"/>
          <p:cNvSpPr/>
          <p:nvPr/>
        </p:nvSpPr>
        <p:spPr bwMode="auto">
          <a:xfrm>
            <a:off x="885824" y="4428411"/>
            <a:ext cx="1895476" cy="1096447"/>
          </a:xfrm>
          <a:prstGeom prst="rect">
            <a:avLst/>
          </a:prstGeom>
          <a:solidFill>
            <a:schemeClr val="bg1"/>
          </a:solidFill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TW" altLang="en-US" sz="1800" b="1" i="0" u="none" strike="noStrike" cap="none" normalizeH="0" baseline="0" smtClean="0">
              <a:ln>
                <a:noFill/>
              </a:ln>
              <a:solidFill>
                <a:srgbClr val="FF0000"/>
              </a:solidFill>
              <a:effectLst/>
              <a:latin typeface="Arial" charset="0"/>
            </a:endParaRPr>
          </a:p>
        </p:txBody>
      </p:sp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1"/>
            <a:r>
              <a:rPr lang="en-US" altLang="zh-TW" dirty="0" smtClean="0"/>
              <a:t>New </a:t>
            </a:r>
            <a:r>
              <a:rPr lang="en-US" altLang="zh-TW" dirty="0"/>
              <a:t>hierarchy block </a:t>
            </a:r>
            <a:r>
              <a:rPr lang="en-US" altLang="zh-TW" dirty="0" smtClean="0"/>
              <a:t>diagram</a:t>
            </a:r>
            <a:endParaRPr lang="zh-TW" altLang="en-US" dirty="0"/>
          </a:p>
        </p:txBody>
      </p:sp>
      <p:sp>
        <p:nvSpPr>
          <p:cNvPr id="4" name="矩形 3"/>
          <p:cNvSpPr/>
          <p:nvPr/>
        </p:nvSpPr>
        <p:spPr bwMode="auto">
          <a:xfrm>
            <a:off x="638174" y="1051440"/>
            <a:ext cx="7762875" cy="5273159"/>
          </a:xfrm>
          <a:prstGeom prst="rect">
            <a:avLst/>
          </a:prstGeom>
          <a:noFill/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TW" altLang="en-US" sz="18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5" name="矩形 4"/>
          <p:cNvSpPr/>
          <p:nvPr/>
        </p:nvSpPr>
        <p:spPr bwMode="auto">
          <a:xfrm>
            <a:off x="790574" y="1176814"/>
            <a:ext cx="2743202" cy="1454229"/>
          </a:xfrm>
          <a:prstGeom prst="rect">
            <a:avLst/>
          </a:prstGeom>
          <a:noFill/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TW" altLang="en-US" sz="18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790574" y="2261711"/>
            <a:ext cx="210826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dirty="0"/>
              <a:t>ae350_smu_apbif</a:t>
            </a:r>
            <a:endParaRPr lang="zh-TW" altLang="en-US" dirty="0"/>
          </a:p>
        </p:txBody>
      </p:sp>
      <p:sp>
        <p:nvSpPr>
          <p:cNvPr id="7" name="矩形 6"/>
          <p:cNvSpPr/>
          <p:nvPr/>
        </p:nvSpPr>
        <p:spPr>
          <a:xfrm>
            <a:off x="771523" y="3883699"/>
            <a:ext cx="204414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dirty="0"/>
              <a:t>ae350_smu_mpd</a:t>
            </a:r>
            <a:endParaRPr lang="zh-TW" altLang="en-US" dirty="0"/>
          </a:p>
        </p:txBody>
      </p:sp>
      <p:sp>
        <p:nvSpPr>
          <p:cNvPr id="9" name="矩形 8"/>
          <p:cNvSpPr/>
          <p:nvPr/>
        </p:nvSpPr>
        <p:spPr>
          <a:xfrm>
            <a:off x="3852861" y="1685925"/>
            <a:ext cx="272382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dirty="0"/>
              <a:t>ae350_smu_aopd_core</a:t>
            </a:r>
            <a:endParaRPr lang="zh-TW" altLang="en-US" dirty="0"/>
          </a:p>
        </p:txBody>
      </p:sp>
      <p:sp>
        <p:nvSpPr>
          <p:cNvPr id="10" name="矩形 9"/>
          <p:cNvSpPr/>
          <p:nvPr/>
        </p:nvSpPr>
        <p:spPr>
          <a:xfrm>
            <a:off x="3852861" y="2570202"/>
            <a:ext cx="198002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dirty="0"/>
              <a:t>ae350_aopd_pin</a:t>
            </a:r>
            <a:endParaRPr lang="zh-TW" altLang="en-US" dirty="0"/>
          </a:p>
        </p:txBody>
      </p:sp>
      <p:sp>
        <p:nvSpPr>
          <p:cNvPr id="11" name="矩形 10"/>
          <p:cNvSpPr/>
          <p:nvPr/>
        </p:nvSpPr>
        <p:spPr>
          <a:xfrm>
            <a:off x="3852861" y="3432691"/>
            <a:ext cx="236475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dirty="0"/>
              <a:t>ae350_aopd_clkgen</a:t>
            </a:r>
            <a:endParaRPr lang="zh-TW" altLang="en-US" dirty="0"/>
          </a:p>
        </p:txBody>
      </p:sp>
      <p:sp>
        <p:nvSpPr>
          <p:cNvPr id="12" name="矩形 11"/>
          <p:cNvSpPr/>
          <p:nvPr/>
        </p:nvSpPr>
        <p:spPr>
          <a:xfrm>
            <a:off x="3838575" y="4308991"/>
            <a:ext cx="233910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dirty="0" smtClean="0"/>
              <a:t>ae350_aopd_rstgen</a:t>
            </a:r>
            <a:endParaRPr lang="zh-TW" altLang="en-US" dirty="0"/>
          </a:p>
        </p:txBody>
      </p:sp>
      <p:sp>
        <p:nvSpPr>
          <p:cNvPr id="13" name="矩形 12"/>
          <p:cNvSpPr/>
          <p:nvPr/>
        </p:nvSpPr>
        <p:spPr>
          <a:xfrm>
            <a:off x="3852861" y="5193626"/>
            <a:ext cx="245451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dirty="0" smtClean="0"/>
              <a:t>ae350_aopd_testgen</a:t>
            </a:r>
            <a:endParaRPr lang="zh-TW" altLang="en-US" dirty="0"/>
          </a:p>
        </p:txBody>
      </p:sp>
      <p:sp>
        <p:nvSpPr>
          <p:cNvPr id="14" name="矩形 13"/>
          <p:cNvSpPr/>
          <p:nvPr/>
        </p:nvSpPr>
        <p:spPr bwMode="auto">
          <a:xfrm>
            <a:off x="790574" y="2798802"/>
            <a:ext cx="2743202" cy="1454229"/>
          </a:xfrm>
          <a:prstGeom prst="rect">
            <a:avLst/>
          </a:prstGeom>
          <a:noFill/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TW" altLang="en-US" sz="18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6" name="矩形 15"/>
          <p:cNvSpPr/>
          <p:nvPr/>
        </p:nvSpPr>
        <p:spPr bwMode="auto">
          <a:xfrm>
            <a:off x="3838575" y="1323380"/>
            <a:ext cx="4219575" cy="731877"/>
          </a:xfrm>
          <a:prstGeom prst="rect">
            <a:avLst/>
          </a:prstGeom>
          <a:noFill/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TW" altLang="en-US" sz="18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7" name="矩形 16"/>
          <p:cNvSpPr/>
          <p:nvPr/>
        </p:nvSpPr>
        <p:spPr bwMode="auto">
          <a:xfrm>
            <a:off x="3838574" y="2207657"/>
            <a:ext cx="4219575" cy="731877"/>
          </a:xfrm>
          <a:prstGeom prst="rect">
            <a:avLst/>
          </a:prstGeom>
          <a:noFill/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TW" altLang="en-US" sz="18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8" name="矩形 17"/>
          <p:cNvSpPr/>
          <p:nvPr/>
        </p:nvSpPr>
        <p:spPr bwMode="auto">
          <a:xfrm>
            <a:off x="3852861" y="3070146"/>
            <a:ext cx="4219575" cy="731877"/>
          </a:xfrm>
          <a:prstGeom prst="rect">
            <a:avLst/>
          </a:prstGeom>
          <a:noFill/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TW" altLang="en-US" sz="18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9" name="矩形 18"/>
          <p:cNvSpPr/>
          <p:nvPr/>
        </p:nvSpPr>
        <p:spPr bwMode="auto">
          <a:xfrm>
            <a:off x="3852861" y="3961805"/>
            <a:ext cx="4219575" cy="731877"/>
          </a:xfrm>
          <a:prstGeom prst="rect">
            <a:avLst/>
          </a:prstGeom>
          <a:noFill/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TW" altLang="en-US" sz="18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20" name="矩形 19"/>
          <p:cNvSpPr/>
          <p:nvPr/>
        </p:nvSpPr>
        <p:spPr bwMode="auto">
          <a:xfrm>
            <a:off x="3852861" y="4831081"/>
            <a:ext cx="4219575" cy="731877"/>
          </a:xfrm>
          <a:prstGeom prst="rect">
            <a:avLst/>
          </a:prstGeom>
          <a:noFill/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TW" altLang="en-US" sz="18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21" name="矩形 20"/>
          <p:cNvSpPr/>
          <p:nvPr/>
        </p:nvSpPr>
        <p:spPr>
          <a:xfrm>
            <a:off x="638174" y="5957769"/>
            <a:ext cx="350608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dirty="0" smtClean="0"/>
              <a:t>ae350_smu(</a:t>
            </a:r>
            <a:r>
              <a:rPr lang="en-US" altLang="zh-TW" dirty="0" smtClean="0">
                <a:solidFill>
                  <a:srgbClr val="FF0000"/>
                </a:solidFill>
              </a:rPr>
              <a:t>Always-on region</a:t>
            </a:r>
            <a:r>
              <a:rPr lang="en-US" altLang="zh-TW" dirty="0" smtClean="0"/>
              <a:t>)</a:t>
            </a:r>
            <a:endParaRPr lang="zh-TW" altLang="en-US" dirty="0"/>
          </a:p>
        </p:txBody>
      </p:sp>
      <p:sp>
        <p:nvSpPr>
          <p:cNvPr id="22" name="矩形 21"/>
          <p:cNvSpPr/>
          <p:nvPr/>
        </p:nvSpPr>
        <p:spPr bwMode="auto">
          <a:xfrm>
            <a:off x="990367" y="1323380"/>
            <a:ext cx="2343383" cy="28634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lg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/>
            <a:r>
              <a:rPr lang="en-US" altLang="zh-TW" sz="1400" b="0" dirty="0"/>
              <a:t>R</a:t>
            </a:r>
            <a:r>
              <a:rPr lang="en-US" altLang="zh-TW" sz="1400" b="0" dirty="0" smtClean="0"/>
              <a:t>egisters</a:t>
            </a:r>
            <a:endParaRPr lang="zh-TW" altLang="en-US" sz="1400" b="0" dirty="0"/>
          </a:p>
        </p:txBody>
      </p:sp>
      <p:sp>
        <p:nvSpPr>
          <p:cNvPr id="24" name="矩形 23"/>
          <p:cNvSpPr/>
          <p:nvPr/>
        </p:nvSpPr>
        <p:spPr bwMode="auto">
          <a:xfrm>
            <a:off x="3938375" y="4909572"/>
            <a:ext cx="2890840" cy="287447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lg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r>
              <a:rPr lang="en-US" altLang="zh-TW" sz="1400" b="0" dirty="0" smtClean="0"/>
              <a:t>Test signal connection</a:t>
            </a:r>
            <a:endParaRPr lang="zh-TW" altLang="en-US" sz="1400" b="0" dirty="0"/>
          </a:p>
        </p:txBody>
      </p:sp>
      <p:sp>
        <p:nvSpPr>
          <p:cNvPr id="25" name="矩形 24"/>
          <p:cNvSpPr/>
          <p:nvPr/>
        </p:nvSpPr>
        <p:spPr bwMode="auto">
          <a:xfrm>
            <a:off x="3938375" y="3159576"/>
            <a:ext cx="2890840" cy="287447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lg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r>
              <a:rPr lang="en-US" altLang="zh-TW" sz="1400" b="0" dirty="0" smtClean="0"/>
              <a:t>Clock signal with </a:t>
            </a:r>
            <a:r>
              <a:rPr lang="en-US" altLang="zh-TW" sz="1400" b="0" dirty="0" err="1" smtClean="0"/>
              <a:t>test_mode</a:t>
            </a:r>
            <a:r>
              <a:rPr lang="en-US" altLang="zh-TW" sz="1400" b="0" dirty="0" smtClean="0"/>
              <a:t> mux</a:t>
            </a:r>
            <a:endParaRPr lang="zh-TW" altLang="en-US" sz="1400" b="0" dirty="0"/>
          </a:p>
        </p:txBody>
      </p:sp>
      <p:sp>
        <p:nvSpPr>
          <p:cNvPr id="26" name="矩形 25"/>
          <p:cNvSpPr/>
          <p:nvPr/>
        </p:nvSpPr>
        <p:spPr bwMode="auto">
          <a:xfrm>
            <a:off x="3938375" y="4058840"/>
            <a:ext cx="2890840" cy="287447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lg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r>
              <a:rPr lang="en-US" altLang="zh-TW" sz="1400" b="0" dirty="0" smtClean="0"/>
              <a:t>Reset signal with </a:t>
            </a:r>
            <a:r>
              <a:rPr lang="en-US" altLang="zh-TW" sz="1400" b="0" dirty="0" err="1" smtClean="0"/>
              <a:t>test_mode</a:t>
            </a:r>
            <a:r>
              <a:rPr lang="en-US" altLang="zh-TW" sz="1400" b="0" dirty="0" smtClean="0"/>
              <a:t> mux</a:t>
            </a:r>
            <a:endParaRPr lang="zh-TW" altLang="en-US" sz="1400" b="0" dirty="0"/>
          </a:p>
        </p:txBody>
      </p:sp>
      <p:sp>
        <p:nvSpPr>
          <p:cNvPr id="27" name="矩形 26"/>
          <p:cNvSpPr/>
          <p:nvPr/>
        </p:nvSpPr>
        <p:spPr bwMode="auto">
          <a:xfrm>
            <a:off x="3976475" y="2348686"/>
            <a:ext cx="3653050" cy="232589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lg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/>
            <a:r>
              <a:rPr lang="en-US" altLang="zh-TW" sz="900" b="0" dirty="0" smtClean="0"/>
              <a:t>IO Pad for </a:t>
            </a:r>
            <a:r>
              <a:rPr lang="en-US" altLang="zh-TW" sz="900" b="0" dirty="0" err="1" smtClean="0"/>
              <a:t>aopd_porb</a:t>
            </a:r>
            <a:r>
              <a:rPr lang="en-US" altLang="zh-TW" sz="900" b="0" dirty="0" smtClean="0"/>
              <a:t>/</a:t>
            </a:r>
            <a:r>
              <a:rPr lang="en-US" altLang="zh-TW" sz="900" b="0" dirty="0" err="1" smtClean="0"/>
              <a:t>om</a:t>
            </a:r>
            <a:r>
              <a:rPr lang="en-US" altLang="zh-TW" sz="900" b="0" dirty="0" smtClean="0"/>
              <a:t>/</a:t>
            </a:r>
            <a:r>
              <a:rPr lang="en-US" altLang="zh-TW" sz="900" b="0" dirty="0" err="1" smtClean="0"/>
              <a:t>jtag_tck</a:t>
            </a:r>
            <a:r>
              <a:rPr lang="en-US" altLang="zh-TW" sz="900" b="0" dirty="0" smtClean="0"/>
              <a:t>/wakeup/</a:t>
            </a:r>
            <a:r>
              <a:rPr lang="en-US" altLang="zh-TW" sz="900" b="0" dirty="0" err="1" smtClean="0"/>
              <a:t>rtc_wakeup</a:t>
            </a:r>
            <a:r>
              <a:rPr lang="en-US" altLang="zh-TW" sz="900" b="0" dirty="0" smtClean="0"/>
              <a:t>/</a:t>
            </a:r>
            <a:r>
              <a:rPr lang="en-US" altLang="zh-TW" sz="900" b="0" dirty="0" err="1" smtClean="0"/>
              <a:t>mpd_pwr_pff</a:t>
            </a:r>
            <a:endParaRPr lang="zh-TW" altLang="en-US" sz="900" b="0" dirty="0"/>
          </a:p>
        </p:txBody>
      </p:sp>
      <p:sp>
        <p:nvSpPr>
          <p:cNvPr id="28" name="矩形 27"/>
          <p:cNvSpPr/>
          <p:nvPr/>
        </p:nvSpPr>
        <p:spPr bwMode="auto">
          <a:xfrm>
            <a:off x="3976475" y="1437680"/>
            <a:ext cx="2852740" cy="28634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lg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r>
              <a:rPr lang="en-US" altLang="zh-TW" sz="1400" b="0" dirty="0"/>
              <a:t>Synchronizer for RTC signal</a:t>
            </a:r>
            <a:endParaRPr lang="zh-TW" altLang="en-US" sz="1400" b="0" dirty="0"/>
          </a:p>
        </p:txBody>
      </p:sp>
      <p:sp>
        <p:nvSpPr>
          <p:cNvPr id="29" name="矩形 28"/>
          <p:cNvSpPr/>
          <p:nvPr/>
        </p:nvSpPr>
        <p:spPr bwMode="auto">
          <a:xfrm>
            <a:off x="790574" y="4323636"/>
            <a:ext cx="1895476" cy="1096447"/>
          </a:xfrm>
          <a:prstGeom prst="rect">
            <a:avLst/>
          </a:prstGeom>
          <a:solidFill>
            <a:schemeClr val="bg1"/>
          </a:solidFill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TW" altLang="en-US" sz="1800" b="1" i="0" u="none" strike="noStrike" cap="none" normalizeH="0" baseline="0" smtClean="0">
              <a:ln>
                <a:noFill/>
              </a:ln>
              <a:solidFill>
                <a:srgbClr val="FF0000"/>
              </a:solidFill>
              <a:effectLst/>
              <a:latin typeface="Arial" charset="0"/>
            </a:endParaRPr>
          </a:p>
        </p:txBody>
      </p:sp>
      <p:sp>
        <p:nvSpPr>
          <p:cNvPr id="30" name="矩形 29"/>
          <p:cNvSpPr/>
          <p:nvPr/>
        </p:nvSpPr>
        <p:spPr>
          <a:xfrm>
            <a:off x="771523" y="5060754"/>
            <a:ext cx="183896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dirty="0" smtClean="0">
                <a:solidFill>
                  <a:srgbClr val="FF0000"/>
                </a:solidFill>
              </a:rPr>
              <a:t>ae350_smu_pd</a:t>
            </a:r>
            <a:endParaRPr lang="zh-TW" altLang="en-US" dirty="0">
              <a:solidFill>
                <a:srgbClr val="FF0000"/>
              </a:solidFill>
            </a:endParaRPr>
          </a:p>
        </p:txBody>
      </p:sp>
      <p:sp>
        <p:nvSpPr>
          <p:cNvPr id="35" name="矩形 34"/>
          <p:cNvSpPr/>
          <p:nvPr/>
        </p:nvSpPr>
        <p:spPr>
          <a:xfrm>
            <a:off x="847724" y="5686665"/>
            <a:ext cx="2528256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1600" dirty="0" smtClean="0">
                <a:solidFill>
                  <a:srgbClr val="FF0000"/>
                </a:solidFill>
              </a:rPr>
              <a:t>Core 0 and L2/Core 1~3</a:t>
            </a:r>
            <a:endParaRPr lang="zh-TW" altLang="en-US" sz="1600" dirty="0">
              <a:solidFill>
                <a:srgbClr val="FF0000"/>
              </a:solidFill>
            </a:endParaRPr>
          </a:p>
        </p:txBody>
      </p:sp>
      <p:sp>
        <p:nvSpPr>
          <p:cNvPr id="23" name="矩形 22"/>
          <p:cNvSpPr/>
          <p:nvPr/>
        </p:nvSpPr>
        <p:spPr bwMode="auto">
          <a:xfrm>
            <a:off x="885824" y="4418886"/>
            <a:ext cx="1714501" cy="289083"/>
          </a:xfrm>
          <a:prstGeom prst="rect">
            <a:avLst/>
          </a:prstGeom>
          <a:noFill/>
          <a:ln w="9525" cap="flat" cmpd="sng" algn="ctr">
            <a:solidFill>
              <a:srgbClr val="FF0000"/>
            </a:solidFill>
            <a:prstDash val="lg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/>
            <a:r>
              <a:rPr lang="en-US" altLang="zh-TW" sz="1200" b="0" dirty="0" smtClean="0">
                <a:solidFill>
                  <a:srgbClr val="FF0000"/>
                </a:solidFill>
              </a:rPr>
              <a:t>FSM for power mode</a:t>
            </a:r>
            <a:endParaRPr lang="zh-TW" altLang="en-US" sz="1200" b="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139298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New global </a:t>
            </a:r>
            <a:r>
              <a:rPr lang="en-US" altLang="zh-TW" dirty="0"/>
              <a:t>CSR </a:t>
            </a:r>
            <a:r>
              <a:rPr lang="en-US" altLang="zh-TW" dirty="0" smtClean="0"/>
              <a:t>for ae350_smu</a:t>
            </a:r>
            <a:endParaRPr lang="zh-TW" altLang="en-US" dirty="0"/>
          </a:p>
        </p:txBody>
      </p:sp>
      <p:sp>
        <p:nvSpPr>
          <p:cNvPr id="5" name="矩形 4"/>
          <p:cNvSpPr/>
          <p:nvPr/>
        </p:nvSpPr>
        <p:spPr>
          <a:xfrm>
            <a:off x="129308" y="1044059"/>
            <a:ext cx="503214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indent="0">
              <a:buNone/>
            </a:pPr>
            <a:r>
              <a:rPr lang="en-US" altLang="zh-TW" dirty="0"/>
              <a:t>Power M</a:t>
            </a:r>
            <a:r>
              <a:rPr lang="en-US" altLang="zh-TW" dirty="0" smtClean="0"/>
              <a:t>ode Cycle Register (PMCR) (0x100)</a:t>
            </a:r>
            <a:endParaRPr lang="en-US" altLang="zh-TW" dirty="0"/>
          </a:p>
        </p:txBody>
      </p:sp>
      <p:graphicFrame>
        <p:nvGraphicFramePr>
          <p:cNvPr id="8" name="表格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01364217"/>
              </p:ext>
            </p:extLst>
          </p:nvPr>
        </p:nvGraphicFramePr>
        <p:xfrm>
          <a:off x="129308" y="1432441"/>
          <a:ext cx="8010525" cy="1112520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1602105"/>
                <a:gridCol w="800774"/>
                <a:gridCol w="895350"/>
                <a:gridCol w="3629025"/>
                <a:gridCol w="1083271"/>
              </a:tblGrid>
              <a:tr h="370840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Name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Bit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Type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Description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Reset</a:t>
                      </a:r>
                      <a:endParaRPr lang="zh-TW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 err="1" smtClean="0"/>
                        <a:t>ret_cyc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15:0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RW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Cycles for retention state waiting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 err="1" smtClean="0"/>
                        <a:t>iso_cyc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31:16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RW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 smtClean="0"/>
                        <a:t>Cycles for isolation state waiting</a:t>
                      </a:r>
                      <a:endParaRPr lang="zh-TW" altLang="en-US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1" name="矩形 10"/>
          <p:cNvSpPr/>
          <p:nvPr/>
        </p:nvSpPr>
        <p:spPr>
          <a:xfrm>
            <a:off x="129308" y="2910959"/>
            <a:ext cx="663515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indent="0">
              <a:buNone/>
            </a:pPr>
            <a:r>
              <a:rPr lang="en-US" altLang="zh-TW" dirty="0"/>
              <a:t>Power M</a:t>
            </a:r>
            <a:r>
              <a:rPr lang="en-US" altLang="zh-TW" dirty="0" smtClean="0"/>
              <a:t>ode </a:t>
            </a:r>
            <a:r>
              <a:rPr lang="en-US" altLang="zh-TW" dirty="0"/>
              <a:t>Disable </a:t>
            </a:r>
            <a:r>
              <a:rPr lang="en-US" altLang="zh-TW" dirty="0" smtClean="0"/>
              <a:t>Initialization Register (PMDIR) (0x104)</a:t>
            </a:r>
            <a:endParaRPr lang="en-US" altLang="zh-TW" dirty="0"/>
          </a:p>
        </p:txBody>
      </p:sp>
      <p:graphicFrame>
        <p:nvGraphicFramePr>
          <p:cNvPr id="12" name="表格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41180267"/>
              </p:ext>
            </p:extLst>
          </p:nvPr>
        </p:nvGraphicFramePr>
        <p:xfrm>
          <a:off x="129308" y="3299341"/>
          <a:ext cx="8010525" cy="741680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1602105"/>
                <a:gridCol w="800774"/>
                <a:gridCol w="895350"/>
                <a:gridCol w="3629025"/>
                <a:gridCol w="1083271"/>
              </a:tblGrid>
              <a:tr h="370840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Name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Bit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Type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Description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Reset</a:t>
                      </a:r>
                      <a:endParaRPr lang="zh-TW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 err="1" smtClean="0"/>
                        <a:t>disable_init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31:0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RW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Control disable init for</a:t>
                      </a:r>
                      <a:r>
                        <a:rPr lang="en-US" altLang="zh-TW" baseline="0" dirty="0" smtClean="0"/>
                        <a:t> </a:t>
                      </a:r>
                      <a:r>
                        <a:rPr lang="en-US" altLang="zh-TW" baseline="0" dirty="0" smtClean="0"/>
                        <a:t>memories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5137773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New CSR for </a:t>
            </a:r>
            <a:r>
              <a:rPr lang="en-US" altLang="zh-TW" dirty="0" smtClean="0"/>
              <a:t>ae350_smu_pd</a:t>
            </a:r>
            <a:endParaRPr lang="zh-TW" altLang="en-US" dirty="0"/>
          </a:p>
        </p:txBody>
      </p:sp>
      <p:sp>
        <p:nvSpPr>
          <p:cNvPr id="6" name="矩形 5"/>
          <p:cNvSpPr/>
          <p:nvPr/>
        </p:nvSpPr>
        <p:spPr>
          <a:xfrm>
            <a:off x="175780" y="948809"/>
            <a:ext cx="418576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indent="0">
              <a:buNone/>
            </a:pPr>
            <a:r>
              <a:rPr lang="en-US" altLang="zh-TW" dirty="0"/>
              <a:t>Power Status </a:t>
            </a:r>
            <a:r>
              <a:rPr lang="en-US" altLang="zh-TW" dirty="0" smtClean="0"/>
              <a:t>Register (PSR) (0x200)</a:t>
            </a:r>
            <a:endParaRPr lang="en-US" altLang="zh-TW" dirty="0"/>
          </a:p>
        </p:txBody>
      </p:sp>
      <p:graphicFrame>
        <p:nvGraphicFramePr>
          <p:cNvPr id="8" name="表格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610988"/>
              </p:ext>
            </p:extLst>
          </p:nvPr>
        </p:nvGraphicFramePr>
        <p:xfrm>
          <a:off x="175780" y="1318141"/>
          <a:ext cx="8010525" cy="2382520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1602105"/>
                <a:gridCol w="867449"/>
                <a:gridCol w="838200"/>
                <a:gridCol w="3686175"/>
                <a:gridCol w="1016596"/>
              </a:tblGrid>
              <a:tr h="370840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Name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Bit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Type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Description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Reset</a:t>
                      </a:r>
                      <a:endParaRPr lang="zh-TW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 err="1" smtClean="0"/>
                        <a:t>pwr_st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3:0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RO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Power status</a:t>
                      </a:r>
                    </a:p>
                    <a:p>
                      <a:r>
                        <a:rPr lang="en-US" altLang="zh-TW" dirty="0" smtClean="0"/>
                        <a:t>0:ACTIVE</a:t>
                      </a:r>
                    </a:p>
                    <a:p>
                      <a:r>
                        <a:rPr lang="en-US" altLang="zh-TW" dirty="0" smtClean="0"/>
                        <a:t>1:DVFS</a:t>
                      </a:r>
                    </a:p>
                    <a:p>
                      <a:r>
                        <a:rPr lang="en-US" altLang="zh-TW" dirty="0" smtClean="0"/>
                        <a:t>2:ISOLATION</a:t>
                      </a:r>
                    </a:p>
                    <a:p>
                      <a:r>
                        <a:rPr lang="en-US" altLang="zh-TW" dirty="0" smtClean="0"/>
                        <a:t>3:RETENTION</a:t>
                      </a:r>
                    </a:p>
                    <a:p>
                      <a:r>
                        <a:rPr lang="en-US" altLang="zh-TW" dirty="0" smtClean="0"/>
                        <a:t>4:LIGHTSLEEP</a:t>
                      </a:r>
                    </a:p>
                    <a:p>
                      <a:r>
                        <a:rPr lang="en-US" altLang="zh-TW" dirty="0" smtClean="0"/>
                        <a:t>5:DEEPSLEEP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6680244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New CSR for </a:t>
            </a:r>
            <a:r>
              <a:rPr lang="en-US" altLang="zh-TW" dirty="0" smtClean="0"/>
              <a:t>ae350_smu_pd</a:t>
            </a:r>
            <a:endParaRPr lang="zh-TW" altLang="en-US" dirty="0"/>
          </a:p>
        </p:txBody>
      </p:sp>
      <p:sp>
        <p:nvSpPr>
          <p:cNvPr id="4" name="矩形 3"/>
          <p:cNvSpPr/>
          <p:nvPr/>
        </p:nvSpPr>
        <p:spPr>
          <a:xfrm>
            <a:off x="175780" y="2655804"/>
            <a:ext cx="469840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altLang="zh-TW" dirty="0"/>
              <a:t>Power Control Register </a:t>
            </a:r>
            <a:r>
              <a:rPr lang="en-US" altLang="zh-TW" dirty="0" smtClean="0"/>
              <a:t>(PCR) (0x208)</a:t>
            </a:r>
            <a:endParaRPr lang="en-US" altLang="zh-TW" dirty="0"/>
          </a:p>
        </p:txBody>
      </p:sp>
      <p:graphicFrame>
        <p:nvGraphicFramePr>
          <p:cNvPr id="5" name="表格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10070478"/>
              </p:ext>
            </p:extLst>
          </p:nvPr>
        </p:nvGraphicFramePr>
        <p:xfrm>
          <a:off x="175780" y="3015611"/>
          <a:ext cx="8010525" cy="2575560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1602105"/>
                <a:gridCol w="867449"/>
                <a:gridCol w="838200"/>
                <a:gridCol w="3686175"/>
                <a:gridCol w="1016596"/>
              </a:tblGrid>
              <a:tr h="370840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Name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Bit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Type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Description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Reset</a:t>
                      </a:r>
                      <a:endParaRPr lang="zh-TW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 err="1" smtClean="0"/>
                        <a:t>pwr_ctrl_cmd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3:0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RW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Power control command</a:t>
                      </a:r>
                    </a:p>
                    <a:p>
                      <a:r>
                        <a:rPr lang="en-US" altLang="zh-TW" dirty="0" smtClean="0"/>
                        <a:t>0: No action</a:t>
                      </a:r>
                    </a:p>
                    <a:p>
                      <a:r>
                        <a:rPr lang="en-US" altLang="zh-TW" dirty="0" smtClean="0"/>
                        <a:t>1: DVFS</a:t>
                      </a:r>
                    </a:p>
                    <a:p>
                      <a:r>
                        <a:rPr lang="en-US" altLang="zh-TW" dirty="0" smtClean="0"/>
                        <a:t>2: Light Sleep </a:t>
                      </a:r>
                    </a:p>
                    <a:p>
                      <a:r>
                        <a:rPr lang="en-US" altLang="zh-TW" dirty="0" smtClean="0"/>
                        <a:t>3: Deep</a:t>
                      </a:r>
                      <a:r>
                        <a:rPr lang="en-US" altLang="zh-TW" baseline="0" dirty="0" smtClean="0"/>
                        <a:t> Sleep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 err="1" smtClean="0"/>
                        <a:t>pwr_ctrl_frq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7:4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RO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Reserved</a:t>
                      </a:r>
                      <a:r>
                        <a:rPr lang="en-US" altLang="zh-TW" baseline="0" dirty="0" smtClean="0"/>
                        <a:t> for</a:t>
                      </a:r>
                      <a:r>
                        <a:rPr lang="en-US" altLang="zh-TW" dirty="0" smtClean="0"/>
                        <a:t> frequency</a:t>
                      </a:r>
                      <a:r>
                        <a:rPr lang="en-US" altLang="zh-TW" baseline="0" dirty="0" smtClean="0"/>
                        <a:t> vector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 err="1" smtClean="0"/>
                        <a:t>pwr_ctrl_vol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11:8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RW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Voltage</a:t>
                      </a:r>
                      <a:r>
                        <a:rPr lang="en-US" altLang="zh-TW" baseline="0" dirty="0" smtClean="0"/>
                        <a:t> vector for DVFS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矩形 5"/>
          <p:cNvSpPr/>
          <p:nvPr/>
        </p:nvSpPr>
        <p:spPr>
          <a:xfrm>
            <a:off x="175780" y="939888"/>
            <a:ext cx="469840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altLang="zh-TW" dirty="0"/>
              <a:t>Wakeup Enable </a:t>
            </a:r>
            <a:r>
              <a:rPr lang="en-US" altLang="zh-TW" dirty="0" smtClean="0"/>
              <a:t>Register (WER) (0x204)</a:t>
            </a:r>
            <a:endParaRPr lang="en-US" altLang="zh-TW" dirty="0"/>
          </a:p>
        </p:txBody>
      </p:sp>
      <p:graphicFrame>
        <p:nvGraphicFramePr>
          <p:cNvPr id="7" name="表格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06917812"/>
              </p:ext>
            </p:extLst>
          </p:nvPr>
        </p:nvGraphicFramePr>
        <p:xfrm>
          <a:off x="175780" y="1336247"/>
          <a:ext cx="8010525" cy="1285240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1602105"/>
                <a:gridCol w="896024"/>
                <a:gridCol w="809625"/>
                <a:gridCol w="3648075"/>
                <a:gridCol w="1054696"/>
              </a:tblGrid>
              <a:tr h="370840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Name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Bit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Type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Description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Reset</a:t>
                      </a:r>
                      <a:endParaRPr lang="zh-TW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 err="1" smtClean="0"/>
                        <a:t>wakeup_en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31:0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RW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Wake</a:t>
                      </a:r>
                      <a:r>
                        <a:rPr lang="en-US" altLang="zh-TW" baseline="0" dirty="0" smtClean="0"/>
                        <a:t>up event enable </a:t>
                      </a:r>
                    </a:p>
                    <a:p>
                      <a:r>
                        <a:rPr lang="en-US" altLang="zh-TW" baseline="0" dirty="0" smtClean="0"/>
                        <a:t>0:Disable wakeup event</a:t>
                      </a:r>
                    </a:p>
                    <a:p>
                      <a:r>
                        <a:rPr lang="en-US" altLang="zh-TW" baseline="0" dirty="0" smtClean="0"/>
                        <a:t>1:Enable wakeup event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0xffffffff</a:t>
                      </a:r>
                      <a:endParaRPr lang="zh-TW" altLang="en-US" dirty="0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7393404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Power mode definition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/>
              <a:t>DVFS</a:t>
            </a:r>
          </a:p>
          <a:p>
            <a:pPr lvl="1"/>
            <a:r>
              <a:rPr lang="en-US" altLang="zh-TW" dirty="0" smtClean="0"/>
              <a:t>Change voltage and frequency</a:t>
            </a:r>
            <a:endParaRPr lang="en-US" altLang="zh-TW" dirty="0"/>
          </a:p>
          <a:p>
            <a:r>
              <a:rPr lang="en-US" altLang="zh-TW" dirty="0" smtClean="0"/>
              <a:t>Light </a:t>
            </a:r>
            <a:r>
              <a:rPr lang="en-US" altLang="zh-TW" dirty="0"/>
              <a:t>Sleep </a:t>
            </a:r>
            <a:endParaRPr lang="en-US" altLang="zh-TW" dirty="0" smtClean="0"/>
          </a:p>
          <a:p>
            <a:pPr lvl="1"/>
            <a:r>
              <a:rPr lang="en-US" altLang="zh-TW" dirty="0" smtClean="0"/>
              <a:t>Core and RAM are </a:t>
            </a:r>
            <a:r>
              <a:rPr lang="en-US" altLang="zh-TW" dirty="0"/>
              <a:t>clock-gated.</a:t>
            </a:r>
            <a:endParaRPr lang="en-US" altLang="zh-TW" dirty="0" smtClean="0"/>
          </a:p>
          <a:p>
            <a:r>
              <a:rPr lang="en-US" altLang="zh-TW" dirty="0" smtClean="0"/>
              <a:t>Deep Sleep</a:t>
            </a:r>
          </a:p>
          <a:p>
            <a:pPr lvl="1"/>
            <a:r>
              <a:rPr lang="en-US" altLang="zh-TW" dirty="0"/>
              <a:t>Core and RAM </a:t>
            </a:r>
            <a:r>
              <a:rPr lang="en-US" altLang="zh-TW" dirty="0" smtClean="0"/>
              <a:t>are </a:t>
            </a:r>
            <a:r>
              <a:rPr lang="en-US" altLang="zh-TW" dirty="0"/>
              <a:t>powered off.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404870583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ae350_smu_mpd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/>
              <a:t>Remove </a:t>
            </a:r>
            <a:r>
              <a:rPr lang="en-US" altLang="zh-TW" dirty="0"/>
              <a:t>core clock/power related </a:t>
            </a:r>
            <a:r>
              <a:rPr lang="en-US" altLang="zh-TW" dirty="0" smtClean="0"/>
              <a:t>logic</a:t>
            </a:r>
          </a:p>
          <a:p>
            <a:pPr lvl="1"/>
            <a:r>
              <a:rPr lang="en-US" altLang="zh-TW" dirty="0" smtClean="0"/>
              <a:t>standby </a:t>
            </a:r>
            <a:r>
              <a:rPr lang="en-US" altLang="zh-TW" dirty="0"/>
              <a:t>state machine</a:t>
            </a:r>
          </a:p>
          <a:p>
            <a:pPr lvl="1"/>
            <a:r>
              <a:rPr lang="en-US" altLang="zh-TW" dirty="0" smtClean="0"/>
              <a:t>smu2core_standby_req</a:t>
            </a:r>
            <a:endParaRPr lang="en-US" altLang="zh-TW" dirty="0"/>
          </a:p>
          <a:p>
            <a:pPr lvl="1"/>
            <a:r>
              <a:rPr lang="en-US" altLang="zh-TW" dirty="0" smtClean="0"/>
              <a:t>smu2core_wakeup_ok</a:t>
            </a:r>
            <a:endParaRPr lang="en-US" altLang="zh-TW" dirty="0"/>
          </a:p>
          <a:p>
            <a:pPr lvl="1"/>
            <a:r>
              <a:rPr lang="en-US" altLang="zh-TW" dirty="0" smtClean="0"/>
              <a:t>core2smu_wfi_mode</a:t>
            </a:r>
            <a:endParaRPr lang="en-US" altLang="zh-TW" dirty="0"/>
          </a:p>
          <a:p>
            <a:pPr lvl="1"/>
            <a:endParaRPr lang="en-US" altLang="zh-TW" dirty="0"/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4860212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1"/>
            <a:r>
              <a:rPr lang="en-US" altLang="zh-TW" dirty="0" smtClean="0"/>
              <a:t>ae350_smu</a:t>
            </a:r>
            <a:r>
              <a:rPr lang="zh-TW" altLang="en-US" dirty="0" smtClean="0"/>
              <a:t> </a:t>
            </a:r>
            <a:r>
              <a:rPr lang="en-US" altLang="zh-TW" dirty="0" smtClean="0"/>
              <a:t>Interface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/>
              <a:t>Global signal for all power domain</a:t>
            </a:r>
          </a:p>
          <a:p>
            <a:pPr lvl="1"/>
            <a:r>
              <a:rPr lang="en-US" altLang="zh-TW" sz="1800" dirty="0" err="1" smtClean="0"/>
              <a:t>smu_disable_init</a:t>
            </a:r>
            <a:r>
              <a:rPr lang="en-US" altLang="zh-TW" sz="1800" dirty="0" smtClean="0"/>
              <a:t>[31:0</a:t>
            </a:r>
            <a:r>
              <a:rPr lang="en-US" altLang="zh-TW" sz="1800" dirty="0"/>
              <a:t>](input): Indicate signal which is </a:t>
            </a:r>
            <a:r>
              <a:rPr lang="en-US" altLang="zh-TW" sz="1800" dirty="0" smtClean="0"/>
              <a:t>asserted by </a:t>
            </a:r>
            <a:r>
              <a:rPr lang="en-US" altLang="zh-TW" sz="1800" dirty="0"/>
              <a:t>PMDIR</a:t>
            </a:r>
            <a:r>
              <a:rPr lang="en-US" altLang="zh-TW" sz="1800" dirty="0" smtClean="0"/>
              <a:t> </a:t>
            </a:r>
          </a:p>
          <a:p>
            <a:pPr lvl="2"/>
            <a:r>
              <a:rPr lang="en-US" altLang="zh-TW" sz="1400" dirty="0" smtClean="0"/>
              <a:t>For </a:t>
            </a:r>
            <a:r>
              <a:rPr lang="en-US" altLang="zh-TW" sz="1400" dirty="0" err="1" smtClean="0"/>
              <a:t>icache_disable_init</a:t>
            </a:r>
            <a:r>
              <a:rPr lang="en-US" altLang="zh-TW" sz="1400" dirty="0" smtClean="0"/>
              <a:t>/</a:t>
            </a:r>
            <a:r>
              <a:rPr lang="en-US" altLang="zh-TW" sz="1400" dirty="0" err="1" smtClean="0"/>
              <a:t>dcache_disable_init</a:t>
            </a:r>
            <a:r>
              <a:rPr lang="en-US" altLang="zh-TW" sz="1400" dirty="0" smtClean="0"/>
              <a:t>/l2_disable_init</a:t>
            </a:r>
          </a:p>
          <a:p>
            <a:pPr lvl="1"/>
            <a:endParaRPr lang="en-US" altLang="zh-TW" sz="1600" dirty="0" smtClean="0"/>
          </a:p>
        </p:txBody>
      </p:sp>
    </p:spTree>
    <p:extLst>
      <p:ext uri="{BB962C8B-B14F-4D97-AF65-F5344CB8AC3E}">
        <p14:creationId xmlns:p14="http://schemas.microsoft.com/office/powerpoint/2010/main" val="37467697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1"/>
            <a:r>
              <a:rPr lang="en-US" altLang="zh-TW" dirty="0" smtClean="0"/>
              <a:t>ae350_smu_pd</a:t>
            </a:r>
            <a:r>
              <a:rPr lang="zh-TW" altLang="en-US" dirty="0" smtClean="0"/>
              <a:t> </a:t>
            </a:r>
            <a:r>
              <a:rPr lang="en-US" altLang="zh-TW" dirty="0" smtClean="0"/>
              <a:t>Interface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/>
              <a:t>Control </a:t>
            </a:r>
            <a:r>
              <a:rPr lang="en-US" altLang="zh-TW" dirty="0"/>
              <a:t>signal </a:t>
            </a:r>
            <a:r>
              <a:rPr lang="en-US" altLang="zh-TW" dirty="0" smtClean="0"/>
              <a:t>from power domain </a:t>
            </a:r>
            <a:r>
              <a:rPr lang="en-US" altLang="zh-TW" sz="1800" dirty="0" smtClean="0"/>
              <a:t>(with synchronizer)</a:t>
            </a:r>
          </a:p>
          <a:p>
            <a:pPr lvl="1"/>
            <a:r>
              <a:rPr lang="en-US" altLang="zh-TW" sz="1800" dirty="0" err="1" smtClean="0"/>
              <a:t>pd_ready</a:t>
            </a:r>
            <a:r>
              <a:rPr lang="en-US" altLang="zh-TW" sz="1800" dirty="0" smtClean="0"/>
              <a:t>(input): Indicate this power domain is ready for power change</a:t>
            </a:r>
          </a:p>
          <a:p>
            <a:pPr lvl="2"/>
            <a:r>
              <a:rPr lang="en-US" altLang="zh-TW" sz="1400" dirty="0" smtClean="0"/>
              <a:t>Connect to </a:t>
            </a:r>
            <a:r>
              <a:rPr lang="en-US" altLang="zh-TW" sz="1400" dirty="0" err="1" smtClean="0"/>
              <a:t>core_wfi_mode</a:t>
            </a:r>
            <a:r>
              <a:rPr lang="en-US" altLang="zh-TW" sz="1400" dirty="0" smtClean="0"/>
              <a:t> that core ready for power change</a:t>
            </a:r>
          </a:p>
          <a:p>
            <a:pPr lvl="1"/>
            <a:r>
              <a:rPr lang="en-US" altLang="zh-TW" sz="1600" dirty="0" err="1"/>
              <a:t>pd_</a:t>
            </a:r>
            <a:r>
              <a:rPr lang="en-US" altLang="zh-TW" sz="1600" dirty="0" err="1" smtClean="0"/>
              <a:t>wakeup_event</a:t>
            </a:r>
            <a:r>
              <a:rPr lang="en-US" altLang="zh-TW" sz="1600" dirty="0" smtClean="0"/>
              <a:t>[31:0](input</a:t>
            </a:r>
            <a:r>
              <a:rPr lang="en-US" altLang="zh-TW" sz="1600" dirty="0"/>
              <a:t>): Indicate this power </a:t>
            </a:r>
            <a:r>
              <a:rPr lang="en-US" altLang="zh-TW" sz="1600" dirty="0" smtClean="0"/>
              <a:t>domain should be wakeup</a:t>
            </a:r>
          </a:p>
          <a:p>
            <a:pPr lvl="2"/>
            <a:r>
              <a:rPr lang="en-US" altLang="zh-TW" sz="1400" dirty="0" smtClean="0"/>
              <a:t>Connect </a:t>
            </a:r>
            <a:r>
              <a:rPr lang="en-US" altLang="zh-TW" sz="1400" dirty="0"/>
              <a:t>to </a:t>
            </a:r>
            <a:r>
              <a:rPr lang="en-US" altLang="zh-TW" sz="1400" dirty="0" err="1" smtClean="0"/>
              <a:t>msip</a:t>
            </a:r>
            <a:r>
              <a:rPr lang="en-US" altLang="zh-TW" sz="1400" dirty="0" smtClean="0"/>
              <a:t>/</a:t>
            </a:r>
            <a:r>
              <a:rPr lang="en-US" altLang="zh-TW" sz="1400" dirty="0" err="1" smtClean="0"/>
              <a:t>meip</a:t>
            </a:r>
            <a:r>
              <a:rPr lang="en-US" altLang="zh-TW" sz="1400" dirty="0" smtClean="0"/>
              <a:t>/</a:t>
            </a:r>
            <a:r>
              <a:rPr lang="en-US" altLang="zh-TW" sz="1400" dirty="0" err="1" smtClean="0"/>
              <a:t>mtip</a:t>
            </a:r>
            <a:r>
              <a:rPr lang="en-US" altLang="zh-TW" sz="1400" dirty="0" smtClean="0"/>
              <a:t>/</a:t>
            </a:r>
            <a:r>
              <a:rPr lang="en-US" altLang="zh-TW" sz="1400" dirty="0" err="1" smtClean="0"/>
              <a:t>debugint</a:t>
            </a:r>
            <a:r>
              <a:rPr lang="en-US" altLang="zh-TW" sz="1400" dirty="0" smtClean="0"/>
              <a:t>/</a:t>
            </a:r>
            <a:r>
              <a:rPr lang="en-US" altLang="zh-TW" sz="1400" dirty="0" err="1" smtClean="0"/>
              <a:t>alm</a:t>
            </a:r>
            <a:r>
              <a:rPr lang="en-US" altLang="zh-TW" sz="1400" dirty="0" smtClean="0"/>
              <a:t>/</a:t>
            </a:r>
            <a:r>
              <a:rPr lang="en-US" altLang="zh-TW" sz="1400" dirty="0" err="1" smtClean="0"/>
              <a:t>wi</a:t>
            </a:r>
            <a:r>
              <a:rPr lang="en-US" altLang="zh-TW" sz="1400" dirty="0" smtClean="0"/>
              <a:t>/</a:t>
            </a:r>
            <a:r>
              <a:rPr lang="en-US" altLang="zh-TW" sz="1400" dirty="0" err="1"/>
              <a:t>s</a:t>
            </a:r>
            <a:r>
              <a:rPr lang="en-US" altLang="zh-TW" sz="1400" dirty="0" err="1" smtClean="0"/>
              <a:t>mu</a:t>
            </a:r>
            <a:r>
              <a:rPr lang="en-US" altLang="zh-TW" sz="1400" dirty="0" smtClean="0"/>
              <a:t> </a:t>
            </a:r>
            <a:r>
              <a:rPr lang="en-US" altLang="zh-TW" sz="1400" dirty="0"/>
              <a:t>for cores wakeup </a:t>
            </a:r>
            <a:r>
              <a:rPr lang="en-US" altLang="zh-TW" sz="1400" dirty="0" smtClean="0"/>
              <a:t>event</a:t>
            </a:r>
          </a:p>
          <a:p>
            <a:r>
              <a:rPr lang="en-US" altLang="zh-TW" dirty="0" smtClean="0"/>
              <a:t>Control signal with ae350_smu_apbif</a:t>
            </a:r>
          </a:p>
          <a:p>
            <a:pPr lvl="1"/>
            <a:r>
              <a:rPr lang="en-US" altLang="zh-TW" sz="1600" dirty="0" err="1" smtClean="0"/>
              <a:t>smu_wakeup_enable</a:t>
            </a:r>
            <a:r>
              <a:rPr lang="en-US" altLang="zh-TW" sz="1600" dirty="0" smtClean="0"/>
              <a:t>[31:0</a:t>
            </a:r>
            <a:r>
              <a:rPr lang="en-US" altLang="zh-TW" sz="1600" dirty="0"/>
              <a:t>](input): Indicate </a:t>
            </a:r>
            <a:r>
              <a:rPr lang="en-US" altLang="zh-TW" sz="1600" dirty="0" err="1" smtClean="0"/>
              <a:t>pd_wakeup_event</a:t>
            </a:r>
            <a:r>
              <a:rPr lang="en-US" altLang="zh-TW" sz="1600" dirty="0" smtClean="0"/>
              <a:t> is valid for wakeup</a:t>
            </a:r>
          </a:p>
          <a:p>
            <a:pPr lvl="1"/>
            <a:r>
              <a:rPr lang="en-US" altLang="zh-TW" sz="1600" dirty="0" err="1" smtClean="0"/>
              <a:t>smu_pwr_ctrl_frq</a:t>
            </a:r>
            <a:r>
              <a:rPr lang="en-US" altLang="zh-TW" sz="1600" dirty="0" smtClean="0"/>
              <a:t>[3:0]</a:t>
            </a:r>
            <a:r>
              <a:rPr lang="en-US" altLang="zh-TW" sz="1600" dirty="0"/>
              <a:t> (input): Indicate </a:t>
            </a:r>
            <a:r>
              <a:rPr lang="en-US" altLang="zh-TW" sz="1600" dirty="0" smtClean="0"/>
              <a:t>frequency vector</a:t>
            </a:r>
          </a:p>
          <a:p>
            <a:pPr lvl="1"/>
            <a:r>
              <a:rPr lang="en-US" altLang="zh-TW" sz="1600" dirty="0" err="1"/>
              <a:t>smu_</a:t>
            </a:r>
            <a:r>
              <a:rPr lang="en-US" altLang="zh-TW" sz="1600" dirty="0" err="1" smtClean="0"/>
              <a:t>pwr_ctrl_vol</a:t>
            </a:r>
            <a:r>
              <a:rPr lang="en-US" altLang="zh-TW" sz="1600" dirty="0" smtClean="0"/>
              <a:t>[3:0]</a:t>
            </a:r>
            <a:r>
              <a:rPr lang="en-US" altLang="zh-TW" sz="1600" dirty="0"/>
              <a:t> (input): Indicate </a:t>
            </a:r>
            <a:r>
              <a:rPr lang="en-US" altLang="zh-TW" sz="1600" dirty="0" smtClean="0"/>
              <a:t>voltage vector</a:t>
            </a:r>
          </a:p>
          <a:p>
            <a:pPr lvl="1"/>
            <a:r>
              <a:rPr lang="en-US" altLang="zh-TW" sz="1600" dirty="0" err="1"/>
              <a:t>smu_</a:t>
            </a:r>
            <a:r>
              <a:rPr lang="en-US" altLang="zh-TW" sz="1600" dirty="0" err="1" smtClean="0"/>
              <a:t>pwr_ctrl_cmd</a:t>
            </a:r>
            <a:r>
              <a:rPr lang="en-US" altLang="zh-TW" sz="1600" dirty="0" smtClean="0"/>
              <a:t>[3:0]</a:t>
            </a:r>
            <a:r>
              <a:rPr lang="en-US" altLang="zh-TW" sz="1600" dirty="0"/>
              <a:t> (input): Indicate </a:t>
            </a:r>
            <a:r>
              <a:rPr lang="en-US" altLang="zh-TW" sz="1600" dirty="0" smtClean="0"/>
              <a:t>power command</a:t>
            </a:r>
            <a:endParaRPr lang="en-US" altLang="zh-TW" sz="1200" dirty="0" smtClean="0"/>
          </a:p>
          <a:p>
            <a:pPr lvl="1"/>
            <a:r>
              <a:rPr lang="en-US" altLang="zh-TW" sz="1600" dirty="0" err="1" smtClean="0"/>
              <a:t>smu_pwr_st</a:t>
            </a:r>
            <a:r>
              <a:rPr lang="en-US" altLang="zh-TW" sz="1600" dirty="0" smtClean="0"/>
              <a:t>[3:0</a:t>
            </a:r>
            <a:r>
              <a:rPr lang="en-US" altLang="zh-TW" sz="1600" dirty="0"/>
              <a:t>] </a:t>
            </a:r>
            <a:r>
              <a:rPr lang="en-US" altLang="zh-TW" sz="1600" dirty="0" smtClean="0"/>
              <a:t>(output</a:t>
            </a:r>
            <a:r>
              <a:rPr lang="en-US" altLang="zh-TW" sz="1600" dirty="0"/>
              <a:t>): Indicate power </a:t>
            </a:r>
            <a:r>
              <a:rPr lang="en-US" altLang="zh-TW" sz="1600" dirty="0" smtClean="0"/>
              <a:t>status</a:t>
            </a:r>
            <a:endParaRPr lang="en-US" altLang="zh-TW" sz="1600" dirty="0"/>
          </a:p>
          <a:p>
            <a:pPr lvl="1"/>
            <a:endParaRPr lang="en-US" altLang="zh-TW" sz="1600" dirty="0" smtClean="0"/>
          </a:p>
        </p:txBody>
      </p:sp>
    </p:spTree>
    <p:extLst>
      <p:ext uri="{BB962C8B-B14F-4D97-AF65-F5344CB8AC3E}">
        <p14:creationId xmlns:p14="http://schemas.microsoft.com/office/powerpoint/2010/main" val="2025628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1"/>
            <a:r>
              <a:rPr lang="en-US" altLang="zh-TW" dirty="0" smtClean="0"/>
              <a:t>ae350_smu_pd</a:t>
            </a:r>
            <a:r>
              <a:rPr lang="zh-TW" altLang="en-US" dirty="0" smtClean="0"/>
              <a:t> </a:t>
            </a:r>
            <a:r>
              <a:rPr lang="en-US" altLang="zh-TW" dirty="0" smtClean="0"/>
              <a:t>Interface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/>
              <a:t>Power control signal with voltage/clock source</a:t>
            </a:r>
          </a:p>
          <a:p>
            <a:pPr lvl="1"/>
            <a:r>
              <a:rPr lang="en-US" altLang="zh-TW" sz="1600" dirty="0" err="1" smtClean="0"/>
              <a:t>pd_pwr_stable</a:t>
            </a:r>
            <a:r>
              <a:rPr lang="en-US" altLang="zh-TW" sz="1600" dirty="0" smtClean="0"/>
              <a:t>(input</a:t>
            </a:r>
            <a:r>
              <a:rPr lang="en-US" altLang="zh-TW" sz="1600" dirty="0"/>
              <a:t>): </a:t>
            </a:r>
            <a:r>
              <a:rPr lang="en-US" altLang="zh-TW" sz="1600" dirty="0" smtClean="0"/>
              <a:t>Power is stable </a:t>
            </a:r>
            <a:r>
              <a:rPr lang="en-US" altLang="zh-TW" sz="1600" dirty="0"/>
              <a:t>for the power </a:t>
            </a:r>
            <a:r>
              <a:rPr lang="en-US" altLang="zh-TW" sz="1600" dirty="0" smtClean="0"/>
              <a:t>domain </a:t>
            </a:r>
            <a:r>
              <a:rPr lang="en-US" altLang="zh-TW" sz="1600" dirty="0"/>
              <a:t>from </a:t>
            </a:r>
            <a:r>
              <a:rPr lang="en-US" altLang="zh-TW" sz="1600" dirty="0" smtClean="0"/>
              <a:t>voltage regulator</a:t>
            </a:r>
          </a:p>
          <a:p>
            <a:pPr lvl="1"/>
            <a:r>
              <a:rPr lang="en-US" altLang="zh-TW" sz="1600" dirty="0" err="1"/>
              <a:t>pd_vol_scale_req</a:t>
            </a:r>
            <a:r>
              <a:rPr lang="en-US" altLang="zh-TW" sz="1600" dirty="0"/>
              <a:t>(output): Voltage scaling vector require to voltage regulator</a:t>
            </a:r>
          </a:p>
          <a:p>
            <a:pPr lvl="1"/>
            <a:r>
              <a:rPr lang="en-US" altLang="zh-TW" sz="1600" dirty="0" err="1"/>
              <a:t>pd_vol_scale</a:t>
            </a:r>
            <a:r>
              <a:rPr lang="en-US" altLang="zh-TW" sz="1600" dirty="0"/>
              <a:t>(output): Voltage scaling vector to voltage regulator</a:t>
            </a:r>
          </a:p>
          <a:p>
            <a:pPr lvl="1"/>
            <a:r>
              <a:rPr lang="en-US" altLang="zh-TW" sz="1600" dirty="0" err="1"/>
              <a:t>pd_vol_scale_ack</a:t>
            </a:r>
            <a:r>
              <a:rPr lang="en-US" altLang="zh-TW" sz="1600" dirty="0"/>
              <a:t>(input): Voltage scaling vector </a:t>
            </a:r>
            <a:r>
              <a:rPr lang="en-US" altLang="zh-TW" sz="1600" dirty="0" err="1"/>
              <a:t>ack</a:t>
            </a:r>
            <a:r>
              <a:rPr lang="en-US" altLang="zh-TW" sz="1600" dirty="0"/>
              <a:t> from voltage </a:t>
            </a:r>
            <a:r>
              <a:rPr lang="en-US" altLang="zh-TW" sz="1600" dirty="0" smtClean="0"/>
              <a:t>regulator</a:t>
            </a:r>
          </a:p>
          <a:p>
            <a:pPr lvl="1"/>
            <a:r>
              <a:rPr lang="en-US" altLang="zh-TW" sz="1600" dirty="0" err="1" smtClean="0"/>
              <a:t>pd_frq_scale_req</a:t>
            </a:r>
            <a:r>
              <a:rPr lang="en-US" altLang="zh-TW" sz="1600" dirty="0" smtClean="0"/>
              <a:t>(output</a:t>
            </a:r>
            <a:r>
              <a:rPr lang="en-US" altLang="zh-TW" sz="1600" dirty="0"/>
              <a:t>): Frequency scaling vector </a:t>
            </a:r>
            <a:r>
              <a:rPr lang="en-US" altLang="zh-TW" sz="1600" dirty="0" smtClean="0"/>
              <a:t>require to </a:t>
            </a:r>
            <a:r>
              <a:rPr lang="en-US" altLang="zh-TW" sz="1600" dirty="0"/>
              <a:t>clock </a:t>
            </a:r>
            <a:r>
              <a:rPr lang="en-US" altLang="zh-TW" sz="1600" dirty="0" smtClean="0"/>
              <a:t>generator</a:t>
            </a:r>
          </a:p>
          <a:p>
            <a:pPr lvl="1"/>
            <a:r>
              <a:rPr lang="en-US" altLang="zh-TW" sz="1600" dirty="0" err="1"/>
              <a:t>pd_frq_scale</a:t>
            </a:r>
            <a:r>
              <a:rPr lang="en-US" altLang="zh-TW" sz="1600" dirty="0"/>
              <a:t>(output): Frequency scaling vector to clock </a:t>
            </a:r>
            <a:r>
              <a:rPr lang="en-US" altLang="zh-TW" sz="1600" dirty="0" smtClean="0"/>
              <a:t>generator</a:t>
            </a:r>
            <a:endParaRPr lang="en-US" altLang="zh-TW" sz="1600" dirty="0"/>
          </a:p>
          <a:p>
            <a:pPr lvl="1"/>
            <a:r>
              <a:rPr lang="en-US" altLang="zh-TW" sz="1600" dirty="0" err="1" smtClean="0"/>
              <a:t>pd_frq_scale_ack</a:t>
            </a:r>
            <a:r>
              <a:rPr lang="en-US" altLang="zh-TW" sz="1600" dirty="0" smtClean="0"/>
              <a:t>(input</a:t>
            </a:r>
            <a:r>
              <a:rPr lang="en-US" altLang="zh-TW" sz="1600" dirty="0"/>
              <a:t>): Frequency scaling vector </a:t>
            </a:r>
            <a:r>
              <a:rPr lang="en-US" altLang="zh-TW" sz="1600" dirty="0" err="1"/>
              <a:t>ack</a:t>
            </a:r>
            <a:r>
              <a:rPr lang="en-US" altLang="zh-TW" sz="1600" dirty="0"/>
              <a:t> </a:t>
            </a:r>
            <a:r>
              <a:rPr lang="en-US" altLang="zh-TW" sz="1600" dirty="0" smtClean="0"/>
              <a:t>from clock generator</a:t>
            </a:r>
          </a:p>
          <a:p>
            <a:r>
              <a:rPr lang="en-US" altLang="zh-TW" dirty="0" smtClean="0"/>
              <a:t>Power </a:t>
            </a:r>
            <a:r>
              <a:rPr lang="en-US" altLang="zh-TW" dirty="0"/>
              <a:t>control signal </a:t>
            </a:r>
            <a:r>
              <a:rPr lang="en-US" altLang="zh-TW" dirty="0" smtClean="0"/>
              <a:t>for </a:t>
            </a:r>
            <a:r>
              <a:rPr lang="en-US" altLang="zh-TW" dirty="0"/>
              <a:t>power </a:t>
            </a:r>
            <a:r>
              <a:rPr lang="en-US" altLang="zh-TW" dirty="0" smtClean="0"/>
              <a:t>domain</a:t>
            </a:r>
            <a:endParaRPr lang="en-US" altLang="zh-TW" sz="2000" dirty="0" smtClean="0"/>
          </a:p>
          <a:p>
            <a:pPr lvl="1"/>
            <a:r>
              <a:rPr lang="en-US" altLang="zh-TW" sz="1600" dirty="0" err="1" smtClean="0"/>
              <a:t>pd_iso_en</a:t>
            </a:r>
            <a:r>
              <a:rPr lang="en-US" altLang="zh-TW" sz="1600" dirty="0" smtClean="0"/>
              <a:t>(output</a:t>
            </a:r>
            <a:r>
              <a:rPr lang="en-US" altLang="zh-TW" sz="1600" dirty="0"/>
              <a:t>): Isolation </a:t>
            </a:r>
            <a:r>
              <a:rPr lang="en-US" altLang="zh-TW" sz="1600" dirty="0" smtClean="0"/>
              <a:t>indicator</a:t>
            </a:r>
            <a:endParaRPr lang="en-US" altLang="zh-TW" sz="1600" dirty="0"/>
          </a:p>
          <a:p>
            <a:pPr lvl="1"/>
            <a:r>
              <a:rPr lang="en-US" altLang="zh-TW" sz="1600" dirty="0" err="1" smtClean="0"/>
              <a:t>pd_ret_en</a:t>
            </a:r>
            <a:r>
              <a:rPr lang="en-US" altLang="zh-TW" sz="1600" dirty="0" smtClean="0"/>
              <a:t>(output</a:t>
            </a:r>
            <a:r>
              <a:rPr lang="en-US" altLang="zh-TW" sz="1600" dirty="0"/>
              <a:t>): Retention </a:t>
            </a:r>
            <a:r>
              <a:rPr lang="en-US" altLang="zh-TW" sz="1600" dirty="0" smtClean="0"/>
              <a:t>indicator</a:t>
            </a:r>
            <a:endParaRPr lang="en-US" altLang="zh-TW" sz="1600" dirty="0"/>
          </a:p>
          <a:p>
            <a:pPr lvl="1"/>
            <a:r>
              <a:rPr lang="en-US" altLang="zh-TW" sz="1600" dirty="0" err="1" smtClean="0"/>
              <a:t>pd_clk_off</a:t>
            </a:r>
            <a:r>
              <a:rPr lang="en-US" altLang="zh-TW" sz="1600" dirty="0" smtClean="0"/>
              <a:t>(output</a:t>
            </a:r>
            <a:r>
              <a:rPr lang="en-US" altLang="zh-TW" sz="1600" dirty="0"/>
              <a:t>): Clock shut-off </a:t>
            </a:r>
            <a:r>
              <a:rPr lang="en-US" altLang="zh-TW" sz="1600" dirty="0" smtClean="0"/>
              <a:t>indicator</a:t>
            </a:r>
            <a:endParaRPr lang="en-US" altLang="zh-TW" sz="1600" dirty="0"/>
          </a:p>
          <a:p>
            <a:pPr lvl="1"/>
            <a:r>
              <a:rPr lang="en-US" altLang="zh-TW" sz="1600" dirty="0" err="1" smtClean="0"/>
              <a:t>pd_pwr_off</a:t>
            </a:r>
            <a:r>
              <a:rPr lang="en-US" altLang="zh-TW" sz="1600" dirty="0" smtClean="0"/>
              <a:t>(output</a:t>
            </a:r>
            <a:r>
              <a:rPr lang="en-US" altLang="zh-TW" sz="1600" dirty="0"/>
              <a:t>): </a:t>
            </a:r>
            <a:r>
              <a:rPr lang="en-US" altLang="zh-TW" sz="1600" dirty="0" smtClean="0"/>
              <a:t>Power region </a:t>
            </a:r>
            <a:r>
              <a:rPr lang="en-US" altLang="zh-TW" sz="1600" dirty="0"/>
              <a:t>shut-off indicator </a:t>
            </a:r>
            <a:endParaRPr lang="en-US" altLang="zh-TW" sz="1600" dirty="0" smtClean="0"/>
          </a:p>
        </p:txBody>
      </p:sp>
    </p:spTree>
    <p:extLst>
      <p:ext uri="{BB962C8B-B14F-4D97-AF65-F5344CB8AC3E}">
        <p14:creationId xmlns:p14="http://schemas.microsoft.com/office/powerpoint/2010/main" val="8153624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矩形 72"/>
          <p:cNvSpPr/>
          <p:nvPr/>
        </p:nvSpPr>
        <p:spPr bwMode="auto">
          <a:xfrm>
            <a:off x="161975" y="4134028"/>
            <a:ext cx="2336782" cy="1995167"/>
          </a:xfrm>
          <a:prstGeom prst="rect">
            <a:avLst/>
          </a:prstGeom>
          <a:solidFill>
            <a:srgbClr val="8BFFA7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TW" altLang="en-US" sz="18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59" name="矩形 58"/>
          <p:cNvSpPr/>
          <p:nvPr/>
        </p:nvSpPr>
        <p:spPr bwMode="auto">
          <a:xfrm>
            <a:off x="161975" y="1637120"/>
            <a:ext cx="2336782" cy="2496908"/>
          </a:xfrm>
          <a:prstGeom prst="rect">
            <a:avLst/>
          </a:prstGeom>
          <a:solidFill>
            <a:srgbClr val="D9F09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TW" altLang="en-US" sz="18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74" name="矩形 73"/>
          <p:cNvSpPr/>
          <p:nvPr/>
        </p:nvSpPr>
        <p:spPr bwMode="auto">
          <a:xfrm>
            <a:off x="2498756" y="1637120"/>
            <a:ext cx="6391666" cy="4492076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TW" altLang="en-US" sz="18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60" name="矩形 59"/>
          <p:cNvSpPr/>
          <p:nvPr/>
        </p:nvSpPr>
        <p:spPr bwMode="auto">
          <a:xfrm>
            <a:off x="5071369" y="3136075"/>
            <a:ext cx="3819053" cy="2993121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TW" altLang="en-US" sz="18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Sample block diagram for power domain</a:t>
            </a:r>
            <a:endParaRPr lang="zh-TW" altLang="en-US" dirty="0"/>
          </a:p>
        </p:txBody>
      </p:sp>
      <p:sp>
        <p:nvSpPr>
          <p:cNvPr id="4" name="矩形 3"/>
          <p:cNvSpPr/>
          <p:nvPr/>
        </p:nvSpPr>
        <p:spPr bwMode="auto">
          <a:xfrm rot="5400000">
            <a:off x="3363299" y="4207055"/>
            <a:ext cx="1628779" cy="393322"/>
          </a:xfrm>
          <a:prstGeom prst="rect">
            <a:avLst/>
          </a:prstGeom>
          <a:noFill/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TW" sz="1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Clock Generator</a:t>
            </a:r>
            <a:endParaRPr kumimoji="0" lang="zh-TW" altLang="en-US" sz="14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5" name="矩形 4"/>
          <p:cNvSpPr/>
          <p:nvPr/>
        </p:nvSpPr>
        <p:spPr bwMode="auto">
          <a:xfrm>
            <a:off x="5185669" y="1794678"/>
            <a:ext cx="1771652" cy="1009703"/>
          </a:xfrm>
          <a:prstGeom prst="rect">
            <a:avLst/>
          </a:prstGeom>
          <a:noFill/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zh-TW" dirty="0" smtClean="0"/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TW" dirty="0" smtClean="0"/>
              <a:t>VRM</a:t>
            </a:r>
            <a:endParaRPr kumimoji="0" lang="zh-TW" altLang="en-US" sz="18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8" name="矩形 7"/>
          <p:cNvSpPr/>
          <p:nvPr/>
        </p:nvSpPr>
        <p:spPr bwMode="auto">
          <a:xfrm>
            <a:off x="5185669" y="3238244"/>
            <a:ext cx="1771652" cy="349805"/>
          </a:xfrm>
          <a:prstGeom prst="rect">
            <a:avLst/>
          </a:prstGeom>
          <a:noFill/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TW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Power</a:t>
            </a:r>
            <a:r>
              <a:rPr kumimoji="0" lang="en-US" altLang="zh-TW" sz="1800" b="1" i="0" u="none" strike="noStrike" cap="none" normalizeH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 switch</a:t>
            </a:r>
            <a:endParaRPr kumimoji="0" lang="zh-TW" altLang="en-US" sz="18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9" name="矩形 8"/>
          <p:cNvSpPr/>
          <p:nvPr/>
        </p:nvSpPr>
        <p:spPr bwMode="auto">
          <a:xfrm>
            <a:off x="5185669" y="3587722"/>
            <a:ext cx="1771652" cy="1630377"/>
          </a:xfrm>
          <a:prstGeom prst="rect">
            <a:avLst/>
          </a:prstGeom>
          <a:noFill/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zh-TW" dirty="0" smtClean="0"/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TW" dirty="0" smtClean="0"/>
              <a:t>Power domain</a:t>
            </a:r>
            <a:endParaRPr kumimoji="0" lang="zh-TW" altLang="en-US" sz="18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2" name="矩形 11"/>
          <p:cNvSpPr/>
          <p:nvPr/>
        </p:nvSpPr>
        <p:spPr bwMode="auto">
          <a:xfrm rot="5400000">
            <a:off x="6317835" y="4227208"/>
            <a:ext cx="1628776" cy="349805"/>
          </a:xfrm>
          <a:prstGeom prst="rect">
            <a:avLst/>
          </a:prstGeom>
          <a:noFill/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TW" dirty="0" smtClean="0"/>
              <a:t>Isolation cell</a:t>
            </a:r>
            <a:endParaRPr kumimoji="0" lang="zh-TW" altLang="en-US" sz="18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3" name="矩形 12"/>
          <p:cNvSpPr/>
          <p:nvPr/>
        </p:nvSpPr>
        <p:spPr bwMode="auto">
          <a:xfrm>
            <a:off x="5398258" y="4724110"/>
            <a:ext cx="1346474" cy="349805"/>
          </a:xfrm>
          <a:prstGeom prst="rect">
            <a:avLst/>
          </a:prstGeom>
          <a:noFill/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TW" sz="1400" dirty="0" smtClean="0"/>
              <a:t>Retention cell</a:t>
            </a:r>
            <a:endParaRPr kumimoji="0" lang="zh-TW" altLang="en-US" sz="14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cxnSp>
        <p:nvCxnSpPr>
          <p:cNvPr id="15" name="直線單箭頭接點 14"/>
          <p:cNvCxnSpPr>
            <a:stCxn id="4" idx="0"/>
            <a:endCxn id="9" idx="1"/>
          </p:cNvCxnSpPr>
          <p:nvPr/>
        </p:nvCxnSpPr>
        <p:spPr bwMode="auto">
          <a:xfrm flipV="1">
            <a:off x="4374350" y="4402911"/>
            <a:ext cx="811319" cy="806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29" name="直線單箭頭接點 28"/>
          <p:cNvCxnSpPr>
            <a:stCxn id="5" idx="2"/>
            <a:endCxn id="8" idx="0"/>
          </p:cNvCxnSpPr>
          <p:nvPr/>
        </p:nvCxnSpPr>
        <p:spPr bwMode="auto">
          <a:xfrm>
            <a:off x="6071495" y="2804381"/>
            <a:ext cx="0" cy="433863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33" name="直線單箭頭接點 32"/>
          <p:cNvCxnSpPr>
            <a:endCxn id="13" idx="2"/>
          </p:cNvCxnSpPr>
          <p:nvPr/>
        </p:nvCxnSpPr>
        <p:spPr bwMode="auto">
          <a:xfrm flipV="1">
            <a:off x="6071495" y="5073915"/>
            <a:ext cx="0" cy="374385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36" name="直線單箭頭接點 35"/>
          <p:cNvCxnSpPr>
            <a:endCxn id="12" idx="3"/>
          </p:cNvCxnSpPr>
          <p:nvPr/>
        </p:nvCxnSpPr>
        <p:spPr bwMode="auto">
          <a:xfrm flipV="1">
            <a:off x="7132223" y="5216499"/>
            <a:ext cx="0" cy="374384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38" name="直線單箭頭接點 37"/>
          <p:cNvCxnSpPr>
            <a:endCxn id="8" idx="1"/>
          </p:cNvCxnSpPr>
          <p:nvPr/>
        </p:nvCxnSpPr>
        <p:spPr bwMode="auto">
          <a:xfrm flipV="1">
            <a:off x="4957069" y="3413147"/>
            <a:ext cx="228600" cy="1583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41" name="直線單箭頭接點 40"/>
          <p:cNvCxnSpPr>
            <a:endCxn id="4" idx="3"/>
          </p:cNvCxnSpPr>
          <p:nvPr/>
        </p:nvCxnSpPr>
        <p:spPr bwMode="auto">
          <a:xfrm flipV="1">
            <a:off x="4177688" y="5218106"/>
            <a:ext cx="1" cy="374379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43" name="直線單箭頭接點 42"/>
          <p:cNvCxnSpPr/>
          <p:nvPr/>
        </p:nvCxnSpPr>
        <p:spPr bwMode="auto">
          <a:xfrm flipV="1">
            <a:off x="3752427" y="4147507"/>
            <a:ext cx="228600" cy="1583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44" name="直線單箭頭接點 43"/>
          <p:cNvCxnSpPr/>
          <p:nvPr/>
        </p:nvCxnSpPr>
        <p:spPr bwMode="auto">
          <a:xfrm flipV="1">
            <a:off x="3752427" y="4409444"/>
            <a:ext cx="228600" cy="1583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45" name="直線單箭頭接點 44"/>
          <p:cNvCxnSpPr/>
          <p:nvPr/>
        </p:nvCxnSpPr>
        <p:spPr bwMode="auto">
          <a:xfrm flipV="1">
            <a:off x="3748492" y="4671382"/>
            <a:ext cx="228600" cy="1583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arrow" w="med" len="med"/>
            <a:tailEnd type="none" w="med" len="med"/>
          </a:ln>
          <a:effectLst/>
        </p:spPr>
      </p:cxnSp>
      <p:cxnSp>
        <p:nvCxnSpPr>
          <p:cNvPr id="46" name="直線單箭頭接點 45"/>
          <p:cNvCxnSpPr/>
          <p:nvPr/>
        </p:nvCxnSpPr>
        <p:spPr bwMode="auto">
          <a:xfrm flipV="1">
            <a:off x="4961004" y="2029878"/>
            <a:ext cx="228600" cy="1583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47" name="直線單箭頭接點 46"/>
          <p:cNvCxnSpPr/>
          <p:nvPr/>
        </p:nvCxnSpPr>
        <p:spPr bwMode="auto">
          <a:xfrm flipV="1">
            <a:off x="4961004" y="2291815"/>
            <a:ext cx="228600" cy="1583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48" name="直線單箭頭接點 47"/>
          <p:cNvCxnSpPr/>
          <p:nvPr/>
        </p:nvCxnSpPr>
        <p:spPr bwMode="auto">
          <a:xfrm flipV="1">
            <a:off x="4957069" y="2553753"/>
            <a:ext cx="228600" cy="1583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arrow" w="med" len="med"/>
            <a:tailEnd type="none" w="med" len="med"/>
          </a:ln>
          <a:effectLst/>
        </p:spPr>
      </p:cxnSp>
      <p:sp>
        <p:nvSpPr>
          <p:cNvPr id="49" name="矩形 48"/>
          <p:cNvSpPr/>
          <p:nvPr/>
        </p:nvSpPr>
        <p:spPr>
          <a:xfrm>
            <a:off x="5024375" y="5579545"/>
            <a:ext cx="822661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1200" b="0" dirty="0" err="1"/>
              <a:t>pd_ready</a:t>
            </a:r>
            <a:endParaRPr lang="zh-TW" altLang="en-US" sz="1200" b="0" dirty="0"/>
          </a:p>
        </p:txBody>
      </p:sp>
      <p:cxnSp>
        <p:nvCxnSpPr>
          <p:cNvPr id="50" name="直線單箭頭接點 49"/>
          <p:cNvCxnSpPr/>
          <p:nvPr/>
        </p:nvCxnSpPr>
        <p:spPr bwMode="auto">
          <a:xfrm>
            <a:off x="5435234" y="5218106"/>
            <a:ext cx="0" cy="433863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51" name="矩形 50"/>
          <p:cNvSpPr/>
          <p:nvPr/>
        </p:nvSpPr>
        <p:spPr>
          <a:xfrm>
            <a:off x="4076292" y="3275438"/>
            <a:ext cx="940129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1200" b="0" dirty="0" err="1" smtClean="0"/>
              <a:t>pd_pwr_off</a:t>
            </a:r>
            <a:endParaRPr lang="en-US" altLang="zh-TW" sz="1200" b="0" dirty="0"/>
          </a:p>
        </p:txBody>
      </p:sp>
      <p:sp>
        <p:nvSpPr>
          <p:cNvPr id="53" name="矩形 52"/>
          <p:cNvSpPr/>
          <p:nvPr/>
        </p:nvSpPr>
        <p:spPr>
          <a:xfrm>
            <a:off x="3735032" y="5536782"/>
            <a:ext cx="880819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1200" b="0" dirty="0" err="1" smtClean="0"/>
              <a:t>pd_clk_off</a:t>
            </a:r>
            <a:endParaRPr lang="en-US" altLang="zh-TW" sz="1200" b="0" dirty="0"/>
          </a:p>
        </p:txBody>
      </p:sp>
      <p:sp>
        <p:nvSpPr>
          <p:cNvPr id="54" name="矩形 53"/>
          <p:cNvSpPr/>
          <p:nvPr/>
        </p:nvSpPr>
        <p:spPr>
          <a:xfrm>
            <a:off x="5634516" y="5387310"/>
            <a:ext cx="873957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1200" b="0" dirty="0" err="1" smtClean="0"/>
              <a:t>pd_ret_en</a:t>
            </a:r>
            <a:endParaRPr lang="en-US" altLang="zh-TW" sz="1200" b="0" dirty="0"/>
          </a:p>
        </p:txBody>
      </p:sp>
      <p:sp>
        <p:nvSpPr>
          <p:cNvPr id="55" name="矩形 54"/>
          <p:cNvSpPr/>
          <p:nvPr/>
        </p:nvSpPr>
        <p:spPr>
          <a:xfrm>
            <a:off x="6732494" y="5537302"/>
            <a:ext cx="889987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1200" b="0" dirty="0" err="1" smtClean="0"/>
              <a:t>pd_iso_en</a:t>
            </a:r>
            <a:endParaRPr lang="en-US" altLang="zh-TW" sz="1200" b="0" dirty="0" smtClean="0"/>
          </a:p>
        </p:txBody>
      </p:sp>
      <p:cxnSp>
        <p:nvCxnSpPr>
          <p:cNvPr id="56" name="直線單箭頭接點 55"/>
          <p:cNvCxnSpPr/>
          <p:nvPr/>
        </p:nvCxnSpPr>
        <p:spPr bwMode="auto">
          <a:xfrm flipV="1">
            <a:off x="6957321" y="2315601"/>
            <a:ext cx="228600" cy="1583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62" name="矩形 61"/>
          <p:cNvSpPr/>
          <p:nvPr/>
        </p:nvSpPr>
        <p:spPr>
          <a:xfrm>
            <a:off x="3635762" y="1892961"/>
            <a:ext cx="1489295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sz="1200" b="0" dirty="0" err="1" smtClean="0"/>
              <a:t>pd_vol_scale_req</a:t>
            </a:r>
            <a:endParaRPr lang="en-US" altLang="zh-TW" sz="1200" b="0" dirty="0"/>
          </a:p>
        </p:txBody>
      </p:sp>
      <p:sp>
        <p:nvSpPr>
          <p:cNvPr id="63" name="矩形 62"/>
          <p:cNvSpPr/>
          <p:nvPr/>
        </p:nvSpPr>
        <p:spPr>
          <a:xfrm>
            <a:off x="7140656" y="2158995"/>
            <a:ext cx="1489295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sz="1200" b="0" dirty="0" err="1" smtClean="0"/>
              <a:t>pd_pwr_stable</a:t>
            </a:r>
            <a:endParaRPr lang="en-US" altLang="zh-TW" sz="1200" b="0" dirty="0"/>
          </a:p>
        </p:txBody>
      </p:sp>
      <p:sp>
        <p:nvSpPr>
          <p:cNvPr id="64" name="矩形 63"/>
          <p:cNvSpPr/>
          <p:nvPr/>
        </p:nvSpPr>
        <p:spPr>
          <a:xfrm>
            <a:off x="3628061" y="2152669"/>
            <a:ext cx="1489295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sz="1200" b="0" dirty="0" err="1" smtClean="0"/>
              <a:t>pd_vol_scale</a:t>
            </a:r>
            <a:endParaRPr lang="en-US" altLang="zh-TW" sz="1200" b="0" dirty="0"/>
          </a:p>
        </p:txBody>
      </p:sp>
      <p:sp>
        <p:nvSpPr>
          <p:cNvPr id="65" name="矩形 64"/>
          <p:cNvSpPr/>
          <p:nvPr/>
        </p:nvSpPr>
        <p:spPr>
          <a:xfrm>
            <a:off x="3632207" y="2415253"/>
            <a:ext cx="1489295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sz="1200" b="0" dirty="0" err="1" smtClean="0"/>
              <a:t>pd_vol_scale_ack</a:t>
            </a:r>
            <a:endParaRPr lang="en-US" altLang="zh-TW" sz="1200" b="0" dirty="0"/>
          </a:p>
        </p:txBody>
      </p:sp>
      <p:sp>
        <p:nvSpPr>
          <p:cNvPr id="66" name="矩形 65"/>
          <p:cNvSpPr/>
          <p:nvPr/>
        </p:nvSpPr>
        <p:spPr>
          <a:xfrm>
            <a:off x="2431204" y="4012664"/>
            <a:ext cx="1489295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sz="1200" b="0" dirty="0" err="1" smtClean="0"/>
              <a:t>pd_frq_scale_req</a:t>
            </a:r>
            <a:endParaRPr lang="en-US" altLang="zh-TW" sz="1200" b="0" dirty="0"/>
          </a:p>
        </p:txBody>
      </p:sp>
      <p:sp>
        <p:nvSpPr>
          <p:cNvPr id="67" name="矩形 66"/>
          <p:cNvSpPr/>
          <p:nvPr/>
        </p:nvSpPr>
        <p:spPr>
          <a:xfrm>
            <a:off x="2423503" y="4272372"/>
            <a:ext cx="1489295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sz="1200" b="0" dirty="0" err="1" smtClean="0"/>
              <a:t>pd_frq_scale</a:t>
            </a:r>
            <a:endParaRPr lang="en-US" altLang="zh-TW" sz="1200" b="0" dirty="0"/>
          </a:p>
        </p:txBody>
      </p:sp>
      <p:sp>
        <p:nvSpPr>
          <p:cNvPr id="68" name="矩形 67"/>
          <p:cNvSpPr/>
          <p:nvPr/>
        </p:nvSpPr>
        <p:spPr>
          <a:xfrm>
            <a:off x="2427649" y="4534956"/>
            <a:ext cx="1489295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sz="1200" b="0" dirty="0" err="1" smtClean="0"/>
              <a:t>pd_frq_scale_ack</a:t>
            </a:r>
            <a:endParaRPr lang="en-US" altLang="zh-TW" sz="1200" b="0" dirty="0"/>
          </a:p>
        </p:txBody>
      </p:sp>
      <p:sp>
        <p:nvSpPr>
          <p:cNvPr id="69" name="矩形 68"/>
          <p:cNvSpPr/>
          <p:nvPr/>
        </p:nvSpPr>
        <p:spPr>
          <a:xfrm>
            <a:off x="4366663" y="4134028"/>
            <a:ext cx="755335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1200" b="0" dirty="0" err="1" smtClean="0"/>
              <a:t>core_clk</a:t>
            </a:r>
            <a:endParaRPr lang="zh-TW" altLang="en-US" sz="1200" b="0" dirty="0"/>
          </a:p>
        </p:txBody>
      </p:sp>
      <p:sp>
        <p:nvSpPr>
          <p:cNvPr id="71" name="矩形 70"/>
          <p:cNvSpPr/>
          <p:nvPr/>
        </p:nvSpPr>
        <p:spPr>
          <a:xfrm>
            <a:off x="5617958" y="2882812"/>
            <a:ext cx="474810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1200" b="0" dirty="0" err="1" smtClean="0"/>
              <a:t>vout</a:t>
            </a:r>
            <a:endParaRPr lang="zh-TW" altLang="en-US" sz="1200" b="0" dirty="0"/>
          </a:p>
        </p:txBody>
      </p:sp>
      <p:sp>
        <p:nvSpPr>
          <p:cNvPr id="57" name="矩形 56"/>
          <p:cNvSpPr/>
          <p:nvPr/>
        </p:nvSpPr>
        <p:spPr bwMode="auto">
          <a:xfrm>
            <a:off x="5398258" y="4375928"/>
            <a:ext cx="1346474" cy="349805"/>
          </a:xfrm>
          <a:prstGeom prst="rect">
            <a:avLst/>
          </a:prstGeom>
          <a:noFill/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TW" sz="1400" dirty="0" smtClean="0"/>
              <a:t>SRAM</a:t>
            </a:r>
            <a:endParaRPr kumimoji="0" lang="zh-TW" altLang="en-US" sz="14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sp>
        <p:nvSpPr>
          <p:cNvPr id="75" name="矩形 74"/>
          <p:cNvSpPr/>
          <p:nvPr/>
        </p:nvSpPr>
        <p:spPr bwMode="auto">
          <a:xfrm>
            <a:off x="441385" y="4820054"/>
            <a:ext cx="1771652" cy="371533"/>
          </a:xfrm>
          <a:prstGeom prst="rect">
            <a:avLst/>
          </a:prstGeom>
          <a:noFill/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TW" dirty="0" smtClean="0"/>
              <a:t>SMU</a:t>
            </a:r>
            <a:endParaRPr kumimoji="0" lang="zh-TW" altLang="en-US" sz="18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76" name="矩形 75"/>
          <p:cNvSpPr/>
          <p:nvPr/>
        </p:nvSpPr>
        <p:spPr bwMode="auto">
          <a:xfrm>
            <a:off x="441385" y="2327029"/>
            <a:ext cx="1771652" cy="365560"/>
          </a:xfrm>
          <a:prstGeom prst="rect">
            <a:avLst/>
          </a:prstGeom>
          <a:noFill/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TW" dirty="0" smtClean="0"/>
              <a:t>PLIC</a:t>
            </a:r>
          </a:p>
        </p:txBody>
      </p:sp>
      <p:sp>
        <p:nvSpPr>
          <p:cNvPr id="77" name="矩形 76"/>
          <p:cNvSpPr/>
          <p:nvPr/>
        </p:nvSpPr>
        <p:spPr bwMode="auto">
          <a:xfrm>
            <a:off x="441385" y="1809568"/>
            <a:ext cx="1771652" cy="371532"/>
          </a:xfrm>
          <a:prstGeom prst="rect">
            <a:avLst/>
          </a:prstGeom>
          <a:noFill/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TW" dirty="0" smtClean="0"/>
              <a:t>PLMT</a:t>
            </a:r>
            <a:endParaRPr kumimoji="0" lang="zh-TW" altLang="en-US" sz="18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78" name="矩形 77"/>
          <p:cNvSpPr/>
          <p:nvPr/>
        </p:nvSpPr>
        <p:spPr bwMode="auto">
          <a:xfrm>
            <a:off x="441385" y="5355358"/>
            <a:ext cx="1771652" cy="365559"/>
          </a:xfrm>
          <a:prstGeom prst="rect">
            <a:avLst/>
          </a:prstGeom>
          <a:noFill/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TW" dirty="0" smtClean="0"/>
              <a:t>Debug System</a:t>
            </a:r>
            <a:endParaRPr kumimoji="0" lang="zh-TW" altLang="en-US" sz="18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7" name="文字方塊 6"/>
          <p:cNvSpPr txBox="1"/>
          <p:nvPr/>
        </p:nvSpPr>
        <p:spPr>
          <a:xfrm>
            <a:off x="161974" y="5754258"/>
            <a:ext cx="2223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Always-on domain</a:t>
            </a:r>
            <a:endParaRPr lang="zh-TW" altLang="en-US" dirty="0"/>
          </a:p>
        </p:txBody>
      </p:sp>
      <p:sp>
        <p:nvSpPr>
          <p:cNvPr id="79" name="文字方塊 78"/>
          <p:cNvSpPr txBox="1"/>
          <p:nvPr/>
        </p:nvSpPr>
        <p:spPr>
          <a:xfrm>
            <a:off x="2498756" y="5759864"/>
            <a:ext cx="23006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Customer provided</a:t>
            </a:r>
            <a:endParaRPr lang="zh-TW" altLang="en-US" dirty="0"/>
          </a:p>
        </p:txBody>
      </p:sp>
      <p:sp>
        <p:nvSpPr>
          <p:cNvPr id="80" name="文字方塊 79"/>
          <p:cNvSpPr txBox="1"/>
          <p:nvPr/>
        </p:nvSpPr>
        <p:spPr>
          <a:xfrm>
            <a:off x="5656520" y="5752749"/>
            <a:ext cx="33265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Core domain (</a:t>
            </a:r>
            <a:r>
              <a:rPr lang="en-US" altLang="zh-TW" dirty="0" err="1" smtClean="0"/>
              <a:t>cpu_core_top</a:t>
            </a:r>
            <a:r>
              <a:rPr lang="en-US" altLang="zh-TW" dirty="0" smtClean="0"/>
              <a:t>)</a:t>
            </a:r>
            <a:endParaRPr lang="zh-TW" altLang="en-US" dirty="0"/>
          </a:p>
        </p:txBody>
      </p:sp>
      <p:sp>
        <p:nvSpPr>
          <p:cNvPr id="52" name="矩形 51"/>
          <p:cNvSpPr/>
          <p:nvPr/>
        </p:nvSpPr>
        <p:spPr bwMode="auto">
          <a:xfrm>
            <a:off x="441385" y="2838518"/>
            <a:ext cx="1771652" cy="365560"/>
          </a:xfrm>
          <a:prstGeom prst="rect">
            <a:avLst/>
          </a:prstGeom>
          <a:noFill/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TW" dirty="0" smtClean="0"/>
              <a:t>Software PLIC</a:t>
            </a:r>
          </a:p>
        </p:txBody>
      </p:sp>
      <p:sp>
        <p:nvSpPr>
          <p:cNvPr id="58" name="矩形 57"/>
          <p:cNvSpPr/>
          <p:nvPr/>
        </p:nvSpPr>
        <p:spPr bwMode="auto">
          <a:xfrm>
            <a:off x="441385" y="4290724"/>
            <a:ext cx="1771652" cy="365560"/>
          </a:xfrm>
          <a:prstGeom prst="rect">
            <a:avLst/>
          </a:prstGeom>
          <a:noFill/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TW" dirty="0" smtClean="0"/>
              <a:t>RTC</a:t>
            </a:r>
          </a:p>
        </p:txBody>
      </p:sp>
      <p:sp>
        <p:nvSpPr>
          <p:cNvPr id="61" name="文字方塊 60"/>
          <p:cNvSpPr txBox="1"/>
          <p:nvPr/>
        </p:nvSpPr>
        <p:spPr>
          <a:xfrm>
            <a:off x="161975" y="3781831"/>
            <a:ext cx="20056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Platform domain</a:t>
            </a:r>
            <a:endParaRPr lang="zh-TW" altLang="en-US" dirty="0"/>
          </a:p>
        </p:txBody>
      </p:sp>
      <p:sp>
        <p:nvSpPr>
          <p:cNvPr id="70" name="矩形 69"/>
          <p:cNvSpPr/>
          <p:nvPr/>
        </p:nvSpPr>
        <p:spPr bwMode="auto">
          <a:xfrm>
            <a:off x="444540" y="3350007"/>
            <a:ext cx="1771652" cy="365560"/>
          </a:xfrm>
          <a:prstGeom prst="rect">
            <a:avLst/>
          </a:prstGeom>
          <a:noFill/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TW" dirty="0" smtClean="0"/>
              <a:t>AXI</a:t>
            </a:r>
          </a:p>
        </p:txBody>
      </p:sp>
    </p:spTree>
    <p:extLst>
      <p:ext uri="{BB962C8B-B14F-4D97-AF65-F5344CB8AC3E}">
        <p14:creationId xmlns:p14="http://schemas.microsoft.com/office/powerpoint/2010/main" val="3957541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FSM status 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/>
              <a:t>0x0:ST_ACTIVE</a:t>
            </a:r>
          </a:p>
          <a:p>
            <a:r>
              <a:rPr lang="en-US" altLang="zh-TW" dirty="0" smtClean="0"/>
              <a:t>0x1:ST_DVFS</a:t>
            </a:r>
          </a:p>
          <a:p>
            <a:r>
              <a:rPr lang="en-US" altLang="zh-TW" dirty="0" smtClean="0"/>
              <a:t>0x2:ST_ISOLATION</a:t>
            </a:r>
          </a:p>
          <a:p>
            <a:r>
              <a:rPr lang="en-US" altLang="zh-TW" dirty="0" smtClean="0"/>
              <a:t>0x3:ST_RETENTION</a:t>
            </a:r>
          </a:p>
          <a:p>
            <a:r>
              <a:rPr lang="en-US" altLang="zh-TW" dirty="0" smtClean="0"/>
              <a:t>0x4:ST_LIGHTSLEEP</a:t>
            </a:r>
          </a:p>
          <a:p>
            <a:r>
              <a:rPr lang="en-US" altLang="zh-TW" dirty="0" smtClean="0"/>
              <a:t>0x5:ST_DEEPSLEEP</a:t>
            </a:r>
          </a:p>
        </p:txBody>
      </p:sp>
    </p:spTree>
    <p:extLst>
      <p:ext uri="{BB962C8B-B14F-4D97-AF65-F5344CB8AC3E}">
        <p14:creationId xmlns:p14="http://schemas.microsoft.com/office/powerpoint/2010/main" val="21956259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FSM</a:t>
            </a:r>
            <a:endParaRPr lang="zh-TW" altLang="en-US" dirty="0"/>
          </a:p>
        </p:txBody>
      </p:sp>
      <p:grpSp>
        <p:nvGrpSpPr>
          <p:cNvPr id="6" name="群組 5"/>
          <p:cNvGrpSpPr/>
          <p:nvPr/>
        </p:nvGrpSpPr>
        <p:grpSpPr>
          <a:xfrm>
            <a:off x="1154117" y="3001765"/>
            <a:ext cx="1647730" cy="1285592"/>
            <a:chOff x="3690430" y="1014104"/>
            <a:chExt cx="1647730" cy="1285592"/>
          </a:xfrm>
        </p:grpSpPr>
        <p:sp>
          <p:nvSpPr>
            <p:cNvPr id="4" name="橢圓 3"/>
            <p:cNvSpPr/>
            <p:nvPr/>
          </p:nvSpPr>
          <p:spPr bwMode="auto">
            <a:xfrm>
              <a:off x="3690430" y="1014104"/>
              <a:ext cx="1647730" cy="1285592"/>
            </a:xfrm>
            <a:prstGeom prst="ellipse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endParaRPr lang="en-US" altLang="zh-TW" sz="1600" dirty="0" smtClean="0"/>
            </a:p>
            <a:p>
              <a:endParaRPr lang="en-US" altLang="zh-TW" sz="1600" dirty="0"/>
            </a:p>
          </p:txBody>
        </p:sp>
        <p:sp>
          <p:nvSpPr>
            <p:cNvPr id="5" name="矩形 4"/>
            <p:cNvSpPr/>
            <p:nvPr/>
          </p:nvSpPr>
          <p:spPr>
            <a:xfrm>
              <a:off x="3872898" y="1491284"/>
              <a:ext cx="1309974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TW" sz="1600" dirty="0"/>
                <a:t>ST_ACTIVE</a:t>
              </a:r>
            </a:p>
          </p:txBody>
        </p:sp>
      </p:grpSp>
      <p:grpSp>
        <p:nvGrpSpPr>
          <p:cNvPr id="7" name="群組 6"/>
          <p:cNvGrpSpPr/>
          <p:nvPr/>
        </p:nvGrpSpPr>
        <p:grpSpPr>
          <a:xfrm>
            <a:off x="2932273" y="3001765"/>
            <a:ext cx="1739495" cy="1285592"/>
            <a:chOff x="3690430" y="1014104"/>
            <a:chExt cx="1739495" cy="1285592"/>
          </a:xfrm>
        </p:grpSpPr>
        <p:sp>
          <p:nvSpPr>
            <p:cNvPr id="8" name="橢圓 7"/>
            <p:cNvSpPr/>
            <p:nvPr/>
          </p:nvSpPr>
          <p:spPr bwMode="auto">
            <a:xfrm>
              <a:off x="3690430" y="1014104"/>
              <a:ext cx="1647730" cy="1285592"/>
            </a:xfrm>
            <a:prstGeom prst="ellipse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endParaRPr lang="en-US" altLang="zh-TW" sz="1600" dirty="0" smtClean="0"/>
            </a:p>
            <a:p>
              <a:endParaRPr lang="en-US" altLang="zh-TW" sz="1600" dirty="0"/>
            </a:p>
          </p:txBody>
        </p:sp>
        <p:sp>
          <p:nvSpPr>
            <p:cNvPr id="9" name="矩形 8"/>
            <p:cNvSpPr/>
            <p:nvPr/>
          </p:nvSpPr>
          <p:spPr>
            <a:xfrm>
              <a:off x="3768123" y="1472234"/>
              <a:ext cx="1661802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TW" sz="1600" dirty="0"/>
                <a:t>ST_ISOLATION</a:t>
              </a:r>
            </a:p>
          </p:txBody>
        </p:sp>
      </p:grpSp>
      <p:grpSp>
        <p:nvGrpSpPr>
          <p:cNvPr id="10" name="群組 9"/>
          <p:cNvGrpSpPr/>
          <p:nvPr/>
        </p:nvGrpSpPr>
        <p:grpSpPr>
          <a:xfrm>
            <a:off x="4802193" y="3001765"/>
            <a:ext cx="1742785" cy="1285592"/>
            <a:chOff x="3682398" y="1014104"/>
            <a:chExt cx="1742785" cy="1285592"/>
          </a:xfrm>
        </p:grpSpPr>
        <p:sp>
          <p:nvSpPr>
            <p:cNvPr id="11" name="橢圓 10"/>
            <p:cNvSpPr/>
            <p:nvPr/>
          </p:nvSpPr>
          <p:spPr bwMode="auto">
            <a:xfrm>
              <a:off x="3690430" y="1014104"/>
              <a:ext cx="1647730" cy="1285592"/>
            </a:xfrm>
            <a:prstGeom prst="ellipse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endParaRPr lang="en-US" altLang="zh-TW" sz="1600" dirty="0" smtClean="0"/>
            </a:p>
            <a:p>
              <a:endParaRPr lang="en-US" altLang="zh-TW" sz="1600" dirty="0"/>
            </a:p>
          </p:txBody>
        </p:sp>
        <p:sp>
          <p:nvSpPr>
            <p:cNvPr id="12" name="矩形 11"/>
            <p:cNvSpPr/>
            <p:nvPr/>
          </p:nvSpPr>
          <p:spPr>
            <a:xfrm>
              <a:off x="3682398" y="1472234"/>
              <a:ext cx="1742785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TW" sz="1600" dirty="0"/>
                <a:t>ST_RETENTION</a:t>
              </a:r>
            </a:p>
          </p:txBody>
        </p:sp>
      </p:grpSp>
      <p:grpSp>
        <p:nvGrpSpPr>
          <p:cNvPr id="13" name="群組 12"/>
          <p:cNvGrpSpPr/>
          <p:nvPr/>
        </p:nvGrpSpPr>
        <p:grpSpPr>
          <a:xfrm>
            <a:off x="1055294" y="958433"/>
            <a:ext cx="1845377" cy="1285592"/>
            <a:chOff x="3615723" y="1014104"/>
            <a:chExt cx="1845377" cy="1285592"/>
          </a:xfrm>
        </p:grpSpPr>
        <p:sp>
          <p:nvSpPr>
            <p:cNvPr id="14" name="橢圓 13"/>
            <p:cNvSpPr/>
            <p:nvPr/>
          </p:nvSpPr>
          <p:spPr bwMode="auto">
            <a:xfrm>
              <a:off x="3690430" y="1014104"/>
              <a:ext cx="1647730" cy="1285592"/>
            </a:xfrm>
            <a:prstGeom prst="ellipse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endParaRPr lang="en-US" altLang="zh-TW" sz="1600" dirty="0" smtClean="0"/>
            </a:p>
            <a:p>
              <a:endParaRPr lang="en-US" altLang="zh-TW" sz="1600" dirty="0"/>
            </a:p>
          </p:txBody>
        </p:sp>
        <p:sp>
          <p:nvSpPr>
            <p:cNvPr id="15" name="矩形 14"/>
            <p:cNvSpPr/>
            <p:nvPr/>
          </p:nvSpPr>
          <p:spPr>
            <a:xfrm>
              <a:off x="3615723" y="1500809"/>
              <a:ext cx="1845377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TW" sz="1600" dirty="0" smtClean="0"/>
                <a:t>ST_LIGHTSLEEP</a:t>
              </a:r>
              <a:endParaRPr lang="en-US" altLang="zh-TW" sz="1600" dirty="0"/>
            </a:p>
          </p:txBody>
        </p:sp>
      </p:grpSp>
      <p:grpSp>
        <p:nvGrpSpPr>
          <p:cNvPr id="16" name="群組 15"/>
          <p:cNvGrpSpPr/>
          <p:nvPr/>
        </p:nvGrpSpPr>
        <p:grpSpPr>
          <a:xfrm>
            <a:off x="6559098" y="3001765"/>
            <a:ext cx="1786066" cy="1285592"/>
            <a:chOff x="3625248" y="1014104"/>
            <a:chExt cx="1786066" cy="1285592"/>
          </a:xfrm>
        </p:grpSpPr>
        <p:sp>
          <p:nvSpPr>
            <p:cNvPr id="17" name="橢圓 16"/>
            <p:cNvSpPr/>
            <p:nvPr/>
          </p:nvSpPr>
          <p:spPr bwMode="auto">
            <a:xfrm>
              <a:off x="3690430" y="1014104"/>
              <a:ext cx="1647730" cy="1285592"/>
            </a:xfrm>
            <a:prstGeom prst="ellipse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endParaRPr lang="en-US" altLang="zh-TW" sz="1600" dirty="0" smtClean="0"/>
            </a:p>
            <a:p>
              <a:endParaRPr lang="en-US" altLang="zh-TW" sz="1600" dirty="0"/>
            </a:p>
          </p:txBody>
        </p:sp>
        <p:sp>
          <p:nvSpPr>
            <p:cNvPr id="18" name="矩形 17"/>
            <p:cNvSpPr/>
            <p:nvPr/>
          </p:nvSpPr>
          <p:spPr>
            <a:xfrm>
              <a:off x="3625248" y="1472234"/>
              <a:ext cx="1786066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TW" sz="1600" dirty="0"/>
                <a:t>ST_DEEPSLEEP</a:t>
              </a:r>
            </a:p>
          </p:txBody>
        </p:sp>
      </p:grpSp>
      <p:grpSp>
        <p:nvGrpSpPr>
          <p:cNvPr id="19" name="群組 18"/>
          <p:cNvGrpSpPr/>
          <p:nvPr/>
        </p:nvGrpSpPr>
        <p:grpSpPr>
          <a:xfrm>
            <a:off x="1154117" y="5139070"/>
            <a:ext cx="1647730" cy="1285592"/>
            <a:chOff x="3690430" y="1014104"/>
            <a:chExt cx="1647730" cy="1285592"/>
          </a:xfrm>
        </p:grpSpPr>
        <p:sp>
          <p:nvSpPr>
            <p:cNvPr id="20" name="橢圓 19"/>
            <p:cNvSpPr/>
            <p:nvPr/>
          </p:nvSpPr>
          <p:spPr bwMode="auto">
            <a:xfrm>
              <a:off x="3690430" y="1014104"/>
              <a:ext cx="1647730" cy="1285592"/>
            </a:xfrm>
            <a:prstGeom prst="ellipse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endParaRPr lang="en-US" altLang="zh-TW" sz="1600" dirty="0" smtClean="0"/>
            </a:p>
            <a:p>
              <a:endParaRPr lang="en-US" altLang="zh-TW" sz="1600" dirty="0"/>
            </a:p>
          </p:txBody>
        </p:sp>
        <p:sp>
          <p:nvSpPr>
            <p:cNvPr id="21" name="矩形 20"/>
            <p:cNvSpPr/>
            <p:nvPr/>
          </p:nvSpPr>
          <p:spPr>
            <a:xfrm>
              <a:off x="3958623" y="1491284"/>
              <a:ext cx="1104790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TW" sz="1600" dirty="0"/>
                <a:t>ST_DVFS</a:t>
              </a:r>
              <a:endParaRPr lang="zh-TW" altLang="en-US" sz="1600" dirty="0"/>
            </a:p>
          </p:txBody>
        </p:sp>
      </p:grpSp>
      <p:sp>
        <p:nvSpPr>
          <p:cNvPr id="32" name="弧形 31"/>
          <p:cNvSpPr/>
          <p:nvPr/>
        </p:nvSpPr>
        <p:spPr bwMode="auto">
          <a:xfrm rot="5024736">
            <a:off x="2616883" y="2928026"/>
            <a:ext cx="478431" cy="504050"/>
          </a:xfrm>
          <a:prstGeom prst="arc">
            <a:avLst>
              <a:gd name="adj1" fmla="val 7344366"/>
              <a:gd name="adj2" fmla="val 15616379"/>
            </a:avLst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TW" altLang="en-US" sz="18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33" name="弧形 32"/>
          <p:cNvSpPr/>
          <p:nvPr/>
        </p:nvSpPr>
        <p:spPr bwMode="auto">
          <a:xfrm rot="5024736">
            <a:off x="4432552" y="2995015"/>
            <a:ext cx="478431" cy="504050"/>
          </a:xfrm>
          <a:prstGeom prst="arc">
            <a:avLst>
              <a:gd name="adj1" fmla="val 7344366"/>
              <a:gd name="adj2" fmla="val 15616379"/>
            </a:avLst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TW" altLang="en-US" sz="18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34" name="弧形 33"/>
          <p:cNvSpPr/>
          <p:nvPr/>
        </p:nvSpPr>
        <p:spPr bwMode="auto">
          <a:xfrm rot="15524233">
            <a:off x="2634189" y="3834244"/>
            <a:ext cx="478431" cy="504050"/>
          </a:xfrm>
          <a:prstGeom prst="arc">
            <a:avLst>
              <a:gd name="adj1" fmla="val 7344366"/>
              <a:gd name="adj2" fmla="val 15616379"/>
            </a:avLst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TW" altLang="en-US" sz="18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36" name="弧形 35"/>
          <p:cNvSpPr/>
          <p:nvPr/>
        </p:nvSpPr>
        <p:spPr bwMode="auto">
          <a:xfrm rot="15524233">
            <a:off x="4449858" y="3795374"/>
            <a:ext cx="478431" cy="504050"/>
          </a:xfrm>
          <a:prstGeom prst="arc">
            <a:avLst>
              <a:gd name="adj1" fmla="val 7344366"/>
              <a:gd name="adj2" fmla="val 15616379"/>
            </a:avLst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TW" altLang="en-US" sz="18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cxnSp>
        <p:nvCxnSpPr>
          <p:cNvPr id="37" name="直線單箭頭接點 36"/>
          <p:cNvCxnSpPr/>
          <p:nvPr/>
        </p:nvCxnSpPr>
        <p:spPr bwMode="auto">
          <a:xfrm>
            <a:off x="1746161" y="4370101"/>
            <a:ext cx="0" cy="635978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38" name="直線單箭頭接點 37"/>
          <p:cNvCxnSpPr/>
          <p:nvPr/>
        </p:nvCxnSpPr>
        <p:spPr bwMode="auto">
          <a:xfrm>
            <a:off x="2184311" y="4358225"/>
            <a:ext cx="0" cy="647854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arrow" w="med" len="med"/>
            <a:tailEnd type="none" w="med" len="med"/>
          </a:ln>
          <a:effectLst/>
        </p:spPr>
      </p:cxnSp>
      <p:sp>
        <p:nvSpPr>
          <p:cNvPr id="41" name="文字方塊 40"/>
          <p:cNvSpPr txBox="1"/>
          <p:nvPr/>
        </p:nvSpPr>
        <p:spPr>
          <a:xfrm>
            <a:off x="2292698" y="2580330"/>
            <a:ext cx="136447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000" dirty="0" err="1" smtClean="0"/>
              <a:t>pd_ready</a:t>
            </a:r>
            <a:r>
              <a:rPr lang="en-US" altLang="zh-TW" sz="1000" dirty="0" smtClean="0"/>
              <a:t>==1</a:t>
            </a:r>
            <a:r>
              <a:rPr lang="en-US" altLang="zh-TW" sz="1000" dirty="0" smtClean="0"/>
              <a:t>&amp;&amp;</a:t>
            </a:r>
          </a:p>
          <a:p>
            <a:r>
              <a:rPr lang="en-US" altLang="zh-TW" sz="1000" dirty="0" err="1" smtClean="0"/>
              <a:t>cmd</a:t>
            </a:r>
            <a:r>
              <a:rPr lang="en-US" altLang="zh-TW" sz="1000" dirty="0" smtClean="0"/>
              <a:t>==</a:t>
            </a:r>
            <a:r>
              <a:rPr lang="en-US" altLang="zh-TW" sz="1000" dirty="0" smtClean="0"/>
              <a:t>DEEPSLEEP</a:t>
            </a:r>
            <a:endParaRPr lang="zh-TW" altLang="en-US" sz="1000" dirty="0"/>
          </a:p>
        </p:txBody>
      </p:sp>
      <p:sp>
        <p:nvSpPr>
          <p:cNvPr id="42" name="文字方塊 41"/>
          <p:cNvSpPr txBox="1"/>
          <p:nvPr/>
        </p:nvSpPr>
        <p:spPr>
          <a:xfrm>
            <a:off x="586308" y="4512966"/>
            <a:ext cx="115929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000" dirty="0" err="1" smtClean="0"/>
              <a:t>pd_ready</a:t>
            </a:r>
            <a:r>
              <a:rPr lang="en-US" altLang="zh-TW" sz="1000" dirty="0" smtClean="0"/>
              <a:t>==1&amp;&amp;</a:t>
            </a:r>
          </a:p>
          <a:p>
            <a:r>
              <a:rPr lang="en-US" altLang="zh-TW" sz="1000" dirty="0" err="1" smtClean="0"/>
              <a:t>cmd</a:t>
            </a:r>
            <a:r>
              <a:rPr lang="en-US" altLang="zh-TW" sz="1000" dirty="0" smtClean="0"/>
              <a:t>==DVFS</a:t>
            </a:r>
          </a:p>
        </p:txBody>
      </p:sp>
      <p:sp>
        <p:nvSpPr>
          <p:cNvPr id="43" name="文字方塊 42"/>
          <p:cNvSpPr txBox="1"/>
          <p:nvPr/>
        </p:nvSpPr>
        <p:spPr>
          <a:xfrm>
            <a:off x="2165633" y="4731634"/>
            <a:ext cx="143981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000" dirty="0" err="1" smtClean="0"/>
              <a:t>pd_frq_scale_ack</a:t>
            </a:r>
            <a:r>
              <a:rPr lang="en-US" altLang="zh-TW" sz="1000" dirty="0" smtClean="0"/>
              <a:t>&amp;&amp;</a:t>
            </a:r>
          </a:p>
          <a:p>
            <a:r>
              <a:rPr lang="en-US" altLang="zh-TW" sz="1000" dirty="0" err="1" smtClean="0"/>
              <a:t>pd_vol_scale_ack</a:t>
            </a:r>
            <a:endParaRPr lang="en-US" altLang="zh-TW" sz="1000" dirty="0" smtClean="0"/>
          </a:p>
        </p:txBody>
      </p:sp>
      <p:sp>
        <p:nvSpPr>
          <p:cNvPr id="46" name="矩形 45"/>
          <p:cNvSpPr/>
          <p:nvPr/>
        </p:nvSpPr>
        <p:spPr>
          <a:xfrm>
            <a:off x="391788" y="2427126"/>
            <a:ext cx="140134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1000" dirty="0" err="1"/>
              <a:t>pd_ready</a:t>
            </a:r>
            <a:r>
              <a:rPr lang="en-US" altLang="zh-TW" sz="1000" dirty="0"/>
              <a:t>==1</a:t>
            </a:r>
            <a:r>
              <a:rPr lang="en-US" altLang="zh-TW" sz="1000" dirty="0" smtClean="0"/>
              <a:t>&amp;&amp;</a:t>
            </a:r>
            <a:endParaRPr lang="en-US" altLang="zh-TW" sz="1000" dirty="0" smtClean="0"/>
          </a:p>
          <a:p>
            <a:r>
              <a:rPr lang="en-US" altLang="zh-TW" sz="1000" dirty="0" err="1" smtClean="0"/>
              <a:t>cmd</a:t>
            </a:r>
            <a:r>
              <a:rPr lang="en-US" altLang="zh-TW" sz="1000" dirty="0" smtClean="0"/>
              <a:t>==LIGHTSLEEP</a:t>
            </a:r>
            <a:endParaRPr lang="zh-TW" altLang="en-US" sz="1000" dirty="0"/>
          </a:p>
        </p:txBody>
      </p:sp>
      <p:sp>
        <p:nvSpPr>
          <p:cNvPr id="47" name="矩形 46"/>
          <p:cNvSpPr/>
          <p:nvPr/>
        </p:nvSpPr>
        <p:spPr>
          <a:xfrm>
            <a:off x="5835225" y="2623946"/>
            <a:ext cx="1436612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1000" dirty="0" smtClean="0"/>
              <a:t>counter&gt;=</a:t>
            </a:r>
            <a:r>
              <a:rPr lang="en-US" altLang="zh-TW" sz="1000" dirty="0" err="1" smtClean="0"/>
              <a:t>ret_cyc</a:t>
            </a:r>
            <a:r>
              <a:rPr lang="en-US" altLang="zh-TW" sz="1000" dirty="0" smtClean="0"/>
              <a:t>&amp;&amp;</a:t>
            </a:r>
          </a:p>
          <a:p>
            <a:r>
              <a:rPr lang="en-US" altLang="zh-TW" sz="1000" dirty="0" err="1" smtClean="0"/>
              <a:t>cmd</a:t>
            </a:r>
            <a:r>
              <a:rPr lang="en-US" altLang="zh-TW" sz="1000" dirty="0" smtClean="0"/>
              <a:t>==DEEPSLEEP</a:t>
            </a:r>
            <a:endParaRPr lang="zh-TW" altLang="en-US" sz="1000" dirty="0"/>
          </a:p>
        </p:txBody>
      </p:sp>
      <p:sp>
        <p:nvSpPr>
          <p:cNvPr id="50" name="矩形 49"/>
          <p:cNvSpPr/>
          <p:nvPr/>
        </p:nvSpPr>
        <p:spPr>
          <a:xfrm>
            <a:off x="4053322" y="2738905"/>
            <a:ext cx="1271502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1000" dirty="0" smtClean="0"/>
              <a:t>counter&gt;=</a:t>
            </a:r>
            <a:r>
              <a:rPr lang="en-US" altLang="zh-TW" sz="1000" dirty="0" err="1" smtClean="0"/>
              <a:t>iso_cyc</a:t>
            </a:r>
            <a:endParaRPr lang="zh-TW" altLang="en-US" sz="1000" dirty="0"/>
          </a:p>
        </p:txBody>
      </p:sp>
      <p:sp>
        <p:nvSpPr>
          <p:cNvPr id="51" name="矩形 50"/>
          <p:cNvSpPr/>
          <p:nvPr/>
        </p:nvSpPr>
        <p:spPr>
          <a:xfrm>
            <a:off x="2308472" y="4277918"/>
            <a:ext cx="1271502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1000" dirty="0" smtClean="0"/>
              <a:t>counter&gt;=</a:t>
            </a:r>
            <a:r>
              <a:rPr lang="en-US" altLang="zh-TW" sz="1000" dirty="0" err="1" smtClean="0"/>
              <a:t>iso_cyc</a:t>
            </a:r>
            <a:endParaRPr lang="zh-TW" altLang="en-US" sz="1000" dirty="0"/>
          </a:p>
        </p:txBody>
      </p:sp>
      <p:sp>
        <p:nvSpPr>
          <p:cNvPr id="52" name="矩形 51"/>
          <p:cNvSpPr/>
          <p:nvPr/>
        </p:nvSpPr>
        <p:spPr>
          <a:xfrm>
            <a:off x="4063741" y="4346901"/>
            <a:ext cx="1250663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1000" dirty="0"/>
              <a:t>counter&gt;=</a:t>
            </a:r>
            <a:r>
              <a:rPr lang="en-US" altLang="zh-TW" sz="1000" dirty="0" err="1"/>
              <a:t>ret_cyc</a:t>
            </a:r>
            <a:endParaRPr lang="zh-TW" altLang="en-US" sz="1000" dirty="0"/>
          </a:p>
        </p:txBody>
      </p:sp>
      <p:cxnSp>
        <p:nvCxnSpPr>
          <p:cNvPr id="44" name="直線單箭頭接點 43"/>
          <p:cNvCxnSpPr/>
          <p:nvPr/>
        </p:nvCxnSpPr>
        <p:spPr bwMode="auto">
          <a:xfrm>
            <a:off x="1728992" y="2319272"/>
            <a:ext cx="0" cy="635978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arrow" w="med" len="med"/>
            <a:tailEnd type="none" w="med" len="med"/>
          </a:ln>
          <a:effectLst/>
        </p:spPr>
      </p:cxnSp>
      <p:cxnSp>
        <p:nvCxnSpPr>
          <p:cNvPr id="45" name="直線單箭頭接點 44"/>
          <p:cNvCxnSpPr/>
          <p:nvPr/>
        </p:nvCxnSpPr>
        <p:spPr bwMode="auto">
          <a:xfrm>
            <a:off x="2167142" y="2307396"/>
            <a:ext cx="0" cy="647854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</p:cxnSp>
      <p:sp>
        <p:nvSpPr>
          <p:cNvPr id="53" name="文字方塊 52"/>
          <p:cNvSpPr txBox="1"/>
          <p:nvPr/>
        </p:nvSpPr>
        <p:spPr>
          <a:xfrm>
            <a:off x="2113747" y="2251745"/>
            <a:ext cx="236475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000" dirty="0" err="1" smtClean="0"/>
              <a:t>pd_wakeup_event</a:t>
            </a:r>
            <a:r>
              <a:rPr lang="en-US" altLang="zh-TW" sz="1000" dirty="0" smtClean="0"/>
              <a:t>&amp;&amp;</a:t>
            </a:r>
            <a:r>
              <a:rPr lang="en-US" altLang="zh-TW" sz="1000" dirty="0" err="1" smtClean="0"/>
              <a:t>pd_pwr_stable</a:t>
            </a:r>
            <a:endParaRPr lang="en-US" altLang="zh-TW" sz="1000" dirty="0"/>
          </a:p>
        </p:txBody>
      </p:sp>
      <p:sp>
        <p:nvSpPr>
          <p:cNvPr id="54" name="弧形 53"/>
          <p:cNvSpPr/>
          <p:nvPr/>
        </p:nvSpPr>
        <p:spPr bwMode="auto">
          <a:xfrm rot="5024736">
            <a:off x="6288456" y="2995014"/>
            <a:ext cx="478431" cy="504050"/>
          </a:xfrm>
          <a:prstGeom prst="arc">
            <a:avLst>
              <a:gd name="adj1" fmla="val 7344366"/>
              <a:gd name="adj2" fmla="val 15616379"/>
            </a:avLst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TW" altLang="en-US" sz="18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55" name="弧形 54"/>
          <p:cNvSpPr/>
          <p:nvPr/>
        </p:nvSpPr>
        <p:spPr bwMode="auto">
          <a:xfrm rot="15524233">
            <a:off x="6305762" y="3795373"/>
            <a:ext cx="478431" cy="504050"/>
          </a:xfrm>
          <a:prstGeom prst="arc">
            <a:avLst>
              <a:gd name="adj1" fmla="val 7344366"/>
              <a:gd name="adj2" fmla="val 15616379"/>
            </a:avLst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TW" altLang="en-US" sz="18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56" name="文字方塊 55"/>
          <p:cNvSpPr txBox="1"/>
          <p:nvPr/>
        </p:nvSpPr>
        <p:spPr>
          <a:xfrm>
            <a:off x="5839823" y="4347649"/>
            <a:ext cx="147027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000" dirty="0" err="1" smtClean="0"/>
              <a:t>pd_wakeup_event</a:t>
            </a:r>
            <a:r>
              <a:rPr lang="en-US" altLang="zh-TW" sz="1000" dirty="0" smtClean="0"/>
              <a:t>&amp;&amp;</a:t>
            </a:r>
          </a:p>
          <a:p>
            <a:r>
              <a:rPr lang="en-US" altLang="zh-TW" sz="1000" dirty="0" err="1" smtClean="0"/>
              <a:t>pd_pwr_stable</a:t>
            </a:r>
            <a:endParaRPr lang="en-US" altLang="zh-TW" sz="1000" dirty="0"/>
          </a:p>
        </p:txBody>
      </p:sp>
    </p:spTree>
    <p:extLst>
      <p:ext uri="{BB962C8B-B14F-4D97-AF65-F5344CB8AC3E}">
        <p14:creationId xmlns:p14="http://schemas.microsoft.com/office/powerpoint/2010/main" val="103851909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Timing </a:t>
            </a:r>
            <a:r>
              <a:rPr lang="en-US" altLang="zh-TW" dirty="0" smtClean="0"/>
              <a:t>diagram for deep sleep mode</a:t>
            </a:r>
            <a:endParaRPr lang="zh-TW" altLang="en-US" dirty="0"/>
          </a:p>
        </p:txBody>
      </p:sp>
      <p:cxnSp>
        <p:nvCxnSpPr>
          <p:cNvPr id="4" name="肘形接點 3"/>
          <p:cNvCxnSpPr/>
          <p:nvPr/>
        </p:nvCxnSpPr>
        <p:spPr>
          <a:xfrm>
            <a:off x="3779912" y="4954508"/>
            <a:ext cx="4464496" cy="360040"/>
          </a:xfrm>
          <a:prstGeom prst="bentConnector3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直線接點 4"/>
          <p:cNvCxnSpPr/>
          <p:nvPr/>
        </p:nvCxnSpPr>
        <p:spPr>
          <a:xfrm>
            <a:off x="3779912" y="4954508"/>
            <a:ext cx="0" cy="36004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直線接點 5"/>
          <p:cNvCxnSpPr/>
          <p:nvPr/>
        </p:nvCxnSpPr>
        <p:spPr>
          <a:xfrm flipH="1">
            <a:off x="1943708" y="5314548"/>
            <a:ext cx="183620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肘形接點 6"/>
          <p:cNvCxnSpPr/>
          <p:nvPr/>
        </p:nvCxnSpPr>
        <p:spPr>
          <a:xfrm>
            <a:off x="3167844" y="4234428"/>
            <a:ext cx="5076564" cy="360040"/>
          </a:xfrm>
          <a:prstGeom prst="bentConnector3">
            <a:avLst>
              <a:gd name="adj1" fmla="val 66687"/>
            </a:avLst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線接點 7"/>
          <p:cNvCxnSpPr/>
          <p:nvPr/>
        </p:nvCxnSpPr>
        <p:spPr>
          <a:xfrm>
            <a:off x="3167844" y="4234428"/>
            <a:ext cx="0" cy="36004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線接點 8"/>
          <p:cNvCxnSpPr/>
          <p:nvPr/>
        </p:nvCxnSpPr>
        <p:spPr>
          <a:xfrm flipH="1">
            <a:off x="1943708" y="4594468"/>
            <a:ext cx="122413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肘形接點 9"/>
          <p:cNvCxnSpPr/>
          <p:nvPr/>
        </p:nvCxnSpPr>
        <p:spPr>
          <a:xfrm>
            <a:off x="2771800" y="3442340"/>
            <a:ext cx="5472608" cy="360040"/>
          </a:xfrm>
          <a:prstGeom prst="bentConnector3">
            <a:avLst>
              <a:gd name="adj1" fmla="val 79869"/>
            </a:avLst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線接點 10"/>
          <p:cNvCxnSpPr/>
          <p:nvPr/>
        </p:nvCxnSpPr>
        <p:spPr>
          <a:xfrm>
            <a:off x="2771800" y="3442340"/>
            <a:ext cx="0" cy="36004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線接點 11"/>
          <p:cNvCxnSpPr/>
          <p:nvPr/>
        </p:nvCxnSpPr>
        <p:spPr>
          <a:xfrm flipH="1">
            <a:off x="1943708" y="3802380"/>
            <a:ext cx="82809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線接點 12"/>
          <p:cNvCxnSpPr/>
          <p:nvPr/>
        </p:nvCxnSpPr>
        <p:spPr>
          <a:xfrm>
            <a:off x="2339752" y="2722260"/>
            <a:ext cx="0" cy="36004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線接點 13"/>
          <p:cNvCxnSpPr/>
          <p:nvPr/>
        </p:nvCxnSpPr>
        <p:spPr>
          <a:xfrm flipH="1">
            <a:off x="1943708" y="3082300"/>
            <a:ext cx="39604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線單箭頭接點 14"/>
          <p:cNvCxnSpPr/>
          <p:nvPr/>
        </p:nvCxnSpPr>
        <p:spPr>
          <a:xfrm>
            <a:off x="2339752" y="2722260"/>
            <a:ext cx="1800200" cy="0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線單箭頭接點 16"/>
          <p:cNvCxnSpPr/>
          <p:nvPr/>
        </p:nvCxnSpPr>
        <p:spPr>
          <a:xfrm>
            <a:off x="5508104" y="3082300"/>
            <a:ext cx="2736304" cy="0"/>
          </a:xfrm>
          <a:prstGeom prst="straightConnector1">
            <a:avLst/>
          </a:prstGeom>
          <a:ln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文字方塊 17"/>
          <p:cNvSpPr txBox="1"/>
          <p:nvPr/>
        </p:nvSpPr>
        <p:spPr>
          <a:xfrm>
            <a:off x="4139952" y="5695585"/>
            <a:ext cx="13681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dirty="0" smtClean="0"/>
              <a:t>Power off</a:t>
            </a:r>
            <a:endParaRPr lang="zh-TW" altLang="en-US" dirty="0"/>
          </a:p>
        </p:txBody>
      </p:sp>
      <p:sp>
        <p:nvSpPr>
          <p:cNvPr id="19" name="文字方塊 18"/>
          <p:cNvSpPr txBox="1"/>
          <p:nvPr/>
        </p:nvSpPr>
        <p:spPr>
          <a:xfrm>
            <a:off x="580730" y="2749419"/>
            <a:ext cx="13681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 err="1" smtClean="0"/>
              <a:t>pd_ready</a:t>
            </a:r>
            <a:endParaRPr lang="zh-TW" altLang="en-US" dirty="0"/>
          </a:p>
        </p:txBody>
      </p:sp>
      <p:sp>
        <p:nvSpPr>
          <p:cNvPr id="20" name="文字方塊 19"/>
          <p:cNvSpPr txBox="1"/>
          <p:nvPr/>
        </p:nvSpPr>
        <p:spPr>
          <a:xfrm>
            <a:off x="580730" y="3442101"/>
            <a:ext cx="13681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 err="1"/>
              <a:t>pd_iso_en</a:t>
            </a:r>
            <a:endParaRPr lang="zh-TW" altLang="en-US" dirty="0"/>
          </a:p>
        </p:txBody>
      </p:sp>
      <p:sp>
        <p:nvSpPr>
          <p:cNvPr id="21" name="文字方塊 20"/>
          <p:cNvSpPr txBox="1"/>
          <p:nvPr/>
        </p:nvSpPr>
        <p:spPr>
          <a:xfrm>
            <a:off x="580730" y="4250271"/>
            <a:ext cx="13681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 err="1"/>
              <a:t>pd_ret_en</a:t>
            </a:r>
            <a:endParaRPr lang="zh-TW" altLang="en-US" dirty="0"/>
          </a:p>
        </p:txBody>
      </p:sp>
      <p:sp>
        <p:nvSpPr>
          <p:cNvPr id="22" name="文字方塊 21"/>
          <p:cNvSpPr txBox="1"/>
          <p:nvPr/>
        </p:nvSpPr>
        <p:spPr>
          <a:xfrm>
            <a:off x="580730" y="4992062"/>
            <a:ext cx="151216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 err="1" smtClean="0"/>
              <a:t>pd_pwr_off</a:t>
            </a:r>
            <a:endParaRPr lang="en-US" altLang="zh-TW" dirty="0" smtClean="0"/>
          </a:p>
          <a:p>
            <a:r>
              <a:rPr lang="en-US" altLang="zh-TW" dirty="0" err="1" smtClean="0"/>
              <a:t>pd_clk_offf</a:t>
            </a:r>
            <a:endParaRPr lang="zh-TW" altLang="en-US" dirty="0"/>
          </a:p>
        </p:txBody>
      </p:sp>
      <p:sp>
        <p:nvSpPr>
          <p:cNvPr id="16" name="矩形 15"/>
          <p:cNvSpPr/>
          <p:nvPr/>
        </p:nvSpPr>
        <p:spPr>
          <a:xfrm>
            <a:off x="4139952" y="2470360"/>
            <a:ext cx="1368152" cy="3240360"/>
          </a:xfrm>
          <a:prstGeom prst="rect">
            <a:avLst/>
          </a:prstGeom>
          <a:solidFill>
            <a:schemeClr val="tx1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23" name="直線接點 22"/>
          <p:cNvCxnSpPr/>
          <p:nvPr/>
        </p:nvCxnSpPr>
        <p:spPr>
          <a:xfrm flipV="1">
            <a:off x="2771800" y="2470360"/>
            <a:ext cx="0" cy="3240360"/>
          </a:xfrm>
          <a:prstGeom prst="line">
            <a:avLst/>
          </a:prstGeom>
          <a:ln>
            <a:solidFill>
              <a:schemeClr val="tx1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線接點 26"/>
          <p:cNvCxnSpPr/>
          <p:nvPr/>
        </p:nvCxnSpPr>
        <p:spPr>
          <a:xfrm flipV="1">
            <a:off x="3167844" y="2470360"/>
            <a:ext cx="0" cy="3240360"/>
          </a:xfrm>
          <a:prstGeom prst="line">
            <a:avLst/>
          </a:prstGeom>
          <a:ln>
            <a:solidFill>
              <a:schemeClr val="tx1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線接點 27"/>
          <p:cNvCxnSpPr/>
          <p:nvPr/>
        </p:nvCxnSpPr>
        <p:spPr>
          <a:xfrm flipV="1">
            <a:off x="3779912" y="2470360"/>
            <a:ext cx="0" cy="3240360"/>
          </a:xfrm>
          <a:prstGeom prst="line">
            <a:avLst/>
          </a:prstGeom>
          <a:ln>
            <a:solidFill>
              <a:schemeClr val="tx1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線接點 29"/>
          <p:cNvCxnSpPr/>
          <p:nvPr/>
        </p:nvCxnSpPr>
        <p:spPr>
          <a:xfrm flipV="1">
            <a:off x="6011688" y="2470360"/>
            <a:ext cx="0" cy="3240360"/>
          </a:xfrm>
          <a:prstGeom prst="line">
            <a:avLst/>
          </a:prstGeom>
          <a:ln>
            <a:solidFill>
              <a:schemeClr val="tx1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線接點 30"/>
          <p:cNvCxnSpPr/>
          <p:nvPr/>
        </p:nvCxnSpPr>
        <p:spPr>
          <a:xfrm flipV="1">
            <a:off x="6551320" y="2470360"/>
            <a:ext cx="0" cy="3240360"/>
          </a:xfrm>
          <a:prstGeom prst="line">
            <a:avLst/>
          </a:prstGeom>
          <a:ln>
            <a:solidFill>
              <a:schemeClr val="tx1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直線接點 31"/>
          <p:cNvCxnSpPr/>
          <p:nvPr/>
        </p:nvCxnSpPr>
        <p:spPr>
          <a:xfrm flipV="1">
            <a:off x="7145680" y="2470360"/>
            <a:ext cx="0" cy="3240360"/>
          </a:xfrm>
          <a:prstGeom prst="line">
            <a:avLst/>
          </a:prstGeom>
          <a:ln>
            <a:solidFill>
              <a:schemeClr val="tx1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矩形 34"/>
          <p:cNvSpPr/>
          <p:nvPr/>
        </p:nvSpPr>
        <p:spPr>
          <a:xfrm>
            <a:off x="1561309" y="2088581"/>
            <a:ext cx="1160842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sz="1400" dirty="0" smtClean="0"/>
              <a:t>ST_ACTIVE</a:t>
            </a:r>
            <a:endParaRPr lang="en-US" altLang="zh-TW" sz="1400" dirty="0"/>
          </a:p>
        </p:txBody>
      </p:sp>
      <p:sp>
        <p:nvSpPr>
          <p:cNvPr id="36" name="矩形 35"/>
          <p:cNvSpPr/>
          <p:nvPr/>
        </p:nvSpPr>
        <p:spPr>
          <a:xfrm rot="5400000">
            <a:off x="2239391" y="1659755"/>
            <a:ext cx="1464032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sz="1400" dirty="0" smtClean="0"/>
              <a:t>ST_ISOLATION</a:t>
            </a:r>
            <a:endParaRPr lang="en-US" altLang="zh-TW" sz="1400" dirty="0"/>
          </a:p>
        </p:txBody>
      </p:sp>
      <p:sp>
        <p:nvSpPr>
          <p:cNvPr id="37" name="矩形 36"/>
          <p:cNvSpPr/>
          <p:nvPr/>
        </p:nvSpPr>
        <p:spPr>
          <a:xfrm rot="5400000">
            <a:off x="2682857" y="1710826"/>
            <a:ext cx="1566174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sz="1400" dirty="0" smtClean="0"/>
              <a:t>ST_RETENTION</a:t>
            </a:r>
            <a:endParaRPr lang="en-US" altLang="zh-TW" sz="1400" dirty="0"/>
          </a:p>
        </p:txBody>
      </p:sp>
      <p:sp>
        <p:nvSpPr>
          <p:cNvPr id="38" name="矩形 37"/>
          <p:cNvSpPr/>
          <p:nvPr/>
        </p:nvSpPr>
        <p:spPr>
          <a:xfrm>
            <a:off x="4011197" y="2088581"/>
            <a:ext cx="1595182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sz="1400" dirty="0" smtClean="0"/>
              <a:t>ST_DEEPSLEEP</a:t>
            </a:r>
            <a:endParaRPr lang="en-US" altLang="zh-TW" sz="1400" dirty="0"/>
          </a:p>
        </p:txBody>
      </p:sp>
      <p:sp>
        <p:nvSpPr>
          <p:cNvPr id="39" name="矩形 38"/>
          <p:cNvSpPr/>
          <p:nvPr/>
        </p:nvSpPr>
        <p:spPr>
          <a:xfrm rot="5400000">
            <a:off x="5479399" y="1710827"/>
            <a:ext cx="1566174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sz="1400" dirty="0" smtClean="0"/>
              <a:t>ST_RETENTION</a:t>
            </a:r>
            <a:endParaRPr lang="en-US" altLang="zh-TW" sz="1400" dirty="0"/>
          </a:p>
        </p:txBody>
      </p:sp>
      <p:sp>
        <p:nvSpPr>
          <p:cNvPr id="40" name="矩形 39"/>
          <p:cNvSpPr/>
          <p:nvPr/>
        </p:nvSpPr>
        <p:spPr>
          <a:xfrm rot="5400000">
            <a:off x="6144240" y="1660644"/>
            <a:ext cx="1464032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sz="1400" dirty="0" smtClean="0"/>
              <a:t>ST_ISOLATION</a:t>
            </a:r>
            <a:endParaRPr lang="en-US" altLang="zh-TW" sz="1400" dirty="0"/>
          </a:p>
        </p:txBody>
      </p:sp>
      <p:sp>
        <p:nvSpPr>
          <p:cNvPr id="41" name="矩形 40"/>
          <p:cNvSpPr/>
          <p:nvPr/>
        </p:nvSpPr>
        <p:spPr>
          <a:xfrm>
            <a:off x="7177939" y="2088581"/>
            <a:ext cx="1160842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sz="1400" dirty="0" smtClean="0"/>
              <a:t>ST_ACTIVE</a:t>
            </a:r>
            <a:endParaRPr lang="en-US" altLang="zh-TW" sz="1400" dirty="0"/>
          </a:p>
        </p:txBody>
      </p:sp>
    </p:spTree>
    <p:extLst>
      <p:ext uri="{BB962C8B-B14F-4D97-AF65-F5344CB8AC3E}">
        <p14:creationId xmlns:p14="http://schemas.microsoft.com/office/powerpoint/2010/main" val="59142993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Power control signal by FSM</a:t>
            </a:r>
            <a:endParaRPr lang="zh-TW" altLang="en-US" dirty="0"/>
          </a:p>
        </p:txBody>
      </p:sp>
      <p:graphicFrame>
        <p:nvGraphicFramePr>
          <p:cNvPr id="4" name="內容版面配置區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51900193"/>
              </p:ext>
            </p:extLst>
          </p:nvPr>
        </p:nvGraphicFramePr>
        <p:xfrm>
          <a:off x="381000" y="1208001"/>
          <a:ext cx="8174524" cy="2595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8894"/>
                <a:gridCol w="1563148"/>
                <a:gridCol w="1430962"/>
                <a:gridCol w="1518291"/>
                <a:gridCol w="1603229"/>
              </a:tblGrid>
              <a:tr h="370840">
                <a:tc>
                  <a:txBody>
                    <a:bodyPr/>
                    <a:lstStyle/>
                    <a:p>
                      <a:endParaRPr lang="zh-TW" altLang="en-US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500" dirty="0" err="1" smtClean="0"/>
                        <a:t>pd_iso_en</a:t>
                      </a:r>
                      <a:endParaRPr lang="zh-TW" altLang="en-US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500" dirty="0" err="1" smtClean="0"/>
                        <a:t>pd_ret_en</a:t>
                      </a:r>
                      <a:endParaRPr lang="zh-TW" altLang="en-US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500" dirty="0" err="1" smtClean="0"/>
                        <a:t>pd_clk_off</a:t>
                      </a:r>
                      <a:endParaRPr lang="zh-TW" altLang="en-US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500" dirty="0" err="1" smtClean="0"/>
                        <a:t>pd_pwr_off</a:t>
                      </a:r>
                      <a:endParaRPr lang="zh-TW" altLang="en-US" sz="15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sz="1500" dirty="0" smtClean="0"/>
                        <a:t>ST_NORMAL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500" dirty="0" smtClean="0"/>
                        <a:t>0</a:t>
                      </a:r>
                      <a:endParaRPr lang="zh-TW" altLang="en-US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500" dirty="0" smtClean="0"/>
                        <a:t>0</a:t>
                      </a:r>
                      <a:endParaRPr lang="zh-TW" altLang="en-US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500" dirty="0" smtClean="0"/>
                        <a:t>0</a:t>
                      </a:r>
                      <a:endParaRPr lang="zh-TW" altLang="en-US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500" dirty="0" smtClean="0"/>
                        <a:t>0</a:t>
                      </a:r>
                      <a:endParaRPr lang="zh-TW" altLang="en-US" sz="15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500" dirty="0" smtClean="0"/>
                        <a:t>ST_DVFS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500" dirty="0" smtClean="0"/>
                        <a:t>0</a:t>
                      </a:r>
                      <a:endParaRPr lang="zh-TW" altLang="en-US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500" dirty="0" smtClean="0"/>
                        <a:t>0</a:t>
                      </a:r>
                      <a:endParaRPr lang="zh-TW" altLang="en-US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500" dirty="0" smtClean="0"/>
                        <a:t>0</a:t>
                      </a:r>
                      <a:endParaRPr lang="zh-TW" altLang="en-US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500" dirty="0" smtClean="0"/>
                        <a:t>0</a:t>
                      </a:r>
                      <a:endParaRPr lang="zh-TW" altLang="en-US" sz="15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sz="1500" dirty="0" smtClean="0"/>
                        <a:t>ST_ISOLATION</a:t>
                      </a:r>
                      <a:endParaRPr lang="zh-TW" altLang="en-US" sz="1500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500" dirty="0" smtClean="0"/>
                        <a:t>1</a:t>
                      </a:r>
                      <a:endParaRPr lang="zh-TW" altLang="en-US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500" dirty="0" smtClean="0"/>
                        <a:t>0</a:t>
                      </a:r>
                      <a:endParaRPr lang="zh-TW" altLang="en-US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500" dirty="0" smtClean="0"/>
                        <a:t>0</a:t>
                      </a:r>
                      <a:endParaRPr lang="zh-TW" altLang="en-US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500" dirty="0" smtClean="0"/>
                        <a:t>0</a:t>
                      </a:r>
                      <a:endParaRPr lang="zh-TW" altLang="en-US" sz="15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sz="1500" dirty="0" smtClean="0"/>
                        <a:t>ST_RETENTION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500" dirty="0" smtClean="0"/>
                        <a:t>1</a:t>
                      </a:r>
                      <a:endParaRPr lang="zh-TW" altLang="en-US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500" dirty="0" smtClean="0"/>
                        <a:t>1</a:t>
                      </a:r>
                      <a:endParaRPr lang="zh-TW" altLang="en-US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500" dirty="0" smtClean="0"/>
                        <a:t>0</a:t>
                      </a:r>
                      <a:endParaRPr lang="zh-TW" altLang="en-US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500" dirty="0" smtClean="0"/>
                        <a:t>0</a:t>
                      </a:r>
                      <a:endParaRPr lang="zh-TW" altLang="en-US" sz="15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sz="1500" dirty="0" smtClean="0"/>
                        <a:t>ST_LIGHTSLEEP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500" dirty="0" smtClean="0"/>
                        <a:t>1</a:t>
                      </a:r>
                      <a:endParaRPr lang="zh-TW" altLang="en-US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500" dirty="0" smtClean="0"/>
                        <a:t>1</a:t>
                      </a:r>
                      <a:endParaRPr lang="zh-TW" altLang="en-US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500" dirty="0" smtClean="0"/>
                        <a:t>1</a:t>
                      </a:r>
                      <a:endParaRPr lang="zh-TW" altLang="en-US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500" dirty="0" smtClean="0"/>
                        <a:t>0</a:t>
                      </a:r>
                      <a:endParaRPr lang="zh-TW" altLang="en-US" sz="15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500" dirty="0" smtClean="0"/>
                        <a:t>ST_DEEPSLEEP</a:t>
                      </a:r>
                      <a:endParaRPr lang="zh-TW" altLang="en-US" sz="1500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500" dirty="0" smtClean="0"/>
                        <a:t>1</a:t>
                      </a:r>
                      <a:endParaRPr lang="zh-TW" altLang="en-US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500" dirty="0" smtClean="0"/>
                        <a:t>1</a:t>
                      </a:r>
                      <a:endParaRPr lang="zh-TW" altLang="en-US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500" dirty="0" smtClean="0"/>
                        <a:t>1</a:t>
                      </a:r>
                      <a:endParaRPr lang="zh-TW" altLang="en-US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500" dirty="0" smtClean="0"/>
                        <a:t>1</a:t>
                      </a:r>
                      <a:endParaRPr lang="zh-TW" altLang="en-US" sz="1500" dirty="0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263474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Future work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/>
              <a:t>Power domain inside SMU for ultra-low power</a:t>
            </a:r>
          </a:p>
          <a:p>
            <a:r>
              <a:rPr lang="en-US" altLang="zh-TW" dirty="0" smtClean="0"/>
              <a:t>Different frequency between cores and L2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06455411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2"/>
          <p:cNvSpPr>
            <a:spLocks noGrp="1" noChangeArrowheads="1"/>
          </p:cNvSpPr>
          <p:nvPr>
            <p:ph type="title"/>
          </p:nvPr>
        </p:nvSpPr>
        <p:spPr>
          <a:xfrm>
            <a:off x="323850" y="142875"/>
            <a:ext cx="8466138" cy="608013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zh-TW" sz="4400" dirty="0" smtClean="0">
                <a:ea typeface="新細明體" charset="-120"/>
              </a:rPr>
              <a:t>Thank You!</a:t>
            </a:r>
            <a:endParaRPr lang="zh-TW" altLang="en-US" sz="4400" smtClean="0">
              <a:ea typeface="新細明體" charset="-120"/>
            </a:endParaRPr>
          </a:p>
        </p:txBody>
      </p:sp>
      <p:sp>
        <p:nvSpPr>
          <p:cNvPr id="58370" name="Rectangle 3"/>
          <p:cNvSpPr txBox="1">
            <a:spLocks noChangeArrowheads="1"/>
          </p:cNvSpPr>
          <p:nvPr/>
        </p:nvSpPr>
        <p:spPr bwMode="black">
          <a:xfrm>
            <a:off x="-80963" y="5840413"/>
            <a:ext cx="9194801" cy="7223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268288" indent="-268288" algn="ctr">
              <a:spcBef>
                <a:spcPct val="20000"/>
              </a:spcBef>
              <a:buClr>
                <a:schemeClr val="tx2"/>
              </a:buClr>
              <a:buFont typeface="Wingdings" pitchFamily="2" charset="2"/>
              <a:buNone/>
            </a:pPr>
            <a:r>
              <a:rPr kumimoji="1" lang="en-US" altLang="zh-TW" sz="3200" dirty="0">
                <a:solidFill>
                  <a:schemeClr val="tx2"/>
                </a:solidFill>
                <a:latin typeface="Tahoma" pitchFamily="34" charset="0"/>
              </a:rPr>
              <a:t>www.andestech.com</a:t>
            </a:r>
          </a:p>
        </p:txBody>
      </p:sp>
      <p:pic>
        <p:nvPicPr>
          <p:cNvPr id="58371" name="Picture 5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885825" y="1147763"/>
            <a:ext cx="7372350" cy="4562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7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-50800" y="1052513"/>
            <a:ext cx="8936038" cy="4824412"/>
          </a:xfrm>
        </p:spPr>
        <p:txBody>
          <a:bodyPr/>
          <a:lstStyle/>
          <a:p>
            <a:pPr marL="268288" indent="-268288" algn="ctr" eaLnBrk="1" hangingPunct="1">
              <a:buFont typeface="Wingdings" pitchFamily="2" charset="2"/>
              <a:buNone/>
            </a:pPr>
            <a:endParaRPr lang="en-US" altLang="zh-TW" sz="4400" b="1" dirty="0" smtClean="0">
              <a:solidFill>
                <a:schemeClr val="tx2"/>
              </a:solidFill>
              <a:ea typeface="新細明體" charset="-120"/>
            </a:endParaRPr>
          </a:p>
          <a:p>
            <a:pPr marL="268288" indent="-268288" algn="ctr" eaLnBrk="1" hangingPunct="1">
              <a:buFont typeface="Wingdings" pitchFamily="2" charset="2"/>
              <a:buNone/>
            </a:pPr>
            <a:endParaRPr lang="en-US" altLang="zh-TW" sz="3600" b="1" dirty="0" smtClean="0">
              <a:solidFill>
                <a:schemeClr val="tx2"/>
              </a:solidFill>
              <a:ea typeface="新細明體" charset="-120"/>
            </a:endParaRPr>
          </a:p>
          <a:p>
            <a:pPr marL="268288" indent="-268288" algn="ctr" eaLnBrk="1" hangingPunct="1">
              <a:buFont typeface="Wingdings" pitchFamily="2" charset="2"/>
              <a:buNone/>
            </a:pPr>
            <a:r>
              <a:rPr lang="en-US" altLang="zh-TW" sz="8000" b="1" dirty="0" smtClean="0">
                <a:solidFill>
                  <a:schemeClr val="tx2"/>
                </a:solidFill>
                <a:ea typeface="新細明體" charset="-120"/>
              </a:rPr>
              <a:t>Thank You!</a:t>
            </a:r>
            <a:endParaRPr lang="en-US" altLang="zh-TW" sz="3200" b="1" dirty="0" smtClean="0">
              <a:solidFill>
                <a:schemeClr val="tx2"/>
              </a:solidFill>
              <a:ea typeface="新細明體" charset="-12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Request for L2 design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/>
              <a:t>For DVFS</a:t>
            </a:r>
          </a:p>
          <a:p>
            <a:pPr lvl="1"/>
            <a:r>
              <a:rPr lang="en-US" altLang="zh-TW" dirty="0" smtClean="0"/>
              <a:t>Standby command and standby signal</a:t>
            </a:r>
          </a:p>
          <a:p>
            <a:pPr lvl="1"/>
            <a:r>
              <a:rPr lang="en-US" altLang="zh-TW" dirty="0" smtClean="0"/>
              <a:t>Wakeup event source</a:t>
            </a:r>
          </a:p>
          <a:p>
            <a:r>
              <a:rPr lang="en-US" altLang="zh-TW" dirty="0" smtClean="0">
                <a:solidFill>
                  <a:srgbClr val="FF0000"/>
                </a:solidFill>
              </a:rPr>
              <a:t>Result </a:t>
            </a:r>
          </a:p>
          <a:p>
            <a:pPr lvl="1"/>
            <a:r>
              <a:rPr lang="en-US" altLang="zh-TW" dirty="0" smtClean="0">
                <a:solidFill>
                  <a:srgbClr val="FF0000"/>
                </a:solidFill>
              </a:rPr>
              <a:t>L2 is bind to hart 0</a:t>
            </a:r>
          </a:p>
          <a:p>
            <a:pPr lvl="1"/>
            <a:r>
              <a:rPr lang="en-US" altLang="zh-TW" dirty="0" smtClean="0">
                <a:solidFill>
                  <a:srgbClr val="FF0000"/>
                </a:solidFill>
              </a:rPr>
              <a:t>Add </a:t>
            </a:r>
            <a:r>
              <a:rPr lang="en-US" altLang="zh-TW" dirty="0">
                <a:solidFill>
                  <a:srgbClr val="FF0000"/>
                </a:solidFill>
              </a:rPr>
              <a:t>standby </a:t>
            </a:r>
            <a:r>
              <a:rPr lang="en-US" altLang="zh-TW" dirty="0" smtClean="0">
                <a:solidFill>
                  <a:srgbClr val="FF0000"/>
                </a:solidFill>
              </a:rPr>
              <a:t>signal to L2</a:t>
            </a:r>
            <a:endParaRPr lang="en-US" altLang="zh-TW" dirty="0">
              <a:solidFill>
                <a:srgbClr val="FF0000"/>
              </a:solidFill>
            </a:endParaRPr>
          </a:p>
          <a:p>
            <a:pPr lvl="1"/>
            <a:endParaRPr lang="zh-TW" alt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56053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Original CSR for ae350_smu_apbif</a:t>
            </a:r>
            <a:endParaRPr lang="zh-TW" altLang="en-US" dirty="0"/>
          </a:p>
        </p:txBody>
      </p:sp>
      <p:sp>
        <p:nvSpPr>
          <p:cNvPr id="8" name="內容版面配置區 7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zh-TW" sz="2000" dirty="0"/>
              <a:t>0x00: `AE350_PRODUCT_ID</a:t>
            </a:r>
          </a:p>
          <a:p>
            <a:pPr marL="0" indent="0">
              <a:buNone/>
            </a:pPr>
            <a:r>
              <a:rPr lang="en-US" altLang="zh-TW" sz="2000" dirty="0" smtClean="0"/>
              <a:t>0x04: </a:t>
            </a:r>
            <a:r>
              <a:rPr lang="en-US" altLang="zh-TW" sz="2000" dirty="0"/>
              <a:t>`</a:t>
            </a:r>
            <a:r>
              <a:rPr lang="en-US" altLang="zh-TW" sz="2000" dirty="0" smtClean="0"/>
              <a:t>AE350_BOARD_ID</a:t>
            </a:r>
            <a:endParaRPr lang="en-US" altLang="zh-TW" sz="2000" dirty="0"/>
          </a:p>
          <a:p>
            <a:pPr marL="0" indent="0">
              <a:buNone/>
            </a:pPr>
            <a:r>
              <a:rPr lang="en-US" altLang="zh-TW" sz="2000" dirty="0" smtClean="0"/>
              <a:t>0x10: </a:t>
            </a:r>
            <a:r>
              <a:rPr lang="en-US" altLang="zh-TW" sz="1350" dirty="0" smtClean="0"/>
              <a:t>{21'h0, </a:t>
            </a:r>
            <a:r>
              <a:rPr lang="en-US" altLang="zh-TW" sz="1350" dirty="0" err="1" smtClean="0"/>
              <a:t>wrsr_dbg</a:t>
            </a:r>
            <a:r>
              <a:rPr lang="en-US" altLang="zh-TW" sz="1350" dirty="0"/>
              <a:t>, </a:t>
            </a:r>
            <a:r>
              <a:rPr lang="en-US" altLang="zh-TW" sz="1350" dirty="0" err="1"/>
              <a:t>wrsr_alm</a:t>
            </a:r>
            <a:r>
              <a:rPr lang="en-US" altLang="zh-TW" sz="1350" dirty="0"/>
              <a:t>, </a:t>
            </a:r>
            <a:r>
              <a:rPr lang="en-US" altLang="zh-TW" sz="1350" dirty="0" err="1"/>
              <a:t>wrsr_extw</a:t>
            </a:r>
            <a:r>
              <a:rPr lang="en-US" altLang="zh-TW" sz="1350" dirty="0"/>
              <a:t>, 3'h0, </a:t>
            </a:r>
            <a:r>
              <a:rPr lang="en-US" altLang="zh-TW" sz="1350" dirty="0" err="1"/>
              <a:t>wrsr_sw</a:t>
            </a:r>
            <a:r>
              <a:rPr lang="en-US" altLang="zh-TW" sz="1350" dirty="0"/>
              <a:t>, </a:t>
            </a:r>
            <a:r>
              <a:rPr lang="en-US" altLang="zh-TW" sz="1350" dirty="0" err="1"/>
              <a:t>wrsr_wdt</a:t>
            </a:r>
            <a:r>
              <a:rPr lang="en-US" altLang="zh-TW" sz="1350" dirty="0"/>
              <a:t>, </a:t>
            </a:r>
            <a:r>
              <a:rPr lang="en-US" altLang="zh-TW" sz="1350" dirty="0" err="1" smtClean="0"/>
              <a:t>wrsr_hw</a:t>
            </a:r>
            <a:r>
              <a:rPr lang="en-US" altLang="zh-TW" sz="1350" dirty="0" smtClean="0"/>
              <a:t>, </a:t>
            </a:r>
            <a:r>
              <a:rPr lang="en-US" altLang="zh-TW" sz="1350" dirty="0" err="1" smtClean="0"/>
              <a:t>wrsr_mpor</a:t>
            </a:r>
            <a:r>
              <a:rPr lang="en-US" altLang="zh-TW" sz="1350" dirty="0"/>
              <a:t>, </a:t>
            </a:r>
            <a:r>
              <a:rPr lang="en-US" altLang="zh-TW" sz="1350" dirty="0" err="1"/>
              <a:t>wrsr_apor</a:t>
            </a:r>
            <a:r>
              <a:rPr lang="en-US" altLang="zh-TW" sz="1350" dirty="0"/>
              <a:t>}</a:t>
            </a:r>
          </a:p>
          <a:p>
            <a:pPr marL="0" indent="0">
              <a:buNone/>
            </a:pPr>
            <a:r>
              <a:rPr lang="en-US" altLang="zh-TW" sz="2000" dirty="0"/>
              <a:t>0x1C: {21'h0, </a:t>
            </a:r>
            <a:r>
              <a:rPr lang="en-US" altLang="zh-TW" sz="2000" dirty="0" err="1"/>
              <a:t>wr_mask_reg</a:t>
            </a:r>
            <a:r>
              <a:rPr lang="en-US" altLang="zh-TW" sz="2000" dirty="0"/>
              <a:t>, 8'h0}</a:t>
            </a:r>
          </a:p>
          <a:p>
            <a:pPr marL="0" indent="0">
              <a:buNone/>
            </a:pPr>
            <a:r>
              <a:rPr lang="en-US" altLang="zh-TW" sz="2000" dirty="0" smtClean="0"/>
              <a:t>0x20: </a:t>
            </a:r>
            <a:r>
              <a:rPr lang="en-US" altLang="zh-TW" sz="2000" dirty="0"/>
              <a:t>{21'h0, </a:t>
            </a:r>
            <a:r>
              <a:rPr lang="en-US" altLang="zh-TW" sz="2000" dirty="0" err="1"/>
              <a:t>clock_en_reg</a:t>
            </a:r>
            <a:r>
              <a:rPr lang="en-US" altLang="zh-TW" sz="2000" dirty="0"/>
              <a:t>}</a:t>
            </a:r>
          </a:p>
          <a:p>
            <a:pPr marL="0" indent="0">
              <a:buNone/>
            </a:pPr>
            <a:r>
              <a:rPr lang="en-US" altLang="zh-TW" sz="2000" dirty="0" smtClean="0"/>
              <a:t>0x24: </a:t>
            </a:r>
            <a:r>
              <a:rPr lang="en-US" altLang="zh-TW" sz="2000" dirty="0"/>
              <a:t>{28'h0, </a:t>
            </a:r>
            <a:r>
              <a:rPr lang="en-US" altLang="zh-TW" sz="2000" dirty="0" err="1"/>
              <a:t>clock_ratio_reg</a:t>
            </a:r>
            <a:r>
              <a:rPr lang="en-US" altLang="zh-TW" sz="2000" dirty="0"/>
              <a:t>}</a:t>
            </a:r>
          </a:p>
          <a:p>
            <a:pPr marL="0" indent="0">
              <a:buNone/>
            </a:pPr>
            <a:r>
              <a:rPr lang="en-US" altLang="zh-TW" sz="2000" dirty="0"/>
              <a:t>0x30: userdr0_reg_out[31:0]</a:t>
            </a:r>
          </a:p>
          <a:p>
            <a:pPr marL="0" indent="0">
              <a:buNone/>
            </a:pPr>
            <a:r>
              <a:rPr lang="en-US" altLang="zh-TW" sz="2000" dirty="0" smtClean="0"/>
              <a:t>0x34: </a:t>
            </a:r>
            <a:r>
              <a:rPr lang="en-US" altLang="zh-TW" sz="2000" dirty="0"/>
              <a:t>userdr1_reg_out[31:0]</a:t>
            </a:r>
          </a:p>
          <a:p>
            <a:pPr marL="0" indent="0">
              <a:buNone/>
            </a:pPr>
            <a:r>
              <a:rPr lang="en-US" altLang="zh-TW" sz="2000" dirty="0" smtClean="0"/>
              <a:t>0x40: </a:t>
            </a:r>
            <a:r>
              <a:rPr lang="en-US" altLang="zh-TW" sz="2000" dirty="0" err="1"/>
              <a:t>scratch_reg_out</a:t>
            </a:r>
            <a:r>
              <a:rPr lang="en-US" altLang="zh-TW" sz="2000" dirty="0"/>
              <a:t>[31:0]</a:t>
            </a:r>
          </a:p>
          <a:p>
            <a:pPr marL="0" indent="0">
              <a:buNone/>
            </a:pPr>
            <a:r>
              <a:rPr lang="en-US" altLang="zh-TW" sz="2000" dirty="0" smtClean="0"/>
              <a:t>0x44: </a:t>
            </a:r>
            <a:r>
              <a:rPr lang="en-US" altLang="zh-TW" sz="2000" dirty="0" err="1"/>
              <a:t>core_resetn_reg_out</a:t>
            </a:r>
            <a:endParaRPr lang="en-US" altLang="zh-TW" sz="2000" dirty="0"/>
          </a:p>
          <a:p>
            <a:pPr marL="0" indent="0">
              <a:buNone/>
            </a:pPr>
            <a:r>
              <a:rPr lang="en-US" altLang="zh-TW" sz="2000" dirty="0" smtClean="0"/>
              <a:t>0x50: </a:t>
            </a:r>
            <a:r>
              <a:rPr lang="en-US" altLang="zh-TW" sz="2000" dirty="0"/>
              <a:t>core0_reset_vector[31:0]</a:t>
            </a:r>
          </a:p>
          <a:p>
            <a:pPr marL="0" indent="0">
              <a:buNone/>
            </a:pPr>
            <a:r>
              <a:rPr lang="en-US" altLang="zh-TW" sz="2000" dirty="0" smtClean="0"/>
              <a:t>0x54: </a:t>
            </a:r>
            <a:r>
              <a:rPr lang="en-US" altLang="zh-TW" sz="2000" dirty="0"/>
              <a:t>core1_reset_vector[31:0]</a:t>
            </a:r>
          </a:p>
          <a:p>
            <a:pPr marL="0" indent="0">
              <a:buNone/>
            </a:pPr>
            <a:r>
              <a:rPr lang="en-US" altLang="zh-TW" sz="2000" dirty="0" smtClean="0"/>
              <a:t>0x58: </a:t>
            </a:r>
            <a:r>
              <a:rPr lang="en-US" altLang="zh-TW" sz="2000" dirty="0"/>
              <a:t>core2_reset_vector[31:0]</a:t>
            </a:r>
          </a:p>
          <a:p>
            <a:pPr marL="0" indent="0">
              <a:buNone/>
            </a:pPr>
            <a:r>
              <a:rPr lang="en-US" altLang="zh-TW" sz="2000" dirty="0" smtClean="0"/>
              <a:t>0x5c: </a:t>
            </a:r>
            <a:r>
              <a:rPr lang="en-US" altLang="zh-TW" sz="2000" dirty="0"/>
              <a:t>core3_reset_vector[31:0]</a:t>
            </a:r>
            <a:endParaRPr lang="zh-TW" altLang="en-US" sz="2000" dirty="0"/>
          </a:p>
        </p:txBody>
      </p:sp>
    </p:spTree>
    <p:extLst>
      <p:ext uri="{BB962C8B-B14F-4D97-AF65-F5344CB8AC3E}">
        <p14:creationId xmlns:p14="http://schemas.microsoft.com/office/powerpoint/2010/main" val="13493012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Original design in AE210P</a:t>
            </a:r>
            <a:endParaRPr lang="zh-TW" alt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250" t="23596" r="59865" b="10109"/>
          <a:stretch/>
        </p:blipFill>
        <p:spPr bwMode="auto">
          <a:xfrm>
            <a:off x="2024063" y="933449"/>
            <a:ext cx="5095875" cy="56272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492" t="17978" r="60105" b="76243"/>
          <a:stretch/>
        </p:blipFill>
        <p:spPr bwMode="auto">
          <a:xfrm>
            <a:off x="7129464" y="5972175"/>
            <a:ext cx="1776412" cy="53425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1216345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Probation Review">
  <a:themeElements>
    <a:clrScheme name="龍騰四海">
      <a:dk1>
        <a:sysClr val="windowText" lastClr="000000"/>
      </a:dk1>
      <a:lt1>
        <a:sysClr val="window" lastClr="FFFFFF"/>
      </a:lt1>
      <a:dk2>
        <a:srgbClr val="001B36"/>
      </a:dk2>
      <a:lt2>
        <a:srgbClr val="EDF8FE"/>
      </a:lt2>
      <a:accent1>
        <a:srgbClr val="477AB1"/>
      </a:accent1>
      <a:accent2>
        <a:srgbClr val="51848E"/>
      </a:accent2>
      <a:accent3>
        <a:srgbClr val="7B9B57"/>
      </a:accent3>
      <a:accent4>
        <a:srgbClr val="8B8D8C"/>
      </a:accent4>
      <a:accent5>
        <a:srgbClr val="8B7396"/>
      </a:accent5>
      <a:accent6>
        <a:srgbClr val="E89A53"/>
      </a:accent6>
      <a:hlink>
        <a:srgbClr val="0080FF"/>
      </a:hlink>
      <a:folHlink>
        <a:srgbClr val="FF00FF"/>
      </a:folHlink>
    </a:clrScheme>
    <a:fontScheme name="1_281TGp_consulting_light">
      <a:majorFont>
        <a:latin typeface="Tahoma"/>
        <a:ea typeface="新細明體"/>
        <a:cs typeface=""/>
      </a:majorFont>
      <a:minorFont>
        <a:latin typeface="Tahoma"/>
        <a:ea typeface="新細明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1_281TGp_consulting_light 1">
        <a:dk1>
          <a:srgbClr val="000000"/>
        </a:dk1>
        <a:lt1>
          <a:srgbClr val="FFFFFF"/>
        </a:lt1>
        <a:dk2>
          <a:srgbClr val="003366"/>
        </a:dk2>
        <a:lt2>
          <a:srgbClr val="C0C0C0"/>
        </a:lt2>
        <a:accent1>
          <a:srgbClr val="44357C"/>
        </a:accent1>
        <a:accent2>
          <a:srgbClr val="93C052"/>
        </a:accent2>
        <a:accent3>
          <a:srgbClr val="FFFFFF"/>
        </a:accent3>
        <a:accent4>
          <a:srgbClr val="000000"/>
        </a:accent4>
        <a:accent5>
          <a:srgbClr val="B0AEBF"/>
        </a:accent5>
        <a:accent6>
          <a:srgbClr val="85AE49"/>
        </a:accent6>
        <a:hlink>
          <a:srgbClr val="9999FF"/>
        </a:hlink>
        <a:folHlink>
          <a:srgbClr val="4EA7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281TGp_consulting_light 2">
        <a:dk1>
          <a:srgbClr val="333333"/>
        </a:dk1>
        <a:lt1>
          <a:srgbClr val="FFFFFF"/>
        </a:lt1>
        <a:dk2>
          <a:srgbClr val="000000"/>
        </a:dk2>
        <a:lt2>
          <a:srgbClr val="DDDDDD"/>
        </a:lt2>
        <a:accent1>
          <a:srgbClr val="25557B"/>
        </a:accent1>
        <a:accent2>
          <a:srgbClr val="E4C244"/>
        </a:accent2>
        <a:accent3>
          <a:srgbClr val="FFFFFF"/>
        </a:accent3>
        <a:accent4>
          <a:srgbClr val="2A2A2A"/>
        </a:accent4>
        <a:accent5>
          <a:srgbClr val="ACB4BF"/>
        </a:accent5>
        <a:accent6>
          <a:srgbClr val="CFB03D"/>
        </a:accent6>
        <a:hlink>
          <a:srgbClr val="669900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281TGp_consulting_light 3">
        <a:dk1>
          <a:srgbClr val="35567B"/>
        </a:dk1>
        <a:lt1>
          <a:srgbClr val="FFFFFF"/>
        </a:lt1>
        <a:dk2>
          <a:srgbClr val="000000"/>
        </a:dk2>
        <a:lt2>
          <a:srgbClr val="DDDDDD"/>
        </a:lt2>
        <a:accent1>
          <a:srgbClr val="789F21"/>
        </a:accent1>
        <a:accent2>
          <a:srgbClr val="E9803F"/>
        </a:accent2>
        <a:accent3>
          <a:srgbClr val="FFFFFF"/>
        </a:accent3>
        <a:accent4>
          <a:srgbClr val="2C4868"/>
        </a:accent4>
        <a:accent5>
          <a:srgbClr val="BECDAB"/>
        </a:accent5>
        <a:accent6>
          <a:srgbClr val="D37338"/>
        </a:accent6>
        <a:hlink>
          <a:srgbClr val="E0C244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佈景主題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Probation Review</Template>
  <TotalTime>8559</TotalTime>
  <Words>958</Words>
  <Application>Microsoft Office PowerPoint</Application>
  <PresentationFormat>如螢幕大小 (4:3)</PresentationFormat>
  <Paragraphs>346</Paragraphs>
  <Slides>25</Slides>
  <Notes>6</Notes>
  <HiddenSlides>0</HiddenSlides>
  <MMClips>0</MMClips>
  <ScaleCrop>false</ScaleCrop>
  <HeadingPairs>
    <vt:vector size="4" baseType="variant">
      <vt:variant>
        <vt:lpstr>佈景主題</vt:lpstr>
      </vt:variant>
      <vt:variant>
        <vt:i4>1</vt:i4>
      </vt:variant>
      <vt:variant>
        <vt:lpstr>投影片標題</vt:lpstr>
      </vt:variant>
      <vt:variant>
        <vt:i4>25</vt:i4>
      </vt:variant>
    </vt:vector>
  </HeadingPairs>
  <TitlesOfParts>
    <vt:vector size="26" baseType="lpstr">
      <vt:lpstr>Probation Review</vt:lpstr>
      <vt:lpstr>Vicuna AE350 SMU Design Specification</vt:lpstr>
      <vt:lpstr>Outline</vt:lpstr>
      <vt:lpstr>Feature of ae350_smu_pd</vt:lpstr>
      <vt:lpstr>ae350_rstgen</vt:lpstr>
      <vt:lpstr>Old hierarchy block diagram in AE350</vt:lpstr>
      <vt:lpstr>New hierarchy block diagram</vt:lpstr>
      <vt:lpstr>New global CSR for ae350_smu</vt:lpstr>
      <vt:lpstr>New CSR for ae350_smu_pd</vt:lpstr>
      <vt:lpstr>New CSR for ae350_smu_pd</vt:lpstr>
      <vt:lpstr>Power mode definition</vt:lpstr>
      <vt:lpstr>ae350_smu_mpd</vt:lpstr>
      <vt:lpstr>ae350_smu Interface</vt:lpstr>
      <vt:lpstr>ae350_smu_pd Interface</vt:lpstr>
      <vt:lpstr>ae350_smu_pd Interface</vt:lpstr>
      <vt:lpstr>Sample block diagram for power domain</vt:lpstr>
      <vt:lpstr>FSM status </vt:lpstr>
      <vt:lpstr>FSM</vt:lpstr>
      <vt:lpstr>Timing diagram for deep sleep mode</vt:lpstr>
      <vt:lpstr>Power control signal by FSM</vt:lpstr>
      <vt:lpstr>Future work</vt:lpstr>
      <vt:lpstr>Thank You!</vt:lpstr>
      <vt:lpstr>PowerPoint 簡報</vt:lpstr>
      <vt:lpstr>Request for L2 design</vt:lpstr>
      <vt:lpstr>Original CSR for ae350_smu_apbif</vt:lpstr>
      <vt:lpstr>Original design in AE210P</vt:lpstr>
    </vt:vector>
  </TitlesOfParts>
  <Company>Andes Technology Corporation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Probation Review</dc:title>
  <dc:creator>Ellis Yu-Jui Chen(陳俞睿)</dc:creator>
  <cp:lastModifiedBy>Ellis Yu-Jui Chen(陳俞睿)</cp:lastModifiedBy>
  <cp:revision>385</cp:revision>
  <dcterms:created xsi:type="dcterms:W3CDTF">2017-03-02T07:26:01Z</dcterms:created>
  <dcterms:modified xsi:type="dcterms:W3CDTF">2019-03-05T05:17:03Z</dcterms:modified>
</cp:coreProperties>
</file>