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3"/>
  </p:notesMasterIdLst>
  <p:handoutMasterIdLst>
    <p:handoutMasterId r:id="rId34"/>
  </p:handoutMasterIdLst>
  <p:sldIdLst>
    <p:sldId id="525" r:id="rId2"/>
    <p:sldId id="984" r:id="rId3"/>
    <p:sldId id="1000" r:id="rId4"/>
    <p:sldId id="1023" r:id="rId5"/>
    <p:sldId id="998" r:id="rId6"/>
    <p:sldId id="986" r:id="rId7"/>
    <p:sldId id="987" r:id="rId8"/>
    <p:sldId id="1015" r:id="rId9"/>
    <p:sldId id="1003" r:id="rId10"/>
    <p:sldId id="1004" r:id="rId11"/>
    <p:sldId id="1011" r:id="rId12"/>
    <p:sldId id="1022" r:id="rId13"/>
    <p:sldId id="1007" r:id="rId14"/>
    <p:sldId id="988" r:id="rId15"/>
    <p:sldId id="1012" r:id="rId16"/>
    <p:sldId id="989" r:id="rId17"/>
    <p:sldId id="1019" r:id="rId18"/>
    <p:sldId id="994" r:id="rId19"/>
    <p:sldId id="1017" r:id="rId20"/>
    <p:sldId id="995" r:id="rId21"/>
    <p:sldId id="1020" r:id="rId22"/>
    <p:sldId id="996" r:id="rId23"/>
    <p:sldId id="1008" r:id="rId24"/>
    <p:sldId id="1018" r:id="rId25"/>
    <p:sldId id="1013" r:id="rId26"/>
    <p:sldId id="1014" r:id="rId27"/>
    <p:sldId id="1016" r:id="rId28"/>
    <p:sldId id="1021" r:id="rId29"/>
    <p:sldId id="1009" r:id="rId30"/>
    <p:sldId id="997" r:id="rId31"/>
    <p:sldId id="1010" r:id="rId3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9F090"/>
    <a:srgbClr val="8BFFA7"/>
    <a:srgbClr val="1C71A6"/>
    <a:srgbClr val="000066"/>
    <a:srgbClr val="FFF78F"/>
    <a:srgbClr val="78A4C7"/>
    <a:srgbClr val="AEC8DD"/>
    <a:srgbClr val="32AECB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647" autoAdjust="0"/>
  </p:normalViewPr>
  <p:slideViewPr>
    <p:cSldViewPr snapToGrid="0">
      <p:cViewPr varScale="1">
        <p:scale>
          <a:sx n="112" d="100"/>
          <a:sy n="112" d="100"/>
        </p:scale>
        <p:origin x="-17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2019/3/7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885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SMU address mapping=0xF0100000~0xF01FFFFF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10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44902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PLIC:</a:t>
            </a:r>
          </a:p>
          <a:p>
            <a:r>
              <a:rPr lang="en-US" altLang="zh-TW" dirty="0" smtClean="0"/>
              <a:t>11268:assign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[1]  =  </a:t>
            </a:r>
            <a:r>
              <a:rPr lang="en-US" altLang="zh-TW" dirty="0" err="1" smtClean="0"/>
              <a:t>rtc_int_period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11269:assign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[2]  =  </a:t>
            </a:r>
            <a:r>
              <a:rPr lang="en-US" altLang="zh-TW" dirty="0" err="1" smtClean="0"/>
              <a:t>rtc_int_alarm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[3]  =  </a:t>
            </a:r>
            <a:r>
              <a:rPr lang="en-US" altLang="zh-TW" dirty="0" err="1" smtClean="0"/>
              <a:t>pit_intr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[4]  =  spi1_int;</a:t>
            </a:r>
          </a:p>
          <a:p>
            <a:r>
              <a:rPr lang="en-US" altLang="zh-TW" dirty="0" smtClean="0"/>
              <a:t>11272:assign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[5]  =  spi2_int;</a:t>
            </a:r>
          </a:p>
          <a:p>
            <a:r>
              <a:rPr lang="en-US" altLang="zh-TW" dirty="0" smtClean="0"/>
              <a:t>11273:assign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[6]  =  i2c_int;</a:t>
            </a:r>
          </a:p>
          <a:p>
            <a:r>
              <a:rPr lang="en-US" altLang="zh-TW" dirty="0" smtClean="0"/>
              <a:t>11274:assign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[7]  =  </a:t>
            </a:r>
            <a:r>
              <a:rPr lang="en-US" altLang="zh-TW" dirty="0" err="1" smtClean="0"/>
              <a:t>gpio_intr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[8]  =  uart1_int;</a:t>
            </a:r>
          </a:p>
          <a:p>
            <a:r>
              <a:rPr lang="en-US" altLang="zh-TW" dirty="0" smtClean="0"/>
              <a:t>11276:assign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[9]  =  uart2_int;</a:t>
            </a:r>
          </a:p>
          <a:p>
            <a:r>
              <a:rPr lang="en-US" altLang="zh-TW" dirty="0" smtClean="0"/>
              <a:t>11277:assign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[10] =  </a:t>
            </a:r>
            <a:r>
              <a:rPr lang="en-US" altLang="zh-TW" dirty="0" err="1" smtClean="0"/>
              <a:t>dma_int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[11] =  1'b0;</a:t>
            </a:r>
          </a:p>
          <a:p>
            <a:r>
              <a:rPr lang="en-US" altLang="zh-TW" dirty="0" smtClean="0"/>
              <a:t>11279:assign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[12] =  1'b0;</a:t>
            </a:r>
          </a:p>
          <a:p>
            <a:r>
              <a:rPr lang="en-US" altLang="zh-TW" dirty="0" smtClean="0"/>
              <a:t>11280:assign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[13] =  1'b0;</a:t>
            </a:r>
          </a:p>
          <a:p>
            <a:r>
              <a:rPr lang="en-US" altLang="zh-TW" dirty="0" smtClean="0"/>
              <a:t>11281:assign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[14] =  1'b0;</a:t>
            </a:r>
          </a:p>
          <a:p>
            <a:r>
              <a:rPr lang="en-US" altLang="zh-TW" dirty="0" smtClean="0"/>
              <a:t>11282:assign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[15] =  1'b0;</a:t>
            </a:r>
          </a:p>
          <a:p>
            <a:r>
              <a:rPr lang="en-US" altLang="zh-TW" dirty="0" smtClean="0"/>
              <a:t>11283:assign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[16] =  1'b0;</a:t>
            </a:r>
          </a:p>
          <a:p>
            <a:r>
              <a:rPr lang="en-US" altLang="zh-TW" dirty="0" smtClean="0"/>
              <a:t>11284:assign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[17] =  </a:t>
            </a:r>
            <a:r>
              <a:rPr lang="en-US" altLang="zh-TW" dirty="0" err="1" smtClean="0"/>
              <a:t>ssp_intr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[18] =  </a:t>
            </a:r>
            <a:r>
              <a:rPr lang="en-US" altLang="zh-TW" dirty="0" err="1" smtClean="0"/>
              <a:t>sdc_int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[19] =  </a:t>
            </a:r>
            <a:r>
              <a:rPr lang="en-US" altLang="zh-TW" dirty="0" err="1" smtClean="0"/>
              <a:t>mac_int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[20] =  </a:t>
            </a:r>
            <a:r>
              <a:rPr lang="en-US" altLang="zh-TW" dirty="0" err="1" smtClean="0"/>
              <a:t>lcd_intr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[21] =  1'b0;</a:t>
            </a:r>
          </a:p>
          <a:p>
            <a:r>
              <a:rPr lang="en-US" altLang="zh-TW" dirty="0" smtClean="0"/>
              <a:t>11289:assign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[22] =  1'b0;</a:t>
            </a:r>
          </a:p>
          <a:p>
            <a:r>
              <a:rPr lang="en-US" altLang="zh-TW" dirty="0" smtClean="0"/>
              <a:t>11290:assign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[23] =  1'b0;</a:t>
            </a:r>
          </a:p>
          <a:p>
            <a:r>
              <a:rPr lang="en-US" altLang="zh-TW" dirty="0" smtClean="0"/>
              <a:t>11291:assign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[24] =  1'b0;</a:t>
            </a:r>
          </a:p>
          <a:p>
            <a:r>
              <a:rPr lang="en-US" altLang="zh-TW" dirty="0" smtClean="0"/>
              <a:t>11292:assign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[25] =  1'b0;</a:t>
            </a:r>
          </a:p>
          <a:p>
            <a:r>
              <a:rPr lang="en-US" altLang="zh-TW" dirty="0" smtClean="0"/>
              <a:t>11293:assign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[26] =  smu2core_standby_req;</a:t>
            </a:r>
          </a:p>
          <a:p>
            <a:r>
              <a:rPr lang="en-US" altLang="zh-TW" dirty="0" smtClean="0"/>
              <a:t>11294:assign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[27] =  smu2core_wakeup_ok;</a:t>
            </a:r>
          </a:p>
          <a:p>
            <a:r>
              <a:rPr lang="en-US" altLang="zh-TW" dirty="0" smtClean="0"/>
              <a:t>11295:assign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[28] =  1'b0;</a:t>
            </a:r>
          </a:p>
          <a:p>
            <a:r>
              <a:rPr lang="en-US" altLang="zh-TW" dirty="0" smtClean="0"/>
              <a:t>11296:assign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[29] =  1'b0;</a:t>
            </a:r>
          </a:p>
          <a:p>
            <a:r>
              <a:rPr lang="en-US" altLang="zh-TW" dirty="0" smtClean="0"/>
              <a:t>11297:assign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[30] =  1'b0;</a:t>
            </a:r>
          </a:p>
          <a:p>
            <a:r>
              <a:rPr lang="en-US" altLang="zh-TW" dirty="0" smtClean="0"/>
              <a:t>11298:assign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[31] =  1'b0;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19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635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918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63938" y="2290763"/>
            <a:ext cx="5324475" cy="381000"/>
          </a:xfrm>
        </p:spPr>
        <p:txBody>
          <a:bodyPr/>
          <a:lstStyle/>
          <a:p>
            <a:r>
              <a:rPr lang="en-US" altLang="zh-TW" sz="2800" dirty="0" smtClean="0">
                <a:ea typeface="新細明體" charset="-120"/>
              </a:rPr>
              <a:t>Driving Innovations™</a:t>
            </a:r>
            <a:endParaRPr lang="zh-TW" altLang="en-US" sz="2800" baseline="3000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76200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Vicuna AE350 SMU Design </a:t>
            </a:r>
            <a:r>
              <a:rPr lang="en-US" altLang="zh-TW" sz="4400" dirty="0">
                <a:solidFill>
                  <a:srgbClr val="333333"/>
                </a:solidFill>
                <a:ea typeface="新細明體" charset="-120"/>
              </a:rPr>
              <a:t>S</a:t>
            </a: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pecification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Ellis Chen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en-US" altLang="zh-TW" smtClean="0">
                <a:solidFill>
                  <a:schemeClr val="bg1"/>
                </a:solidFill>
              </a:rPr>
              <a:t>2019-03-07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Feature of </a:t>
            </a:r>
            <a:r>
              <a:rPr lang="en-US" altLang="zh-TW" sz="2400" dirty="0" smtClean="0"/>
              <a:t>ae350_smu_pd</a:t>
            </a:r>
          </a:p>
          <a:p>
            <a:r>
              <a:rPr lang="en-US" altLang="zh-TW" sz="2400" dirty="0" smtClean="0"/>
              <a:t>ae350_rstgen</a:t>
            </a:r>
          </a:p>
          <a:p>
            <a:pPr lvl="1"/>
            <a:r>
              <a:rPr lang="en-US" altLang="zh-TW" sz="2000" dirty="0" smtClean="0"/>
              <a:t>Add path for reset core 0</a:t>
            </a:r>
          </a:p>
          <a:p>
            <a:r>
              <a:rPr lang="en-US" altLang="zh-TW" sz="2400" dirty="0" smtClean="0"/>
              <a:t>ae350_smu</a:t>
            </a:r>
          </a:p>
          <a:p>
            <a:pPr lvl="1"/>
            <a:r>
              <a:rPr lang="en-US" altLang="zh-TW" sz="2000" dirty="0" smtClean="0"/>
              <a:t>Old/New hierarchy block diagram</a:t>
            </a:r>
          </a:p>
          <a:p>
            <a:r>
              <a:rPr lang="en-US" altLang="zh-TW" sz="2400" dirty="0" smtClean="0"/>
              <a:t>ae350_smu_apbif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New register for power control</a:t>
            </a:r>
          </a:p>
          <a:p>
            <a:r>
              <a:rPr lang="en-US" altLang="zh-TW" sz="2400" dirty="0" smtClean="0"/>
              <a:t>ae350_smu_mpd (Main power domain)</a:t>
            </a:r>
          </a:p>
          <a:p>
            <a:pPr lvl="1"/>
            <a:r>
              <a:rPr lang="en-US" altLang="zh-TW" sz="2000" dirty="0" smtClean="0"/>
              <a:t>Remove core clock/power related logic</a:t>
            </a:r>
          </a:p>
          <a:p>
            <a:r>
              <a:rPr lang="en-US" altLang="zh-TW" sz="2400" dirty="0" smtClean="0"/>
              <a:t>ae350_smu_pd (Core/L2 power domain)</a:t>
            </a:r>
          </a:p>
          <a:p>
            <a:pPr lvl="1"/>
            <a:r>
              <a:rPr lang="en-US" altLang="zh-TW" sz="2000" dirty="0" smtClean="0"/>
              <a:t>Interface</a:t>
            </a:r>
          </a:p>
          <a:p>
            <a:pPr lvl="1"/>
            <a:r>
              <a:rPr lang="en-US" altLang="zh-TW" sz="2000" dirty="0" smtClean="0"/>
              <a:t>FSM for power control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284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 of ae350_smu_pd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Support for a </a:t>
            </a:r>
            <a:r>
              <a:rPr lang="en-US" altLang="zh-TW" sz="2400" dirty="0" smtClean="0"/>
              <a:t>power/clock domain control 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Power source</a:t>
            </a:r>
          </a:p>
          <a:p>
            <a:pPr lvl="1"/>
            <a:r>
              <a:rPr lang="en-US" altLang="zh-TW" sz="2000" dirty="0" smtClean="0"/>
              <a:t>Clock source</a:t>
            </a:r>
          </a:p>
          <a:p>
            <a:pPr lvl="1"/>
            <a:r>
              <a:rPr lang="en-US" altLang="zh-TW" sz="2000" dirty="0" smtClean="0"/>
              <a:t>Isolation cell</a:t>
            </a:r>
          </a:p>
          <a:p>
            <a:pPr lvl="1"/>
            <a:r>
              <a:rPr lang="en-US" altLang="zh-TW" sz="2000" dirty="0" smtClean="0"/>
              <a:t>Retention cell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wakeup event mask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</a:t>
            </a:r>
            <a:r>
              <a:rPr lang="en-US" altLang="zh-TW" sz="2400" dirty="0" smtClean="0"/>
              <a:t>light sleep/deep sleep </a:t>
            </a:r>
            <a:r>
              <a:rPr lang="en-US" altLang="zh-TW" sz="2400" dirty="0"/>
              <a:t>modes </a:t>
            </a:r>
            <a:endParaRPr lang="en-US" altLang="zh-TW" sz="2400" dirty="0" smtClean="0"/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dynamic voltage frequency scaling (DVFS)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00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Assumption for simplification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Only one clock source and voltage source</a:t>
            </a:r>
          </a:p>
          <a:p>
            <a:pPr lvl="1"/>
            <a:r>
              <a:rPr lang="en-US" altLang="zh-TW" dirty="0" smtClean="0"/>
              <a:t>Simplify multi-core DVFS flow</a:t>
            </a:r>
          </a:p>
          <a:p>
            <a:r>
              <a:rPr lang="en-US" altLang="zh-TW" dirty="0" smtClean="0"/>
              <a:t>Only core 0 can apply DVFS change</a:t>
            </a:r>
          </a:p>
          <a:p>
            <a:pPr lvl="1"/>
            <a:r>
              <a:rPr lang="en-US" altLang="zh-TW" dirty="0" smtClean="0"/>
              <a:t>Add option for power domain control support</a:t>
            </a:r>
          </a:p>
        </p:txBody>
      </p:sp>
    </p:spTree>
    <p:extLst>
      <p:ext uri="{BB962C8B-B14F-4D97-AF65-F5344CB8AC3E}">
        <p14:creationId xmlns:p14="http://schemas.microsoft.com/office/powerpoint/2010/main" val="420133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ae350_rstgen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ae350_rstgen, </a:t>
            </a:r>
            <a:r>
              <a:rPr lang="en-US" altLang="zh-TW" dirty="0" smtClean="0"/>
              <a:t>core0_resetn is </a:t>
            </a:r>
            <a:r>
              <a:rPr lang="en-US" altLang="zh-TW" dirty="0"/>
              <a:t>controlled by </a:t>
            </a:r>
            <a:r>
              <a:rPr lang="en-US" altLang="zh-TW" dirty="0" err="1" smtClean="0"/>
              <a:t>aresetn_src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</a:t>
            </a:r>
            <a:r>
              <a:rPr lang="en-US" altLang="zh-TW" dirty="0" smtClean="0"/>
              <a:t>ore[1~3]_</a:t>
            </a:r>
            <a:r>
              <a:rPr lang="en-US" altLang="zh-TW" dirty="0" err="1" smtClean="0"/>
              <a:t>resetn</a:t>
            </a:r>
            <a:r>
              <a:rPr lang="en-US" altLang="zh-TW" dirty="0" smtClean="0"/>
              <a:t> </a:t>
            </a:r>
            <a:r>
              <a:rPr lang="en-US" altLang="zh-TW" dirty="0"/>
              <a:t>is controlled by </a:t>
            </a:r>
            <a:r>
              <a:rPr lang="en-US" altLang="zh-TW" dirty="0" smtClean="0"/>
              <a:t>SMU.</a:t>
            </a:r>
          </a:p>
          <a:p>
            <a:r>
              <a:rPr lang="en-US" altLang="zh-TW" dirty="0" smtClean="0"/>
              <a:t>Add a </a:t>
            </a:r>
            <a:r>
              <a:rPr lang="en-US" altLang="zh-TW" dirty="0"/>
              <a:t>path for reset core </a:t>
            </a:r>
            <a:r>
              <a:rPr lang="en-US" altLang="zh-TW" dirty="0" smtClean="0"/>
              <a:t>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018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/>
            <a:r>
              <a:rPr lang="en-US" altLang="zh-TW" dirty="0" smtClean="0"/>
              <a:t>Old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 in AE350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686175" y="5688568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ae350_smu_aopd_top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3686175" y="1176814"/>
            <a:ext cx="4552949" cy="488108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8174" y="5957769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990366" y="2939892"/>
            <a:ext cx="2343383" cy="2890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FSM for power mode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30" name="矩形 29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1" name="矩形 30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2" name="矩形 31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34" name="矩形 33"/>
          <p:cNvSpPr/>
          <p:nvPr/>
        </p:nvSpPr>
        <p:spPr bwMode="auto">
          <a:xfrm>
            <a:off x="3976475" y="1437680"/>
            <a:ext cx="2852740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Synchronizer for RTC signal</a:t>
            </a:r>
            <a:endParaRPr lang="zh-TW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14050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 bwMode="auto">
          <a:xfrm>
            <a:off x="1090457" y="4647844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993842" y="4535448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885824" y="4428411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New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8174" y="5957769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ae350_smu(</a:t>
            </a:r>
            <a:r>
              <a:rPr lang="en-US" altLang="zh-TW" dirty="0" smtClean="0">
                <a:solidFill>
                  <a:srgbClr val="FF0000"/>
                </a:solidFill>
              </a:rPr>
              <a:t>Always-on region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4" name="矩形 23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25" name="矩形 24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26" name="矩形 25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27" name="矩形 26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3976475" y="1437680"/>
            <a:ext cx="2852740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/>
              <a:t>Synchronizer for RTC signal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790574" y="4323636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71523" y="5060754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ae350_smu_pd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47724" y="5686665"/>
            <a:ext cx="25282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 smtClean="0">
                <a:solidFill>
                  <a:srgbClr val="FF0000"/>
                </a:solidFill>
              </a:rPr>
              <a:t>Core 0 and L2/Core 1~3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885824" y="4418886"/>
            <a:ext cx="1714501" cy="28908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200" b="0" dirty="0" smtClean="0">
                <a:solidFill>
                  <a:srgbClr val="FF0000"/>
                </a:solidFill>
              </a:rPr>
              <a:t>FSM for power mode</a:t>
            </a:r>
            <a:endParaRPr lang="zh-TW" alt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2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Macro and parameter </a:t>
            </a:r>
            <a:r>
              <a:rPr lang="en-US" altLang="zh-TW" dirty="0"/>
              <a:t>for ae350_smu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829697"/>
              </p:ext>
            </p:extLst>
          </p:nvPr>
        </p:nvGraphicFramePr>
        <p:xfrm>
          <a:off x="197044" y="1332839"/>
          <a:ext cx="8589179" cy="264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8556"/>
                <a:gridCol w="4052771"/>
                <a:gridCol w="18378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DVFS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DVFS</a:t>
                      </a:r>
                      <a:r>
                        <a:rPr lang="en-US" altLang="zh-TW" sz="1600" baseline="0" dirty="0" smtClean="0"/>
                        <a:t> support for this power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1:yes</a:t>
                      </a:r>
                    </a:p>
                    <a:p>
                      <a:r>
                        <a:rPr lang="en-US" altLang="zh-TW" sz="1600" dirty="0" smtClean="0"/>
                        <a:t>0:no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NHART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Number of harts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1~4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CYCLE_WIDTH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 width for </a:t>
                      </a:r>
                      <a:r>
                        <a:rPr lang="en-US" altLang="zh-TW" sz="1600" dirty="0" err="1" smtClean="0"/>
                        <a:t>ret_cyc</a:t>
                      </a:r>
                      <a:r>
                        <a:rPr lang="en-US" altLang="zh-TW" sz="1600" baseline="0" dirty="0" smtClean="0"/>
                        <a:t> and </a:t>
                      </a:r>
                      <a:r>
                        <a:rPr lang="en-US" altLang="zh-TW" sz="1600" baseline="0" dirty="0" err="1" smtClean="0"/>
                        <a:t>iso_cyc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DISALBE_INIT_WIDTH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 width for </a:t>
                      </a:r>
                      <a:r>
                        <a:rPr lang="en-US" altLang="zh-TW" sz="1600" dirty="0" err="1" smtClean="0"/>
                        <a:t>disable_init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/>
                        <a:t>Single</a:t>
                      </a:r>
                      <a:r>
                        <a:rPr lang="en-US" altLang="zh-TW" sz="1600" baseline="0" dirty="0" smtClean="0"/>
                        <a:t> core: 2</a:t>
                      </a:r>
                    </a:p>
                    <a:p>
                      <a:pPr algn="l"/>
                      <a:r>
                        <a:rPr lang="en-US" altLang="zh-TW" sz="1600" baseline="0" dirty="0" smtClean="0"/>
                        <a:t>Multi-core: 2*N+1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WAKEUP_WIDTH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Bit width for </a:t>
                      </a:r>
                      <a:r>
                        <a:rPr lang="en-US" altLang="zh-TW" sz="1600" dirty="0" err="1" smtClean="0"/>
                        <a:t>wakeup_event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/>
                        <a:t>7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97044" y="967856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Parameter</a:t>
            </a:r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197044" y="3965078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Marco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224064"/>
              </p:ext>
            </p:extLst>
          </p:nvPr>
        </p:nvGraphicFramePr>
        <p:xfrm>
          <a:off x="197044" y="4313123"/>
          <a:ext cx="8589179" cy="1772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91689"/>
                <a:gridCol w="3959638"/>
                <a:gridCol w="18378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NDS_IO_HART1</a:t>
                      </a:r>
                      <a:br>
                        <a:rPr lang="en-US" altLang="zh-TW" sz="1600" dirty="0" smtClean="0"/>
                      </a:br>
                      <a:r>
                        <a:rPr lang="en-US" altLang="zh-TW" sz="1600" dirty="0" smtClean="0"/>
                        <a:t>NDS_IO_HART2</a:t>
                      </a:r>
                    </a:p>
                    <a:p>
                      <a:r>
                        <a:rPr lang="en-US" altLang="zh-TW" sz="1600" dirty="0" smtClean="0"/>
                        <a:t>NDS_IO_HART3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I/O port for multi-cores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none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NDS_FPGA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Hardwired</a:t>
                      </a:r>
                      <a:r>
                        <a:rPr lang="en-US" altLang="zh-TW" sz="1600" baseline="0" dirty="0" smtClean="0"/>
                        <a:t> voltage related control to 0 in FPGA flow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none</a:t>
                      </a:r>
                      <a:endParaRPr lang="zh-TW" altLang="en-US" sz="1600" dirty="0" smtClean="0"/>
                    </a:p>
                    <a:p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59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</a:t>
            </a:r>
            <a:r>
              <a:rPr lang="en-US" altLang="zh-TW" dirty="0" smtClean="0"/>
              <a:t>CSR </a:t>
            </a:r>
            <a:r>
              <a:rPr lang="en-US" altLang="zh-TW" dirty="0" smtClean="0"/>
              <a:t>for ae350_smu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9308" y="1044059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Cycle Register (PMCR) (0x100)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32543"/>
              </p:ext>
            </p:extLst>
          </p:nvPr>
        </p:nvGraphicFramePr>
        <p:xfrm>
          <a:off x="129308" y="1432441"/>
          <a:ext cx="8779302" cy="1468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99959"/>
                <a:gridCol w="2641600"/>
                <a:gridCol w="787400"/>
                <a:gridCol w="3353638"/>
                <a:gridCol w="7967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Name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Bit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Type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Description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Reset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ret_cyc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CYCLE_WIDTH-1:0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RW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Cycles for retention state waiting</a:t>
                      </a:r>
                    </a:p>
                    <a:p>
                      <a:r>
                        <a:rPr lang="en-US" altLang="zh-TW" sz="1500" dirty="0" smtClean="0"/>
                        <a:t>*Cycle</a:t>
                      </a:r>
                      <a:r>
                        <a:rPr lang="en-US" altLang="zh-TW" sz="1500" baseline="0" dirty="0" smtClean="0"/>
                        <a:t> time is SMU clock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iso_cyc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CYCLE_WIDTH+15:16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RW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Cycles for isolation state waiting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*Cycle</a:t>
                      </a:r>
                      <a:r>
                        <a:rPr lang="en-US" altLang="zh-TW" sz="1500" baseline="0" dirty="0" smtClean="0"/>
                        <a:t> time is SMU clock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29308" y="3012563"/>
            <a:ext cx="6635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</a:t>
            </a:r>
            <a:r>
              <a:rPr lang="en-US" altLang="zh-TW" dirty="0"/>
              <a:t>Disable </a:t>
            </a:r>
            <a:r>
              <a:rPr lang="en-US" altLang="zh-TW" dirty="0" smtClean="0"/>
              <a:t>Initialization Register (PMDIR) (0x104)</a:t>
            </a:r>
            <a:endParaRPr lang="en-US" altLang="zh-TW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657699"/>
              </p:ext>
            </p:extLst>
          </p:nvPr>
        </p:nvGraphicFramePr>
        <p:xfrm>
          <a:off x="129308" y="3400945"/>
          <a:ext cx="8770249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50759"/>
                <a:gridCol w="2650066"/>
                <a:gridCol w="736600"/>
                <a:gridCol w="3234267"/>
                <a:gridCol w="89855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disable_init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DISALBE_INIT_WIDTH-1:0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Control disable init for</a:t>
                      </a:r>
                      <a:r>
                        <a:rPr lang="en-US" altLang="zh-TW" sz="1600" baseline="0" dirty="0" smtClean="0"/>
                        <a:t> memories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37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5780" y="2720999"/>
            <a:ext cx="4185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Status </a:t>
            </a:r>
            <a:r>
              <a:rPr lang="en-US" altLang="zh-TW" dirty="0" smtClean="0"/>
              <a:t>Register (PSR) (0x204)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682276"/>
              </p:ext>
            </p:extLst>
          </p:nvPr>
        </p:nvGraphicFramePr>
        <p:xfrm>
          <a:off x="175780" y="3056463"/>
          <a:ext cx="8732830" cy="1955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82087"/>
                <a:gridCol w="1964266"/>
                <a:gridCol w="745067"/>
                <a:gridCol w="3533148"/>
                <a:gridCol w="110826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pwr_st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3:0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RO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Power status</a:t>
                      </a:r>
                    </a:p>
                    <a:p>
                      <a:r>
                        <a:rPr lang="en-US" altLang="zh-TW" sz="1400" dirty="0" smtClean="0"/>
                        <a:t>0x0:ACTIVE</a:t>
                      </a:r>
                    </a:p>
                    <a:p>
                      <a:r>
                        <a:rPr lang="en-US" altLang="zh-TW" sz="1400" dirty="0" smtClean="0"/>
                        <a:t>0x1:DVFS</a:t>
                      </a:r>
                    </a:p>
                    <a:p>
                      <a:r>
                        <a:rPr lang="en-US" altLang="zh-TW" sz="1400" dirty="0" smtClean="0"/>
                        <a:t>0x2:ISOLATION</a:t>
                      </a:r>
                    </a:p>
                    <a:p>
                      <a:r>
                        <a:rPr lang="en-US" altLang="zh-TW" sz="1400" dirty="0" smtClean="0"/>
                        <a:t>0x3:RETENTION</a:t>
                      </a:r>
                    </a:p>
                    <a:p>
                      <a:r>
                        <a:rPr lang="en-US" altLang="zh-TW" sz="1400" dirty="0" smtClean="0"/>
                        <a:t>0x4:LIGHTSLEEP</a:t>
                      </a:r>
                    </a:p>
                    <a:p>
                      <a:r>
                        <a:rPr lang="en-US" altLang="zh-TW" sz="1400" dirty="0" smtClean="0"/>
                        <a:t>0x5:DEEPSLEEP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75780" y="4996336"/>
            <a:ext cx="5446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</a:t>
            </a:r>
            <a:r>
              <a:rPr lang="en-US" altLang="zh-TW" dirty="0" smtClean="0"/>
              <a:t>Wakeup Record Register (PWRR) (0x208)</a:t>
            </a:r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154265"/>
              </p:ext>
            </p:extLst>
          </p:nvPr>
        </p:nvGraphicFramePr>
        <p:xfrm>
          <a:off x="175780" y="5340267"/>
          <a:ext cx="8723776" cy="889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2353"/>
                <a:gridCol w="1820334"/>
                <a:gridCol w="685800"/>
                <a:gridCol w="3556000"/>
                <a:gridCol w="83928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pwr_wakeup_record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WAKEUP_WIDTH-1:0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RW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Record</a:t>
                      </a:r>
                      <a:r>
                        <a:rPr lang="en-US" altLang="zh-TW" sz="1400" baseline="0" dirty="0" smtClean="0"/>
                        <a:t> </a:t>
                      </a:r>
                      <a:r>
                        <a:rPr lang="en-US" altLang="zh-TW" sz="1400" dirty="0" err="1" smtClean="0"/>
                        <a:t>pd_wakeup_event</a:t>
                      </a:r>
                      <a:r>
                        <a:rPr lang="en-US" altLang="zh-TW" sz="1400" dirty="0" smtClean="0"/>
                        <a:t> with </a:t>
                      </a:r>
                      <a:r>
                        <a:rPr lang="en-US" altLang="zh-TW" sz="1400" dirty="0" err="1" smtClean="0"/>
                        <a:t>wakeup_en</a:t>
                      </a:r>
                      <a:r>
                        <a:rPr lang="zh-TW" altLang="en-US" sz="1400" baseline="0" dirty="0" smtClean="0"/>
                        <a:t> </a:t>
                      </a:r>
                      <a:r>
                        <a:rPr lang="en-US" altLang="zh-TW" sz="1400" baseline="0" dirty="0" smtClean="0"/>
                        <a:t>mask when power command is </a:t>
                      </a:r>
                      <a:r>
                        <a:rPr lang="en-US" altLang="zh-TW" sz="1400" baseline="0" dirty="0" smtClean="0"/>
                        <a:t>finished</a:t>
                      </a:r>
                      <a:endParaRPr lang="zh-TW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75780" y="889984"/>
            <a:ext cx="5237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D</a:t>
            </a:r>
            <a:r>
              <a:rPr lang="en-US" altLang="zh-TW" dirty="0" smtClean="0"/>
              <a:t>omain Select Register (PDSR) (0x200)</a:t>
            </a:r>
            <a:endParaRPr lang="en-US" altLang="zh-TW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412292"/>
              </p:ext>
            </p:extLst>
          </p:nvPr>
        </p:nvGraphicFramePr>
        <p:xfrm>
          <a:off x="175780" y="1225448"/>
          <a:ext cx="8723776" cy="1529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26683"/>
                <a:gridCol w="1826537"/>
                <a:gridCol w="804333"/>
                <a:gridCol w="3559110"/>
                <a:gridCol w="11071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pwr_index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1:0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RW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Select</a:t>
                      </a:r>
                      <a:r>
                        <a:rPr lang="en-US" altLang="zh-TW" sz="1400" baseline="0" dirty="0" smtClean="0"/>
                        <a:t> </a:t>
                      </a:r>
                      <a:r>
                        <a:rPr lang="en-US" altLang="zh-TW" sz="1400" baseline="0" dirty="0" smtClean="0"/>
                        <a:t>power domain for power command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0x0: Core 0 and L2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0x1: Core 1</a:t>
                      </a:r>
                      <a:br>
                        <a:rPr lang="en-US" altLang="zh-TW" sz="1400" dirty="0" smtClean="0"/>
                      </a:br>
                      <a:r>
                        <a:rPr lang="en-US" altLang="zh-TW" sz="1400" dirty="0" smtClean="0"/>
                        <a:t>0x2: Core 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0x3: Core 3</a:t>
                      </a:r>
                      <a:endParaRPr lang="zh-TW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80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91110" y="2485292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Control Register </a:t>
            </a:r>
            <a:r>
              <a:rPr lang="en-US" altLang="zh-TW" dirty="0" smtClean="0"/>
              <a:t>(PCR) (0x210)</a:t>
            </a:r>
            <a:endParaRPr lang="en-US" altLang="zh-TW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758603"/>
              </p:ext>
            </p:extLst>
          </p:nvPr>
        </p:nvGraphicFramePr>
        <p:xfrm>
          <a:off x="91110" y="2845099"/>
          <a:ext cx="8741883" cy="2423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6287"/>
                <a:gridCol w="728737"/>
                <a:gridCol w="914727"/>
                <a:gridCol w="4022721"/>
                <a:gridCol w="11094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pwr_ctrl_cmd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3:0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Power control command</a:t>
                      </a:r>
                    </a:p>
                    <a:p>
                      <a:r>
                        <a:rPr lang="en-US" altLang="zh-TW" sz="1600" dirty="0" smtClean="0"/>
                        <a:t>0: No action</a:t>
                      </a:r>
                    </a:p>
                    <a:p>
                      <a:r>
                        <a:rPr lang="en-US" altLang="zh-TW" sz="1600" dirty="0" smtClean="0"/>
                        <a:t>1: DVFS</a:t>
                      </a:r>
                    </a:p>
                    <a:p>
                      <a:r>
                        <a:rPr lang="en-US" altLang="zh-TW" sz="1600" dirty="0" smtClean="0"/>
                        <a:t>2: Light Sleep </a:t>
                      </a:r>
                    </a:p>
                    <a:p>
                      <a:r>
                        <a:rPr lang="en-US" altLang="zh-TW" sz="1600" dirty="0" smtClean="0"/>
                        <a:t>3: Deep</a:t>
                      </a:r>
                      <a:r>
                        <a:rPr lang="en-US" altLang="zh-TW" sz="1600" baseline="0" dirty="0" smtClean="0"/>
                        <a:t> Sleep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pwr_ctrl_frq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7:4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Frequency</a:t>
                      </a:r>
                      <a:r>
                        <a:rPr lang="en-US" altLang="zh-TW" sz="1600" baseline="0" dirty="0" smtClean="0"/>
                        <a:t> vector for DVFS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pwr_ctrl_vol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11:8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RO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Reserved</a:t>
                      </a:r>
                      <a:r>
                        <a:rPr lang="en-US" altLang="zh-TW" sz="1600" baseline="0" dirty="0" smtClean="0"/>
                        <a:t> for</a:t>
                      </a:r>
                      <a:r>
                        <a:rPr lang="en-US" altLang="zh-TW" sz="1600" dirty="0" smtClean="0"/>
                        <a:t> voltage</a:t>
                      </a:r>
                      <a:r>
                        <a:rPr lang="en-US" altLang="zh-TW" sz="1600" baseline="0" dirty="0" smtClean="0"/>
                        <a:t> vector for DVFS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91110" y="922954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Wakeup Enable </a:t>
            </a:r>
            <a:r>
              <a:rPr lang="en-US" altLang="zh-TW" dirty="0" smtClean="0"/>
              <a:t>Register (WER) (0x20C)</a:t>
            </a:r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68725"/>
              </p:ext>
            </p:extLst>
          </p:nvPr>
        </p:nvGraphicFramePr>
        <p:xfrm>
          <a:off x="91110" y="1319313"/>
          <a:ext cx="8741883" cy="1193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2357"/>
                <a:gridCol w="2192866"/>
                <a:gridCol w="982133"/>
                <a:gridCol w="2593538"/>
                <a:gridCol w="115098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pwr_wakeup_en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WAKEUP_WIDTH-1:0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Wake</a:t>
                      </a:r>
                      <a:r>
                        <a:rPr lang="en-US" altLang="zh-TW" sz="1600" baseline="0" dirty="0" smtClean="0"/>
                        <a:t>up event enable </a:t>
                      </a:r>
                    </a:p>
                    <a:p>
                      <a:r>
                        <a:rPr lang="en-US" altLang="zh-TW" sz="1600" baseline="0" dirty="0" smtClean="0"/>
                        <a:t>0:Disable wakeup event</a:t>
                      </a:r>
                    </a:p>
                    <a:p>
                      <a:r>
                        <a:rPr lang="en-US" altLang="zh-TW" sz="1600" baseline="0" dirty="0" smtClean="0"/>
                        <a:t>1:Enable wakeup event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0xffffffff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3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8044" y="901963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</a:t>
            </a:r>
            <a:r>
              <a:rPr lang="en-US" altLang="zh-TW" dirty="0" smtClean="0"/>
              <a:t>Interrupt</a:t>
            </a:r>
            <a:r>
              <a:rPr lang="en-US" altLang="zh-TW" dirty="0" smtClean="0"/>
              <a:t> </a:t>
            </a:r>
            <a:r>
              <a:rPr lang="en-US" altLang="zh-TW" dirty="0"/>
              <a:t>Register </a:t>
            </a:r>
            <a:r>
              <a:rPr lang="en-US" altLang="zh-TW" dirty="0" smtClean="0"/>
              <a:t>(</a:t>
            </a:r>
            <a:r>
              <a:rPr lang="en-US" altLang="zh-TW" dirty="0" smtClean="0"/>
              <a:t>PIR) </a:t>
            </a:r>
            <a:r>
              <a:rPr lang="en-US" altLang="zh-TW" dirty="0" smtClean="0"/>
              <a:t>(</a:t>
            </a:r>
            <a:r>
              <a:rPr lang="en-US" altLang="zh-TW" dirty="0" smtClean="0"/>
              <a:t>0x214)</a:t>
            </a:r>
            <a:endParaRPr lang="en-US" altLang="zh-TW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969941"/>
              </p:ext>
            </p:extLst>
          </p:nvPr>
        </p:nvGraphicFramePr>
        <p:xfrm>
          <a:off x="108044" y="1261770"/>
          <a:ext cx="8741883" cy="1691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6287"/>
                <a:gridCol w="728737"/>
                <a:gridCol w="914727"/>
                <a:gridCol w="4022721"/>
                <a:gridCol w="11094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smtClean="0"/>
                        <a:t>pwr_ctrl_int_en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Assert SMU interrupt for</a:t>
                      </a:r>
                      <a:r>
                        <a:rPr lang="en-US" altLang="zh-TW" sz="1600" baseline="0" dirty="0" smtClean="0"/>
                        <a:t> this power domain</a:t>
                      </a:r>
                      <a:r>
                        <a:rPr lang="en-US" altLang="zh-TW" sz="1600" dirty="0" smtClean="0"/>
                        <a:t> after power command is done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 smtClean="0"/>
                        <a:t>pwr_ctrl_int_st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RO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Indicate</a:t>
                      </a:r>
                      <a:r>
                        <a:rPr lang="en-US" altLang="zh-TW" sz="1600" baseline="0" dirty="0" smtClean="0"/>
                        <a:t> </a:t>
                      </a:r>
                      <a:r>
                        <a:rPr lang="en-US" altLang="zh-TW" sz="1600" dirty="0" smtClean="0"/>
                        <a:t>SMU interrupt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 smtClean="0"/>
                        <a:t>pwr_ctrl_int_clr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W1C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Clear SMU interrupt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917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mode 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DVFS</a:t>
            </a:r>
          </a:p>
          <a:p>
            <a:pPr lvl="1"/>
            <a:r>
              <a:rPr lang="en-US" altLang="zh-TW" sz="2000" dirty="0"/>
              <a:t>Purpose: </a:t>
            </a:r>
            <a:r>
              <a:rPr lang="en-US" altLang="zh-TW" sz="2000" dirty="0" smtClean="0"/>
              <a:t>Dynamic change power for </a:t>
            </a:r>
            <a:r>
              <a:rPr lang="en-US" altLang="zh-TW" sz="2000" dirty="0" smtClean="0">
                <a:solidFill>
                  <a:srgbClr val="FF0000"/>
                </a:solidFill>
              </a:rPr>
              <a:t>workload requirement</a:t>
            </a:r>
          </a:p>
          <a:p>
            <a:pPr lvl="1"/>
            <a:r>
              <a:rPr lang="en-US" altLang="zh-TW" sz="2000" dirty="0" smtClean="0"/>
              <a:t>Function</a:t>
            </a:r>
            <a:r>
              <a:rPr lang="en-US" altLang="zh-TW" sz="2000" dirty="0"/>
              <a:t>: Change </a:t>
            </a:r>
            <a:r>
              <a:rPr lang="en-US" altLang="zh-TW" sz="2000" dirty="0" smtClean="0"/>
              <a:t>voltage and frequency</a:t>
            </a:r>
          </a:p>
          <a:p>
            <a:pPr lvl="1"/>
            <a:r>
              <a:rPr lang="en-US" altLang="zh-TW" sz="2000" dirty="0"/>
              <a:t>Latency: For voltage/clock source, it might takes </a:t>
            </a:r>
            <a:r>
              <a:rPr lang="en-US" altLang="zh-TW" sz="2000" dirty="0" err="1"/>
              <a:t>ms</a:t>
            </a:r>
            <a:r>
              <a:rPr lang="en-US" altLang="zh-TW" sz="2000" dirty="0"/>
              <a:t> scale for </a:t>
            </a:r>
            <a:r>
              <a:rPr lang="en-US" altLang="zh-TW" sz="2000" dirty="0" smtClean="0"/>
              <a:t>scaling </a:t>
            </a:r>
            <a:r>
              <a:rPr lang="en-US" altLang="zh-TW" sz="2000" dirty="0"/>
              <a:t>and stable. </a:t>
            </a:r>
          </a:p>
          <a:p>
            <a:r>
              <a:rPr lang="en-US" altLang="zh-TW" sz="2400" dirty="0" smtClean="0"/>
              <a:t>Light </a:t>
            </a:r>
            <a:r>
              <a:rPr lang="en-US" altLang="zh-TW" sz="2400" dirty="0"/>
              <a:t>Sleep </a:t>
            </a:r>
            <a:endParaRPr lang="en-US" altLang="zh-TW" sz="2400" dirty="0" smtClean="0"/>
          </a:p>
          <a:p>
            <a:pPr lvl="1"/>
            <a:r>
              <a:rPr lang="en-US" altLang="zh-TW" sz="2000" dirty="0"/>
              <a:t>Purpose: </a:t>
            </a:r>
            <a:r>
              <a:rPr lang="en-US" altLang="zh-TW" sz="2000" dirty="0">
                <a:solidFill>
                  <a:srgbClr val="FF0000"/>
                </a:solidFill>
              </a:rPr>
              <a:t>Fast response </a:t>
            </a:r>
            <a:r>
              <a:rPr lang="en-US" altLang="zh-TW" sz="2000" dirty="0"/>
              <a:t>for </a:t>
            </a:r>
            <a:r>
              <a:rPr lang="en-US" altLang="zh-TW" sz="2000" dirty="0" smtClean="0"/>
              <a:t>interrupt and save power</a:t>
            </a:r>
          </a:p>
          <a:p>
            <a:pPr lvl="1"/>
            <a:r>
              <a:rPr lang="en-US" altLang="zh-TW" sz="2000" dirty="0" smtClean="0"/>
              <a:t>Function: Core and RAM are </a:t>
            </a:r>
            <a:r>
              <a:rPr lang="en-US" altLang="zh-TW" sz="2000" dirty="0"/>
              <a:t>clock-gated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 smtClean="0"/>
              <a:t>Latency: </a:t>
            </a:r>
            <a:r>
              <a:rPr lang="en-US" altLang="zh-TW" sz="2000" dirty="0" smtClean="0">
                <a:solidFill>
                  <a:srgbClr val="FF0000"/>
                </a:solidFill>
              </a:rPr>
              <a:t>1 cycle</a:t>
            </a:r>
            <a:r>
              <a:rPr lang="en-US" altLang="zh-TW" sz="2000" dirty="0" smtClean="0"/>
              <a:t> for enabling clock switch</a:t>
            </a:r>
          </a:p>
          <a:p>
            <a:r>
              <a:rPr lang="en-US" altLang="zh-TW" sz="2400" dirty="0" smtClean="0"/>
              <a:t>Deep Sleep</a:t>
            </a:r>
          </a:p>
          <a:p>
            <a:pPr lvl="1"/>
            <a:r>
              <a:rPr lang="en-US" altLang="zh-TW" sz="2000" dirty="0"/>
              <a:t>Purpose</a:t>
            </a:r>
            <a:r>
              <a:rPr lang="en-US" altLang="zh-TW" sz="2000" dirty="0" smtClean="0"/>
              <a:t>: Stop core and </a:t>
            </a:r>
            <a:r>
              <a:rPr lang="en-US" altLang="zh-TW" sz="2000" dirty="0" smtClean="0">
                <a:solidFill>
                  <a:srgbClr val="FF0000"/>
                </a:solidFill>
              </a:rPr>
              <a:t>save most power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Function: Core and RAM </a:t>
            </a:r>
            <a:r>
              <a:rPr lang="en-US" altLang="zh-TW" sz="2000" dirty="0" smtClean="0"/>
              <a:t>are </a:t>
            </a:r>
            <a:r>
              <a:rPr lang="en-US" altLang="zh-TW" sz="2000" dirty="0"/>
              <a:t>powered off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Latency: </a:t>
            </a:r>
            <a:r>
              <a:rPr lang="en-US" altLang="zh-TW" sz="2000" dirty="0" smtClean="0"/>
              <a:t>For voltage/clock source, it might takes </a:t>
            </a:r>
            <a:r>
              <a:rPr lang="en-US" altLang="zh-TW" sz="2000" dirty="0" err="1" smtClean="0"/>
              <a:t>ms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scale for turn-on and stable. 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487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Remove </a:t>
            </a:r>
            <a:r>
              <a:rPr lang="en-US" altLang="zh-TW" dirty="0"/>
              <a:t>core clock/power related </a:t>
            </a:r>
            <a:r>
              <a:rPr lang="en-US" altLang="zh-TW" dirty="0" smtClean="0"/>
              <a:t>logic</a:t>
            </a:r>
          </a:p>
          <a:p>
            <a:pPr lvl="1"/>
            <a:r>
              <a:rPr lang="en-US" altLang="zh-TW" dirty="0" smtClean="0"/>
              <a:t>standby </a:t>
            </a:r>
            <a:r>
              <a:rPr lang="en-US" altLang="zh-TW" dirty="0"/>
              <a:t>state machine</a:t>
            </a:r>
          </a:p>
          <a:p>
            <a:pPr lvl="1"/>
            <a:r>
              <a:rPr lang="en-US" altLang="zh-TW" dirty="0" smtClean="0"/>
              <a:t>smu2core_standby_req</a:t>
            </a:r>
            <a:endParaRPr lang="en-US" altLang="zh-TW" dirty="0"/>
          </a:p>
          <a:p>
            <a:pPr lvl="1"/>
            <a:r>
              <a:rPr lang="en-US" altLang="zh-TW" dirty="0" smtClean="0"/>
              <a:t>smu2core_wakeup_ok</a:t>
            </a:r>
            <a:endParaRPr lang="en-US" altLang="zh-TW" dirty="0"/>
          </a:p>
          <a:p>
            <a:pPr lvl="1"/>
            <a:r>
              <a:rPr lang="en-US" altLang="zh-TW" dirty="0" smtClean="0"/>
              <a:t>core2smu_wfi_mode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0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Global signal for all power domain</a:t>
            </a:r>
          </a:p>
          <a:p>
            <a:pPr lvl="1"/>
            <a:r>
              <a:rPr lang="en-US" altLang="zh-TW" sz="1800" dirty="0" err="1" smtClean="0"/>
              <a:t>smu_disable_init</a:t>
            </a:r>
            <a:r>
              <a:rPr lang="en-US" altLang="zh-TW" sz="1800" dirty="0" smtClean="0"/>
              <a:t>[31:0</a:t>
            </a:r>
            <a:r>
              <a:rPr lang="en-US" altLang="zh-TW" sz="1800" dirty="0"/>
              <a:t>](input): Indicate signal which is </a:t>
            </a:r>
            <a:r>
              <a:rPr lang="en-US" altLang="zh-TW" sz="1800" dirty="0" smtClean="0"/>
              <a:t>asserted by </a:t>
            </a:r>
            <a:r>
              <a:rPr lang="en-US" altLang="zh-TW" sz="1800" dirty="0"/>
              <a:t>PMDIR</a:t>
            </a:r>
            <a:r>
              <a:rPr lang="en-US" altLang="zh-TW" sz="1800" dirty="0" smtClean="0"/>
              <a:t> </a:t>
            </a:r>
          </a:p>
          <a:p>
            <a:pPr lvl="2"/>
            <a:r>
              <a:rPr lang="en-US" altLang="zh-TW" sz="1800" dirty="0" smtClean="0"/>
              <a:t>For </a:t>
            </a:r>
            <a:r>
              <a:rPr lang="en-US" altLang="zh-TW" sz="1800" dirty="0" err="1" smtClean="0"/>
              <a:t>icache_disable_init</a:t>
            </a:r>
            <a:r>
              <a:rPr lang="en-US" altLang="zh-TW" sz="1800" dirty="0" smtClean="0"/>
              <a:t>/</a:t>
            </a:r>
            <a:r>
              <a:rPr lang="en-US" altLang="zh-TW" sz="1800" dirty="0" err="1" smtClean="0"/>
              <a:t>dcache_disable_init</a:t>
            </a:r>
            <a:r>
              <a:rPr lang="en-US" altLang="zh-TW" sz="1800" dirty="0" smtClean="0"/>
              <a:t>/l2_disable_init</a:t>
            </a:r>
          </a:p>
          <a:p>
            <a:pPr lvl="1"/>
            <a:r>
              <a:rPr lang="en-US" altLang="zh-TW" sz="1800" dirty="0" smtClean="0"/>
              <a:t>debugint[NHART-1:0](</a:t>
            </a:r>
            <a:r>
              <a:rPr lang="en-US" altLang="zh-TW" sz="1800" dirty="0"/>
              <a:t>input</a:t>
            </a:r>
            <a:r>
              <a:rPr lang="en-US" altLang="zh-TW" sz="1800" dirty="0" smtClean="0"/>
              <a:t>): When debugint is asserted, the power domain will be wakeup from light/deep sleep mode.</a:t>
            </a:r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374676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Control </a:t>
            </a:r>
            <a:r>
              <a:rPr lang="en-US" altLang="zh-TW" dirty="0"/>
              <a:t>signal </a:t>
            </a:r>
            <a:r>
              <a:rPr lang="en-US" altLang="zh-TW" dirty="0" smtClean="0"/>
              <a:t>from power domain </a:t>
            </a:r>
            <a:r>
              <a:rPr lang="en-US" altLang="zh-TW" sz="1800" dirty="0" smtClean="0"/>
              <a:t>(with synchronizer)</a:t>
            </a:r>
          </a:p>
          <a:p>
            <a:pPr lvl="1"/>
            <a:r>
              <a:rPr lang="en-US" altLang="zh-TW" sz="2000" dirty="0" err="1" smtClean="0"/>
              <a:t>pd_standby</a:t>
            </a:r>
            <a:r>
              <a:rPr lang="en-US" altLang="zh-TW" sz="2000" dirty="0" smtClean="0"/>
              <a:t>(input): Indicate this power domain is ready for power change</a:t>
            </a:r>
          </a:p>
          <a:p>
            <a:pPr lvl="2"/>
            <a:r>
              <a:rPr lang="en-US" altLang="zh-TW" sz="1600" dirty="0" smtClean="0"/>
              <a:t>Connect to </a:t>
            </a:r>
            <a:r>
              <a:rPr lang="en-US" altLang="zh-TW" sz="1600" dirty="0" err="1" smtClean="0"/>
              <a:t>core_wfi_mode</a:t>
            </a:r>
            <a:r>
              <a:rPr lang="en-US" altLang="zh-TW" sz="1600" dirty="0" smtClean="0"/>
              <a:t> that core ready for power </a:t>
            </a:r>
            <a:r>
              <a:rPr lang="en-US" altLang="zh-TW" sz="1600" dirty="0" smtClean="0"/>
              <a:t>change</a:t>
            </a:r>
          </a:p>
          <a:p>
            <a:pPr lvl="1"/>
            <a:r>
              <a:rPr lang="en-US" altLang="zh-TW" sz="2000" dirty="0" err="1" smtClean="0"/>
              <a:t>pd_all_lightsleep</a:t>
            </a:r>
            <a:r>
              <a:rPr lang="en-US" altLang="zh-TW" sz="2000" dirty="0" smtClean="0"/>
              <a:t>(input</a:t>
            </a:r>
            <a:r>
              <a:rPr lang="en-US" altLang="zh-TW" sz="2000" dirty="0"/>
              <a:t>): Indicate </a:t>
            </a:r>
            <a:r>
              <a:rPr lang="en-US" altLang="zh-TW" sz="2000" dirty="0" smtClean="0"/>
              <a:t>all </a:t>
            </a:r>
            <a:r>
              <a:rPr lang="en-US" altLang="zh-TW" sz="2000" dirty="0"/>
              <a:t>power </a:t>
            </a:r>
            <a:r>
              <a:rPr lang="en-US" altLang="zh-TW" sz="2000" dirty="0" smtClean="0"/>
              <a:t>domains are light sleep mode</a:t>
            </a:r>
            <a:endParaRPr lang="en-US" altLang="zh-TW" sz="2000" dirty="0"/>
          </a:p>
          <a:p>
            <a:pPr lvl="1"/>
            <a:r>
              <a:rPr lang="en-US" altLang="zh-TW" sz="1800" dirty="0" err="1" smtClean="0"/>
              <a:t>pd_wakeup_event</a:t>
            </a:r>
            <a:r>
              <a:rPr lang="en-US" altLang="zh-TW" sz="1800" dirty="0" smtClean="0"/>
              <a:t>[WAKEUP_WIDTH-1:0</a:t>
            </a:r>
            <a:r>
              <a:rPr lang="en-US" altLang="zh-TW" sz="1800" dirty="0" smtClean="0"/>
              <a:t>](input</a:t>
            </a:r>
            <a:r>
              <a:rPr lang="en-US" altLang="zh-TW" sz="1800" dirty="0"/>
              <a:t>): Indicate this power </a:t>
            </a:r>
            <a:r>
              <a:rPr lang="en-US" altLang="zh-TW" sz="1800" dirty="0" smtClean="0"/>
              <a:t>domain should be wakeup</a:t>
            </a:r>
          </a:p>
          <a:p>
            <a:pPr lvl="2"/>
            <a:r>
              <a:rPr lang="en-US" altLang="zh-TW" sz="1600" dirty="0" smtClean="0"/>
              <a:t>Connect </a:t>
            </a:r>
            <a:r>
              <a:rPr lang="en-US" altLang="zh-TW" sz="1600" dirty="0"/>
              <a:t>to </a:t>
            </a:r>
            <a:r>
              <a:rPr lang="en-US" altLang="zh-TW" sz="1600" dirty="0" err="1" smtClean="0"/>
              <a:t>msip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meip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mtip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rtc_alarm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wi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smu</a:t>
            </a:r>
            <a:r>
              <a:rPr lang="en-US" altLang="zh-TW" sz="1600" dirty="0" smtClean="0"/>
              <a:t> </a:t>
            </a:r>
            <a:r>
              <a:rPr lang="en-US" altLang="zh-TW" sz="1600" dirty="0"/>
              <a:t>for cores wakeup </a:t>
            </a:r>
            <a:r>
              <a:rPr lang="en-US" altLang="zh-TW" sz="1600" dirty="0" smtClean="0"/>
              <a:t>event</a:t>
            </a:r>
          </a:p>
          <a:p>
            <a:pPr lvl="1"/>
            <a:r>
              <a:rPr lang="en-US" altLang="zh-TW" sz="1800" dirty="0" err="1" smtClean="0"/>
              <a:t>pd_debugint</a:t>
            </a:r>
            <a:r>
              <a:rPr lang="en-US" altLang="zh-TW" sz="1800" dirty="0" smtClean="0"/>
              <a:t>(input</a:t>
            </a:r>
            <a:r>
              <a:rPr lang="en-US" altLang="zh-TW" sz="1800" dirty="0"/>
              <a:t>): Indicate this power domain should be </a:t>
            </a:r>
            <a:r>
              <a:rPr lang="en-US" altLang="zh-TW" sz="1800" dirty="0" smtClean="0"/>
              <a:t>wakeup by debugint</a:t>
            </a:r>
            <a:endParaRPr lang="en-US" altLang="zh-TW" sz="1800" dirty="0"/>
          </a:p>
          <a:p>
            <a:pPr lvl="2"/>
            <a:r>
              <a:rPr lang="en-US" altLang="zh-TW" sz="1600" dirty="0"/>
              <a:t>Connect to </a:t>
            </a:r>
            <a:r>
              <a:rPr lang="en-US" altLang="zh-TW" sz="1600" dirty="0" err="1" smtClean="0"/>
              <a:t>debugint</a:t>
            </a:r>
            <a:r>
              <a:rPr lang="en-US" altLang="zh-TW" sz="1600" dirty="0" smtClean="0"/>
              <a:t> for </a:t>
            </a:r>
            <a:r>
              <a:rPr lang="en-US" altLang="zh-TW" sz="1600" dirty="0"/>
              <a:t>cores wakeup event</a:t>
            </a:r>
          </a:p>
          <a:p>
            <a:pPr lvl="2"/>
            <a:endParaRPr lang="en-US" altLang="zh-TW" sz="1400" dirty="0" smtClean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20256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Control signal with ae350_smu_apbif</a:t>
            </a:r>
          </a:p>
          <a:p>
            <a:pPr lvl="1"/>
            <a:r>
              <a:rPr lang="en-US" altLang="zh-TW" sz="1400" dirty="0" err="1" smtClean="0"/>
              <a:t>smu_ret_cyc_we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Indicate </a:t>
            </a:r>
            <a:r>
              <a:rPr lang="en-US" altLang="zh-TW" sz="1400" dirty="0" err="1"/>
              <a:t>smu_ret_cyc</a:t>
            </a:r>
            <a:r>
              <a:rPr lang="en-US" altLang="zh-TW" sz="1400" dirty="0" smtClean="0"/>
              <a:t>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</a:p>
          <a:p>
            <a:pPr lvl="1"/>
            <a:r>
              <a:rPr lang="en-US" altLang="zh-TW" sz="1400" dirty="0" err="1" smtClean="0"/>
              <a:t>smu_ret_cyc</a:t>
            </a:r>
            <a:r>
              <a:rPr lang="en-US" altLang="zh-TW" sz="1400" dirty="0" smtClean="0"/>
              <a:t>[CYCLE_WIDTH-1:0](</a:t>
            </a:r>
            <a:r>
              <a:rPr lang="en-US" altLang="zh-TW" sz="1400" dirty="0"/>
              <a:t>input): Indicate </a:t>
            </a:r>
            <a:r>
              <a:rPr lang="en-US" altLang="zh-TW" sz="1400" dirty="0" smtClean="0"/>
              <a:t>retention cycle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smu_iso_cyc_we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Indicate </a:t>
            </a:r>
            <a:r>
              <a:rPr lang="en-US" altLang="zh-TW" sz="1400" dirty="0" err="1" smtClean="0"/>
              <a:t>smu_iso_cyc</a:t>
            </a:r>
            <a:r>
              <a:rPr lang="en-US" altLang="zh-TW" sz="1400" dirty="0" smtClean="0"/>
              <a:t>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  <a:endParaRPr lang="zh-TW" altLang="en-US" sz="1400" dirty="0" smtClean="0"/>
          </a:p>
          <a:p>
            <a:pPr lvl="1"/>
            <a:r>
              <a:rPr lang="en-US" altLang="zh-TW" sz="1400" dirty="0" err="1" smtClean="0"/>
              <a:t>smu_iso_cyc</a:t>
            </a:r>
            <a:r>
              <a:rPr lang="en-US" altLang="zh-TW" sz="1400" dirty="0"/>
              <a:t>[CYCLE_WIDTH-1:0](input): Indicate </a:t>
            </a:r>
            <a:r>
              <a:rPr lang="en-US" altLang="zh-TW" sz="1400" dirty="0" smtClean="0"/>
              <a:t>isolation cycle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smu_wakeup_enable_we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</a:t>
            </a:r>
            <a:r>
              <a:rPr lang="en-US" altLang="zh-TW" sz="1400" dirty="0" smtClean="0"/>
              <a:t>Indicate </a:t>
            </a:r>
            <a:r>
              <a:rPr lang="en-US" altLang="zh-TW" sz="1400" dirty="0" err="1" smtClean="0"/>
              <a:t>smu_wakeup_enable</a:t>
            </a:r>
            <a:r>
              <a:rPr lang="en-US" altLang="zh-TW" sz="1400" dirty="0" smtClean="0"/>
              <a:t> is updated</a:t>
            </a:r>
          </a:p>
          <a:p>
            <a:pPr lvl="1"/>
            <a:r>
              <a:rPr lang="en-US" altLang="zh-TW" sz="1400" dirty="0" err="1"/>
              <a:t>smu_wakeup_enable</a:t>
            </a:r>
            <a:r>
              <a:rPr lang="en-US" altLang="zh-TW" sz="1400" dirty="0"/>
              <a:t>[WAKEUP_WIDTH:0](input): Indicate </a:t>
            </a:r>
            <a:r>
              <a:rPr lang="en-US" altLang="zh-TW" sz="1400" dirty="0" err="1" smtClean="0"/>
              <a:t>pd_wakeup_event</a:t>
            </a:r>
            <a:r>
              <a:rPr lang="en-US" altLang="zh-TW" sz="1400" dirty="0" smtClean="0"/>
              <a:t> is valid for wakeup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smu_pwr_ctrl_cmd_</a:t>
            </a:r>
            <a:r>
              <a:rPr lang="en-US" altLang="zh-TW" sz="1400" dirty="0" err="1"/>
              <a:t>we</a:t>
            </a:r>
            <a:r>
              <a:rPr lang="en-US" altLang="zh-TW" sz="1400" dirty="0"/>
              <a:t>(input): Indicate smu_pwr_ctrl</a:t>
            </a:r>
            <a:r>
              <a:rPr lang="en-US" altLang="zh-TW" sz="1400" dirty="0" smtClean="0"/>
              <a:t>_*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</a:p>
          <a:p>
            <a:pPr lvl="1"/>
            <a:r>
              <a:rPr lang="en-US" altLang="zh-TW" sz="1400" dirty="0" err="1"/>
              <a:t>smu_pwr_ctrl_cmd</a:t>
            </a:r>
            <a:r>
              <a:rPr lang="en-US" altLang="zh-TW" sz="1400" dirty="0"/>
              <a:t>[3:0] (input): Indicate power </a:t>
            </a:r>
            <a:r>
              <a:rPr lang="en-US" altLang="zh-TW" sz="1400" dirty="0" smtClean="0"/>
              <a:t>command</a:t>
            </a:r>
          </a:p>
          <a:p>
            <a:pPr lvl="1"/>
            <a:r>
              <a:rPr lang="en-US" altLang="zh-TW" sz="1400" dirty="0" err="1" smtClean="0"/>
              <a:t>smu_pwr_ctrl_frq</a:t>
            </a:r>
            <a:r>
              <a:rPr lang="en-US" altLang="zh-TW" sz="1400" dirty="0" smtClean="0"/>
              <a:t>[3:0]</a:t>
            </a:r>
            <a:r>
              <a:rPr lang="en-US" altLang="zh-TW" sz="1400" dirty="0"/>
              <a:t> (input): Indicate </a:t>
            </a:r>
            <a:r>
              <a:rPr lang="en-US" altLang="zh-TW" sz="1400" dirty="0" smtClean="0"/>
              <a:t>frequency vector</a:t>
            </a:r>
          </a:p>
          <a:p>
            <a:pPr lvl="1"/>
            <a:r>
              <a:rPr lang="en-US" altLang="zh-TW" sz="1400" dirty="0" err="1"/>
              <a:t>smu_</a:t>
            </a:r>
            <a:r>
              <a:rPr lang="en-US" altLang="zh-TW" sz="1400" dirty="0" err="1" smtClean="0"/>
              <a:t>pwr_ctrl_vol</a:t>
            </a:r>
            <a:r>
              <a:rPr lang="en-US" altLang="zh-TW" sz="1400" dirty="0" smtClean="0"/>
              <a:t>[3:0]</a:t>
            </a:r>
            <a:r>
              <a:rPr lang="en-US" altLang="zh-TW" sz="1400" dirty="0"/>
              <a:t> (input): Indicate </a:t>
            </a:r>
            <a:r>
              <a:rPr lang="en-US" altLang="zh-TW" sz="1400" dirty="0" smtClean="0"/>
              <a:t>voltage vector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/>
              <a:t>smu_pwr_ctrl_cmd_pending</a:t>
            </a:r>
            <a:r>
              <a:rPr lang="en-US" altLang="zh-TW" sz="1400" dirty="0" smtClean="0"/>
              <a:t>[3:0] </a:t>
            </a:r>
            <a:r>
              <a:rPr lang="en-US" altLang="zh-TW" sz="1400" dirty="0" smtClean="0"/>
              <a:t>(</a:t>
            </a:r>
            <a:r>
              <a:rPr lang="en-US" altLang="zh-TW" sz="1400" dirty="0" smtClean="0"/>
              <a:t>out</a:t>
            </a:r>
            <a:r>
              <a:rPr lang="en-US" altLang="zh-TW" sz="1400" dirty="0" smtClean="0"/>
              <a:t>put</a:t>
            </a:r>
            <a:r>
              <a:rPr lang="en-US" altLang="zh-TW" sz="1400" dirty="0"/>
              <a:t>): Indicate power </a:t>
            </a:r>
            <a:r>
              <a:rPr lang="en-US" altLang="zh-TW" sz="1400" dirty="0" smtClean="0"/>
              <a:t>command pending </a:t>
            </a:r>
            <a:r>
              <a:rPr lang="en-US" altLang="zh-TW" sz="1400" dirty="0"/>
              <a:t>in ae350_smu_pd</a:t>
            </a:r>
            <a:endParaRPr lang="en-US" altLang="zh-TW" sz="1400" dirty="0" smtClean="0"/>
          </a:p>
          <a:p>
            <a:pPr lvl="1"/>
            <a:r>
              <a:rPr lang="en-US" altLang="zh-TW" sz="1400" dirty="0" err="1" smtClean="0"/>
              <a:t>smu_pwr_status</a:t>
            </a:r>
            <a:r>
              <a:rPr lang="en-US" altLang="zh-TW" sz="1400" dirty="0" smtClean="0"/>
              <a:t>[3:0</a:t>
            </a:r>
            <a:r>
              <a:rPr lang="en-US" altLang="zh-TW" sz="1400" dirty="0"/>
              <a:t>] </a:t>
            </a:r>
            <a:r>
              <a:rPr lang="en-US" altLang="zh-TW" sz="1400" dirty="0" smtClean="0"/>
              <a:t>(output</a:t>
            </a:r>
            <a:r>
              <a:rPr lang="en-US" altLang="zh-TW" sz="1400" dirty="0"/>
              <a:t>): Indicate power </a:t>
            </a:r>
            <a:r>
              <a:rPr lang="en-US" altLang="zh-TW" sz="1400" dirty="0" smtClean="0"/>
              <a:t>status</a:t>
            </a:r>
            <a:endParaRPr lang="en-US" altLang="zh-TW" sz="1400" dirty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338276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Power control signal with voltage/clock source</a:t>
            </a:r>
          </a:p>
          <a:p>
            <a:pPr lvl="1"/>
            <a:r>
              <a:rPr lang="en-US" altLang="zh-TW" sz="1500" dirty="0" err="1" smtClean="0"/>
              <a:t>pd_vol_stable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Voltage </a:t>
            </a:r>
            <a:r>
              <a:rPr lang="en-US" altLang="zh-TW" sz="1500" dirty="0" smtClean="0"/>
              <a:t>is stable </a:t>
            </a:r>
            <a:r>
              <a:rPr lang="en-US" altLang="zh-TW" sz="1500" dirty="0"/>
              <a:t>for the power </a:t>
            </a:r>
            <a:r>
              <a:rPr lang="en-US" altLang="zh-TW" sz="1500" dirty="0" smtClean="0"/>
              <a:t>domain </a:t>
            </a:r>
            <a:r>
              <a:rPr lang="en-US" altLang="zh-TW" sz="1500" dirty="0"/>
              <a:t>from </a:t>
            </a:r>
            <a:r>
              <a:rPr lang="en-US" altLang="zh-TW" sz="1500" dirty="0" smtClean="0"/>
              <a:t>voltage regulator</a:t>
            </a:r>
          </a:p>
          <a:p>
            <a:pPr lvl="1"/>
            <a:r>
              <a:rPr lang="en-US" altLang="zh-TW" sz="1500" dirty="0" err="1"/>
              <a:t>pd_vol_scale_req</a:t>
            </a:r>
            <a:r>
              <a:rPr lang="en-US" altLang="zh-TW" sz="1500" dirty="0"/>
              <a:t>(output): Voltage scaling vector require to voltage regulator</a:t>
            </a:r>
          </a:p>
          <a:p>
            <a:pPr lvl="1"/>
            <a:r>
              <a:rPr lang="en-US" altLang="zh-TW" sz="1500" dirty="0" err="1"/>
              <a:t>pd_vol_scale</a:t>
            </a:r>
            <a:r>
              <a:rPr lang="en-US" altLang="zh-TW" sz="1500" dirty="0"/>
              <a:t>(output): Voltage scaling vector to voltage regulator</a:t>
            </a:r>
          </a:p>
          <a:p>
            <a:pPr lvl="1"/>
            <a:r>
              <a:rPr lang="en-US" altLang="zh-TW" sz="1500" dirty="0" err="1"/>
              <a:t>pd_vol_scale_ack</a:t>
            </a:r>
            <a:r>
              <a:rPr lang="en-US" altLang="zh-TW" sz="1500" dirty="0"/>
              <a:t>(input): Voltage scaling vector </a:t>
            </a:r>
            <a:r>
              <a:rPr lang="en-US" altLang="zh-TW" sz="1500" dirty="0" err="1"/>
              <a:t>ack</a:t>
            </a:r>
            <a:r>
              <a:rPr lang="en-US" altLang="zh-TW" sz="1500" dirty="0"/>
              <a:t> from voltage </a:t>
            </a:r>
            <a:r>
              <a:rPr lang="en-US" altLang="zh-TW" sz="1500" dirty="0" smtClean="0"/>
              <a:t>regulator</a:t>
            </a:r>
          </a:p>
          <a:p>
            <a:pPr lvl="1"/>
            <a:endParaRPr lang="en-US" altLang="zh-TW" sz="1500" dirty="0" smtClean="0"/>
          </a:p>
          <a:p>
            <a:pPr lvl="1"/>
            <a:r>
              <a:rPr lang="en-US" altLang="zh-TW" sz="1500" dirty="0" err="1" smtClean="0"/>
              <a:t>pd_frq_stable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Frequency</a:t>
            </a:r>
            <a:r>
              <a:rPr lang="en-US" altLang="zh-TW" sz="1500" dirty="0" smtClean="0"/>
              <a:t> </a:t>
            </a:r>
            <a:r>
              <a:rPr lang="en-US" altLang="zh-TW" sz="1500" dirty="0"/>
              <a:t>is stable for the power domain from clock generator</a:t>
            </a:r>
          </a:p>
          <a:p>
            <a:pPr lvl="1"/>
            <a:r>
              <a:rPr lang="en-US" altLang="zh-TW" sz="1500" dirty="0" err="1" smtClean="0"/>
              <a:t>pd_frq_scale_req</a:t>
            </a:r>
            <a:r>
              <a:rPr lang="en-US" altLang="zh-TW" sz="1500" dirty="0" smtClean="0"/>
              <a:t>(output</a:t>
            </a:r>
            <a:r>
              <a:rPr lang="en-US" altLang="zh-TW" sz="1500" dirty="0"/>
              <a:t>): Frequency scaling vector </a:t>
            </a:r>
            <a:r>
              <a:rPr lang="en-US" altLang="zh-TW" sz="1500" dirty="0" smtClean="0"/>
              <a:t>require to </a:t>
            </a:r>
            <a:r>
              <a:rPr lang="en-US" altLang="zh-TW" sz="1500" dirty="0"/>
              <a:t>clock </a:t>
            </a:r>
            <a:r>
              <a:rPr lang="en-US" altLang="zh-TW" sz="1500" dirty="0" smtClean="0"/>
              <a:t>generator</a:t>
            </a:r>
          </a:p>
          <a:p>
            <a:pPr lvl="1"/>
            <a:r>
              <a:rPr lang="en-US" altLang="zh-TW" sz="1500" dirty="0" err="1"/>
              <a:t>pd_frq_scale</a:t>
            </a:r>
            <a:r>
              <a:rPr lang="en-US" altLang="zh-TW" sz="1500" dirty="0"/>
              <a:t>(output): Frequency scaling vector to clock </a:t>
            </a:r>
            <a:r>
              <a:rPr lang="en-US" altLang="zh-TW" sz="1500" dirty="0" smtClean="0"/>
              <a:t>generator</a:t>
            </a:r>
            <a:endParaRPr lang="en-US" altLang="zh-TW" sz="1500" dirty="0"/>
          </a:p>
          <a:p>
            <a:pPr lvl="1"/>
            <a:r>
              <a:rPr lang="en-US" altLang="zh-TW" sz="1500" dirty="0" err="1" smtClean="0"/>
              <a:t>pd_frq_scale_ack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Frequency scaling vector </a:t>
            </a:r>
            <a:r>
              <a:rPr lang="en-US" altLang="zh-TW" sz="1500" dirty="0" err="1"/>
              <a:t>ack</a:t>
            </a:r>
            <a:r>
              <a:rPr lang="en-US" altLang="zh-TW" sz="1500" dirty="0"/>
              <a:t> </a:t>
            </a:r>
            <a:r>
              <a:rPr lang="en-US" altLang="zh-TW" sz="1500" dirty="0" smtClean="0"/>
              <a:t>from clock generator</a:t>
            </a:r>
          </a:p>
          <a:p>
            <a:r>
              <a:rPr lang="en-US" altLang="zh-TW" dirty="0" smtClean="0"/>
              <a:t>Power </a:t>
            </a:r>
            <a:r>
              <a:rPr lang="en-US" altLang="zh-TW" dirty="0"/>
              <a:t>control signal </a:t>
            </a:r>
            <a:r>
              <a:rPr lang="en-US" altLang="zh-TW" dirty="0" smtClean="0"/>
              <a:t>for </a:t>
            </a:r>
            <a:r>
              <a:rPr lang="en-US" altLang="zh-TW" dirty="0"/>
              <a:t>power </a:t>
            </a:r>
            <a:r>
              <a:rPr lang="en-US" altLang="zh-TW" dirty="0" smtClean="0"/>
              <a:t>domain</a:t>
            </a:r>
            <a:endParaRPr lang="en-US" altLang="zh-TW" sz="2000" dirty="0" smtClean="0"/>
          </a:p>
          <a:p>
            <a:pPr lvl="1"/>
            <a:r>
              <a:rPr lang="en-US" altLang="zh-TW" sz="1600" dirty="0" err="1" smtClean="0"/>
              <a:t>pd_iso_en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Isolation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pd_ret_en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Retention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pd_pwr_off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Power region </a:t>
            </a:r>
            <a:r>
              <a:rPr lang="en-US" altLang="zh-TW" sz="1600" dirty="0"/>
              <a:t>shut-off indicator </a:t>
            </a:r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81536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List for wakeup event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RISC-V</a:t>
            </a:r>
          </a:p>
          <a:p>
            <a:pPr lvl="1"/>
            <a:r>
              <a:rPr lang="en-US" altLang="zh-TW" dirty="0" smtClean="0"/>
              <a:t>Software PLIC: </a:t>
            </a:r>
            <a:r>
              <a:rPr lang="en-US" altLang="zh-TW" dirty="0" err="1" smtClean="0"/>
              <a:t>msip</a:t>
            </a:r>
            <a:endParaRPr lang="en-US" altLang="zh-TW" dirty="0"/>
          </a:p>
          <a:p>
            <a:pPr lvl="1"/>
            <a:r>
              <a:rPr lang="en-US" altLang="zh-TW" dirty="0" smtClean="0"/>
              <a:t>PLIC: </a:t>
            </a:r>
            <a:r>
              <a:rPr lang="en-US" altLang="zh-TW" dirty="0" err="1" smtClean="0"/>
              <a:t>meip</a:t>
            </a:r>
            <a:endParaRPr lang="en-US" altLang="zh-TW" dirty="0"/>
          </a:p>
          <a:p>
            <a:pPr lvl="1"/>
            <a:r>
              <a:rPr lang="en-US" altLang="zh-TW" dirty="0" smtClean="0"/>
              <a:t>PLMT: </a:t>
            </a:r>
            <a:r>
              <a:rPr lang="en-US" altLang="zh-TW" dirty="0" err="1" smtClean="0"/>
              <a:t>mtip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Debug mode: debugint </a:t>
            </a:r>
            <a:r>
              <a:rPr lang="en-US" altLang="zh-TW" dirty="0" smtClean="0">
                <a:solidFill>
                  <a:srgbClr val="FF0000"/>
                </a:solidFill>
              </a:rPr>
              <a:t>(Not maskable)</a:t>
            </a:r>
          </a:p>
          <a:p>
            <a:r>
              <a:rPr lang="en-US" altLang="zh-TW" dirty="0" smtClean="0"/>
              <a:t>Platform</a:t>
            </a:r>
          </a:p>
          <a:p>
            <a:pPr lvl="1"/>
            <a:r>
              <a:rPr lang="en-US" altLang="zh-TW" dirty="0" smtClean="0"/>
              <a:t>RTC: </a:t>
            </a:r>
            <a:r>
              <a:rPr lang="en-US" altLang="zh-TW" dirty="0" err="1" smtClean="0"/>
              <a:t>rtc_alarm</a:t>
            </a:r>
            <a:endParaRPr lang="en-US" altLang="zh-TW" dirty="0" smtClean="0"/>
          </a:p>
          <a:p>
            <a:pPr lvl="1"/>
            <a:r>
              <a:rPr lang="en-US" altLang="zh-TW" dirty="0"/>
              <a:t>SMU: </a:t>
            </a:r>
            <a:r>
              <a:rPr lang="en-US" altLang="zh-TW" dirty="0" err="1" smtClean="0"/>
              <a:t>smu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External </a:t>
            </a:r>
            <a:r>
              <a:rPr lang="en-US" altLang="zh-TW" dirty="0" smtClean="0"/>
              <a:t>event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43407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 bwMode="auto">
          <a:xfrm>
            <a:off x="47675" y="4134028"/>
            <a:ext cx="2227217" cy="199516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47675" y="1637120"/>
            <a:ext cx="2227217" cy="2496908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矩形 73"/>
          <p:cNvSpPr/>
          <p:nvPr/>
        </p:nvSpPr>
        <p:spPr bwMode="auto">
          <a:xfrm>
            <a:off x="2274893" y="1637120"/>
            <a:ext cx="6676490" cy="4492076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矩形 59"/>
          <p:cNvSpPr/>
          <p:nvPr/>
        </p:nvSpPr>
        <p:spPr bwMode="auto">
          <a:xfrm>
            <a:off x="4614803" y="3136075"/>
            <a:ext cx="4336580" cy="2993121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block diagram for power domain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3206987" y="4207055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Clock Generator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246629" y="1794678"/>
            <a:ext cx="1771652" cy="100970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VRM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246629" y="3238244"/>
            <a:ext cx="1771652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Power</a:t>
            </a:r>
            <a:r>
              <a:rPr kumimoji="0" lang="en-US" altLang="zh-TW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switch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246629" y="3587722"/>
            <a:ext cx="1771652" cy="16303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Power domain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 rot="5400000">
            <a:off x="6378795" y="4227208"/>
            <a:ext cx="1628776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Isolation cell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459218" y="4724110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Retention cell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直線單箭頭接點 14"/>
          <p:cNvCxnSpPr/>
          <p:nvPr/>
        </p:nvCxnSpPr>
        <p:spPr bwMode="auto">
          <a:xfrm>
            <a:off x="4218038" y="4394241"/>
            <a:ext cx="64230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直線單箭頭接點 28"/>
          <p:cNvCxnSpPr>
            <a:stCxn id="5" idx="2"/>
            <a:endCxn id="8" idx="0"/>
          </p:cNvCxnSpPr>
          <p:nvPr/>
        </p:nvCxnSpPr>
        <p:spPr bwMode="auto">
          <a:xfrm>
            <a:off x="6132455" y="2804381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直線單箭頭接點 32"/>
          <p:cNvCxnSpPr>
            <a:endCxn id="13" idx="2"/>
          </p:cNvCxnSpPr>
          <p:nvPr/>
        </p:nvCxnSpPr>
        <p:spPr bwMode="auto">
          <a:xfrm flipV="1">
            <a:off x="6132455" y="5073915"/>
            <a:ext cx="0" cy="3743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直線單箭頭接點 35"/>
          <p:cNvCxnSpPr>
            <a:endCxn id="12" idx="3"/>
          </p:cNvCxnSpPr>
          <p:nvPr/>
        </p:nvCxnSpPr>
        <p:spPr bwMode="auto">
          <a:xfrm flipV="1">
            <a:off x="7193183" y="5216499"/>
            <a:ext cx="0" cy="3743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直線單箭頭接點 37"/>
          <p:cNvCxnSpPr>
            <a:endCxn id="8" idx="1"/>
          </p:cNvCxnSpPr>
          <p:nvPr/>
        </p:nvCxnSpPr>
        <p:spPr bwMode="auto">
          <a:xfrm flipV="1">
            <a:off x="5018029" y="341314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3596115" y="414750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 flipV="1">
            <a:off x="3596115" y="4409444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3592180" y="467138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 flipV="1">
            <a:off x="5021964" y="2029878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直線單箭頭接點 46"/>
          <p:cNvCxnSpPr/>
          <p:nvPr/>
        </p:nvCxnSpPr>
        <p:spPr bwMode="auto">
          <a:xfrm flipV="1">
            <a:off x="5021964" y="2291815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V="1">
            <a:off x="5018029" y="2553753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49" name="矩形 48"/>
          <p:cNvSpPr/>
          <p:nvPr/>
        </p:nvSpPr>
        <p:spPr>
          <a:xfrm>
            <a:off x="5085335" y="5579545"/>
            <a:ext cx="9765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pd_standby</a:t>
            </a:r>
            <a:endParaRPr lang="zh-TW" altLang="en-US" sz="1200" b="0" dirty="0"/>
          </a:p>
        </p:txBody>
      </p:sp>
      <p:cxnSp>
        <p:nvCxnSpPr>
          <p:cNvPr id="50" name="直線單箭頭接點 49"/>
          <p:cNvCxnSpPr/>
          <p:nvPr/>
        </p:nvCxnSpPr>
        <p:spPr bwMode="auto">
          <a:xfrm>
            <a:off x="5496194" y="5218106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矩形 50"/>
          <p:cNvSpPr/>
          <p:nvPr/>
        </p:nvSpPr>
        <p:spPr>
          <a:xfrm>
            <a:off x="4137252" y="3275438"/>
            <a:ext cx="940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pd_pwr_off</a:t>
            </a:r>
            <a:endParaRPr lang="en-US" altLang="zh-TW" sz="1200" b="0" dirty="0"/>
          </a:p>
        </p:txBody>
      </p:sp>
      <p:sp>
        <p:nvSpPr>
          <p:cNvPr id="54" name="矩形 53"/>
          <p:cNvSpPr/>
          <p:nvPr/>
        </p:nvSpPr>
        <p:spPr>
          <a:xfrm>
            <a:off x="5695476" y="5387310"/>
            <a:ext cx="873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pd_ret_en</a:t>
            </a:r>
            <a:endParaRPr lang="en-US" altLang="zh-TW" sz="1200" b="0" dirty="0"/>
          </a:p>
        </p:txBody>
      </p:sp>
      <p:sp>
        <p:nvSpPr>
          <p:cNvPr id="55" name="矩形 54"/>
          <p:cNvSpPr/>
          <p:nvPr/>
        </p:nvSpPr>
        <p:spPr>
          <a:xfrm>
            <a:off x="6793454" y="5537302"/>
            <a:ext cx="889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pd_iso_en</a:t>
            </a:r>
            <a:endParaRPr lang="en-US" altLang="zh-TW" sz="1200" b="0" dirty="0" smtClean="0"/>
          </a:p>
        </p:txBody>
      </p:sp>
      <p:cxnSp>
        <p:nvCxnSpPr>
          <p:cNvPr id="56" name="直線單箭頭接點 55"/>
          <p:cNvCxnSpPr/>
          <p:nvPr/>
        </p:nvCxnSpPr>
        <p:spPr bwMode="auto">
          <a:xfrm flipV="1">
            <a:off x="7018281" y="231560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3696722" y="1892961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63" name="矩形 62"/>
          <p:cNvSpPr/>
          <p:nvPr/>
        </p:nvSpPr>
        <p:spPr>
          <a:xfrm>
            <a:off x="7201616" y="2158995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pd_vol_stable</a:t>
            </a:r>
            <a:endParaRPr lang="en-US" altLang="zh-TW" sz="1200" b="0" dirty="0"/>
          </a:p>
        </p:txBody>
      </p:sp>
      <p:sp>
        <p:nvSpPr>
          <p:cNvPr id="64" name="矩形 63"/>
          <p:cNvSpPr/>
          <p:nvPr/>
        </p:nvSpPr>
        <p:spPr>
          <a:xfrm>
            <a:off x="3689021" y="215266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65" name="矩形 64"/>
          <p:cNvSpPr/>
          <p:nvPr/>
        </p:nvSpPr>
        <p:spPr>
          <a:xfrm>
            <a:off x="3693167" y="2415253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66" name="矩形 65"/>
          <p:cNvSpPr/>
          <p:nvPr/>
        </p:nvSpPr>
        <p:spPr>
          <a:xfrm>
            <a:off x="2274892" y="4012664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67" name="矩形 66"/>
          <p:cNvSpPr/>
          <p:nvPr/>
        </p:nvSpPr>
        <p:spPr>
          <a:xfrm>
            <a:off x="2267191" y="4272372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68" name="矩形 67"/>
          <p:cNvSpPr/>
          <p:nvPr/>
        </p:nvSpPr>
        <p:spPr>
          <a:xfrm>
            <a:off x="2271337" y="4534956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69" name="矩形 68"/>
          <p:cNvSpPr/>
          <p:nvPr/>
        </p:nvSpPr>
        <p:spPr>
          <a:xfrm>
            <a:off x="4164663" y="4098929"/>
            <a:ext cx="7553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core_clk</a:t>
            </a:r>
            <a:endParaRPr lang="zh-TW" altLang="en-US" sz="1200" b="0" dirty="0"/>
          </a:p>
        </p:txBody>
      </p:sp>
      <p:sp>
        <p:nvSpPr>
          <p:cNvPr id="71" name="矩形 70"/>
          <p:cNvSpPr/>
          <p:nvPr/>
        </p:nvSpPr>
        <p:spPr>
          <a:xfrm>
            <a:off x="5678918" y="2882812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vout</a:t>
            </a:r>
            <a:endParaRPr lang="zh-TW" altLang="en-US" sz="1200" b="0" dirty="0"/>
          </a:p>
        </p:txBody>
      </p:sp>
      <p:sp>
        <p:nvSpPr>
          <p:cNvPr id="57" name="矩形 56"/>
          <p:cNvSpPr/>
          <p:nvPr/>
        </p:nvSpPr>
        <p:spPr bwMode="auto">
          <a:xfrm>
            <a:off x="5459218" y="4375928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SRAM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327085" y="4820054"/>
            <a:ext cx="1771652" cy="37153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SMU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327085" y="2327029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PLIC</a:t>
            </a:r>
          </a:p>
        </p:txBody>
      </p:sp>
      <p:sp>
        <p:nvSpPr>
          <p:cNvPr id="77" name="矩形 76"/>
          <p:cNvSpPr/>
          <p:nvPr/>
        </p:nvSpPr>
        <p:spPr bwMode="auto">
          <a:xfrm>
            <a:off x="327085" y="1809568"/>
            <a:ext cx="1771652" cy="37153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PLMT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327085" y="5355358"/>
            <a:ext cx="1771652" cy="3655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Debug System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674" y="5754258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2314173" y="5759864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5717480" y="5752749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 (</a:t>
            </a:r>
            <a:r>
              <a:rPr lang="en-US" altLang="zh-TW" dirty="0" err="1" smtClean="0"/>
              <a:t>cpu_core_top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 bwMode="auto">
          <a:xfrm>
            <a:off x="327085" y="2838518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Software PLIC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327085" y="4290724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RTC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47675" y="3781831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 bwMode="auto">
          <a:xfrm>
            <a:off x="330240" y="3350007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AXI</a:t>
            </a:r>
          </a:p>
        </p:txBody>
      </p:sp>
      <p:cxnSp>
        <p:nvCxnSpPr>
          <p:cNvPr id="81" name="直線單箭頭接點 80"/>
          <p:cNvCxnSpPr/>
          <p:nvPr/>
        </p:nvCxnSpPr>
        <p:spPr bwMode="auto">
          <a:xfrm flipV="1">
            <a:off x="4021376" y="3265927"/>
            <a:ext cx="0" cy="321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矩形 81"/>
          <p:cNvSpPr/>
          <p:nvPr/>
        </p:nvSpPr>
        <p:spPr>
          <a:xfrm>
            <a:off x="3450234" y="3037189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pd_clk_stable</a:t>
            </a:r>
            <a:endParaRPr lang="en-US" altLang="zh-TW" sz="1200" b="0" dirty="0"/>
          </a:p>
        </p:txBody>
      </p:sp>
      <p:sp>
        <p:nvSpPr>
          <p:cNvPr id="83" name="矩形 82"/>
          <p:cNvSpPr/>
          <p:nvPr/>
        </p:nvSpPr>
        <p:spPr bwMode="auto">
          <a:xfrm rot="5400000">
            <a:off x="4235474" y="4206746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Clock </a:t>
            </a:r>
            <a:r>
              <a:rPr lang="en-US" altLang="zh-TW" dirty="0" smtClean="0"/>
              <a:t>switch</a:t>
            </a:r>
            <a:endParaRPr kumimoji="0" lang="zh-TW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84" name="直線單箭頭接點 83"/>
          <p:cNvCxnSpPr/>
          <p:nvPr/>
        </p:nvCxnSpPr>
        <p:spPr bwMode="auto">
          <a:xfrm flipV="1">
            <a:off x="5049863" y="5200118"/>
            <a:ext cx="0" cy="1552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矩形 84"/>
          <p:cNvSpPr/>
          <p:nvPr/>
        </p:nvSpPr>
        <p:spPr>
          <a:xfrm>
            <a:off x="4599332" y="5309246"/>
            <a:ext cx="8819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pd_clk_en</a:t>
            </a:r>
            <a:endParaRPr lang="en-US" altLang="zh-TW" sz="1200" b="0" dirty="0" smtClean="0"/>
          </a:p>
        </p:txBody>
      </p:sp>
    </p:spTree>
    <p:extLst>
      <p:ext uri="{BB962C8B-B14F-4D97-AF65-F5344CB8AC3E}">
        <p14:creationId xmlns:p14="http://schemas.microsoft.com/office/powerpoint/2010/main" val="39575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block diagram for power domain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4" t="5170" r="57059" b="2266"/>
          <a:stretch/>
        </p:blipFill>
        <p:spPr bwMode="auto">
          <a:xfrm>
            <a:off x="2433659" y="921660"/>
            <a:ext cx="4767261" cy="5614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69517" y="1386619"/>
            <a:ext cx="2311733" cy="37493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9516" y="1017287"/>
            <a:ext cx="2311734" cy="369332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9517" y="1761556"/>
            <a:ext cx="2311733" cy="363727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9517" y="2125284"/>
            <a:ext cx="2311733" cy="369332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9517" y="1392224"/>
            <a:ext cx="2311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9516" y="1761556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9517" y="212528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9516" y="101728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 bwMode="auto">
          <a:xfrm>
            <a:off x="2459822" y="921660"/>
            <a:ext cx="4657258" cy="5588980"/>
          </a:xfrm>
          <a:prstGeom prst="rect">
            <a:avLst/>
          </a:prstGeom>
          <a:solidFill>
            <a:srgbClr val="D9F090">
              <a:alpha val="2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4010025" y="5350669"/>
            <a:ext cx="674687" cy="214311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278346" y="5350669"/>
            <a:ext cx="674687" cy="214311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847976" y="2174083"/>
            <a:ext cx="502444" cy="231117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559477" y="1576890"/>
            <a:ext cx="3168983" cy="1882590"/>
          </a:xfrm>
          <a:prstGeom prst="rect">
            <a:avLst/>
          </a:prstGeom>
          <a:solidFill>
            <a:schemeClr val="tx2">
              <a:lumMod val="25000"/>
              <a:lumOff val="75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12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status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0x0:ST_ACTIVE</a:t>
            </a:r>
          </a:p>
          <a:p>
            <a:r>
              <a:rPr lang="en-US" altLang="zh-TW" dirty="0" smtClean="0"/>
              <a:t>0x1:ST_DVFS</a:t>
            </a:r>
          </a:p>
          <a:p>
            <a:r>
              <a:rPr lang="en-US" altLang="zh-TW" dirty="0" smtClean="0"/>
              <a:t>0x2:ST_ISOLATION</a:t>
            </a:r>
          </a:p>
          <a:p>
            <a:r>
              <a:rPr lang="en-US" altLang="zh-TW" dirty="0" smtClean="0"/>
              <a:t>0x3:ST_RETENTION</a:t>
            </a:r>
          </a:p>
          <a:p>
            <a:r>
              <a:rPr lang="en-US" altLang="zh-TW" dirty="0" smtClean="0"/>
              <a:t>0x4:ST_LIGHTSLEEP</a:t>
            </a:r>
          </a:p>
          <a:p>
            <a:r>
              <a:rPr lang="en-US" altLang="zh-TW" dirty="0" smtClean="0"/>
              <a:t>0x5:ST_DEEPSLEEP</a:t>
            </a:r>
          </a:p>
        </p:txBody>
      </p:sp>
    </p:spTree>
    <p:extLst>
      <p:ext uri="{BB962C8B-B14F-4D97-AF65-F5344CB8AC3E}">
        <p14:creationId xmlns:p14="http://schemas.microsoft.com/office/powerpoint/2010/main" val="219562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1154117" y="3001765"/>
            <a:ext cx="1647730" cy="1285592"/>
            <a:chOff x="3690430" y="1014104"/>
            <a:chExt cx="1647730" cy="1285592"/>
          </a:xfrm>
        </p:grpSpPr>
        <p:sp>
          <p:nvSpPr>
            <p:cNvPr id="4" name="橢圓 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3872898" y="1491284"/>
              <a:ext cx="130997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ST_ACTIVE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2932273" y="3001765"/>
            <a:ext cx="1739495" cy="1285592"/>
            <a:chOff x="3690430" y="1014104"/>
            <a:chExt cx="1739495" cy="1285592"/>
          </a:xfrm>
        </p:grpSpPr>
        <p:sp>
          <p:nvSpPr>
            <p:cNvPr id="8" name="橢圓 7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768123" y="1472234"/>
              <a:ext cx="166180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ST_ISOLATION</a:t>
              </a: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802193" y="3001765"/>
            <a:ext cx="1742785" cy="1285592"/>
            <a:chOff x="3682398" y="1014104"/>
            <a:chExt cx="1742785" cy="1285592"/>
          </a:xfrm>
        </p:grpSpPr>
        <p:sp>
          <p:nvSpPr>
            <p:cNvPr id="11" name="橢圓 10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682398" y="1472234"/>
              <a:ext cx="17427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ST_RETENTION</a:t>
              </a: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055294" y="958433"/>
            <a:ext cx="1845377" cy="1285592"/>
            <a:chOff x="3615723" y="1014104"/>
            <a:chExt cx="1845377" cy="1285592"/>
          </a:xfrm>
        </p:grpSpPr>
        <p:sp>
          <p:nvSpPr>
            <p:cNvPr id="14" name="橢圓 1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15723" y="1500809"/>
              <a:ext cx="18453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ST_LIGHTSLEEP</a:t>
              </a:r>
              <a:endParaRPr lang="en-US" altLang="zh-TW" sz="1600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6559098" y="3001765"/>
            <a:ext cx="1786066" cy="1285592"/>
            <a:chOff x="3625248" y="1014104"/>
            <a:chExt cx="1786066" cy="1285592"/>
          </a:xfrm>
        </p:grpSpPr>
        <p:sp>
          <p:nvSpPr>
            <p:cNvPr id="17" name="橢圓 16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3625248" y="1472234"/>
              <a:ext cx="17860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ST_DEEPSLEEP</a:t>
              </a: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1154117" y="5139070"/>
            <a:ext cx="1647730" cy="1285592"/>
            <a:chOff x="3690430" y="1014104"/>
            <a:chExt cx="1647730" cy="1285592"/>
          </a:xfrm>
        </p:grpSpPr>
        <p:sp>
          <p:nvSpPr>
            <p:cNvPr id="20" name="橢圓 19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3958623" y="1491284"/>
              <a:ext cx="110479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ST_DVFS</a:t>
              </a:r>
              <a:endParaRPr lang="zh-TW" altLang="en-US" sz="1600" dirty="0"/>
            </a:p>
          </p:txBody>
        </p:sp>
      </p:grpSp>
      <p:sp>
        <p:nvSpPr>
          <p:cNvPr id="32" name="弧形 31"/>
          <p:cNvSpPr/>
          <p:nvPr/>
        </p:nvSpPr>
        <p:spPr bwMode="auto">
          <a:xfrm rot="5024736">
            <a:off x="2616883" y="2928026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弧形 32"/>
          <p:cNvSpPr/>
          <p:nvPr/>
        </p:nvSpPr>
        <p:spPr bwMode="auto">
          <a:xfrm rot="5024736">
            <a:off x="4432552" y="2995015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弧形 33"/>
          <p:cNvSpPr/>
          <p:nvPr/>
        </p:nvSpPr>
        <p:spPr bwMode="auto">
          <a:xfrm rot="15524233">
            <a:off x="2634189" y="383424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弧形 35"/>
          <p:cNvSpPr/>
          <p:nvPr/>
        </p:nvSpPr>
        <p:spPr bwMode="auto">
          <a:xfrm rot="15524233">
            <a:off x="4449858" y="379537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7" name="直線單箭頭接點 36"/>
          <p:cNvCxnSpPr/>
          <p:nvPr/>
        </p:nvCxnSpPr>
        <p:spPr bwMode="auto">
          <a:xfrm>
            <a:off x="1746161" y="4370101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直線單箭頭接點 37"/>
          <p:cNvCxnSpPr/>
          <p:nvPr/>
        </p:nvCxnSpPr>
        <p:spPr bwMode="auto">
          <a:xfrm>
            <a:off x="2184311" y="4358225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41" name="文字方塊 40"/>
          <p:cNvSpPr txBox="1"/>
          <p:nvPr/>
        </p:nvSpPr>
        <p:spPr>
          <a:xfrm>
            <a:off x="2292698" y="2580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pd_standby</a:t>
            </a:r>
            <a:r>
              <a:rPr lang="en-US" altLang="zh-TW" sz="1000" dirty="0" smtClean="0"/>
              <a:t>==1&amp;&amp;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==DEEPSLEEP</a:t>
            </a:r>
            <a:endParaRPr lang="zh-TW" altLang="en-US" sz="10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163221" y="4766976"/>
            <a:ext cx="1627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</a:t>
            </a:r>
            <a:r>
              <a:rPr lang="en-US" altLang="zh-TW" sz="1000" dirty="0" err="1" smtClean="0"/>
              <a:t>d_all_lightsleep</a:t>
            </a:r>
            <a:r>
              <a:rPr lang="en-US" altLang="zh-TW" sz="1000" dirty="0" smtClean="0"/>
              <a:t>==</a:t>
            </a:r>
            <a:r>
              <a:rPr lang="en-US" altLang="zh-TW" sz="1000" dirty="0" smtClean="0"/>
              <a:t>1&amp;&amp;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==DVFS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2165633" y="4731634"/>
            <a:ext cx="3347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pd_frq_scale_ack</a:t>
            </a:r>
            <a:r>
              <a:rPr lang="en-US" altLang="zh-TW" sz="1000" dirty="0" smtClean="0"/>
              <a:t> </a:t>
            </a:r>
            <a:r>
              <a:rPr lang="en-US" altLang="zh-TW" sz="1000" dirty="0" smtClean="0"/>
              <a:t>if</a:t>
            </a:r>
            <a:r>
              <a:rPr lang="en-US" altLang="zh-TW" sz="1000" dirty="0" smtClean="0"/>
              <a:t> (</a:t>
            </a:r>
            <a:r>
              <a:rPr lang="en-US" altLang="zh-TW" sz="1000" dirty="0" err="1" smtClean="0"/>
              <a:t>new_</a:t>
            </a:r>
            <a:r>
              <a:rPr lang="en-US" altLang="zh-TW" sz="1000" dirty="0" err="1" smtClean="0"/>
              <a:t>frq_scale</a:t>
            </a:r>
            <a:r>
              <a:rPr lang="en-US" altLang="zh-TW" sz="1000" dirty="0" smtClean="0"/>
              <a:t>!=</a:t>
            </a:r>
            <a:r>
              <a:rPr lang="en-US" altLang="zh-TW" sz="1000" dirty="0" err="1" smtClean="0"/>
              <a:t>old_</a:t>
            </a:r>
            <a:r>
              <a:rPr lang="en-US" altLang="zh-TW" sz="1000" dirty="0" err="1"/>
              <a:t>frq_scale</a:t>
            </a:r>
            <a:r>
              <a:rPr lang="en-US" altLang="zh-TW" sz="1000" dirty="0" smtClean="0"/>
              <a:t>)</a:t>
            </a:r>
            <a:endParaRPr lang="en-US" altLang="zh-TW" sz="1000" dirty="0" smtClean="0"/>
          </a:p>
          <a:p>
            <a:r>
              <a:rPr lang="en-US" altLang="zh-TW" sz="1000" dirty="0" err="1" smtClean="0"/>
              <a:t>pd_vol_scale_ack</a:t>
            </a:r>
            <a:r>
              <a:rPr lang="en-US" altLang="zh-TW" sz="1000" dirty="0" smtClean="0"/>
              <a:t> if (</a:t>
            </a:r>
            <a:r>
              <a:rPr lang="en-US" altLang="zh-TW" sz="1000" dirty="0" err="1" smtClean="0"/>
              <a:t>new_vol_scale</a:t>
            </a:r>
            <a:r>
              <a:rPr lang="en-US" altLang="zh-TW" sz="1000" dirty="0"/>
              <a:t>!=</a:t>
            </a:r>
            <a:r>
              <a:rPr lang="en-US" altLang="zh-TW" sz="1000" dirty="0" err="1" smtClean="0"/>
              <a:t>old_vol_scale</a:t>
            </a:r>
            <a:r>
              <a:rPr lang="en-US" altLang="zh-TW" sz="1000" dirty="0" smtClean="0"/>
              <a:t>)</a:t>
            </a:r>
            <a:endParaRPr lang="en-US" altLang="zh-TW" sz="1000" dirty="0"/>
          </a:p>
        </p:txBody>
      </p:sp>
      <p:sp>
        <p:nvSpPr>
          <p:cNvPr id="46" name="矩形 45"/>
          <p:cNvSpPr/>
          <p:nvPr/>
        </p:nvSpPr>
        <p:spPr>
          <a:xfrm>
            <a:off x="391788" y="2190050"/>
            <a:ext cx="14013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pd_standby</a:t>
            </a:r>
            <a:r>
              <a:rPr lang="en-US" altLang="zh-TW" sz="1000" dirty="0" smtClean="0"/>
              <a:t>==</a:t>
            </a:r>
            <a:r>
              <a:rPr lang="en-US" altLang="zh-TW" sz="1000" dirty="0"/>
              <a:t>1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==LIGHTSLEEP</a:t>
            </a:r>
            <a:endParaRPr lang="zh-TW" altLang="en-US" sz="1000" dirty="0"/>
          </a:p>
        </p:txBody>
      </p:sp>
      <p:sp>
        <p:nvSpPr>
          <p:cNvPr id="47" name="矩形 46"/>
          <p:cNvSpPr/>
          <p:nvPr/>
        </p:nvSpPr>
        <p:spPr>
          <a:xfrm>
            <a:off x="5938461" y="2775798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ret_cyc</a:t>
            </a:r>
            <a:endParaRPr lang="zh-TW" altLang="en-US" sz="1000" dirty="0"/>
          </a:p>
        </p:txBody>
      </p:sp>
      <p:sp>
        <p:nvSpPr>
          <p:cNvPr id="50" name="矩形 49"/>
          <p:cNvSpPr/>
          <p:nvPr/>
        </p:nvSpPr>
        <p:spPr>
          <a:xfrm>
            <a:off x="4053322" y="2772773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1" name="矩形 50"/>
          <p:cNvSpPr/>
          <p:nvPr/>
        </p:nvSpPr>
        <p:spPr>
          <a:xfrm>
            <a:off x="2308472" y="4277918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2" name="矩形 51"/>
          <p:cNvSpPr/>
          <p:nvPr/>
        </p:nvSpPr>
        <p:spPr>
          <a:xfrm>
            <a:off x="4063741" y="4262231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/>
              <a:t>counter&gt;=</a:t>
            </a:r>
            <a:r>
              <a:rPr lang="en-US" altLang="zh-TW" sz="1000" dirty="0" err="1"/>
              <a:t>ret_cyc</a:t>
            </a:r>
            <a:endParaRPr lang="zh-TW" altLang="en-US" sz="1000" dirty="0"/>
          </a:p>
        </p:txBody>
      </p:sp>
      <p:cxnSp>
        <p:nvCxnSpPr>
          <p:cNvPr id="44" name="直線單箭頭接點 43"/>
          <p:cNvCxnSpPr/>
          <p:nvPr/>
        </p:nvCxnSpPr>
        <p:spPr bwMode="auto">
          <a:xfrm>
            <a:off x="1728992" y="2319272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>
            <a:off x="2167142" y="2307396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3" name="文字方塊 52"/>
          <p:cNvSpPr txBox="1"/>
          <p:nvPr/>
        </p:nvSpPr>
        <p:spPr>
          <a:xfrm>
            <a:off x="2113747" y="2170268"/>
            <a:ext cx="2424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(</a:t>
            </a:r>
            <a:r>
              <a:rPr lang="en-US" altLang="zh-TW" sz="1000" dirty="0" err="1" smtClean="0"/>
              <a:t>pd_wakeup_event</a:t>
            </a:r>
            <a:r>
              <a:rPr lang="en-US" altLang="zh-TW" sz="1000" dirty="0" smtClean="0"/>
              <a:t>||</a:t>
            </a:r>
            <a:r>
              <a:rPr lang="en-US" altLang="zh-TW" sz="1000" dirty="0" err="1" smtClean="0"/>
              <a:t>pd_debugint</a:t>
            </a:r>
            <a:r>
              <a:rPr lang="en-US" altLang="zh-TW" sz="1000" dirty="0" smtClean="0"/>
              <a:t>)&amp;&amp;</a:t>
            </a:r>
          </a:p>
          <a:p>
            <a:r>
              <a:rPr lang="en-US" altLang="zh-TW" sz="1000" dirty="0" err="1" smtClean="0"/>
              <a:t>pd_clk_stable</a:t>
            </a:r>
            <a:endParaRPr lang="en-US" altLang="zh-TW" sz="1000" dirty="0"/>
          </a:p>
        </p:txBody>
      </p:sp>
      <p:sp>
        <p:nvSpPr>
          <p:cNvPr id="54" name="弧形 53"/>
          <p:cNvSpPr/>
          <p:nvPr/>
        </p:nvSpPr>
        <p:spPr bwMode="auto">
          <a:xfrm rot="5024736">
            <a:off x="6288456" y="299501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弧形 54"/>
          <p:cNvSpPr/>
          <p:nvPr/>
        </p:nvSpPr>
        <p:spPr bwMode="auto">
          <a:xfrm rot="15524233">
            <a:off x="6305762" y="3795373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9823" y="4262979"/>
            <a:ext cx="2396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(</a:t>
            </a:r>
            <a:r>
              <a:rPr lang="en-US" altLang="zh-TW" sz="1000" dirty="0" err="1"/>
              <a:t>pd_wakeup_event</a:t>
            </a:r>
            <a:r>
              <a:rPr lang="en-US" altLang="zh-TW" sz="1000" dirty="0"/>
              <a:t>||</a:t>
            </a:r>
            <a:r>
              <a:rPr lang="en-US" altLang="zh-TW" sz="1000" dirty="0" err="1"/>
              <a:t>pd_debugint</a:t>
            </a:r>
            <a:r>
              <a:rPr lang="en-US" altLang="zh-TW" sz="1000" dirty="0"/>
              <a:t>)&amp;&amp;</a:t>
            </a:r>
          </a:p>
          <a:p>
            <a:r>
              <a:rPr lang="en-US" altLang="zh-TW" sz="1000" dirty="0" err="1" smtClean="0"/>
              <a:t>pd_pwr_stable</a:t>
            </a:r>
            <a:endParaRPr lang="en-US" altLang="zh-TW" sz="1000" dirty="0"/>
          </a:p>
        </p:txBody>
      </p:sp>
    </p:spTree>
    <p:extLst>
      <p:ext uri="{BB962C8B-B14F-4D97-AF65-F5344CB8AC3E}">
        <p14:creationId xmlns:p14="http://schemas.microsoft.com/office/powerpoint/2010/main" val="103851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with Core control and status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154117" y="3001765"/>
            <a:ext cx="1647730" cy="1285592"/>
            <a:chOff x="3690430" y="1014104"/>
            <a:chExt cx="1647730" cy="1285592"/>
          </a:xfrm>
        </p:grpSpPr>
        <p:sp>
          <p:nvSpPr>
            <p:cNvPr id="5" name="橢圓 4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872898" y="1491284"/>
              <a:ext cx="130997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ST_ACTIVE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2932273" y="3001765"/>
            <a:ext cx="1739495" cy="1285592"/>
            <a:chOff x="3690430" y="1014104"/>
            <a:chExt cx="1739495" cy="1285592"/>
          </a:xfrm>
        </p:grpSpPr>
        <p:sp>
          <p:nvSpPr>
            <p:cNvPr id="8" name="橢圓 7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768123" y="1472234"/>
              <a:ext cx="166180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ST_ISOLATION</a:t>
              </a: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802193" y="3001765"/>
            <a:ext cx="1742785" cy="1285592"/>
            <a:chOff x="3682398" y="1014104"/>
            <a:chExt cx="1742785" cy="1285592"/>
          </a:xfrm>
        </p:grpSpPr>
        <p:sp>
          <p:nvSpPr>
            <p:cNvPr id="11" name="橢圓 10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682398" y="1472234"/>
              <a:ext cx="17427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ST_RETENTION</a:t>
              </a: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055294" y="958433"/>
            <a:ext cx="1845377" cy="1285592"/>
            <a:chOff x="3615723" y="1014104"/>
            <a:chExt cx="1845377" cy="1285592"/>
          </a:xfrm>
        </p:grpSpPr>
        <p:sp>
          <p:nvSpPr>
            <p:cNvPr id="14" name="橢圓 1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15723" y="1500809"/>
              <a:ext cx="18453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ST_LIGHTSLEEP</a:t>
              </a:r>
              <a:endParaRPr lang="en-US" altLang="zh-TW" sz="1600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6559098" y="3001765"/>
            <a:ext cx="1786066" cy="1285592"/>
            <a:chOff x="3625248" y="1014104"/>
            <a:chExt cx="1786066" cy="1285592"/>
          </a:xfrm>
        </p:grpSpPr>
        <p:sp>
          <p:nvSpPr>
            <p:cNvPr id="17" name="橢圓 16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3625248" y="1472234"/>
              <a:ext cx="17860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ST_DEEPSLEEP</a:t>
              </a: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1154117" y="5139070"/>
            <a:ext cx="1647730" cy="1285592"/>
            <a:chOff x="3690430" y="1014104"/>
            <a:chExt cx="1647730" cy="1285592"/>
          </a:xfrm>
        </p:grpSpPr>
        <p:sp>
          <p:nvSpPr>
            <p:cNvPr id="20" name="橢圓 19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3958623" y="1491284"/>
              <a:ext cx="110479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ST_DVFS</a:t>
              </a:r>
              <a:endParaRPr lang="zh-TW" altLang="en-US" sz="1600" dirty="0"/>
            </a:p>
          </p:txBody>
        </p:sp>
      </p:grpSp>
      <p:sp>
        <p:nvSpPr>
          <p:cNvPr id="22" name="弧形 21"/>
          <p:cNvSpPr/>
          <p:nvPr/>
        </p:nvSpPr>
        <p:spPr bwMode="auto">
          <a:xfrm rot="5024736">
            <a:off x="2616883" y="2928026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弧形 22"/>
          <p:cNvSpPr/>
          <p:nvPr/>
        </p:nvSpPr>
        <p:spPr bwMode="auto">
          <a:xfrm rot="5024736">
            <a:off x="4432552" y="2995015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弧形 23"/>
          <p:cNvSpPr/>
          <p:nvPr/>
        </p:nvSpPr>
        <p:spPr bwMode="auto">
          <a:xfrm rot="15524233">
            <a:off x="2634189" y="383424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弧形 24"/>
          <p:cNvSpPr/>
          <p:nvPr/>
        </p:nvSpPr>
        <p:spPr bwMode="auto">
          <a:xfrm rot="15524233">
            <a:off x="4449858" y="379537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>
            <a:off x="1746161" y="4370101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直線單箭頭接點 26"/>
          <p:cNvCxnSpPr/>
          <p:nvPr/>
        </p:nvCxnSpPr>
        <p:spPr bwMode="auto">
          <a:xfrm>
            <a:off x="2184311" y="4358225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6" name="直線單箭頭接點 35"/>
          <p:cNvCxnSpPr/>
          <p:nvPr/>
        </p:nvCxnSpPr>
        <p:spPr bwMode="auto">
          <a:xfrm>
            <a:off x="1728992" y="2319272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7" name="直線單箭頭接點 36"/>
          <p:cNvCxnSpPr/>
          <p:nvPr/>
        </p:nvCxnSpPr>
        <p:spPr bwMode="auto">
          <a:xfrm>
            <a:off x="2167142" y="2307396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弧形 38"/>
          <p:cNvSpPr/>
          <p:nvPr/>
        </p:nvSpPr>
        <p:spPr bwMode="auto">
          <a:xfrm rot="5024736">
            <a:off x="6288456" y="299501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弧形 39"/>
          <p:cNvSpPr/>
          <p:nvPr/>
        </p:nvSpPr>
        <p:spPr bwMode="auto">
          <a:xfrm rot="15524233">
            <a:off x="6305762" y="3795373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675141" y="4349881"/>
            <a:ext cx="189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core_resetn</a:t>
            </a:r>
            <a:r>
              <a:rPr lang="en-US" altLang="zh-TW" sz="1200" dirty="0" smtClean="0"/>
              <a:t> is asserted</a:t>
            </a:r>
          </a:p>
          <a:p>
            <a:r>
              <a:rPr lang="en-US" altLang="zh-TW" sz="1200" dirty="0" err="1" smtClean="0"/>
              <a:t>cmd</a:t>
            </a:r>
            <a:r>
              <a:rPr lang="en-US" altLang="zh-TW" sz="1200" dirty="0" smtClean="0"/>
              <a:t> is cleared</a:t>
            </a:r>
            <a:endParaRPr lang="zh-TW" altLang="en-US" sz="12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87196" y="4780727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core is in WFI mode</a:t>
            </a:r>
            <a:endParaRPr lang="zh-TW" altLang="en-US" sz="12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346399" y="2666411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core is in WFI mode</a:t>
            </a:r>
            <a:endParaRPr lang="zh-TW" altLang="en-US" sz="12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04365" y="2204945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core is in WFI mode</a:t>
            </a:r>
            <a:endParaRPr lang="zh-TW" altLang="en-US" sz="12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2280006" y="4349880"/>
            <a:ext cx="2129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core_resetn</a:t>
            </a:r>
            <a:r>
              <a:rPr lang="en-US" altLang="zh-TW" sz="1200" dirty="0" smtClean="0"/>
              <a:t> is de-asserted</a:t>
            </a:r>
            <a:endParaRPr lang="zh-TW" altLang="en-US" sz="1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2184311" y="4760362"/>
            <a:ext cx="2309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/>
              <a:t>cmd</a:t>
            </a:r>
            <a:r>
              <a:rPr lang="en-US" altLang="zh-TW" sz="1200" dirty="0"/>
              <a:t> is </a:t>
            </a:r>
            <a:r>
              <a:rPr lang="en-US" altLang="zh-TW" sz="1200" dirty="0" smtClean="0"/>
              <a:t>cleared</a:t>
            </a:r>
            <a:endParaRPr lang="en-US" altLang="zh-TW" sz="1200" dirty="0" smtClean="0"/>
          </a:p>
          <a:p>
            <a:r>
              <a:rPr lang="en-US" altLang="zh-TW" sz="1200" dirty="0" smtClean="0"/>
              <a:t>Option</a:t>
            </a:r>
            <a:r>
              <a:rPr lang="en-US" altLang="zh-TW" sz="1200" dirty="0" smtClean="0"/>
              <a:t>: Assert SMU </a:t>
            </a:r>
            <a:r>
              <a:rPr lang="en-US" altLang="zh-TW" sz="1200" dirty="0" smtClean="0"/>
              <a:t>interrupt</a:t>
            </a:r>
            <a:endParaRPr lang="en-US" altLang="zh-TW" sz="1200" dirty="0" smtClean="0"/>
          </a:p>
        </p:txBody>
      </p:sp>
      <p:sp>
        <p:nvSpPr>
          <p:cNvPr id="50" name="矩形 49"/>
          <p:cNvSpPr/>
          <p:nvPr/>
        </p:nvSpPr>
        <p:spPr>
          <a:xfrm>
            <a:off x="6937428" y="3703097"/>
            <a:ext cx="10214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pd_pwr_off</a:t>
            </a:r>
            <a:r>
              <a:rPr lang="en-US" altLang="zh-TW" sz="1000" dirty="0" smtClean="0"/>
              <a:t>=1</a:t>
            </a:r>
          </a:p>
          <a:p>
            <a:r>
              <a:rPr lang="en-US" altLang="zh-TW" sz="1000" dirty="0" err="1" smtClean="0"/>
              <a:t>pd_clk_off</a:t>
            </a:r>
            <a:r>
              <a:rPr lang="en-US" altLang="zh-TW" sz="1000" dirty="0" smtClean="0"/>
              <a:t>=1</a:t>
            </a:r>
            <a:endParaRPr lang="en-US" altLang="zh-TW" sz="1000" dirty="0" smtClean="0"/>
          </a:p>
        </p:txBody>
      </p:sp>
      <p:sp>
        <p:nvSpPr>
          <p:cNvPr id="52" name="矩形 51"/>
          <p:cNvSpPr/>
          <p:nvPr/>
        </p:nvSpPr>
        <p:spPr>
          <a:xfrm>
            <a:off x="6937965" y="3120888"/>
            <a:ext cx="9621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pd_iso_en</a:t>
            </a:r>
            <a:r>
              <a:rPr lang="en-US" altLang="zh-TW" sz="1000" dirty="0" smtClean="0"/>
              <a:t>=1</a:t>
            </a:r>
          </a:p>
          <a:p>
            <a:r>
              <a:rPr lang="en-US" altLang="zh-TW" sz="1000" dirty="0" err="1" smtClean="0"/>
              <a:t>pd_ret_en</a:t>
            </a:r>
            <a:r>
              <a:rPr lang="en-US" altLang="zh-TW" sz="1000" dirty="0" smtClean="0"/>
              <a:t>=1</a:t>
            </a:r>
            <a:endParaRPr lang="zh-TW" altLang="en-US" sz="1000" dirty="0"/>
          </a:p>
        </p:txBody>
      </p:sp>
      <p:sp>
        <p:nvSpPr>
          <p:cNvPr id="53" name="矩形 52"/>
          <p:cNvSpPr/>
          <p:nvPr/>
        </p:nvSpPr>
        <p:spPr>
          <a:xfrm>
            <a:off x="3275076" y="3065649"/>
            <a:ext cx="9621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pd_iso_en</a:t>
            </a:r>
            <a:r>
              <a:rPr lang="en-US" altLang="zh-TW" sz="1000" dirty="0" smtClean="0"/>
              <a:t>=1</a:t>
            </a:r>
            <a:endParaRPr lang="zh-TW" altLang="en-US" sz="1000" dirty="0"/>
          </a:p>
        </p:txBody>
      </p:sp>
      <p:sp>
        <p:nvSpPr>
          <p:cNvPr id="54" name="矩形 53"/>
          <p:cNvSpPr/>
          <p:nvPr/>
        </p:nvSpPr>
        <p:spPr>
          <a:xfrm>
            <a:off x="5183502" y="3120302"/>
            <a:ext cx="9621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pd_iso_en</a:t>
            </a:r>
            <a:r>
              <a:rPr lang="en-US" altLang="zh-TW" sz="1000" dirty="0" smtClean="0"/>
              <a:t>=1</a:t>
            </a:r>
          </a:p>
          <a:p>
            <a:r>
              <a:rPr lang="en-US" altLang="zh-TW" sz="1000" dirty="0" err="1" smtClean="0"/>
              <a:t>pd_ret_en</a:t>
            </a:r>
            <a:r>
              <a:rPr lang="en-US" altLang="zh-TW" sz="1000" dirty="0" smtClean="0"/>
              <a:t>=1</a:t>
            </a:r>
            <a:endParaRPr lang="zh-TW" altLang="en-US" sz="1000" dirty="0"/>
          </a:p>
        </p:txBody>
      </p:sp>
      <p:sp>
        <p:nvSpPr>
          <p:cNvPr id="57" name="矩形 56"/>
          <p:cNvSpPr/>
          <p:nvPr/>
        </p:nvSpPr>
        <p:spPr>
          <a:xfrm>
            <a:off x="2151598" y="2206182"/>
            <a:ext cx="12522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err="1"/>
              <a:t>cmd</a:t>
            </a:r>
            <a:r>
              <a:rPr lang="en-US" altLang="zh-TW" sz="1200" dirty="0"/>
              <a:t> is cleared</a:t>
            </a:r>
            <a:endParaRPr lang="zh-TW" altLang="en-US" sz="1200" dirty="0"/>
          </a:p>
        </p:txBody>
      </p:sp>
      <p:sp>
        <p:nvSpPr>
          <p:cNvPr id="46" name="矩形 45"/>
          <p:cNvSpPr/>
          <p:nvPr/>
        </p:nvSpPr>
        <p:spPr>
          <a:xfrm>
            <a:off x="1468797" y="1043677"/>
            <a:ext cx="9701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pd_clk_off</a:t>
            </a:r>
            <a:r>
              <a:rPr lang="en-US" altLang="zh-TW" sz="1000" dirty="0" smtClean="0"/>
              <a:t>=1</a:t>
            </a:r>
            <a:endParaRPr lang="en-US" altLang="zh-TW" sz="1000" dirty="0" smtClean="0"/>
          </a:p>
        </p:txBody>
      </p:sp>
      <p:sp>
        <p:nvSpPr>
          <p:cNvPr id="49" name="矩形 48"/>
          <p:cNvSpPr/>
          <p:nvPr/>
        </p:nvSpPr>
        <p:spPr>
          <a:xfrm>
            <a:off x="1506503" y="5222027"/>
            <a:ext cx="9701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pd_clk_off</a:t>
            </a:r>
            <a:r>
              <a:rPr lang="en-US" altLang="zh-TW" sz="1000" dirty="0" smtClean="0"/>
              <a:t>=1</a:t>
            </a:r>
            <a:endParaRPr lang="en-US" altLang="zh-TW" sz="1000" dirty="0" smtClean="0"/>
          </a:p>
        </p:txBody>
      </p:sp>
    </p:spTree>
    <p:extLst>
      <p:ext uri="{BB962C8B-B14F-4D97-AF65-F5344CB8AC3E}">
        <p14:creationId xmlns:p14="http://schemas.microsoft.com/office/powerpoint/2010/main" val="2610550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self wakeup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wants to do DVFS by itself</a:t>
            </a:r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/>
              <a:t>send power command to </a:t>
            </a:r>
            <a:r>
              <a:rPr lang="en-US" altLang="zh-TW" dirty="0" smtClean="0"/>
              <a:t>SMU</a:t>
            </a:r>
          </a:p>
          <a:p>
            <a:pPr lvl="1"/>
            <a:r>
              <a:rPr lang="en-US" altLang="zh-TW" dirty="0"/>
              <a:t>Core 0 setup SMU interrupt </a:t>
            </a:r>
            <a:r>
              <a:rPr lang="en-US" altLang="zh-TW" dirty="0"/>
              <a:t>enable</a:t>
            </a:r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 smtClean="0"/>
              <a:t>executes </a:t>
            </a:r>
            <a:r>
              <a:rPr lang="en-US" altLang="zh-TW" dirty="0"/>
              <a:t>WFI</a:t>
            </a:r>
          </a:p>
          <a:p>
            <a:pPr lvl="1"/>
            <a:r>
              <a:rPr lang="en-US" altLang="zh-TW" dirty="0"/>
              <a:t>SMU handles </a:t>
            </a:r>
            <a:r>
              <a:rPr lang="en-US" altLang="zh-TW" dirty="0" smtClean="0"/>
              <a:t>power command</a:t>
            </a:r>
          </a:p>
          <a:p>
            <a:pPr lvl="1"/>
            <a:r>
              <a:rPr lang="en-US" altLang="zh-TW" dirty="0" smtClean="0"/>
              <a:t>SMU asserts in interrupt to Core</a:t>
            </a:r>
          </a:p>
          <a:p>
            <a:pPr lvl="1"/>
            <a:r>
              <a:rPr lang="en-US" altLang="zh-TW" dirty="0" smtClean="0"/>
              <a:t>Core exits WFI mode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8547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to Core wakeup </a:t>
            </a:r>
            <a:r>
              <a:rPr lang="en-US" altLang="zh-TW" dirty="0"/>
              <a:t>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0 asks Core 1 to deep sleep mode</a:t>
            </a:r>
          </a:p>
          <a:p>
            <a:pPr lvl="1"/>
            <a:r>
              <a:rPr lang="en-US" altLang="zh-TW" dirty="0" smtClean="0"/>
              <a:t>Core 0 send power command to SMU for Core 1</a:t>
            </a:r>
          </a:p>
          <a:p>
            <a:pPr lvl="1"/>
            <a:r>
              <a:rPr lang="en-US" altLang="zh-TW" dirty="0" smtClean="0"/>
              <a:t>Core 0 </a:t>
            </a:r>
            <a:r>
              <a:rPr lang="en-US" altLang="zh-TW" dirty="0"/>
              <a:t>inform other C</a:t>
            </a:r>
            <a:r>
              <a:rPr lang="en-US" altLang="zh-TW" dirty="0" smtClean="0"/>
              <a:t>ore 1 </a:t>
            </a:r>
            <a:r>
              <a:rPr lang="en-US" altLang="zh-TW" dirty="0"/>
              <a:t>to enter WFI mode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SMU </a:t>
            </a:r>
            <a:r>
              <a:rPr lang="en-US" altLang="zh-TW" dirty="0" smtClean="0"/>
              <a:t>handles power command</a:t>
            </a:r>
          </a:p>
          <a:p>
            <a:pPr lvl="2"/>
            <a:r>
              <a:rPr lang="en-US" altLang="zh-TW" dirty="0"/>
              <a:t>Core </a:t>
            </a:r>
            <a:r>
              <a:rPr lang="en-US" altLang="zh-TW" dirty="0" smtClean="0"/>
              <a:t>1 enters deep sleep mode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Core 1 wakeup by Core 0 by </a:t>
            </a:r>
            <a:r>
              <a:rPr lang="en-US" altLang="zh-TW" dirty="0" smtClean="0"/>
              <a:t>another core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7759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Multi-Core DVFS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Cluster executes frequency change</a:t>
            </a:r>
          </a:p>
          <a:p>
            <a:pPr lvl="1"/>
            <a:r>
              <a:rPr lang="en-US" altLang="zh-TW" dirty="0" smtClean="0"/>
              <a:t>Core 0 mask all wakeup event exclude SMU interrupt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/>
              <a:t>0 </a:t>
            </a:r>
            <a:r>
              <a:rPr lang="en-US" altLang="zh-TW" dirty="0" smtClean="0"/>
              <a:t>send light sleep mode </a:t>
            </a:r>
            <a:r>
              <a:rPr lang="en-US" altLang="zh-TW" dirty="0"/>
              <a:t>to SMU </a:t>
            </a:r>
            <a:r>
              <a:rPr lang="en-US" altLang="zh-TW" dirty="0" smtClean="0"/>
              <a:t>for other </a:t>
            </a:r>
            <a:r>
              <a:rPr lang="en-US" altLang="zh-TW" dirty="0" smtClean="0"/>
              <a:t>cores</a:t>
            </a:r>
          </a:p>
          <a:p>
            <a:pPr lvl="1"/>
            <a:r>
              <a:rPr lang="en-US" altLang="zh-TW" dirty="0" smtClean="0"/>
              <a:t>Core 0 setup SMU </a:t>
            </a:r>
            <a:r>
              <a:rPr lang="en-US" altLang="zh-TW" dirty="0" smtClean="0"/>
              <a:t>interrupt enable</a:t>
            </a:r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/>
              <a:t>0 </a:t>
            </a:r>
            <a:r>
              <a:rPr lang="en-US" altLang="zh-TW" dirty="0" smtClean="0"/>
              <a:t>inform other cores to execute WFI</a:t>
            </a:r>
          </a:p>
          <a:p>
            <a:pPr lvl="2"/>
            <a:r>
              <a:rPr lang="en-US" altLang="zh-TW" dirty="0" smtClean="0"/>
              <a:t>Other cores enter </a:t>
            </a:r>
            <a:r>
              <a:rPr lang="en-US" altLang="zh-TW" dirty="0"/>
              <a:t>light sleep mode </a:t>
            </a:r>
            <a:r>
              <a:rPr lang="en-US" altLang="zh-TW" dirty="0" smtClean="0"/>
              <a:t>by SMU</a:t>
            </a:r>
            <a:endParaRPr lang="en-US" altLang="zh-TW" dirty="0"/>
          </a:p>
          <a:p>
            <a:pPr lvl="1"/>
            <a:r>
              <a:rPr lang="en-US" altLang="zh-TW" dirty="0" smtClean="0"/>
              <a:t>Core 0 executes </a:t>
            </a:r>
            <a:r>
              <a:rPr lang="en-US" altLang="zh-TW" dirty="0" smtClean="0"/>
              <a:t>WFI</a:t>
            </a:r>
          </a:p>
          <a:p>
            <a:pPr lvl="2"/>
            <a:r>
              <a:rPr lang="en-US" altLang="zh-TW" dirty="0" smtClean="0"/>
              <a:t>Core 0 enters DVFS by SMU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SMU </a:t>
            </a:r>
            <a:r>
              <a:rPr lang="en-US" altLang="zh-TW" dirty="0" smtClean="0"/>
              <a:t>handles </a:t>
            </a:r>
            <a:r>
              <a:rPr lang="en-US" altLang="zh-TW" dirty="0"/>
              <a:t>power </a:t>
            </a:r>
            <a:r>
              <a:rPr lang="en-US" altLang="zh-TW" dirty="0" smtClean="0"/>
              <a:t>command to all cores</a:t>
            </a:r>
          </a:p>
          <a:p>
            <a:pPr lvl="1"/>
            <a:r>
              <a:rPr lang="en-US" altLang="zh-TW" dirty="0" smtClean="0"/>
              <a:t>Core 0 is wakeup by SMU</a:t>
            </a:r>
          </a:p>
          <a:p>
            <a:pPr lvl="1"/>
            <a:r>
              <a:rPr lang="en-US" altLang="zh-TW" dirty="0"/>
              <a:t>Core 0 </a:t>
            </a:r>
            <a:r>
              <a:rPr lang="en-US" altLang="zh-TW" dirty="0" smtClean="0"/>
              <a:t>send SMU </a:t>
            </a:r>
            <a:r>
              <a:rPr lang="en-US" altLang="zh-TW" dirty="0"/>
              <a:t>interrupt to other </a:t>
            </a:r>
            <a:r>
              <a:rPr lang="en-US" altLang="zh-TW" dirty="0" smtClean="0"/>
              <a:t>cores</a:t>
            </a:r>
          </a:p>
          <a:p>
            <a:pPr lvl="1"/>
            <a:r>
              <a:rPr lang="en-US" altLang="zh-TW" dirty="0" smtClean="0"/>
              <a:t>Other cores are </a:t>
            </a:r>
            <a:r>
              <a:rPr lang="en-US" altLang="zh-TW" dirty="0"/>
              <a:t>wakeup by SMU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6811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Debug module and SMU interactive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ST_LIGHTSLEEP and ST_DEEPSLEEP</a:t>
            </a:r>
          </a:p>
          <a:p>
            <a:pPr lvl="1"/>
            <a:r>
              <a:rPr lang="en-US" altLang="zh-TW" dirty="0"/>
              <a:t>C</a:t>
            </a:r>
            <a:r>
              <a:rPr lang="en-US" altLang="zh-TW" dirty="0" smtClean="0"/>
              <a:t>ore can be wakeup by SMU which is returning ST_ACTIVE.</a:t>
            </a:r>
          </a:p>
          <a:p>
            <a:r>
              <a:rPr lang="en-US" altLang="zh-TW" dirty="0" smtClean="0"/>
              <a:t>ST_ISOLATION and ST_RETENTION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en-US" altLang="zh-TW" dirty="0" smtClean="0"/>
              <a:t>ore can’t </a:t>
            </a:r>
            <a:r>
              <a:rPr lang="en-US" altLang="zh-TW" dirty="0" smtClean="0"/>
              <a:t>handle debug interrupt </a:t>
            </a:r>
            <a:r>
              <a:rPr lang="en-US" altLang="zh-TW" dirty="0" smtClean="0"/>
              <a:t>because clock is off.</a:t>
            </a:r>
          </a:p>
          <a:p>
            <a:r>
              <a:rPr lang="en-US" altLang="zh-TW" dirty="0" smtClean="0"/>
              <a:t>ST_DVFS</a:t>
            </a:r>
            <a:endParaRPr lang="en-US" altLang="zh-TW" dirty="0"/>
          </a:p>
          <a:p>
            <a:pPr lvl="1"/>
            <a:r>
              <a:rPr lang="en-US" altLang="zh-TW" dirty="0" err="1" smtClean="0"/>
              <a:t>core_clk</a:t>
            </a:r>
            <a:r>
              <a:rPr lang="en-US" altLang="zh-TW" dirty="0" smtClean="0"/>
              <a:t> is off </a:t>
            </a:r>
            <a:r>
              <a:rPr lang="en-US" altLang="zh-TW" dirty="0" smtClean="0"/>
              <a:t>until </a:t>
            </a:r>
            <a:r>
              <a:rPr lang="en-US" altLang="zh-TW" dirty="0" smtClean="0"/>
              <a:t>power change is stable. 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21578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Timing diagram for deep sleep mode</a:t>
            </a:r>
            <a:endParaRPr lang="zh-TW" altLang="en-US" dirty="0"/>
          </a:p>
        </p:txBody>
      </p:sp>
      <p:cxnSp>
        <p:nvCxnSpPr>
          <p:cNvPr id="4" name="肘形接點 3"/>
          <p:cNvCxnSpPr/>
          <p:nvPr/>
        </p:nvCxnSpPr>
        <p:spPr>
          <a:xfrm>
            <a:off x="3779912" y="4649696"/>
            <a:ext cx="4464496" cy="36004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779912" y="464969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H="1">
            <a:off x="1943708" y="5009736"/>
            <a:ext cx="18362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/>
          <p:cNvCxnSpPr/>
          <p:nvPr/>
        </p:nvCxnSpPr>
        <p:spPr>
          <a:xfrm>
            <a:off x="3167844" y="3929616"/>
            <a:ext cx="5076564" cy="360040"/>
          </a:xfrm>
          <a:prstGeom prst="bentConnector3">
            <a:avLst>
              <a:gd name="adj1" fmla="val 666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3167844" y="392961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1943708" y="4289656"/>
            <a:ext cx="1224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/>
          <p:nvPr/>
        </p:nvCxnSpPr>
        <p:spPr>
          <a:xfrm>
            <a:off x="2771800" y="3137528"/>
            <a:ext cx="5472608" cy="360040"/>
          </a:xfrm>
          <a:prstGeom prst="bentConnector3">
            <a:avLst>
              <a:gd name="adj1" fmla="val 798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771800" y="313752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943708" y="3497568"/>
            <a:ext cx="8280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339752" y="241744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>
            <a:off x="1943708" y="2777488"/>
            <a:ext cx="3960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339752" y="2417448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139952" y="623747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Power off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80730" y="244460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pd_standby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80730" y="3171157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pd_iso_en</a:t>
            </a:r>
            <a:endParaRPr lang="en-US" altLang="zh-TW" dirty="0" smtClean="0"/>
          </a:p>
        </p:txBody>
      </p:sp>
      <p:sp>
        <p:nvSpPr>
          <p:cNvPr id="21" name="文字方塊 20"/>
          <p:cNvSpPr txBox="1"/>
          <p:nvPr/>
        </p:nvSpPr>
        <p:spPr>
          <a:xfrm>
            <a:off x="580730" y="3945459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pd_ret_en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80730" y="4492508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pd_pwr_off</a:t>
            </a:r>
            <a:endParaRPr lang="en-US" altLang="zh-TW" dirty="0" smtClean="0"/>
          </a:p>
          <a:p>
            <a:r>
              <a:rPr lang="en-US" altLang="zh-TW" dirty="0" err="1" smtClean="0"/>
              <a:t>pd_clk_off</a:t>
            </a:r>
            <a:endParaRPr lang="en-US" altLang="zh-TW" dirty="0" smtClean="0"/>
          </a:p>
        </p:txBody>
      </p:sp>
      <p:sp>
        <p:nvSpPr>
          <p:cNvPr id="16" name="矩形 15"/>
          <p:cNvSpPr/>
          <p:nvPr/>
        </p:nvSpPr>
        <p:spPr>
          <a:xfrm>
            <a:off x="4139952" y="2165547"/>
            <a:ext cx="1368152" cy="4071926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4" name="群組 53"/>
          <p:cNvGrpSpPr/>
          <p:nvPr/>
        </p:nvGrpSpPr>
        <p:grpSpPr>
          <a:xfrm>
            <a:off x="2771800" y="2165547"/>
            <a:ext cx="4373880" cy="4071925"/>
            <a:chOff x="2771800" y="2165548"/>
            <a:chExt cx="4373880" cy="3240360"/>
          </a:xfrm>
        </p:grpSpPr>
        <p:cxnSp>
          <p:nvCxnSpPr>
            <p:cNvPr id="23" name="直線接點 22"/>
            <p:cNvCxnSpPr/>
            <p:nvPr/>
          </p:nvCxnSpPr>
          <p:spPr>
            <a:xfrm flipV="1">
              <a:off x="277180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167844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3779912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 flipV="1">
              <a:off x="6011688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655132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714568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1561309" y="1783769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  <p:sp>
        <p:nvSpPr>
          <p:cNvPr id="36" name="矩形 35"/>
          <p:cNvSpPr/>
          <p:nvPr/>
        </p:nvSpPr>
        <p:spPr>
          <a:xfrm rot="5400000">
            <a:off x="2239391" y="1541217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37" name="矩形 36"/>
          <p:cNvSpPr/>
          <p:nvPr/>
        </p:nvSpPr>
        <p:spPr>
          <a:xfrm rot="5400000">
            <a:off x="2682857" y="1592288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38" name="矩形 37"/>
          <p:cNvSpPr/>
          <p:nvPr/>
        </p:nvSpPr>
        <p:spPr>
          <a:xfrm>
            <a:off x="4011197" y="1783769"/>
            <a:ext cx="1595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ST_DEEPSLEEP</a:t>
            </a:r>
            <a:endParaRPr lang="en-US" altLang="zh-TW" sz="1400" dirty="0"/>
          </a:p>
        </p:txBody>
      </p:sp>
      <p:sp>
        <p:nvSpPr>
          <p:cNvPr id="39" name="矩形 38"/>
          <p:cNvSpPr/>
          <p:nvPr/>
        </p:nvSpPr>
        <p:spPr>
          <a:xfrm rot="5400000">
            <a:off x="5479399" y="1575355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40" name="矩形 39"/>
          <p:cNvSpPr/>
          <p:nvPr/>
        </p:nvSpPr>
        <p:spPr>
          <a:xfrm rot="5400000">
            <a:off x="6144240" y="1525172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41" name="矩形 40"/>
          <p:cNvSpPr/>
          <p:nvPr/>
        </p:nvSpPr>
        <p:spPr>
          <a:xfrm>
            <a:off x="7177939" y="1783769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  <p:cxnSp>
        <p:nvCxnSpPr>
          <p:cNvPr id="42" name="肘形接點 41"/>
          <p:cNvCxnSpPr/>
          <p:nvPr/>
        </p:nvCxnSpPr>
        <p:spPr>
          <a:xfrm>
            <a:off x="2771800" y="2417370"/>
            <a:ext cx="5472608" cy="360040"/>
          </a:xfrm>
          <a:prstGeom prst="bentConnector3">
            <a:avLst>
              <a:gd name="adj1" fmla="val 798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580730" y="558799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core_resetn</a:t>
            </a:r>
            <a:endParaRPr lang="zh-TW" altLang="en-US" dirty="0"/>
          </a:p>
        </p:txBody>
      </p:sp>
      <p:cxnSp>
        <p:nvCxnSpPr>
          <p:cNvPr id="56" name="直線接點 55"/>
          <p:cNvCxnSpPr/>
          <p:nvPr/>
        </p:nvCxnSpPr>
        <p:spPr>
          <a:xfrm flipH="1">
            <a:off x="1940415" y="5619336"/>
            <a:ext cx="40712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/>
          <p:cNvCxnSpPr/>
          <p:nvPr/>
        </p:nvCxnSpPr>
        <p:spPr>
          <a:xfrm flipV="1">
            <a:off x="6012160" y="5619336"/>
            <a:ext cx="2217296" cy="360038"/>
          </a:xfrm>
          <a:prstGeom prst="bentConnector3">
            <a:avLst>
              <a:gd name="adj1" fmla="val 511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42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control signal by FSM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02246"/>
              </p:ext>
            </p:extLst>
          </p:nvPr>
        </p:nvGraphicFramePr>
        <p:xfrm>
          <a:off x="381000" y="1208001"/>
          <a:ext cx="81745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894"/>
                <a:gridCol w="1563148"/>
                <a:gridCol w="1430962"/>
                <a:gridCol w="1518291"/>
                <a:gridCol w="1603229"/>
              </a:tblGrid>
              <a:tr h="370840"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pd_iso_en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pd_ret_en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pd_clk_off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pd_pwr_off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ST_DVFS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ST_ISOLATION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ST_LIGHTSLEEP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ST_DEEPSLEEP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34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Future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0 and L2 are de-coupled in power domain.</a:t>
            </a:r>
          </a:p>
          <a:p>
            <a:r>
              <a:rPr lang="en-US" altLang="zh-TW" dirty="0" smtClean="0"/>
              <a:t>Power domain inside SMU for ultra-low power</a:t>
            </a:r>
          </a:p>
          <a:p>
            <a:r>
              <a:rPr lang="en-US" altLang="zh-TW" dirty="0" smtClean="0"/>
              <a:t>Different frequency between cores and L2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455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Probation Review</Template>
  <TotalTime>10699</TotalTime>
  <Words>1765</Words>
  <Application>Microsoft Office PowerPoint</Application>
  <PresentationFormat>如螢幕大小 (4:3)</PresentationFormat>
  <Paragraphs>542</Paragraphs>
  <Slides>31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2" baseType="lpstr">
      <vt:lpstr>Probation Review</vt:lpstr>
      <vt:lpstr>Vicuna AE350 SMU Design Specification</vt:lpstr>
      <vt:lpstr>Outline</vt:lpstr>
      <vt:lpstr>Feature of ae350_smu_pd</vt:lpstr>
      <vt:lpstr>Assumption for simplification</vt:lpstr>
      <vt:lpstr>ae350_rstgen</vt:lpstr>
      <vt:lpstr>Old hierarchy block diagram in AE350</vt:lpstr>
      <vt:lpstr>New hierarchy block diagram</vt:lpstr>
      <vt:lpstr>Macro and parameter for ae350_smu</vt:lpstr>
      <vt:lpstr>New CSR for ae350_smu</vt:lpstr>
      <vt:lpstr>New CSR for ae350_smu</vt:lpstr>
      <vt:lpstr>New CSR for ae350_smu</vt:lpstr>
      <vt:lpstr>New CSR for ae350_smu</vt:lpstr>
      <vt:lpstr>Power mode definition</vt:lpstr>
      <vt:lpstr>ae350_smu_mpd</vt:lpstr>
      <vt:lpstr>ae350_smu Interface</vt:lpstr>
      <vt:lpstr>ae350_smu_pd Interface</vt:lpstr>
      <vt:lpstr>ae350_smu_pd Interface</vt:lpstr>
      <vt:lpstr>ae350_smu_pd Interface</vt:lpstr>
      <vt:lpstr>List for wakeup event</vt:lpstr>
      <vt:lpstr>Sample block diagram for power domain</vt:lpstr>
      <vt:lpstr>Sample block diagram for power domain</vt:lpstr>
      <vt:lpstr>FSM status </vt:lpstr>
      <vt:lpstr>FSM</vt:lpstr>
      <vt:lpstr>FSM with Core control and status</vt:lpstr>
      <vt:lpstr>Core self wakeup flow</vt:lpstr>
      <vt:lpstr>Core to Core wakeup flow</vt:lpstr>
      <vt:lpstr>Multi-Core DVFS flow</vt:lpstr>
      <vt:lpstr>Debug module and SMU interactive</vt:lpstr>
      <vt:lpstr>Timing diagram for deep sleep mode</vt:lpstr>
      <vt:lpstr>Power control signal by FSM</vt:lpstr>
      <vt:lpstr>Future work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Ellis Yu-Jui Chen(陳俞睿)</cp:lastModifiedBy>
  <cp:revision>522</cp:revision>
  <dcterms:created xsi:type="dcterms:W3CDTF">2017-03-02T07:26:01Z</dcterms:created>
  <dcterms:modified xsi:type="dcterms:W3CDTF">2019-03-07T06:24:19Z</dcterms:modified>
</cp:coreProperties>
</file>