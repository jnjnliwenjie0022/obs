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53"/>
  </p:notesMasterIdLst>
  <p:handoutMasterIdLst>
    <p:handoutMasterId r:id="rId54"/>
  </p:handoutMasterIdLst>
  <p:sldIdLst>
    <p:sldId id="525" r:id="rId2"/>
    <p:sldId id="1050" r:id="rId3"/>
    <p:sldId id="1043" r:id="rId4"/>
    <p:sldId id="1087" r:id="rId5"/>
    <p:sldId id="1044" r:id="rId6"/>
    <p:sldId id="1033" r:id="rId7"/>
    <p:sldId id="1102" r:id="rId8"/>
    <p:sldId id="1032" r:id="rId9"/>
    <p:sldId id="1088" r:id="rId10"/>
    <p:sldId id="1042" r:id="rId11"/>
    <p:sldId id="1035" r:id="rId12"/>
    <p:sldId id="1037" r:id="rId13"/>
    <p:sldId id="1045" r:id="rId14"/>
    <p:sldId id="1038" r:id="rId15"/>
    <p:sldId id="1053" r:id="rId16"/>
    <p:sldId id="1041" r:id="rId17"/>
    <p:sldId id="1039" r:id="rId18"/>
    <p:sldId id="1060" r:id="rId19"/>
    <p:sldId id="1061" r:id="rId20"/>
    <p:sldId id="1062" r:id="rId21"/>
    <p:sldId id="1089" r:id="rId22"/>
    <p:sldId id="1080" r:id="rId23"/>
    <p:sldId id="1076" r:id="rId24"/>
    <p:sldId id="1075" r:id="rId25"/>
    <p:sldId id="1103" r:id="rId26"/>
    <p:sldId id="1091" r:id="rId27"/>
    <p:sldId id="1055" r:id="rId28"/>
    <p:sldId id="1090" r:id="rId29"/>
    <p:sldId id="1083" r:id="rId30"/>
    <p:sldId id="1071" r:id="rId31"/>
    <p:sldId id="1065" r:id="rId32"/>
    <p:sldId id="1069" r:id="rId33"/>
    <p:sldId id="1074" r:id="rId34"/>
    <p:sldId id="1092" r:id="rId35"/>
    <p:sldId id="1007" r:id="rId36"/>
    <p:sldId id="1100" r:id="rId37"/>
    <p:sldId id="1101" r:id="rId38"/>
    <p:sldId id="1077" r:id="rId39"/>
    <p:sldId id="1093" r:id="rId40"/>
    <p:sldId id="1094" r:id="rId41"/>
    <p:sldId id="1095" r:id="rId42"/>
    <p:sldId id="1096" r:id="rId43"/>
    <p:sldId id="1097" r:id="rId44"/>
    <p:sldId id="1085" r:id="rId45"/>
    <p:sldId id="1056" r:id="rId46"/>
    <p:sldId id="1057" r:id="rId47"/>
    <p:sldId id="1058" r:id="rId48"/>
    <p:sldId id="1059" r:id="rId49"/>
    <p:sldId id="1078" r:id="rId50"/>
    <p:sldId id="1098" r:id="rId51"/>
    <p:sldId id="1099" r:id="rId52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8F"/>
    <a:srgbClr val="1C71A6"/>
    <a:srgbClr val="000000"/>
    <a:srgbClr val="B0C598"/>
    <a:srgbClr val="D9F090"/>
    <a:srgbClr val="8BFFA7"/>
    <a:srgbClr val="000066"/>
    <a:srgbClr val="78A4C7"/>
    <a:srgbClr val="AEC8DD"/>
    <a:srgbClr val="32AE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 autoAdjust="0"/>
    <p:restoredTop sz="88979" autoAdjust="0"/>
  </p:normalViewPr>
  <p:slideViewPr>
    <p:cSldViewPr snapToGrid="0">
      <p:cViewPr varScale="1">
        <p:scale>
          <a:sx n="70" d="100"/>
          <a:sy n="70" d="100"/>
        </p:scale>
        <p:origin x="-97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2019/5/21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zoom.us/j/109729231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https://zoom.us/j/109729231</a:t>
            </a:r>
            <a:endParaRPr lang="zh-TW" altLang="zh-TW" sz="1200" kern="120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9280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PROCESSOR CLOCK OPERATION SEQUENCE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Set RTC alarm in the RTC programming register (optional).</a:t>
            </a:r>
          </a:p>
          <a:p>
            <a:r>
              <a:rPr lang="da-DK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Set CCLK_EN to 0.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 Set standby command in the SMU command register.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SMU issues an external interrupt to the processor notifying the standby request.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The processor should execute the WFI instruction to make the processor go into the WFI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mode.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4. The Processor clock is disabled after the processor enters the WFI mode.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5. The Processor clock is enabled and the processor is waked up when a wake-up event arrives.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6. Clear the SMU command and status registers.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BUS CLOCK OPERATION SEQUENCE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Set RTC alarm in the RTC programming register (optional).</a:t>
            </a:r>
          </a:p>
          <a:p>
            <a:r>
              <a:rPr lang="da-DK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Set PCLK_EN, HCLK_EN or CCLK_EN to 0.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 Set standby command in the SMU command register.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SMU issues an external interrupt to the processor notifying the standby request.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The processor should execute the WFI instruction to make the processor go into the WFI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mode.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4. The bus clock or processor clock is disabled after the processor enters the WFI mode, depending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on the PCLK_EN, HCLK_EN and CCLK_EN setting.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5. The bus clock is enabled and the processor is waked up when a wake-up event arrives.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6. Clear the SMU command and status registers.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73772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17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76123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Hardware protection on Write operation: 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When the PCS is in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Busy_Wait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state, the Write operation is waived and it can be detected in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PCS_STATUS.cmd_status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When the PCS is not in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Busy_Wait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state, the PCS_CTL will be updated. An interrupt occurs when the command is not supported or is illegal on current state. The wrong PCS command can be detected in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PCS_STATUS.cmd_status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Read operation: The field will be cleared after the command finishes.</a:t>
            </a:r>
            <a:endParaRPr lang="zh-TW" altLang="zh-TW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18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32203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AE350_SMU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PROCESSOR CLOCK OPERATION SEQUENCE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Set RTC alarm in the RTC programming register (optional).</a:t>
            </a:r>
          </a:p>
          <a:p>
            <a:r>
              <a:rPr lang="da-DK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Set CCLK_EN to 0.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 Set standby command in the SMU command register.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SMU issues an external interrupt to the processor notifying the standby request.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• The processor should execute the WFI instruction to make the processor go into the WFI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mode.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4. The Processor clock is disabled after the processor enters the WFI mode.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5. The Processor clock is enabled and the processor is waked up when a wake-up event arrives.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6. Clear the SMU command and status registers.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25445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DVFS (TBD)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37680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C8CCC-1454-49B8-B8EC-74F2C178A1FE}" type="slidenum">
              <a:rPr lang="zh-TW" altLang="en-US" smtClean="0"/>
              <a:pPr>
                <a:defRPr/>
              </a:pPr>
              <a:t>33</a:t>
            </a:fld>
            <a:endParaRPr lang="en-US" altLang="zh-TW" dirty="0" smtClean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6463"/>
            <a:ext cx="5435600" cy="4465637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C8CCC-1454-49B8-B8EC-74F2C178A1FE}" type="slidenum">
              <a:rPr lang="zh-TW" altLang="en-US" smtClean="0"/>
              <a:pPr>
                <a:defRPr/>
              </a:pPr>
              <a:t>34</a:t>
            </a:fld>
            <a:endParaRPr lang="en-US" altLang="zh-TW" dirty="0" smtClean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6463"/>
            <a:ext cx="5435600" cy="4465637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83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  <p:sldLayoutId id="214748376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290763"/>
            <a:ext cx="7593013" cy="381000"/>
          </a:xfrm>
        </p:spPr>
        <p:txBody>
          <a:bodyPr/>
          <a:lstStyle/>
          <a:p>
            <a:r>
              <a:rPr lang="en-US" altLang="zh-TW" sz="2800" dirty="0">
                <a:ea typeface="新細明體" charset="-120"/>
              </a:rPr>
              <a:t>SMU revision for low systematic power control </a:t>
            </a:r>
            <a:endParaRPr lang="zh-TW" altLang="en-US" sz="2800" baseline="30000" dirty="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127465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ATCSMU100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Chevy</a:t>
            </a: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2019-05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Purpose</a:t>
            </a:r>
          </a:p>
          <a:p>
            <a:r>
              <a:rPr lang="en-US" altLang="zh-TW" sz="2400" dirty="0" smtClean="0"/>
              <a:t>AE350_SMU</a:t>
            </a:r>
          </a:p>
          <a:p>
            <a:r>
              <a:rPr lang="en-US" altLang="zh-TW" sz="2400" dirty="0" smtClean="0"/>
              <a:t>AE35x power domain</a:t>
            </a:r>
          </a:p>
          <a:p>
            <a:pPr marL="0" indent="0">
              <a:buNone/>
            </a:pPr>
            <a:r>
              <a:rPr lang="en-US" altLang="zh-TW" sz="2400" dirty="0" smtClean="0"/>
              <a:t>(ATCSMU100)</a:t>
            </a:r>
          </a:p>
          <a:p>
            <a:r>
              <a:rPr lang="en-US" altLang="zh-TW" sz="2400" dirty="0" smtClean="0"/>
              <a:t>Block diagram</a:t>
            </a:r>
          </a:p>
          <a:p>
            <a:r>
              <a:rPr lang="en-US" altLang="zh-TW" sz="2400" dirty="0" smtClean="0"/>
              <a:t>System registers</a:t>
            </a:r>
          </a:p>
          <a:p>
            <a:pPr lvl="1"/>
            <a:r>
              <a:rPr lang="en-US" altLang="zh-TW" sz="2000" dirty="0" smtClean="0"/>
              <a:t>Command/status</a:t>
            </a:r>
          </a:p>
          <a:p>
            <a:r>
              <a:rPr lang="en-US" altLang="zh-TW" sz="2400" dirty="0"/>
              <a:t>Flow Control </a:t>
            </a:r>
            <a:r>
              <a:rPr lang="en-US" altLang="zh-TW" sz="2400" dirty="0" smtClean="0"/>
              <a:t>Sequences</a:t>
            </a:r>
          </a:p>
          <a:p>
            <a:pPr lvl="1"/>
            <a:r>
              <a:rPr lang="en-US" altLang="zh-TW" sz="2000" dirty="0" smtClean="0"/>
              <a:t>Software power control flow</a:t>
            </a:r>
          </a:p>
          <a:p>
            <a:pPr lvl="1"/>
            <a:r>
              <a:rPr lang="en-US" altLang="zh-TW" sz="2000" dirty="0" smtClean="0"/>
              <a:t>PCS Operation Sequence</a:t>
            </a:r>
          </a:p>
          <a:p>
            <a:r>
              <a:rPr lang="en-US" altLang="zh-TW" sz="2400" dirty="0" smtClean="0"/>
              <a:t>AE35x Implementation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3637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Purpose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Revision </a:t>
            </a:r>
            <a:r>
              <a:rPr lang="en-US" altLang="zh-TW" dirty="0">
                <a:ea typeface="新細明體" charset="-120"/>
              </a:rPr>
              <a:t>for low systematic power </a:t>
            </a:r>
            <a:r>
              <a:rPr lang="en-US" altLang="zh-TW" dirty="0" smtClean="0">
                <a:ea typeface="新細明體" charset="-120"/>
              </a:rPr>
              <a:t>control</a:t>
            </a:r>
          </a:p>
          <a:p>
            <a:r>
              <a:rPr lang="en-US" altLang="zh-TW" dirty="0" smtClean="0">
                <a:solidFill>
                  <a:srgbClr val="FF0000"/>
                </a:solidFill>
                <a:ea typeface="新細明體" charset="-120"/>
              </a:rPr>
              <a:t>Multiple Power domains</a:t>
            </a:r>
          </a:p>
          <a:p>
            <a:r>
              <a:rPr lang="en-US" altLang="zh-TW" dirty="0" smtClean="0">
                <a:ea typeface="新細明體" charset="-120"/>
              </a:rPr>
              <a:t>IP </a:t>
            </a:r>
          </a:p>
          <a:p>
            <a:pPr lvl="1"/>
            <a:r>
              <a:rPr lang="en-US" altLang="zh-TW" dirty="0" smtClean="0">
                <a:ea typeface="新細明體" charset="-120"/>
              </a:rPr>
              <a:t>AE350_SMU </a:t>
            </a:r>
            <a:r>
              <a:rPr lang="en-US" altLang="zh-TW" dirty="0" smtClean="0">
                <a:ea typeface="新細明體" charset="-120"/>
                <a:sym typeface="Wingdings" pitchFamily="2" charset="2"/>
              </a:rPr>
              <a:t> ATCSMU100</a:t>
            </a:r>
            <a:endParaRPr lang="en-US" altLang="zh-TW" dirty="0" smtClean="0">
              <a:ea typeface="新細明體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662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kern="12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</a:rPr>
              <a:t>AE350_SMU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5174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SYSTEMVER - </a:t>
            </a:r>
            <a:r>
              <a:rPr lang="en-US" altLang="zh-TW" dirty="0" smtClean="0">
                <a:solidFill>
                  <a:srgbClr val="FF0000"/>
                </a:solidFill>
              </a:rPr>
              <a:t>0x414535_00</a:t>
            </a:r>
          </a:p>
          <a:p>
            <a:r>
              <a:rPr lang="en-US" altLang="zh-TW" dirty="0" smtClean="0"/>
              <a:t>Features</a:t>
            </a:r>
          </a:p>
          <a:p>
            <a:pPr lvl="1"/>
            <a:r>
              <a:rPr lang="en-US" altLang="zh-TW" dirty="0" smtClean="0"/>
              <a:t>Configurable Root </a:t>
            </a:r>
            <a:r>
              <a:rPr lang="en-US" altLang="zh-TW" dirty="0"/>
              <a:t>clock / clock </a:t>
            </a:r>
            <a:r>
              <a:rPr lang="en-US" altLang="zh-TW" dirty="0" smtClean="0"/>
              <a:t>ratio</a:t>
            </a:r>
          </a:p>
          <a:p>
            <a:pPr lvl="1"/>
            <a:r>
              <a:rPr lang="en-US" altLang="zh-TW" dirty="0"/>
              <a:t>Core1~3 reset control</a:t>
            </a:r>
          </a:p>
          <a:p>
            <a:pPr lvl="1"/>
            <a:r>
              <a:rPr lang="en-US" altLang="zh-TW" dirty="0" smtClean="0"/>
              <a:t>SMU command</a:t>
            </a:r>
          </a:p>
          <a:p>
            <a:pPr lvl="2"/>
            <a:r>
              <a:rPr lang="en-US" altLang="zh-TW" dirty="0" smtClean="0"/>
              <a:t>Software reset (</a:t>
            </a:r>
            <a:r>
              <a:rPr lang="en-US" altLang="zh-TW" dirty="0" smtClean="0">
                <a:solidFill>
                  <a:srgbClr val="FF0000"/>
                </a:solidFill>
              </a:rPr>
              <a:t>whole system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Power </a:t>
            </a:r>
            <a:r>
              <a:rPr lang="en-US" altLang="zh-TW" dirty="0"/>
              <a:t>off </a:t>
            </a:r>
            <a:r>
              <a:rPr lang="en-US" altLang="zh-TW" dirty="0" smtClean="0">
                <a:solidFill>
                  <a:srgbClr val="FF0000"/>
                </a:solidFill>
              </a:rPr>
              <a:t>main </a:t>
            </a:r>
            <a:r>
              <a:rPr lang="en-US" altLang="zh-TW" dirty="0">
                <a:solidFill>
                  <a:srgbClr val="FF0000"/>
                </a:solidFill>
              </a:rPr>
              <a:t>power </a:t>
            </a:r>
            <a:r>
              <a:rPr lang="en-US" altLang="zh-TW" dirty="0" smtClean="0">
                <a:solidFill>
                  <a:srgbClr val="FF0000"/>
                </a:solidFill>
              </a:rPr>
              <a:t>domain</a:t>
            </a:r>
          </a:p>
          <a:p>
            <a:pPr lvl="2"/>
            <a:r>
              <a:rPr lang="en-US" altLang="zh-TW" dirty="0" smtClean="0"/>
              <a:t>Standby command – trigger standby request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12 clock gating control bits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Processor/Buses/IPs</a:t>
            </a:r>
          </a:p>
          <a:p>
            <a:pPr lvl="1"/>
            <a:r>
              <a:rPr lang="en-US" altLang="zh-TW" dirty="0" err="1"/>
              <a:t>Maskable</a:t>
            </a:r>
            <a:r>
              <a:rPr lang="en-US" altLang="zh-TW" dirty="0"/>
              <a:t> wakeup events</a:t>
            </a:r>
          </a:p>
          <a:p>
            <a:pPr lvl="2"/>
            <a:r>
              <a:rPr lang="en-US" altLang="zh-TW" dirty="0"/>
              <a:t>External </a:t>
            </a:r>
            <a:r>
              <a:rPr lang="en-US" altLang="zh-TW" dirty="0" smtClean="0"/>
              <a:t>event/RTC/DBG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883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 SMU Registers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8" y="1223962"/>
            <a:ext cx="6029325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 bwMode="auto">
          <a:xfrm>
            <a:off x="1175657" y="1719943"/>
            <a:ext cx="6509657" cy="576943"/>
          </a:xfrm>
          <a:prstGeom prst="rect">
            <a:avLst/>
          </a:prstGeom>
          <a:noFill/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175657" y="3842657"/>
            <a:ext cx="6509657" cy="2340429"/>
          </a:xfrm>
          <a:prstGeom prst="rect">
            <a:avLst/>
          </a:prstGeom>
          <a:noFill/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175657" y="3069771"/>
            <a:ext cx="6509657" cy="587827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8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kern="1200" dirty="0" smtClean="0">
                <a:latin typeface="Arial" charset="0"/>
              </a:rPr>
              <a:t>PROCESSOR CLOCK OPERATION SEQUENCE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400" kern="1200" dirty="0" smtClean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1. Set RTC alarm in the RTC programming register (optional).</a:t>
            </a:r>
          </a:p>
          <a:p>
            <a:pPr marL="0" indent="0">
              <a:buNone/>
            </a:pPr>
            <a:r>
              <a:rPr lang="da-DK" altLang="zh-TW" sz="2400" kern="1200" dirty="0" smtClean="0">
                <a:latin typeface="Arial" charset="0"/>
              </a:rPr>
              <a:t>2</a:t>
            </a:r>
            <a:r>
              <a:rPr lang="da-DK" altLang="zh-TW" sz="2400" kern="1200" dirty="0">
                <a:latin typeface="Arial" charset="0"/>
              </a:rPr>
              <a:t>. Set CCLK_EN to 0</a:t>
            </a:r>
            <a:r>
              <a:rPr lang="da-DK" altLang="zh-TW" sz="2400" kern="1200" dirty="0" smtClean="0">
                <a:latin typeface="Arial" charset="0"/>
              </a:rPr>
              <a:t>. </a:t>
            </a:r>
            <a:r>
              <a:rPr lang="da-DK" altLang="zh-TW" sz="2400" i="1" kern="1200" dirty="0" smtClean="0">
                <a:latin typeface="Arial" charset="0"/>
              </a:rPr>
              <a:t>(or power off command?)</a:t>
            </a:r>
            <a:endParaRPr lang="da-DK" altLang="zh-TW" sz="2400" i="1" kern="1200" dirty="0">
              <a:latin typeface="Arial" charset="0"/>
            </a:endParaRPr>
          </a:p>
          <a:p>
            <a:pPr marL="0" indent="0">
              <a:buNone/>
            </a:pPr>
            <a:r>
              <a:rPr lang="en-US" altLang="zh-TW" sz="2400" kern="1200" dirty="0">
                <a:latin typeface="Arial" charset="0"/>
              </a:rPr>
              <a:t>3. </a:t>
            </a:r>
            <a:r>
              <a:rPr lang="en-US" altLang="zh-TW" sz="2400" kern="1200" dirty="0">
                <a:solidFill>
                  <a:srgbClr val="FF0000"/>
                </a:solidFill>
                <a:latin typeface="Arial" charset="0"/>
              </a:rPr>
              <a:t>Set standby command </a:t>
            </a:r>
            <a:r>
              <a:rPr lang="en-US" altLang="zh-TW" sz="2400" kern="1200" dirty="0" smtClean="0">
                <a:latin typeface="Arial" charset="0"/>
              </a:rPr>
              <a:t>of SMU</a:t>
            </a:r>
            <a:endParaRPr lang="en-US" altLang="zh-TW" sz="2400" kern="1200" dirty="0">
              <a:latin typeface="Arial" charset="0"/>
            </a:endParaRPr>
          </a:p>
          <a:p>
            <a:pPr marL="400050" lvl="1" indent="0">
              <a:buNone/>
            </a:pPr>
            <a:r>
              <a:rPr lang="en-US" altLang="zh-TW" sz="2000" kern="1200" dirty="0">
                <a:latin typeface="Arial" charset="0"/>
              </a:rPr>
              <a:t>• SMU issues an external interrupt to the </a:t>
            </a:r>
            <a:r>
              <a:rPr lang="en-US" altLang="zh-TW" sz="2000" kern="1200" dirty="0" smtClean="0">
                <a:latin typeface="Arial" charset="0"/>
              </a:rPr>
              <a:t>processor</a:t>
            </a:r>
            <a:endParaRPr lang="en-US" altLang="zh-TW" sz="2000" kern="1200" dirty="0">
              <a:latin typeface="Arial" charset="0"/>
            </a:endParaRPr>
          </a:p>
          <a:p>
            <a:pPr marL="400050" lvl="1" indent="0">
              <a:buNone/>
            </a:pPr>
            <a:r>
              <a:rPr lang="en-US" altLang="zh-TW" sz="2000" kern="1200" dirty="0">
                <a:latin typeface="Arial" charset="0"/>
              </a:rPr>
              <a:t>• The processor should execute the </a:t>
            </a:r>
            <a:r>
              <a:rPr lang="en-US" altLang="zh-TW" sz="2000" kern="1200" dirty="0" smtClean="0">
                <a:latin typeface="Arial" charset="0"/>
              </a:rPr>
              <a:t>WFI</a:t>
            </a:r>
            <a:endParaRPr lang="en-US" altLang="zh-TW" sz="2400" kern="1200" dirty="0">
              <a:latin typeface="Arial" charset="0"/>
            </a:endParaRPr>
          </a:p>
          <a:p>
            <a:pPr marL="0" indent="0">
              <a:buNone/>
            </a:pPr>
            <a:r>
              <a:rPr lang="en-US" altLang="zh-TW" sz="2400" kern="1200" dirty="0">
                <a:latin typeface="Arial" charset="0"/>
              </a:rPr>
              <a:t>4. The Processor clock is disabled after the processor enters the WFI mode</a:t>
            </a:r>
            <a:r>
              <a:rPr lang="en-US" altLang="zh-TW" sz="2400" kern="1200" dirty="0" smtClean="0">
                <a:latin typeface="Arial" charset="0"/>
              </a:rPr>
              <a:t>.</a:t>
            </a:r>
          </a:p>
          <a:p>
            <a:pPr marL="0" indent="0">
              <a:buNone/>
            </a:pPr>
            <a:r>
              <a:rPr lang="en-US" altLang="zh-TW" sz="2400" kern="1200" dirty="0" smtClean="0">
                <a:latin typeface="Arial" charset="0"/>
              </a:rPr>
              <a:t>######</a:t>
            </a:r>
          </a:p>
          <a:p>
            <a:pPr marL="0" indent="0">
              <a:buNone/>
            </a:pPr>
            <a:r>
              <a:rPr lang="en-US" altLang="zh-TW" sz="2400" kern="1200" dirty="0" smtClean="0">
                <a:latin typeface="Arial" charset="0"/>
              </a:rPr>
              <a:t>(</a:t>
            </a:r>
            <a:r>
              <a:rPr lang="en-US" altLang="zh-TW" sz="2400" kern="1200" dirty="0">
                <a:latin typeface="Arial" charset="0"/>
              </a:rPr>
              <a:t>when a wake-up event </a:t>
            </a:r>
            <a:r>
              <a:rPr lang="en-US" altLang="zh-TW" sz="2400" kern="1200" dirty="0" smtClean="0">
                <a:latin typeface="Arial" charset="0"/>
              </a:rPr>
              <a:t>arrives)</a:t>
            </a:r>
            <a:endParaRPr lang="en-US" altLang="zh-TW" sz="2400" kern="1200" dirty="0">
              <a:latin typeface="Arial" charset="0"/>
            </a:endParaRPr>
          </a:p>
          <a:p>
            <a:r>
              <a:rPr lang="en-US" altLang="zh-TW" sz="2400" kern="1200" dirty="0" smtClean="0">
                <a:latin typeface="Arial" charset="0"/>
              </a:rPr>
              <a:t>The </a:t>
            </a:r>
            <a:r>
              <a:rPr lang="en-US" altLang="zh-TW" sz="2400" kern="1200" dirty="0">
                <a:latin typeface="Arial" charset="0"/>
              </a:rPr>
              <a:t>Processor clock is enabled and the processor is waked up </a:t>
            </a:r>
            <a:endParaRPr lang="en-US" altLang="zh-TW" sz="2400" kern="1200" dirty="0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1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AE35x</a:t>
            </a:r>
            <a:r>
              <a:rPr lang="en-US" altLang="zh-TW" dirty="0" smtClean="0"/>
              <a:t> Power Domain</a:t>
            </a:r>
            <a:endParaRPr lang="zh-TW" altLang="en-US" dirty="0"/>
          </a:p>
        </p:txBody>
      </p:sp>
      <p:pic>
        <p:nvPicPr>
          <p:cNvPr id="7" name="圖片 6"/>
          <p:cNvPicPr/>
          <p:nvPr/>
        </p:nvPicPr>
        <p:blipFill rotWithShape="1">
          <a:blip r:embed="rId2"/>
          <a:srcRect t="61370"/>
          <a:stretch/>
        </p:blipFill>
        <p:spPr>
          <a:xfrm>
            <a:off x="3886200" y="4902200"/>
            <a:ext cx="5029200" cy="19558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圖片 5"/>
          <p:cNvPicPr/>
          <p:nvPr/>
        </p:nvPicPr>
        <p:blipFill rotWithShape="1">
          <a:blip r:embed="rId2"/>
          <a:srcRect b="38630"/>
          <a:stretch/>
        </p:blipFill>
        <p:spPr>
          <a:xfrm>
            <a:off x="100964" y="895350"/>
            <a:ext cx="6744335" cy="45878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4702629" y="5791200"/>
            <a:ext cx="1534885" cy="337457"/>
          </a:xfrm>
          <a:prstGeom prst="rect">
            <a:avLst/>
          </a:prstGeom>
          <a:solidFill>
            <a:srgbClr val="FF0000">
              <a:alpha val="52941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00125" y="2851830"/>
            <a:ext cx="361951" cy="337457"/>
          </a:xfrm>
          <a:prstGeom prst="rect">
            <a:avLst/>
          </a:prstGeom>
          <a:solidFill>
            <a:srgbClr val="FF0000">
              <a:alpha val="52941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6274" y="2845026"/>
            <a:ext cx="323851" cy="337457"/>
          </a:xfrm>
          <a:prstGeom prst="rect">
            <a:avLst/>
          </a:prstGeom>
          <a:solidFill>
            <a:schemeClr val="accent6">
              <a:lumMod val="75000"/>
              <a:alpha val="52941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L-圖案 10"/>
          <p:cNvSpPr/>
          <p:nvPr/>
        </p:nvSpPr>
        <p:spPr bwMode="auto">
          <a:xfrm>
            <a:off x="1752601" y="2419351"/>
            <a:ext cx="4648200" cy="2000249"/>
          </a:xfrm>
          <a:prstGeom prst="corner">
            <a:avLst>
              <a:gd name="adj1" fmla="val 33809"/>
              <a:gd name="adj2" fmla="val 177619"/>
            </a:avLst>
          </a:prstGeom>
          <a:solidFill>
            <a:schemeClr val="bg2">
              <a:lumMod val="50000"/>
              <a:alpha val="52941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itchFamily="2" charset="2"/>
              <a:buChar char="Ø"/>
            </a:pPr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6943725" y="1181100"/>
            <a:ext cx="19526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TW" dirty="0" err="1" smtClean="0">
                <a:solidFill>
                  <a:srgbClr val="FF0000"/>
                </a:solidFill>
              </a:rPr>
              <a:t>AlwaysOn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PLDM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err="1" smtClean="0"/>
              <a:t>MainPD</a:t>
            </a:r>
            <a:endParaRPr lang="en-US" altLang="zh-TW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rgbClr val="0070C0"/>
                </a:solidFill>
              </a:rPr>
              <a:t>Core0 (+L2C)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chemeClr val="bg2">
                    <a:lumMod val="75000"/>
                  </a:schemeClr>
                </a:solidFill>
              </a:rPr>
              <a:t>Core1~3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69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新細明體" charset="-120"/>
              </a:rPr>
              <a:t>ATCSMU100 v0.7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0877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Features &amp; Terminologies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/>
              <a:t>Terms</a:t>
            </a:r>
          </a:p>
          <a:p>
            <a:pPr lvl="1"/>
            <a:r>
              <a:rPr lang="en-US" altLang="zh-TW" dirty="0" smtClean="0"/>
              <a:t>SMU</a:t>
            </a:r>
            <a:r>
              <a:rPr lang="en-US" altLang="zh-TW" dirty="0"/>
              <a:t>: System Management Unit</a:t>
            </a:r>
            <a:endParaRPr lang="zh-TW" altLang="zh-TW" dirty="0"/>
          </a:p>
          <a:p>
            <a:pPr lvl="1"/>
            <a:r>
              <a:rPr lang="en-US" altLang="zh-TW" dirty="0"/>
              <a:t>PCS: Power Control Slot</a:t>
            </a:r>
            <a:endParaRPr lang="zh-TW" altLang="zh-TW" dirty="0"/>
          </a:p>
          <a:p>
            <a:pPr lvl="1"/>
            <a:r>
              <a:rPr lang="en-US" altLang="zh-TW" dirty="0"/>
              <a:t>PD: Power Domain</a:t>
            </a:r>
            <a:endParaRPr lang="zh-TW" altLang="zh-TW" dirty="0"/>
          </a:p>
          <a:p>
            <a:pPr lvl="1"/>
            <a:r>
              <a:rPr lang="en-US" altLang="zh-TW" dirty="0" smtClean="0"/>
              <a:t>DVFS</a:t>
            </a:r>
            <a:r>
              <a:rPr lang="en-US" altLang="zh-TW" dirty="0"/>
              <a:t>: Dynamic voltage frequency </a:t>
            </a:r>
            <a:r>
              <a:rPr lang="en-US" altLang="zh-TW" dirty="0" smtClean="0"/>
              <a:t>scaling</a:t>
            </a:r>
          </a:p>
          <a:p>
            <a:r>
              <a:rPr lang="en-US" altLang="zh-TW" dirty="0" smtClean="0"/>
              <a:t>Features</a:t>
            </a:r>
          </a:p>
          <a:p>
            <a:pPr lvl="1"/>
            <a:r>
              <a:rPr lang="en-US" altLang="zh-TW" dirty="0" smtClean="0"/>
              <a:t>PD/PCS Reset (software reset)</a:t>
            </a:r>
          </a:p>
          <a:p>
            <a:pPr lvl="1"/>
            <a:r>
              <a:rPr lang="en-US" altLang="zh-TW" dirty="0" smtClean="0"/>
              <a:t>DVFS</a:t>
            </a:r>
          </a:p>
          <a:p>
            <a:pPr lvl="1"/>
            <a:r>
              <a:rPr lang="en-US" altLang="zh-TW" dirty="0" smtClean="0"/>
              <a:t>Light Sleep – clock gated</a:t>
            </a:r>
          </a:p>
          <a:p>
            <a:pPr lvl="1"/>
            <a:r>
              <a:rPr lang="en-US" altLang="zh-TW" dirty="0" smtClean="0"/>
              <a:t>Deep Sleep – power off</a:t>
            </a:r>
          </a:p>
          <a:p>
            <a:pPr lvl="1"/>
            <a:r>
              <a:rPr lang="en-US" altLang="zh-TW" dirty="0" smtClean="0"/>
              <a:t>Wakeup by events or command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588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Block Diagram</a:t>
            </a:r>
            <a:endParaRPr lang="zh-TW" altLang="en-US" dirty="0"/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42" y="1611311"/>
            <a:ext cx="7820308" cy="429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 bwMode="auto">
          <a:xfrm>
            <a:off x="2314576" y="2971799"/>
            <a:ext cx="914400" cy="253365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4219574" y="1971672"/>
            <a:ext cx="2447926" cy="7239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314576" y="5683624"/>
            <a:ext cx="914400" cy="96930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PD1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305174" y="5683624"/>
            <a:ext cx="914400" cy="96930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PD2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389903" y="5683624"/>
            <a:ext cx="914400" cy="96930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PD3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5443537" y="5683624"/>
            <a:ext cx="914400" cy="96930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PD4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990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ATCSMU system registers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0" t="23077" r="31491" b="27693"/>
          <a:stretch/>
        </p:blipFill>
        <p:spPr bwMode="auto">
          <a:xfrm>
            <a:off x="1117600" y="1180654"/>
            <a:ext cx="5892800" cy="5299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1117600" y="2905126"/>
            <a:ext cx="6035675" cy="438150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117600" y="1860738"/>
            <a:ext cx="6035675" cy="438150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533650" y="5086351"/>
            <a:ext cx="2562225" cy="43815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05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TW" dirty="0" smtClean="0"/>
              <a:t> SMU System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SYSTEM ID/Configuration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ID &gt; 0x414535_00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/>
              <a:t>ATCSMU ID</a:t>
            </a:r>
          </a:p>
          <a:p>
            <a:r>
              <a:rPr lang="en-US" altLang="zh-TW" dirty="0" err="1" smtClean="0"/>
              <a:t>Core_reset_vectors</a:t>
            </a:r>
            <a:endParaRPr lang="zh-TW" altLang="zh-TW" dirty="0"/>
          </a:p>
          <a:p>
            <a:r>
              <a:rPr lang="en-US" altLang="zh-TW" dirty="0" err="1"/>
              <a:t>system_clock_ratio</a:t>
            </a:r>
            <a:endParaRPr lang="zh-TW" altLang="zh-TW" dirty="0"/>
          </a:p>
          <a:p>
            <a:pPr lvl="1"/>
            <a:r>
              <a:rPr lang="en-US" altLang="zh-TW" dirty="0" err="1" smtClean="0"/>
              <a:t>sysclk_sel</a:t>
            </a:r>
            <a:endParaRPr lang="en-US" altLang="zh-TW" dirty="0"/>
          </a:p>
          <a:p>
            <a:pPr lvl="1"/>
            <a:r>
              <a:rPr lang="en-US" altLang="zh-TW" dirty="0" err="1" smtClean="0"/>
              <a:t>bus_ratio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7638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PCS registers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3" t="57051" r="31152" b="17564"/>
          <a:stretch/>
        </p:blipFill>
        <p:spPr bwMode="auto">
          <a:xfrm>
            <a:off x="1213557" y="1520825"/>
            <a:ext cx="6431844" cy="300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7237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PCS_CFG - Slot </a:t>
            </a:r>
            <a:r>
              <a:rPr lang="en-US" altLang="zh-TW" dirty="0" smtClean="0"/>
              <a:t>Configuration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5476734"/>
              </p:ext>
            </p:extLst>
          </p:nvPr>
        </p:nvGraphicFramePr>
        <p:xfrm>
          <a:off x="323430" y="1480502"/>
          <a:ext cx="826854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307"/>
                <a:gridCol w="1063547"/>
                <a:gridCol w="4153291"/>
                <a:gridCol w="868371"/>
                <a:gridCol w="870024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Name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Bit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Description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Type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Reset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capability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5:0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Slot control capability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[0]: Reset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[1]: DVFS (hardwire 0)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[2]: LightSleep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[3]: DeepSleep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[4]: Cancel from waiting (hardwire 0)</a:t>
                      </a:r>
                      <a:endParaRPr lang="zh-TW" sz="14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[5]: Timeout detection (hardwire 0)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effectLst/>
                        </a:rPr>
                        <a:t>RO</a:t>
                      </a:r>
                      <a:endParaRPr lang="zh-TW" sz="14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823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PCS_MISC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92303"/>
              </p:ext>
            </p:extLst>
          </p:nvPr>
        </p:nvGraphicFramePr>
        <p:xfrm>
          <a:off x="992946" y="971593"/>
          <a:ext cx="7196208" cy="569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22"/>
                <a:gridCol w="808853"/>
                <a:gridCol w="3834140"/>
                <a:gridCol w="679322"/>
                <a:gridCol w="739771"/>
              </a:tblGrid>
              <a:tr h="3228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Name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Bit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Description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Type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Reset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11740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solidFill>
                            <a:srgbClr val="FF0000"/>
                          </a:solidFill>
                          <a:effectLst/>
                        </a:rPr>
                        <a:t>iso_cyc</a:t>
                      </a:r>
                      <a:endParaRPr lang="zh-TW" sz="1400" b="1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3:0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ISO cycle – ST_ISO cycles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(For </a:t>
                      </a:r>
                      <a:r>
                        <a:rPr lang="en-US" sz="1050" kern="100" dirty="0" err="1">
                          <a:effectLst/>
                        </a:rPr>
                        <a:t>DeepSleep</a:t>
                      </a:r>
                      <a:r>
                        <a:rPr lang="en-US" sz="1050" kern="100" dirty="0">
                          <a:effectLst/>
                        </a:rPr>
                        <a:t>)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1 cycle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1 cycle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2: </a:t>
                      </a:r>
                      <a:r>
                        <a:rPr lang="en-US" sz="1050" kern="100" dirty="0" smtClean="0">
                          <a:effectLst/>
                        </a:rPr>
                        <a:t>2 cycles </a:t>
                      </a:r>
                      <a:r>
                        <a:rPr lang="en-US" sz="1050" kern="100" dirty="0">
                          <a:effectLst/>
                        </a:rPr>
                        <a:t>…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0xf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11740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solidFill>
                            <a:srgbClr val="FF0000"/>
                          </a:solidFill>
                          <a:effectLst/>
                        </a:rPr>
                        <a:t>reten_cyc</a:t>
                      </a:r>
                      <a:endParaRPr lang="zh-TW" sz="1400" b="1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11:4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RETEN cycle – ST_RET cycles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(For </a:t>
                      </a:r>
                      <a:r>
                        <a:rPr lang="en-US" sz="1050" kern="100" dirty="0" err="1">
                          <a:effectLst/>
                        </a:rPr>
                        <a:t>DeepSleep</a:t>
                      </a:r>
                      <a:r>
                        <a:rPr lang="en-US" sz="1050" kern="100" dirty="0">
                          <a:effectLst/>
                        </a:rPr>
                        <a:t>)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1 cycle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1 cycle</a:t>
                      </a:r>
                      <a:endParaRPr lang="zh-TW" sz="105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2: </a:t>
                      </a:r>
                      <a:r>
                        <a:rPr lang="en-US" sz="1050" kern="100" dirty="0" smtClean="0">
                          <a:effectLst/>
                        </a:rPr>
                        <a:t>2 cycles </a:t>
                      </a:r>
                      <a:r>
                        <a:rPr lang="en-US" sz="1050" kern="100" dirty="0">
                          <a:effectLst/>
                        </a:rPr>
                        <a:t>…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0xff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95517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to_cyc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27:12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strike="sngStrike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(Wait standby)</a:t>
                      </a: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Timeout cycle (x16)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0: No timeout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1: 16 cycles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2: 32 cycles …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RW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</a:t>
                      </a:r>
                      <a:endParaRPr lang="zh-TW" sz="105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7362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mem_init0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28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MEM0 Reset Initialization</a:t>
                      </a:r>
                      <a:endParaRPr lang="zh-TW" sz="105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0:</a:t>
                      </a:r>
                      <a:endParaRPr lang="zh-TW" sz="105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1: The Reset Initialization is required on MEM0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RW/RO*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1/0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3228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mem_init1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29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MEM1 Reset Initialization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RW/RO*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1/0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3228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mem_init2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MEM2 Reset Initialization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RW/RO*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1/0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  <a:tr h="3228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mem_init3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31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MEM3 Reset Initialization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RW/RO*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1/0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79598" marR="79598" marT="39799" marB="39799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1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PCS_WE - Wakeup enable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744135"/>
              </p:ext>
            </p:extLst>
          </p:nvPr>
        </p:nvGraphicFramePr>
        <p:xfrm>
          <a:off x="209972" y="1023302"/>
          <a:ext cx="8266855" cy="105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203"/>
                <a:gridCol w="927541"/>
                <a:gridCol w="4402927"/>
                <a:gridCol w="691109"/>
                <a:gridCol w="944075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Name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Bit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Description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Type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Reset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wakeup_en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[31:0]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bit[n]=1: </a:t>
                      </a:r>
                      <a:r>
                        <a:rPr lang="en-US" sz="1200" kern="0" dirty="0">
                          <a:effectLst/>
                        </a:rPr>
                        <a:t>Enable corresponding </a:t>
                      </a:r>
                      <a:r>
                        <a:rPr lang="en-US" sz="1200" kern="0" dirty="0" smtClean="0">
                          <a:effectLst/>
                        </a:rPr>
                        <a:t>wakeup event[n</a:t>
                      </a:r>
                      <a:r>
                        <a:rPr lang="en-US" sz="1200" kern="0" dirty="0">
                          <a:effectLst/>
                        </a:rPr>
                        <a:t>]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FF0000"/>
                          </a:solidFill>
                          <a:effectLst/>
                        </a:rPr>
                        <a:t>[0]: wakeup by PCS wakeup command. (hardwire1)</a:t>
                      </a:r>
                      <a:endParaRPr lang="zh-TW" sz="14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RW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0xffffffff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12231"/>
              </p:ext>
            </p:extLst>
          </p:nvPr>
        </p:nvGraphicFramePr>
        <p:xfrm>
          <a:off x="304800" y="2466976"/>
          <a:ext cx="6877050" cy="4415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8710"/>
                <a:gridCol w="1406290"/>
                <a:gridCol w="4972050"/>
              </a:tblGrid>
              <a:tr h="247649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NO.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Signal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Description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1490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0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-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PCS wakeup command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1490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20:1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int_src[20:1]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PLIC interrupt source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240448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21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err="1">
                          <a:effectLst/>
                        </a:rPr>
                        <a:t>dbg_wakeup_req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ae350_debug_subsystem debug request (from ncejdtm200)</a:t>
                      </a:r>
                      <a:endParaRPr lang="zh-TW" sz="9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1490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22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X_wakeup_in;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External wake-up event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72134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28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err="1">
                          <a:effectLst/>
                        </a:rPr>
                        <a:t>debugint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from ae350_debug_subsystem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PCS[default].</a:t>
                      </a:r>
                      <a:r>
                        <a:rPr lang="en-US" sz="900" kern="100" dirty="0" err="1">
                          <a:effectLst/>
                        </a:rPr>
                        <a:t>wakeup_event.debugint</a:t>
                      </a:r>
                      <a:r>
                        <a:rPr lang="en-US" sz="900" kern="100" dirty="0">
                          <a:effectLst/>
                        </a:rPr>
                        <a:t> = hart0_debugint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PCS[core0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solidFill>
                            <a:srgbClr val="FF0000"/>
                          </a:solidFill>
                          <a:effectLst/>
                        </a:rPr>
                        <a:t>wakeup_event.debugint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 = </a:t>
                      </a: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hart0_debugint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PCS[core1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solidFill>
                            <a:srgbClr val="FF0000"/>
                          </a:solidFill>
                          <a:effectLst/>
                        </a:rPr>
                        <a:t>wakeup_event.debugint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 = </a:t>
                      </a: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hart1_debugint</a:t>
                      </a:r>
                      <a:endParaRPr lang="zh-TW" sz="9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</a:tr>
              <a:tr h="72134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29</a:t>
                      </a:r>
                      <a:endParaRPr lang="zh-TW" sz="9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sip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PLIC_SW interrupt target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PCS[default].</a:t>
                      </a:r>
                      <a:r>
                        <a:rPr lang="en-US" sz="900" kern="100" dirty="0" err="1">
                          <a:effectLst/>
                        </a:rPr>
                        <a:t>wakeup_event.msip</a:t>
                      </a:r>
                      <a:r>
                        <a:rPr lang="en-US" sz="900" kern="100" dirty="0">
                          <a:effectLst/>
                        </a:rPr>
                        <a:t>  = hart1_msip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PCS[core0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solidFill>
                            <a:srgbClr val="FF0000"/>
                          </a:solidFill>
                          <a:effectLst/>
                        </a:rPr>
                        <a:t>wakeup_event.msip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  = </a:t>
                      </a: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hart0_msip</a:t>
                      </a:r>
                      <a:endParaRPr lang="zh-TW" sz="9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PCS[core1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solidFill>
                            <a:srgbClr val="FF0000"/>
                          </a:solidFill>
                          <a:effectLst/>
                        </a:rPr>
                        <a:t>wakeup_event.msip</a:t>
                      </a:r>
                      <a:r>
                        <a:rPr lang="en-US" sz="900" kern="100" dirty="0">
                          <a:solidFill>
                            <a:srgbClr val="FF0000"/>
                          </a:solidFill>
                          <a:effectLst/>
                        </a:rPr>
                        <a:t>  = </a:t>
                      </a: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effectLst/>
                        </a:rPr>
                        <a:t>hart1_msip</a:t>
                      </a:r>
                      <a:endParaRPr lang="zh-TW" sz="900" kern="1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2517" marR="42517" marT="0" marB="0"/>
                </a:tc>
              </a:tr>
              <a:tr h="721345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30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tip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PLMT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PCS[ default ].</a:t>
                      </a:r>
                      <a:r>
                        <a:rPr lang="en-US" sz="900" kern="100" dirty="0" err="1">
                          <a:effectLst/>
                        </a:rPr>
                        <a:t>wakeup_event.mtip</a:t>
                      </a:r>
                      <a:r>
                        <a:rPr lang="en-US" sz="900" kern="100" dirty="0">
                          <a:effectLst/>
                        </a:rPr>
                        <a:t>  = hart0_mtip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</a:rPr>
                        <a:t>PCS[core0</a:t>
                      </a:r>
                      <a:r>
                        <a:rPr lang="en-US" sz="900" kern="100" dirty="0"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effectLst/>
                        </a:rPr>
                        <a:t>wakeup_event.mtip</a:t>
                      </a:r>
                      <a:r>
                        <a:rPr lang="en-US" sz="900" kern="100" dirty="0">
                          <a:effectLst/>
                        </a:rPr>
                        <a:t>  = hart0_mtip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</a:rPr>
                        <a:t>PCS[core1</a:t>
                      </a:r>
                      <a:r>
                        <a:rPr lang="en-US" sz="900" kern="100" dirty="0"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effectLst/>
                        </a:rPr>
                        <a:t>wakeup_event.mtip</a:t>
                      </a:r>
                      <a:r>
                        <a:rPr lang="en-US" sz="900" kern="100" dirty="0">
                          <a:effectLst/>
                        </a:rPr>
                        <a:t>  = </a:t>
                      </a:r>
                      <a:r>
                        <a:rPr lang="en-US" sz="900" kern="100" dirty="0" smtClean="0">
                          <a:effectLst/>
                        </a:rPr>
                        <a:t>hart1_mtip</a:t>
                      </a:r>
                      <a:endParaRPr lang="zh-TW" sz="900" kern="100" dirty="0">
                        <a:effectLst/>
                      </a:endParaRPr>
                    </a:p>
                  </a:txBody>
                  <a:tcPr marL="42517" marR="42517" marT="0" marB="0"/>
                </a:tc>
              </a:tr>
              <a:tr h="841569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31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eip</a:t>
                      </a:r>
                      <a:endParaRPr lang="zh-TW" sz="9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2517" marR="42517" marT="0" marB="0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PLIC interrupt </a:t>
                      </a:r>
                      <a:r>
                        <a:rPr lang="en-US" sz="900" kern="100" dirty="0" smtClean="0">
                          <a:effectLst/>
                        </a:rPr>
                        <a:t>target(*=</a:t>
                      </a:r>
                      <a:r>
                        <a:rPr lang="en-US" sz="900" kern="100" dirty="0">
                          <a:effectLst/>
                        </a:rPr>
                        <a:t>m/s/u)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PCS[ default ].</a:t>
                      </a:r>
                      <a:r>
                        <a:rPr lang="en-US" sz="900" kern="100" dirty="0" err="1">
                          <a:effectLst/>
                        </a:rPr>
                        <a:t>wakeup_event.eip</a:t>
                      </a:r>
                      <a:r>
                        <a:rPr lang="en-US" sz="900" kern="100" dirty="0">
                          <a:effectLst/>
                        </a:rPr>
                        <a:t>  = hart0_*</a:t>
                      </a:r>
                      <a:r>
                        <a:rPr lang="en-US" sz="900" kern="100" dirty="0" err="1">
                          <a:effectLst/>
                        </a:rPr>
                        <a:t>eip</a:t>
                      </a:r>
                      <a:r>
                        <a:rPr lang="en-US" sz="900" kern="100" dirty="0">
                          <a:effectLst/>
                        </a:rPr>
                        <a:t> 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</a:rPr>
                        <a:t>PCS[core0</a:t>
                      </a:r>
                      <a:r>
                        <a:rPr lang="en-US" sz="900" kern="100" dirty="0"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effectLst/>
                        </a:rPr>
                        <a:t>wakeup_event.eip</a:t>
                      </a:r>
                      <a:r>
                        <a:rPr lang="en-US" sz="900" kern="100" dirty="0">
                          <a:effectLst/>
                        </a:rPr>
                        <a:t>  = hart0_*</a:t>
                      </a:r>
                      <a:r>
                        <a:rPr lang="en-US" sz="900" kern="100" dirty="0" err="1">
                          <a:effectLst/>
                        </a:rPr>
                        <a:t>eip</a:t>
                      </a:r>
                      <a:endParaRPr lang="zh-TW" sz="900" kern="100" dirty="0">
                        <a:effectLst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</a:rPr>
                        <a:t>PCS[core1</a:t>
                      </a:r>
                      <a:r>
                        <a:rPr lang="en-US" sz="900" kern="100" dirty="0">
                          <a:effectLst/>
                        </a:rPr>
                        <a:t>].</a:t>
                      </a:r>
                      <a:r>
                        <a:rPr lang="en-US" sz="900" kern="100" dirty="0" err="1">
                          <a:effectLst/>
                        </a:rPr>
                        <a:t>wakeup_event.eip</a:t>
                      </a:r>
                      <a:r>
                        <a:rPr lang="en-US" sz="900" kern="100" dirty="0">
                          <a:effectLst/>
                        </a:rPr>
                        <a:t>  = hart1_*</a:t>
                      </a:r>
                      <a:r>
                        <a:rPr lang="en-US" sz="900" kern="100" dirty="0" err="1" smtClean="0">
                          <a:effectLst/>
                        </a:rPr>
                        <a:t>eip</a:t>
                      </a:r>
                      <a:endParaRPr lang="zh-TW" sz="900" kern="100" dirty="0">
                        <a:effectLst/>
                      </a:endParaRPr>
                    </a:p>
                  </a:txBody>
                  <a:tcPr marL="42517" marR="42517" marT="0" marB="0"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14325" y="2085975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dirty="0" smtClean="0"/>
              <a:t>AE35x wakeup events (2 harts)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2596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PCS_CTL - </a:t>
            </a:r>
            <a:r>
              <a:rPr lang="en-US" altLang="zh-TW" dirty="0" smtClean="0"/>
              <a:t>Control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659860"/>
              </p:ext>
            </p:extLst>
          </p:nvPr>
        </p:nvGraphicFramePr>
        <p:xfrm>
          <a:off x="371898" y="1067117"/>
          <a:ext cx="8266853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43"/>
                <a:gridCol w="947381"/>
                <a:gridCol w="4421114"/>
                <a:gridCol w="710949"/>
                <a:gridCol w="866366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Name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Bit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Description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Type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Reset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cmd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2:0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Power control</a:t>
                      </a:r>
                      <a:r>
                        <a:rPr lang="en-US" sz="1200" kern="100" dirty="0">
                          <a:effectLst/>
                        </a:rPr>
                        <a:t> Command.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0: Active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1: </a:t>
                      </a:r>
                      <a:r>
                        <a:rPr lang="en-US" sz="1200" kern="100" dirty="0" err="1">
                          <a:effectLst/>
                        </a:rPr>
                        <a:t>PCS_reset</a:t>
                      </a:r>
                      <a:r>
                        <a:rPr lang="en-US" sz="1200" kern="100" dirty="0">
                          <a:effectLst/>
                        </a:rPr>
                        <a:t>*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2: DVFS</a:t>
                      </a:r>
                      <a:endParaRPr lang="zh-TW" sz="14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3: </a:t>
                      </a:r>
                      <a:r>
                        <a:rPr lang="en-US" sz="1200" kern="100" dirty="0" smtClean="0">
                          <a:effectLst/>
                        </a:rPr>
                        <a:t>Sleep</a:t>
                      </a:r>
                      <a:endParaRPr lang="zh-TW" sz="1400" kern="1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RW*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0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solidFill>
                            <a:srgbClr val="FF0000"/>
                          </a:solidFill>
                          <a:effectLst/>
                          <a:latin typeface="Georgia"/>
                          <a:ea typeface="新細明體"/>
                          <a:cs typeface="Candara"/>
                        </a:rPr>
                        <a:t>param</a:t>
                      </a:r>
                      <a:endParaRPr lang="zh-TW" sz="14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Georgia"/>
                          <a:ea typeface="新細明體"/>
                          <a:cs typeface="Candara"/>
                        </a:rPr>
                        <a:t>7:3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RW*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0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6009"/>
              </p:ext>
            </p:extLst>
          </p:nvPr>
        </p:nvGraphicFramePr>
        <p:xfrm>
          <a:off x="1740020" y="4236720"/>
          <a:ext cx="5191125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9479"/>
                <a:gridCol w="4071646"/>
              </a:tblGrid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cmd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param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Active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1</a:t>
                      </a:r>
                      <a:r>
                        <a:rPr lang="en-US" sz="1200" kern="100" dirty="0">
                          <a:effectLst/>
                        </a:rPr>
                        <a:t>: wakeup</a:t>
                      </a:r>
                      <a:endParaRPr lang="zh-TW" sz="140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2: Cancel from waiting state</a:t>
                      </a:r>
                      <a:endParaRPr lang="zh-TW" sz="14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PCS_reset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minimal Reset </a:t>
                      </a:r>
                      <a:r>
                        <a:rPr lang="en-US" sz="1200" kern="100" dirty="0" smtClean="0">
                          <a:effectLst/>
                        </a:rPr>
                        <a:t>cycles</a:t>
                      </a:r>
                      <a:endParaRPr lang="zh-TW" sz="1400" kern="100" dirty="0">
                        <a:effectLst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DVFS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DVFS factor (level</a:t>
                      </a:r>
                      <a:r>
                        <a:rPr lang="en-US" sz="1200" kern="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zh-TW" sz="14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Sleep</a:t>
                      </a:r>
                      <a:endParaRPr lang="zh-TW" sz="14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0: </a:t>
                      </a:r>
                      <a:r>
                        <a:rPr lang="en-US" sz="1200" kern="100" dirty="0" err="1">
                          <a:effectLst/>
                        </a:rPr>
                        <a:t>LightSleep</a:t>
                      </a:r>
                      <a:endParaRPr lang="zh-TW" sz="140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1: </a:t>
                      </a:r>
                      <a:r>
                        <a:rPr lang="en-US" sz="1200" kern="100" dirty="0" err="1">
                          <a:effectLst/>
                        </a:rPr>
                        <a:t>DeepSleep</a:t>
                      </a:r>
                      <a:endParaRPr lang="zh-TW" sz="14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364978" y="3330059"/>
            <a:ext cx="6763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dirty="0" smtClean="0"/>
              <a:t>* Hardware </a:t>
            </a:r>
            <a:r>
              <a:rPr lang="en-US" altLang="zh-TW" b="0" dirty="0"/>
              <a:t>protection on Write </a:t>
            </a:r>
            <a:r>
              <a:rPr lang="en-US" altLang="zh-TW" b="0" dirty="0" smtClean="0"/>
              <a:t>operation</a:t>
            </a:r>
          </a:p>
          <a:p>
            <a:r>
              <a:rPr lang="en-US" altLang="zh-TW" b="0" dirty="0" smtClean="0"/>
              <a:t>* Globally </a:t>
            </a:r>
            <a:r>
              <a:rPr lang="en-US" altLang="zh-TW" b="0" dirty="0"/>
              <a:t>reset by </a:t>
            </a:r>
            <a:r>
              <a:rPr lang="en-US" altLang="zh-TW" b="0" dirty="0" smtClean="0">
                <a:solidFill>
                  <a:srgbClr val="FF0000"/>
                </a:solidFill>
              </a:rPr>
              <a:t>PCS0</a:t>
            </a:r>
            <a:r>
              <a:rPr lang="en-US" altLang="zh-TW" b="0" dirty="0" smtClean="0"/>
              <a:t>.PCS_resrt (aka. </a:t>
            </a:r>
            <a:r>
              <a:rPr lang="en-US" altLang="zh-TW" b="0" dirty="0" err="1" smtClean="0"/>
              <a:t>sw_rst</a:t>
            </a:r>
            <a:r>
              <a:rPr lang="en-US" altLang="zh-TW" b="0" dirty="0" smtClean="0"/>
              <a:t> on ae350_smu)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79010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PCS_STATUS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702589"/>
              </p:ext>
            </p:extLst>
          </p:nvPr>
        </p:nvGraphicFramePr>
        <p:xfrm>
          <a:off x="711341" y="1054100"/>
          <a:ext cx="7759418" cy="5384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403"/>
                <a:gridCol w="889229"/>
                <a:gridCol w="4154393"/>
                <a:gridCol w="665758"/>
                <a:gridCol w="811635"/>
              </a:tblGrid>
              <a:tr h="3480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Name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Bit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Description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Type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Reset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15019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PD_type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2:0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Active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Reset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2: Sleep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3: </a:t>
                      </a:r>
                      <a:r>
                        <a:rPr lang="en-US" sz="1050" kern="100" dirty="0" err="1" smtClean="0">
                          <a:effectLst/>
                        </a:rPr>
                        <a:t>Busy_Wait</a:t>
                      </a: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7: Timeout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RW*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5149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PD_status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7:3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050" kern="100" dirty="0" smtClean="0">
                          <a:solidFill>
                            <a:srgbClr val="FF0000"/>
                          </a:solidFill>
                          <a:effectLst/>
                        </a:rPr>
                        <a:t>(See the</a:t>
                      </a:r>
                      <a:r>
                        <a:rPr lang="en-US" sz="1050" kern="100" baseline="0" dirty="0" smtClean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050" kern="100" dirty="0" smtClean="0">
                          <a:solidFill>
                            <a:srgbClr val="FF0000"/>
                          </a:solidFill>
                          <a:effectLst/>
                        </a:rPr>
                        <a:t>next slide)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RW*</a:t>
                      </a:r>
                      <a:endParaRPr lang="zh-TW" sz="1200" kern="10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126595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cmd_status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10:8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Command successful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1: Cancel successful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smtClean="0">
                          <a:effectLst/>
                        </a:rPr>
                        <a:t>6</a:t>
                      </a:r>
                      <a:r>
                        <a:rPr lang="en-US" sz="1050" kern="100" dirty="0">
                          <a:effectLst/>
                        </a:rPr>
                        <a:t>: waive PCS command ( no </a:t>
                      </a:r>
                      <a:r>
                        <a:rPr lang="en-US" sz="1050" kern="100" dirty="0" err="1">
                          <a:effectLst/>
                        </a:rPr>
                        <a:t>pend_int</a:t>
                      </a:r>
                      <a:r>
                        <a:rPr lang="en-US" sz="1050" kern="100" dirty="0">
                          <a:effectLst/>
                        </a:rPr>
                        <a:t>)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7: Unsupported/Wrong PCS command (fire </a:t>
                      </a:r>
                      <a:r>
                        <a:rPr lang="en-US" sz="1050" kern="100" dirty="0" err="1">
                          <a:effectLst/>
                        </a:rPr>
                        <a:t>pend_int</a:t>
                      </a:r>
                      <a:r>
                        <a:rPr lang="en-US" sz="1050" kern="100" dirty="0">
                          <a:effectLst/>
                        </a:rPr>
                        <a:t>)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RW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3480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DVFS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TBD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DVFS factor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RO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</a:t>
                      </a:r>
                      <a:endParaRPr lang="zh-TW" sz="12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5578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wakeup_int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Pending wakeup interrupt.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The bit is asserted when the </a:t>
                      </a:r>
                      <a:r>
                        <a:rPr lang="en-US" sz="1050" kern="100" dirty="0" err="1">
                          <a:effectLst/>
                        </a:rPr>
                        <a:t>PD_type</a:t>
                      </a:r>
                      <a:r>
                        <a:rPr lang="en-US" sz="1050" kern="100" dirty="0">
                          <a:effectLst/>
                        </a:rPr>
                        <a:t> is changed to Active by PCS.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W1C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  <a:tr h="7939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pend_int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31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Pending interrupt.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The bit is asserted when the </a:t>
                      </a:r>
                      <a:r>
                        <a:rPr lang="en-US" sz="1050" kern="100" dirty="0" err="1">
                          <a:effectLst/>
                        </a:rPr>
                        <a:t>PD_type</a:t>
                      </a:r>
                      <a:r>
                        <a:rPr lang="en-US" sz="1050" kern="100" dirty="0">
                          <a:effectLst/>
                        </a:rPr>
                        <a:t> is changed to Timeout by PCS or the </a:t>
                      </a:r>
                      <a:r>
                        <a:rPr lang="en-US" sz="1050" kern="100" dirty="0" err="1">
                          <a:effectLst/>
                        </a:rPr>
                        <a:t>cmd_status</a:t>
                      </a:r>
                      <a:r>
                        <a:rPr lang="en-US" sz="1050" kern="100" dirty="0">
                          <a:effectLst/>
                        </a:rPr>
                        <a:t> is 7.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W1C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85827" marR="85827" marT="42914" marB="42914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337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PCS_STATUS.</a:t>
            </a:r>
            <a:r>
              <a:rPr lang="en-US" altLang="zh-TW" kern="100" dirty="0" err="1" smtClean="0"/>
              <a:t>PD_status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235790"/>
              </p:ext>
            </p:extLst>
          </p:nvPr>
        </p:nvGraphicFramePr>
        <p:xfrm>
          <a:off x="1219200" y="1095374"/>
          <a:ext cx="6419850" cy="5193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1179"/>
                <a:gridCol w="4998671"/>
              </a:tblGrid>
              <a:tr h="351585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PD_type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PD_status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</a:tr>
              <a:tr h="639523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Active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effectLst/>
                        </a:rPr>
                        <a:t>Wakeup cause. </a:t>
                      </a:r>
                      <a:r>
                        <a:rPr lang="en-US" sz="1050" kern="100" dirty="0">
                          <a:effectLst/>
                        </a:rPr>
                        <a:t>Wakeup from non-masked pending event (vector).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Wakeup from PCS or DVFS done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wakeup event 1…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</a:tr>
              <a:tr h="1306609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Reset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Reset cause: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[3]: global power-on reset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[4]: </a:t>
                      </a:r>
                      <a:r>
                        <a:rPr lang="en-US" sz="1050" kern="100" dirty="0" err="1">
                          <a:effectLst/>
                        </a:rPr>
                        <a:t>PCS_reset</a:t>
                      </a:r>
                      <a:r>
                        <a:rPr lang="en-US" sz="1050" kern="100" dirty="0">
                          <a:effectLst/>
                        </a:rPr>
                        <a:t> (SW reset in SMU v0)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[5]: implementation </a:t>
                      </a:r>
                      <a:r>
                        <a:rPr lang="en-US" sz="1050" kern="100" dirty="0" smtClean="0">
                          <a:effectLst/>
                        </a:rPr>
                        <a:t>dependent (WDT on </a:t>
                      </a:r>
                      <a:r>
                        <a:rPr lang="en-US" sz="1050" kern="100" dirty="0" smtClean="0">
                          <a:solidFill>
                            <a:srgbClr val="FF0000"/>
                          </a:solidFill>
                          <a:effectLst/>
                        </a:rPr>
                        <a:t>AE35x</a:t>
                      </a:r>
                      <a:r>
                        <a:rPr lang="en-US" sz="1050" kern="100" dirty="0" smtClean="0">
                          <a:effectLst/>
                        </a:rPr>
                        <a:t>)</a:t>
                      </a:r>
                      <a:endParaRPr lang="zh-TW" sz="1050" kern="100" dirty="0">
                        <a:effectLst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00" dirty="0" smtClean="0">
                          <a:effectLst/>
                        </a:rPr>
                        <a:t>[6]: implementation </a:t>
                      </a:r>
                      <a:r>
                        <a:rPr lang="en-US" altLang="zh-TW" sz="1050" kern="100" dirty="0" smtClean="0">
                          <a:effectLst/>
                        </a:rPr>
                        <a:t>dependent (</a:t>
                      </a:r>
                      <a:r>
                        <a:rPr lang="en-US" altLang="zh-TW" sz="1050" kern="100" dirty="0" err="1" smtClean="0">
                          <a:effectLst/>
                        </a:rPr>
                        <a:t>T_hw</a:t>
                      </a:r>
                      <a:r>
                        <a:rPr lang="en-US" altLang="zh-TW" sz="1050" kern="100" dirty="0" smtClean="0">
                          <a:effectLst/>
                        </a:rPr>
                        <a:t> on AE35x)</a:t>
                      </a:r>
                      <a:endParaRPr lang="zh-TW" sz="1050" kern="100" dirty="0" smtClean="0">
                        <a:effectLst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00" dirty="0" smtClean="0">
                          <a:effectLst/>
                        </a:rPr>
                        <a:t>[</a:t>
                      </a:r>
                      <a:r>
                        <a:rPr lang="en-US" sz="1050" kern="100" dirty="0">
                          <a:effectLst/>
                        </a:rPr>
                        <a:t>7]: implementation </a:t>
                      </a:r>
                      <a:r>
                        <a:rPr lang="en-US" altLang="zh-TW" sz="1050" kern="100" dirty="0" smtClean="0">
                          <a:effectLst/>
                        </a:rPr>
                        <a:t>dependent (</a:t>
                      </a:r>
                      <a:r>
                        <a:rPr lang="en-US" altLang="zh-TW" sz="1050" kern="100" dirty="0" err="1" smtClean="0">
                          <a:effectLst/>
                        </a:rPr>
                        <a:t>X_por_b</a:t>
                      </a:r>
                      <a:r>
                        <a:rPr lang="en-US" altLang="zh-TW" sz="1050" kern="100" baseline="0" dirty="0" smtClean="0">
                          <a:effectLst/>
                        </a:rPr>
                        <a:t> </a:t>
                      </a:r>
                      <a:r>
                        <a:rPr lang="en-US" altLang="zh-TW" sz="1050" kern="100" dirty="0" smtClean="0">
                          <a:effectLst/>
                        </a:rPr>
                        <a:t>on AE35x)</a:t>
                      </a:r>
                      <a:endParaRPr lang="zh-TW" altLang="zh-TW" sz="1050" kern="100" dirty="0" smtClean="0">
                        <a:effectLst/>
                      </a:endParaRPr>
                    </a:p>
                  </a:txBody>
                  <a:tcPr marL="48462" marR="48462" marT="0" marB="0"/>
                </a:tc>
              </a:tr>
              <a:tr h="761075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Sleep</a:t>
                      </a:r>
                      <a:endParaRPr lang="zh-TW" sz="105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Sleep mode: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</a:t>
                      </a:r>
                      <a:r>
                        <a:rPr lang="en-US" sz="1050" kern="100" dirty="0" err="1">
                          <a:effectLst/>
                        </a:rPr>
                        <a:t>LightSleep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smtClean="0">
                          <a:effectLst/>
                        </a:rPr>
                        <a:t>16</a:t>
                      </a:r>
                      <a:r>
                        <a:rPr lang="en-US" sz="1050" kern="100" dirty="0">
                          <a:effectLst/>
                        </a:rPr>
                        <a:t>: </a:t>
                      </a:r>
                      <a:r>
                        <a:rPr lang="en-US" sz="1050" kern="100" dirty="0" err="1" smtClean="0">
                          <a:effectLst/>
                        </a:rPr>
                        <a:t>DeepSleep</a:t>
                      </a:r>
                      <a:endParaRPr lang="zh-TW" sz="1050" kern="100" dirty="0">
                        <a:effectLst/>
                      </a:endParaRPr>
                    </a:p>
                  </a:txBody>
                  <a:tcPr marL="48462" marR="48462" marT="0" marB="0"/>
                </a:tc>
              </a:tr>
              <a:tr h="1751334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Busy_Wait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0: waiting on Reset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1: waiting on DVFS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2: waiting on </a:t>
                      </a:r>
                      <a:r>
                        <a:rPr lang="en-US" sz="1050" kern="100" dirty="0" err="1">
                          <a:effectLst/>
                        </a:rPr>
                        <a:t>LightSleep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3: waiting on </a:t>
                      </a:r>
                      <a:r>
                        <a:rPr lang="en-US" sz="1050" kern="100" dirty="0" err="1">
                          <a:effectLst/>
                        </a:rPr>
                        <a:t>DeepSleep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smtClean="0">
                          <a:effectLst/>
                        </a:rPr>
                        <a:t>16</a:t>
                      </a:r>
                      <a:r>
                        <a:rPr lang="en-US" sz="1050" kern="100" dirty="0">
                          <a:effectLst/>
                        </a:rPr>
                        <a:t>: Busy on Reset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17: Busy on DVFS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18: Busy on </a:t>
                      </a:r>
                      <a:r>
                        <a:rPr lang="en-US" sz="1050" kern="100" dirty="0" err="1">
                          <a:effectLst/>
                        </a:rPr>
                        <a:t>LightSleep</a:t>
                      </a:r>
                      <a:endParaRPr lang="zh-TW" sz="1050" kern="100" dirty="0">
                        <a:effectLst/>
                      </a:endParaRPr>
                    </a:p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19: Busy on </a:t>
                      </a:r>
                      <a:r>
                        <a:rPr lang="en-US" sz="1050" kern="100" dirty="0" err="1">
                          <a:effectLst/>
                        </a:rPr>
                        <a:t>DeepSleep</a:t>
                      </a:r>
                      <a:endParaRPr lang="zh-TW" sz="105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48462" marR="4846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773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Flow Control Sequences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652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</a:t>
            </a:r>
            <a:r>
              <a:rPr lang="en-US" altLang="zh-TW" dirty="0" smtClean="0"/>
              <a:t>view </a:t>
            </a:r>
            <a:r>
              <a:rPr lang="en-US" altLang="zh-TW" dirty="0"/>
              <a:t>for power </a:t>
            </a:r>
            <a:r>
              <a:rPr lang="en-US" altLang="zh-TW" dirty="0" smtClean="0"/>
              <a:t>control</a:t>
            </a:r>
            <a:endParaRPr lang="en-US" altLang="zh-TW" dirty="0"/>
          </a:p>
        </p:txBody>
      </p:sp>
      <p:sp>
        <p:nvSpPr>
          <p:cNvPr id="4" name="橢圓 3"/>
          <p:cNvSpPr/>
          <p:nvPr/>
        </p:nvSpPr>
        <p:spPr bwMode="auto">
          <a:xfrm>
            <a:off x="3636815" y="975044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Normal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弧形 7"/>
          <p:cNvSpPr/>
          <p:nvPr/>
        </p:nvSpPr>
        <p:spPr bwMode="auto">
          <a:xfrm rot="14612720">
            <a:off x="3228872" y="1442044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弧形 16"/>
          <p:cNvSpPr/>
          <p:nvPr/>
        </p:nvSpPr>
        <p:spPr bwMode="auto">
          <a:xfrm rot="19772063">
            <a:off x="1699976" y="3389886"/>
            <a:ext cx="478431" cy="504050"/>
          </a:xfrm>
          <a:prstGeom prst="arc">
            <a:avLst>
              <a:gd name="adj1" fmla="val 399879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橢圓 19"/>
          <p:cNvSpPr/>
          <p:nvPr/>
        </p:nvSpPr>
        <p:spPr bwMode="auto">
          <a:xfrm>
            <a:off x="2301142" y="2337269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4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Software</a:t>
            </a:r>
          </a:p>
          <a:p>
            <a:pPr algn="ctr"/>
            <a:r>
              <a:rPr lang="en-US" altLang="zh-TW" sz="1400" dirty="0"/>
              <a:t>procedure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橢圓 20"/>
          <p:cNvSpPr/>
          <p:nvPr/>
        </p:nvSpPr>
        <p:spPr bwMode="auto">
          <a:xfrm>
            <a:off x="2301142" y="3693599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 smtClean="0"/>
              <a:t>Hardware</a:t>
            </a:r>
          </a:p>
          <a:p>
            <a:r>
              <a:rPr lang="en-US" altLang="zh-TW" sz="1200" dirty="0"/>
              <a:t>handshaking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橢圓 21"/>
          <p:cNvSpPr/>
          <p:nvPr/>
        </p:nvSpPr>
        <p:spPr bwMode="auto">
          <a:xfrm>
            <a:off x="3636815" y="506081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300" dirty="0" err="1" smtClean="0"/>
              <a:t>PowerDown</a:t>
            </a:r>
            <a:endParaRPr lang="en-US" altLang="zh-TW" sz="13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/DVFS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橢圓 22"/>
          <p:cNvSpPr/>
          <p:nvPr/>
        </p:nvSpPr>
        <p:spPr bwMode="auto">
          <a:xfrm>
            <a:off x="4950338" y="236038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4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Software</a:t>
            </a:r>
          </a:p>
          <a:p>
            <a:pPr algn="ctr"/>
            <a:r>
              <a:rPr lang="en-US" altLang="zh-TW" sz="1400" dirty="0"/>
              <a:t>procedure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橢圓 23"/>
          <p:cNvSpPr/>
          <p:nvPr/>
        </p:nvSpPr>
        <p:spPr bwMode="auto">
          <a:xfrm>
            <a:off x="4950338" y="371671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 smtClean="0"/>
              <a:t>Hardware</a:t>
            </a:r>
          </a:p>
          <a:p>
            <a:r>
              <a:rPr lang="en-US" altLang="zh-TW" sz="1200" dirty="0"/>
              <a:t>handshaking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弧形 24"/>
          <p:cNvSpPr/>
          <p:nvPr/>
        </p:nvSpPr>
        <p:spPr bwMode="auto">
          <a:xfrm rot="587374">
            <a:off x="4302907" y="1608959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弧形 25"/>
          <p:cNvSpPr/>
          <p:nvPr/>
        </p:nvSpPr>
        <p:spPr bwMode="auto">
          <a:xfrm rot="11512708">
            <a:off x="3228871" y="4376265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弧形 26"/>
          <p:cNvSpPr/>
          <p:nvPr/>
        </p:nvSpPr>
        <p:spPr bwMode="auto">
          <a:xfrm rot="4923021">
            <a:off x="4466255" y="4236061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76200" y="2304742"/>
            <a:ext cx="3923313" cy="271895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197" y="4658539"/>
            <a:ext cx="2452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Power </a:t>
            </a:r>
            <a:r>
              <a:rPr lang="en-US" altLang="zh-TW" sz="1600" dirty="0" smtClean="0">
                <a:solidFill>
                  <a:srgbClr val="FF0000"/>
                </a:solidFill>
              </a:rPr>
              <a:t>down sequence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4914232" y="2356319"/>
            <a:ext cx="4001168" cy="2718954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61026" y="4740089"/>
            <a:ext cx="21675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00B050"/>
                </a:solidFill>
              </a:rPr>
              <a:t>Power </a:t>
            </a:r>
            <a:r>
              <a:rPr lang="en-US" altLang="zh-TW" sz="1600" dirty="0" smtClean="0">
                <a:solidFill>
                  <a:srgbClr val="00B050"/>
                </a:solidFill>
              </a:rPr>
              <a:t>on sequence </a:t>
            </a:r>
            <a:endParaRPr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32" name="弧形 31"/>
          <p:cNvSpPr/>
          <p:nvPr/>
        </p:nvSpPr>
        <p:spPr bwMode="auto">
          <a:xfrm rot="8928370">
            <a:off x="6787231" y="3436111"/>
            <a:ext cx="478431" cy="504050"/>
          </a:xfrm>
          <a:prstGeom prst="arc">
            <a:avLst>
              <a:gd name="adj1" fmla="val 399879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227716" y="338874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0" i="1" dirty="0" smtClean="0"/>
              <a:t>Core</a:t>
            </a:r>
          </a:p>
          <a:p>
            <a:r>
              <a:rPr lang="en-US" altLang="zh-TW" b="0" i="1" dirty="0" smtClean="0"/>
              <a:t>Reset*</a:t>
            </a:r>
            <a:endParaRPr lang="zh-TW" altLang="en-US" b="0" i="1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099324" y="348035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0" dirty="0" smtClean="0"/>
              <a:t>WFI</a:t>
            </a:r>
            <a:endParaRPr lang="zh-TW" altLang="en-US" b="0" dirty="0"/>
          </a:p>
        </p:txBody>
      </p:sp>
      <p:sp>
        <p:nvSpPr>
          <p:cNvPr id="35" name="矩形 34"/>
          <p:cNvSpPr/>
          <p:nvPr/>
        </p:nvSpPr>
        <p:spPr bwMode="auto">
          <a:xfrm>
            <a:off x="2205742" y="3685054"/>
            <a:ext cx="4506379" cy="282052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196217" y="6117194"/>
            <a:ext cx="1608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S</a:t>
            </a:r>
            <a:r>
              <a:rPr lang="en-US" altLang="zh-TW" dirty="0" smtClean="0">
                <a:solidFill>
                  <a:srgbClr val="C00000"/>
                </a:solidFill>
              </a:rPr>
              <a:t>MU control 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2207490" y="960474"/>
            <a:ext cx="4506380" cy="2705530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7490" y="923725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Core control 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98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down 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Software </a:t>
            </a:r>
            <a:r>
              <a:rPr lang="en-US" altLang="zh-TW" sz="2400" dirty="0" smtClean="0"/>
              <a:t>procedure by Core</a:t>
            </a:r>
          </a:p>
          <a:p>
            <a:pPr lvl="1"/>
            <a:r>
              <a:rPr lang="en-US" altLang="zh-TW" sz="1800" dirty="0"/>
              <a:t>Disable interrupt-enable bit </a:t>
            </a:r>
            <a:r>
              <a:rPr lang="en-US" altLang="zh-TW" sz="1800" dirty="0" smtClean="0"/>
              <a:t>(</a:t>
            </a:r>
            <a:r>
              <a:rPr lang="en-US" altLang="zh-TW" sz="1800" dirty="0" err="1" smtClean="0"/>
              <a:t>mstatus.mie</a:t>
            </a:r>
            <a:r>
              <a:rPr lang="en-US" altLang="zh-TW" sz="1800" dirty="0"/>
              <a:t>) </a:t>
            </a:r>
            <a:endParaRPr lang="en-US" altLang="zh-TW" sz="1800" dirty="0" smtClean="0"/>
          </a:p>
          <a:p>
            <a:pPr lvl="1"/>
            <a:r>
              <a:rPr lang="en-US" altLang="zh-TW" sz="1800" dirty="0" smtClean="0"/>
              <a:t>Flush cache(s)</a:t>
            </a:r>
          </a:p>
          <a:p>
            <a:pPr lvl="1"/>
            <a:r>
              <a:rPr lang="en-US" altLang="zh-TW" sz="1800" dirty="0" smtClean="0"/>
              <a:t>Program </a:t>
            </a:r>
            <a:r>
              <a:rPr lang="en-US" altLang="zh-TW" sz="1800" dirty="0"/>
              <a:t>save </a:t>
            </a:r>
            <a:r>
              <a:rPr lang="en-US" altLang="zh-TW" sz="1800" dirty="0" smtClean="0"/>
              <a:t>CSR/RF/FRF status and resume PC to memory</a:t>
            </a:r>
          </a:p>
          <a:p>
            <a:pPr lvl="1"/>
            <a:r>
              <a:rPr lang="en-US" altLang="zh-TW" sz="1800" dirty="0" smtClean="0"/>
              <a:t>Execute SMU power down command &amp; WFI </a:t>
            </a:r>
          </a:p>
          <a:p>
            <a:pPr lvl="1"/>
            <a:endParaRPr lang="en-US" altLang="zh-TW" sz="1800" dirty="0" smtClean="0"/>
          </a:p>
          <a:p>
            <a:r>
              <a:rPr lang="en-US" altLang="zh-TW" sz="2400" dirty="0"/>
              <a:t>Hardware </a:t>
            </a:r>
            <a:r>
              <a:rPr lang="en-US" altLang="zh-TW" sz="2400" dirty="0" smtClean="0"/>
              <a:t>handshaking by SMU</a:t>
            </a:r>
          </a:p>
          <a:p>
            <a:pPr lvl="1"/>
            <a:r>
              <a:rPr lang="en-US" altLang="zh-TW" sz="2000" dirty="0"/>
              <a:t>W</a:t>
            </a:r>
            <a:r>
              <a:rPr lang="en-US" altLang="zh-TW" sz="2000" dirty="0" smtClean="0"/>
              <a:t>aits </a:t>
            </a:r>
            <a:r>
              <a:rPr lang="en-US" altLang="zh-TW" sz="2000" dirty="0" err="1" smtClean="0"/>
              <a:t>core_wfi_mode</a:t>
            </a:r>
            <a:r>
              <a:rPr lang="en-US" altLang="zh-TW" sz="2000" dirty="0" smtClean="0"/>
              <a:t> asserted from core</a:t>
            </a:r>
          </a:p>
          <a:p>
            <a:pPr lvl="1"/>
            <a:r>
              <a:rPr lang="en-US" altLang="zh-TW" sz="2000" dirty="0"/>
              <a:t>Disable </a:t>
            </a:r>
            <a:r>
              <a:rPr lang="en-US" altLang="zh-TW" sz="2000" dirty="0" smtClean="0"/>
              <a:t>clock</a:t>
            </a:r>
          </a:p>
          <a:p>
            <a:pPr lvl="1"/>
            <a:r>
              <a:rPr lang="en-US" altLang="zh-TW" sz="2000" dirty="0" smtClean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Enables </a:t>
            </a:r>
            <a:r>
              <a:rPr lang="en-US" altLang="zh-TW" sz="2000" dirty="0" smtClean="0">
                <a:solidFill>
                  <a:srgbClr val="FF0000"/>
                </a:solidFill>
              </a:rPr>
              <a:t>isolation/retention</a:t>
            </a:r>
            <a:r>
              <a:rPr lang="en-US" altLang="zh-TW" sz="2000" dirty="0" smtClean="0"/>
              <a:t> cell</a:t>
            </a:r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</a:t>
            </a:r>
            <a:r>
              <a:rPr lang="en-US" altLang="zh-TW" sz="2000" dirty="0" smtClean="0"/>
              <a:t>Asserts reset signal</a:t>
            </a:r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Disable </a:t>
            </a:r>
            <a:r>
              <a:rPr lang="en-US" altLang="zh-TW" sz="2000" dirty="0" smtClean="0"/>
              <a:t>power</a:t>
            </a:r>
          </a:p>
          <a:p>
            <a:pPr lvl="1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955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on 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Hardware </a:t>
            </a:r>
            <a:r>
              <a:rPr lang="en-US" altLang="zh-TW" sz="2400" dirty="0" smtClean="0"/>
              <a:t>handshaking by SMU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Power </a:t>
            </a:r>
            <a:r>
              <a:rPr lang="en-US" altLang="zh-TW" sz="2000" dirty="0"/>
              <a:t>on sequence </a:t>
            </a:r>
            <a:r>
              <a:rPr lang="en-US" altLang="zh-TW" sz="2000" dirty="0" smtClean="0"/>
              <a:t>is triggered by Wakeup events</a:t>
            </a:r>
            <a:endParaRPr lang="en-US" altLang="zh-TW" sz="2000" dirty="0"/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</a:t>
            </a:r>
            <a:r>
              <a:rPr lang="en-US" altLang="zh-TW" sz="2000" dirty="0" smtClean="0"/>
              <a:t>Enable power</a:t>
            </a:r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</a:t>
            </a:r>
            <a:r>
              <a:rPr lang="en-US" altLang="zh-TW" sz="2000" dirty="0" smtClean="0"/>
              <a:t>De-assert </a:t>
            </a:r>
            <a:r>
              <a:rPr lang="en-US" altLang="zh-TW" sz="2000" dirty="0"/>
              <a:t>reset signal</a:t>
            </a:r>
          </a:p>
          <a:p>
            <a:pPr lvl="1"/>
            <a:r>
              <a:rPr lang="en-US" altLang="zh-TW" sz="2000" dirty="0"/>
              <a:t>(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</a:t>
            </a:r>
            <a:r>
              <a:rPr lang="en-US" altLang="zh-TW" sz="2000" dirty="0" smtClean="0"/>
              <a:t>Assert </a:t>
            </a:r>
            <a:r>
              <a:rPr lang="en-US" altLang="zh-TW" sz="2000" dirty="0" err="1"/>
              <a:t>coren_reset_vector</a:t>
            </a:r>
            <a:r>
              <a:rPr lang="en-US" altLang="zh-TW" sz="2000" dirty="0"/>
              <a:t> to restore program</a:t>
            </a:r>
          </a:p>
          <a:p>
            <a:pPr lvl="1"/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DeepSleep</a:t>
            </a:r>
            <a:r>
              <a:rPr lang="en-US" altLang="zh-TW" sz="2000" dirty="0" smtClean="0"/>
              <a:t>) Disable isolation/retention cell</a:t>
            </a:r>
          </a:p>
          <a:p>
            <a:pPr lvl="1"/>
            <a:r>
              <a:rPr lang="en-US" altLang="zh-TW" sz="2000" dirty="0" smtClean="0"/>
              <a:t>Enable </a:t>
            </a:r>
            <a:r>
              <a:rPr lang="en-US" altLang="zh-TW" sz="2000" dirty="0"/>
              <a:t>clock </a:t>
            </a:r>
          </a:p>
          <a:p>
            <a:pPr lvl="1"/>
            <a:endParaRPr lang="en-US" altLang="zh-TW" sz="2000" dirty="0" smtClean="0">
              <a:solidFill>
                <a:srgbClr val="FF0000"/>
              </a:solidFill>
            </a:endParaRPr>
          </a:p>
          <a:p>
            <a:r>
              <a:rPr lang="en-US" altLang="zh-TW" sz="2400" dirty="0"/>
              <a:t>Software </a:t>
            </a:r>
            <a:r>
              <a:rPr lang="en-US" altLang="zh-TW" sz="2400" dirty="0" smtClean="0"/>
              <a:t>procedure by Core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Exit from WFI by unmasked pending interrupts</a:t>
            </a:r>
          </a:p>
          <a:p>
            <a:pPr lvl="1"/>
            <a:r>
              <a:rPr lang="en-US" altLang="zh-TW" sz="2000" dirty="0" smtClean="0"/>
              <a:t>Redirect PC to software restore program</a:t>
            </a:r>
          </a:p>
          <a:p>
            <a:pPr lvl="2"/>
            <a:r>
              <a:rPr lang="en-US" altLang="zh-TW" sz="1600" dirty="0"/>
              <a:t>Software </a:t>
            </a:r>
            <a:r>
              <a:rPr lang="en-US" altLang="zh-TW" sz="1600" dirty="0" smtClean="0"/>
              <a:t>restore </a:t>
            </a:r>
            <a:r>
              <a:rPr lang="en-US" altLang="zh-TW" sz="1600" dirty="0"/>
              <a:t>CSR/RF/FRF status </a:t>
            </a:r>
            <a:r>
              <a:rPr lang="en-US" altLang="zh-TW" sz="1600" dirty="0" smtClean="0"/>
              <a:t>from memory</a:t>
            </a:r>
          </a:p>
          <a:p>
            <a:pPr lvl="1"/>
            <a:r>
              <a:rPr lang="en-US" altLang="zh-TW" sz="2000" dirty="0" smtClean="0"/>
              <a:t>Restore </a:t>
            </a:r>
            <a:r>
              <a:rPr lang="en-US" altLang="zh-TW" sz="2000" dirty="0"/>
              <a:t>interrupt-enable bit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mstatus.mie</a:t>
            </a:r>
            <a:r>
              <a:rPr lang="en-US" altLang="zh-TW" sz="2000" dirty="0"/>
              <a:t>) </a:t>
            </a:r>
            <a:endParaRPr lang="en-US" altLang="zh-TW" sz="2000" dirty="0" smtClean="0"/>
          </a:p>
          <a:p>
            <a:pPr lvl="1"/>
            <a:r>
              <a:rPr lang="en-US" altLang="zh-TW" sz="2000" dirty="0" smtClean="0"/>
              <a:t>Redirect PC (to previous program sequence)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590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/>
              <a:t>Example of Software programming </a:t>
            </a:r>
            <a:r>
              <a:rPr lang="en-US" altLang="zh-TW" sz="2800" dirty="0"/>
              <a:t>sequence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solidFill>
                  <a:srgbClr val="FF0000"/>
                </a:solidFill>
              </a:rPr>
              <a:t>Core0</a:t>
            </a:r>
            <a:r>
              <a:rPr lang="en-US" altLang="zh-TW" dirty="0" smtClean="0"/>
              <a:t> asks Core1 to sleep modes</a:t>
            </a:r>
          </a:p>
          <a:p>
            <a:pPr lvl="1"/>
            <a:r>
              <a:rPr lang="en-US" altLang="zh-TW" dirty="0" smtClean="0"/>
              <a:t>Core0 send power command to SMU for Core1</a:t>
            </a:r>
          </a:p>
          <a:p>
            <a:pPr lvl="1"/>
            <a:r>
              <a:rPr lang="en-US" altLang="zh-TW" dirty="0" smtClean="0"/>
              <a:t>Core0 </a:t>
            </a:r>
            <a:r>
              <a:rPr lang="en-US" altLang="zh-TW" dirty="0"/>
              <a:t>inform </a:t>
            </a:r>
            <a:r>
              <a:rPr lang="en-US" altLang="zh-TW" dirty="0" smtClean="0"/>
              <a:t>Core1 </a:t>
            </a:r>
            <a:r>
              <a:rPr lang="en-US" altLang="zh-TW" dirty="0"/>
              <a:t>to enter WFI mode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or SMU inform Core1</a:t>
            </a:r>
          </a:p>
          <a:p>
            <a:pPr lvl="1"/>
            <a:r>
              <a:rPr lang="en-US" altLang="zh-TW" dirty="0" smtClean="0"/>
              <a:t>SMU handles power command</a:t>
            </a:r>
          </a:p>
          <a:p>
            <a:pPr lvl="1"/>
            <a:r>
              <a:rPr lang="en-US" altLang="zh-TW" dirty="0" smtClean="0"/>
              <a:t>Core1 enters sleep modes</a:t>
            </a:r>
          </a:p>
          <a:p>
            <a:pPr lvl="1"/>
            <a:r>
              <a:rPr lang="en-US" altLang="zh-TW" dirty="0" smtClean="0"/>
              <a:t>(Sleeping)</a:t>
            </a:r>
          </a:p>
          <a:p>
            <a:pPr lvl="1"/>
            <a:r>
              <a:rPr lang="en-US" altLang="zh-TW" dirty="0" smtClean="0"/>
              <a:t>Core1 wakeup by Core0 via Software PLIC</a:t>
            </a:r>
          </a:p>
          <a:p>
            <a:pPr lvl="2"/>
            <a:r>
              <a:rPr lang="en-US" altLang="zh-TW" dirty="0" smtClean="0"/>
              <a:t>or wakeup by SMU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763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PCS </a:t>
            </a:r>
            <a:r>
              <a:rPr lang="en-US" altLang="zh-TW" sz="40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Operations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652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PCS </a:t>
            </a:r>
            <a:r>
              <a:rPr lang="en-US" altLang="zh-TW" dirty="0"/>
              <a:t>Operation </a:t>
            </a:r>
            <a:r>
              <a:rPr lang="en-US" altLang="zh-TW" dirty="0" smtClean="0"/>
              <a:t>FSM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9050" y="1736725"/>
            <a:ext cx="6324954" cy="4063999"/>
          </a:xfrm>
          <a:prstGeom prst="rect">
            <a:avLst/>
          </a:prstGeom>
        </p:spPr>
      </p:pic>
      <p:sp>
        <p:nvSpPr>
          <p:cNvPr id="3" name="橢圓 2"/>
          <p:cNvSpPr/>
          <p:nvPr/>
        </p:nvSpPr>
        <p:spPr bwMode="auto">
          <a:xfrm>
            <a:off x="1304925" y="2638426"/>
            <a:ext cx="1352550" cy="7715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2657475" y="1733551"/>
            <a:ext cx="1352550" cy="7715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238875" y="5038726"/>
            <a:ext cx="1352550" cy="7715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橢圓 7"/>
          <p:cNvSpPr/>
          <p:nvPr/>
        </p:nvSpPr>
        <p:spPr bwMode="auto">
          <a:xfrm>
            <a:off x="6238875" y="2638426"/>
            <a:ext cx="1352550" cy="7715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94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AD609-6E84-4711-9F7C-8D727BE420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52851"/>
            <a:ext cx="8229240" cy="397728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AE35x Implementation</a:t>
            </a:r>
            <a:endParaRPr lang="en-US" sz="4000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652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AE35x</a:t>
            </a:r>
            <a:r>
              <a:rPr lang="en-US" altLang="zh-TW" dirty="0" smtClean="0"/>
              <a:t> Power Domain Partition</a:t>
            </a:r>
            <a:endParaRPr lang="zh-TW" altLang="en-US" dirty="0"/>
          </a:p>
        </p:txBody>
      </p:sp>
      <p:pic>
        <p:nvPicPr>
          <p:cNvPr id="7" name="圖片 6"/>
          <p:cNvPicPr/>
          <p:nvPr/>
        </p:nvPicPr>
        <p:blipFill rotWithShape="1">
          <a:blip r:embed="rId2"/>
          <a:srcRect t="61370"/>
          <a:stretch/>
        </p:blipFill>
        <p:spPr>
          <a:xfrm>
            <a:off x="3886200" y="4902200"/>
            <a:ext cx="5029200" cy="19558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圖片 5"/>
          <p:cNvPicPr/>
          <p:nvPr/>
        </p:nvPicPr>
        <p:blipFill rotWithShape="1">
          <a:blip r:embed="rId2"/>
          <a:srcRect b="38630"/>
          <a:stretch/>
        </p:blipFill>
        <p:spPr>
          <a:xfrm>
            <a:off x="100964" y="895350"/>
            <a:ext cx="6744335" cy="45878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4702629" y="5791200"/>
            <a:ext cx="1534885" cy="337457"/>
          </a:xfrm>
          <a:prstGeom prst="rect">
            <a:avLst/>
          </a:prstGeom>
          <a:solidFill>
            <a:srgbClr val="FF0000">
              <a:alpha val="52941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00125" y="2851830"/>
            <a:ext cx="361951" cy="337457"/>
          </a:xfrm>
          <a:prstGeom prst="rect">
            <a:avLst/>
          </a:prstGeom>
          <a:solidFill>
            <a:srgbClr val="FF0000">
              <a:alpha val="52941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6274" y="2845026"/>
            <a:ext cx="323851" cy="337457"/>
          </a:xfrm>
          <a:prstGeom prst="rect">
            <a:avLst/>
          </a:prstGeom>
          <a:solidFill>
            <a:schemeClr val="accent6">
              <a:lumMod val="75000"/>
              <a:alpha val="52941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L-圖案 10"/>
          <p:cNvSpPr/>
          <p:nvPr/>
        </p:nvSpPr>
        <p:spPr bwMode="auto">
          <a:xfrm>
            <a:off x="1752601" y="2419351"/>
            <a:ext cx="4648200" cy="2000249"/>
          </a:xfrm>
          <a:prstGeom prst="corner">
            <a:avLst>
              <a:gd name="adj1" fmla="val 33809"/>
              <a:gd name="adj2" fmla="val 177619"/>
            </a:avLst>
          </a:prstGeom>
          <a:solidFill>
            <a:schemeClr val="bg2">
              <a:lumMod val="50000"/>
              <a:alpha val="52941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itchFamily="2" charset="2"/>
              <a:buChar char="Ø"/>
            </a:pPr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6943725" y="1181100"/>
            <a:ext cx="19526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TW" dirty="0" err="1" smtClean="0">
                <a:solidFill>
                  <a:srgbClr val="FF0000"/>
                </a:solidFill>
              </a:rPr>
              <a:t>AlwaysOn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PLDM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err="1" smtClean="0"/>
              <a:t>MainPD</a:t>
            </a:r>
            <a:endParaRPr lang="en-US" altLang="zh-TW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rgbClr val="0070C0"/>
                </a:solidFill>
              </a:rPr>
              <a:t>Core0 (+L2C)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TW" dirty="0" smtClean="0">
                <a:solidFill>
                  <a:schemeClr val="bg2">
                    <a:lumMod val="75000"/>
                  </a:schemeClr>
                </a:solidFill>
              </a:rPr>
              <a:t>Core1~3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467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AE35x Connection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/>
              <a:t>PLIC interrupt source</a:t>
            </a:r>
            <a:endParaRPr lang="en-US" altLang="zh-TW" sz="1800" u="sng" dirty="0" smtClean="0"/>
          </a:p>
          <a:p>
            <a:pPr marL="400050" lvl="1" indent="0">
              <a:buNone/>
            </a:pPr>
            <a:r>
              <a:rPr lang="en-US" altLang="zh-TW" sz="1400" dirty="0" err="1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int_src</a:t>
            </a:r>
            <a:r>
              <a:rPr lang="en-US" altLang="zh-TW" sz="1400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[23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] = pcs_cpu0_standby_req; // target: cpu0</a:t>
            </a:r>
            <a:endParaRPr lang="zh-TW" altLang="zh-TW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TW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int_src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[24] = pcs_cpu1_standby_req; // target: cpu1</a:t>
            </a:r>
            <a:endParaRPr lang="zh-TW" altLang="zh-TW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TW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int_src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[25] = pcs_cpu2_standby_req; // target: cpu2</a:t>
            </a:r>
            <a:endParaRPr lang="zh-TW" altLang="zh-TW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TW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int_src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[26] = pcs_cpu3_standby_req; // target: cpu3</a:t>
            </a:r>
            <a:endParaRPr lang="zh-TW" altLang="zh-TW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altLang="zh-TW" sz="1400" dirty="0" err="1" smtClean="0"/>
              <a:t>int_src</a:t>
            </a:r>
            <a:r>
              <a:rPr lang="en-US" altLang="zh-TW" sz="1400" dirty="0" smtClean="0"/>
              <a:t>[27] </a:t>
            </a:r>
            <a:r>
              <a:rPr lang="en-US" altLang="zh-TW" sz="1400" dirty="0"/>
              <a:t>= </a:t>
            </a:r>
            <a:r>
              <a:rPr lang="en-US" altLang="zh-TW" sz="1400" dirty="0" smtClean="0"/>
              <a:t>pcs_cpu0_wakeup</a:t>
            </a:r>
            <a:r>
              <a:rPr lang="en-US" altLang="zh-TW" sz="1400" dirty="0"/>
              <a:t>; // target: </a:t>
            </a:r>
            <a:r>
              <a:rPr lang="en-US" altLang="zh-TW" sz="1400" dirty="0" smtClean="0"/>
              <a:t>cpu0</a:t>
            </a:r>
            <a:endParaRPr lang="zh-TW" altLang="zh-TW" sz="1400" dirty="0"/>
          </a:p>
          <a:p>
            <a:pPr marL="400050" lvl="1" indent="0">
              <a:buNone/>
            </a:pPr>
            <a:r>
              <a:rPr lang="en-US" altLang="zh-TW" sz="1400" dirty="0" err="1"/>
              <a:t>int_src</a:t>
            </a:r>
            <a:r>
              <a:rPr lang="en-US" altLang="zh-TW" sz="1400" dirty="0"/>
              <a:t>[28] = pcs_cpu1_wakeup; // target: cpu1</a:t>
            </a:r>
            <a:endParaRPr lang="zh-TW" altLang="zh-TW" sz="1400" dirty="0"/>
          </a:p>
          <a:p>
            <a:pPr marL="400050" lvl="1" indent="0">
              <a:buNone/>
            </a:pPr>
            <a:r>
              <a:rPr lang="en-US" altLang="zh-TW" sz="1400" dirty="0" err="1" smtClean="0"/>
              <a:t>int_src</a:t>
            </a:r>
            <a:r>
              <a:rPr lang="en-US" altLang="zh-TW" sz="1400" dirty="0" smtClean="0"/>
              <a:t>[29</a:t>
            </a:r>
            <a:r>
              <a:rPr lang="en-US" altLang="zh-TW" sz="1400" dirty="0"/>
              <a:t>] = pcs_cpu2_wakeup; // target: cpu2</a:t>
            </a:r>
            <a:endParaRPr lang="zh-TW" altLang="zh-TW" dirty="0"/>
          </a:p>
          <a:p>
            <a:pPr marL="400050" lvl="1" indent="0">
              <a:buNone/>
            </a:pPr>
            <a:r>
              <a:rPr lang="en-US" altLang="zh-TW" sz="1400" dirty="0" err="1" smtClean="0"/>
              <a:t>int_src</a:t>
            </a:r>
            <a:r>
              <a:rPr lang="en-US" altLang="zh-TW" sz="1400" dirty="0" smtClean="0"/>
              <a:t>[30</a:t>
            </a:r>
            <a:r>
              <a:rPr lang="en-US" altLang="zh-TW" sz="1400" dirty="0"/>
              <a:t>] = pcs_cpu3_wakeup; // target: cpu3</a:t>
            </a:r>
            <a:endParaRPr lang="zh-TW" altLang="zh-TW" dirty="0"/>
          </a:p>
          <a:p>
            <a:pPr marL="400050" lvl="1" indent="0">
              <a:buNone/>
            </a:pPr>
            <a:r>
              <a:rPr lang="en-US" altLang="zh-TW" sz="1400" dirty="0" err="1" smtClean="0"/>
              <a:t>int_src</a:t>
            </a:r>
            <a:r>
              <a:rPr lang="en-US" altLang="zh-TW" sz="1400" dirty="0" smtClean="0"/>
              <a:t>[31] </a:t>
            </a:r>
            <a:r>
              <a:rPr lang="en-US" altLang="zh-TW" sz="1400" dirty="0"/>
              <a:t>= </a:t>
            </a:r>
            <a:r>
              <a:rPr lang="en-US" altLang="zh-TW" sz="1400" dirty="0">
                <a:solidFill>
                  <a:srgbClr val="FF0000"/>
                </a:solidFill>
              </a:rPr>
              <a:t>|</a:t>
            </a:r>
            <a:r>
              <a:rPr lang="en-US" altLang="zh-TW" sz="1400" dirty="0" err="1">
                <a:solidFill>
                  <a:srgbClr val="FF0000"/>
                </a:solidFill>
              </a:rPr>
              <a:t>pcs_int</a:t>
            </a:r>
            <a:r>
              <a:rPr lang="en-US" altLang="zh-TW" sz="1400" dirty="0" smtClean="0"/>
              <a:t>; </a:t>
            </a:r>
            <a:r>
              <a:rPr lang="en-US" altLang="zh-TW" sz="1400" dirty="0"/>
              <a:t>// target: cpu0</a:t>
            </a:r>
            <a:endParaRPr lang="en-US" altLang="zh-TW" sz="1400" dirty="0" smtClean="0"/>
          </a:p>
          <a:p>
            <a:pPr marL="34290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sz="1800" dirty="0" err="1">
                <a:cs typeface="+mn-cs"/>
              </a:rPr>
              <a:t>pcs_standby_ok</a:t>
            </a:r>
            <a:endParaRPr lang="en-US" altLang="zh-TW" sz="1800" dirty="0">
              <a:cs typeface="+mn-cs"/>
            </a:endParaRP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/>
              <a:t>pcs_standby_ok</a:t>
            </a:r>
            <a:r>
              <a:rPr lang="en-US" altLang="zh-TW" sz="1400" dirty="0"/>
              <a:t>[default] = hardwire 1</a:t>
            </a: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 smtClean="0"/>
              <a:t>pcs_standby_ok</a:t>
            </a:r>
            <a:r>
              <a:rPr lang="en-US" altLang="zh-TW" sz="1400" dirty="0" smtClean="0"/>
              <a:t>[core</a:t>
            </a:r>
            <a:r>
              <a:rPr lang="en-US" altLang="zh-TW" sz="1400" dirty="0" smtClean="0">
                <a:solidFill>
                  <a:srgbClr val="FF0000"/>
                </a:solidFill>
              </a:rPr>
              <a:t>0</a:t>
            </a:r>
            <a:r>
              <a:rPr lang="en-US" altLang="zh-TW" sz="1400" dirty="0"/>
              <a:t>] = hart0_core_wfi_mode &amp; </a:t>
            </a:r>
            <a:r>
              <a:rPr lang="en-US" altLang="zh-TW" sz="1400" dirty="0">
                <a:solidFill>
                  <a:srgbClr val="FF0000"/>
                </a:solidFill>
              </a:rPr>
              <a:t>l2c</a:t>
            </a:r>
            <a:r>
              <a:rPr lang="en-US" altLang="zh-TW" sz="1400" dirty="0"/>
              <a:t>_pcs_standby_ok</a:t>
            </a:r>
            <a:endParaRPr lang="zh-TW" altLang="zh-TW" sz="1400" dirty="0"/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 smtClean="0"/>
              <a:t>pcs_standby_ok</a:t>
            </a:r>
            <a:r>
              <a:rPr lang="en-US" altLang="zh-TW" sz="1400" dirty="0" smtClean="0"/>
              <a:t>[core1..3] </a:t>
            </a:r>
            <a:r>
              <a:rPr lang="en-US" altLang="zh-TW" sz="1400" dirty="0"/>
              <a:t>= </a:t>
            </a:r>
            <a:r>
              <a:rPr lang="en-US" altLang="zh-TW" sz="1400" dirty="0" smtClean="0"/>
              <a:t>hart[1..3]_</a:t>
            </a:r>
            <a:r>
              <a:rPr lang="en-US" altLang="zh-TW" sz="1400" dirty="0" err="1" smtClean="0"/>
              <a:t>core_wfi_mode</a:t>
            </a:r>
            <a:r>
              <a:rPr lang="en-US" altLang="zh-TW" sz="1400" dirty="0" smtClean="0"/>
              <a:t> </a:t>
            </a:r>
          </a:p>
          <a:p>
            <a:pPr marL="34290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sz="1800" dirty="0" err="1">
                <a:cs typeface="+mn-cs"/>
              </a:rPr>
              <a:t>pcs_mem_init</a:t>
            </a:r>
            <a:endParaRPr lang="en-US" altLang="zh-TW" sz="1800" dirty="0">
              <a:cs typeface="+mn-cs"/>
            </a:endParaRP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/>
              <a:t>icache_disable_init</a:t>
            </a:r>
            <a:r>
              <a:rPr lang="en-US" altLang="zh-TW" sz="1400" dirty="0"/>
              <a:t> = </a:t>
            </a:r>
            <a:r>
              <a:rPr lang="en-US" altLang="zh-TW" sz="1400" dirty="0" err="1"/>
              <a:t>pcs_mem_init</a:t>
            </a:r>
            <a:r>
              <a:rPr lang="en-US" altLang="zh-TW" sz="1400" dirty="0"/>
              <a:t>[o]</a:t>
            </a: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err="1"/>
              <a:t>dcache_disable_init</a:t>
            </a:r>
            <a:r>
              <a:rPr lang="en-US" altLang="zh-TW" sz="1400" dirty="0"/>
              <a:t> = </a:t>
            </a:r>
            <a:r>
              <a:rPr lang="en-US" altLang="zh-TW" sz="1400" dirty="0" err="1" smtClean="0"/>
              <a:t>pcs_mem_init</a:t>
            </a:r>
            <a:r>
              <a:rPr lang="en-US" altLang="zh-TW" sz="1400" dirty="0" smtClean="0"/>
              <a:t>[1] </a:t>
            </a:r>
          </a:p>
          <a:p>
            <a:pPr marL="457200" lvl="3" indent="0">
              <a:buClr>
                <a:schemeClr val="tx2"/>
              </a:buClr>
              <a:buNone/>
            </a:pPr>
            <a:r>
              <a:rPr lang="en-US" altLang="zh-TW" sz="1400" dirty="0" smtClean="0"/>
              <a:t>l2c_disable_init </a:t>
            </a:r>
            <a:r>
              <a:rPr lang="en-US" altLang="zh-TW" sz="1400" dirty="0"/>
              <a:t>= </a:t>
            </a:r>
            <a:r>
              <a:rPr lang="en-US" altLang="zh-TW" sz="1400" dirty="0" err="1"/>
              <a:t>pcs_mem_init</a:t>
            </a:r>
            <a:r>
              <a:rPr lang="en-US" altLang="zh-TW" sz="1400" dirty="0"/>
              <a:t>[2</a:t>
            </a:r>
            <a:r>
              <a:rPr lang="en-US" altLang="zh-TW" sz="1400" dirty="0" smtClean="0"/>
              <a:t>]</a:t>
            </a:r>
            <a:endParaRPr lang="zh-TW" altLang="zh-TW" sz="1400" dirty="0"/>
          </a:p>
        </p:txBody>
      </p:sp>
    </p:spTree>
    <p:extLst>
      <p:ext uri="{BB962C8B-B14F-4D97-AF65-F5344CB8AC3E}">
        <p14:creationId xmlns:p14="http://schemas.microsoft.com/office/powerpoint/2010/main" val="2496320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Control path On </a:t>
            </a:r>
            <a:r>
              <a:rPr lang="en-US" altLang="zh-TW" dirty="0"/>
              <a:t>AE35x (1/)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6225" y="1054100"/>
            <a:ext cx="4105275" cy="5331460"/>
          </a:xfrm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/>
          <a:lstStyle/>
          <a:p>
            <a:r>
              <a:rPr lang="en-US" altLang="zh-TW" dirty="0" smtClean="0"/>
              <a:t>Sleep I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PCS[core1</a:t>
            </a:r>
            <a:r>
              <a:rPr lang="en-US" altLang="zh-TW" dirty="0"/>
              <a:t>].</a:t>
            </a:r>
            <a:r>
              <a:rPr lang="en-US" altLang="zh-TW" dirty="0" err="1"/>
              <a:t>CmdSleeps</a:t>
            </a:r>
            <a:r>
              <a:rPr lang="en-US" altLang="zh-TW" dirty="0"/>
              <a:t> </a:t>
            </a:r>
            <a:endParaRPr lang="en-US" altLang="zh-TW" dirty="0" smtClean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PCS[core1</a:t>
            </a:r>
            <a:r>
              <a:rPr lang="en-US" altLang="zh-TW" dirty="0"/>
              <a:t>] </a:t>
            </a:r>
            <a:r>
              <a:rPr lang="en-US" altLang="zh-TW" dirty="0" smtClean="0"/>
              <a:t>FSM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dirty="0" err="1" smtClean="0">
                <a:solidFill>
                  <a:srgbClr val="FF0000"/>
                </a:solidFill>
              </a:rPr>
              <a:t>pcs_standby_req</a:t>
            </a:r>
            <a:r>
              <a:rPr lang="en-US" altLang="zh-TW" dirty="0" smtClean="0">
                <a:solidFill>
                  <a:srgbClr val="FF0000"/>
                </a:solidFill>
              </a:rPr>
              <a:t>[core1</a:t>
            </a:r>
            <a:r>
              <a:rPr lang="en-US" altLang="zh-TW" dirty="0">
                <a:solidFill>
                  <a:srgbClr val="FF0000"/>
                </a:solidFill>
              </a:rPr>
              <a:t>]</a:t>
            </a:r>
            <a:r>
              <a:rPr lang="en-US" altLang="zh-TW" dirty="0"/>
              <a:t> </a:t>
            </a:r>
            <a:endParaRPr lang="en-US" altLang="zh-TW" dirty="0" smtClean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>
                <a:solidFill>
                  <a:srgbClr val="FF0000"/>
                </a:solidFill>
              </a:rPr>
              <a:t>core1[</a:t>
            </a:r>
            <a:r>
              <a:rPr lang="en-US" altLang="zh-TW" dirty="0" err="1" smtClean="0">
                <a:solidFill>
                  <a:srgbClr val="FF0000"/>
                </a:solidFill>
              </a:rPr>
              <a:t>meip</a:t>
            </a:r>
            <a:r>
              <a:rPr lang="en-US" altLang="zh-TW" dirty="0">
                <a:solidFill>
                  <a:srgbClr val="FF0000"/>
                </a:solidFill>
              </a:rPr>
              <a:t>] (&amp;</a:t>
            </a:r>
            <a:r>
              <a:rPr lang="en-US" altLang="zh-TW" dirty="0" err="1">
                <a:solidFill>
                  <a:srgbClr val="FF0000"/>
                </a:solidFill>
              </a:rPr>
              <a:t>meie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endParaRPr lang="en-US" altLang="zh-TW" dirty="0" smtClean="0"/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core1.WFI 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dirty="0" err="1" smtClean="0"/>
              <a:t>pcs_standby_ack</a:t>
            </a:r>
            <a:r>
              <a:rPr lang="en-US" altLang="zh-TW" dirty="0" smtClean="0"/>
              <a:t> </a:t>
            </a:r>
            <a:endParaRPr lang="en-US" altLang="zh-TW" dirty="0" smtClean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PD[core1</a:t>
            </a:r>
            <a:r>
              <a:rPr lang="en-US" altLang="zh-TW" dirty="0"/>
              <a:t>] clock </a:t>
            </a:r>
            <a:r>
              <a:rPr lang="en-US" altLang="zh-TW" dirty="0" smtClean="0"/>
              <a:t>off</a:t>
            </a: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black">
          <a:xfrm>
            <a:off x="4476751" y="1035050"/>
            <a:ext cx="4248150" cy="5331460"/>
          </a:xfrm>
          <a:prstGeom prst="rect">
            <a:avLst/>
          </a:prstGeom>
          <a:noFill/>
          <a:ln w="9525">
            <a:solidFill>
              <a:srgbClr val="1C71A6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b="0" dirty="0" smtClean="0"/>
              <a:t>Sleep II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PCS[core1</a:t>
            </a:r>
            <a:r>
              <a:rPr lang="en-US" altLang="zh-TW" b="0" dirty="0"/>
              <a:t>].</a:t>
            </a:r>
            <a:r>
              <a:rPr lang="en-US" altLang="zh-TW" b="0" dirty="0" err="1"/>
              <a:t>CmdSleeps</a:t>
            </a:r>
            <a:r>
              <a:rPr lang="en-US" altLang="zh-TW" b="0" dirty="0"/>
              <a:t> </a:t>
            </a:r>
            <a:r>
              <a:rPr lang="en-US" altLang="zh-TW" b="0" dirty="0" smtClean="0"/>
              <a:t>| core1.WFI</a:t>
            </a:r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PCS[core1] FSM | </a:t>
            </a:r>
            <a:r>
              <a:rPr lang="en-US" altLang="zh-TW" b="0" dirty="0" err="1" smtClean="0"/>
              <a:t>pcs_standby_ack</a:t>
            </a:r>
            <a:endParaRPr lang="en-US" altLang="zh-TW" b="0" dirty="0" smtClean="0"/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PD[core1</a:t>
            </a:r>
            <a:r>
              <a:rPr lang="en-US" altLang="zh-TW" b="0" dirty="0"/>
              <a:t>] clock </a:t>
            </a:r>
            <a:r>
              <a:rPr lang="en-US" altLang="zh-TW" b="0" dirty="0" smtClean="0"/>
              <a:t>off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2761213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</a:t>
            </a:r>
            <a:r>
              <a:rPr lang="en-US" altLang="zh-TW" dirty="0" smtClean="0"/>
              <a:t>path On </a:t>
            </a:r>
            <a:r>
              <a:rPr lang="en-US" altLang="zh-TW" dirty="0"/>
              <a:t>AE35x </a:t>
            </a:r>
            <a:r>
              <a:rPr lang="en-US" altLang="zh-TW" dirty="0" smtClean="0"/>
              <a:t>(2/)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725" y="1120775"/>
            <a:ext cx="4391025" cy="4908550"/>
          </a:xfrm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r>
              <a:rPr lang="en-US" altLang="zh-TW" sz="2400" dirty="0" smtClean="0"/>
              <a:t>Wakeup I</a:t>
            </a:r>
            <a:endParaRPr lang="zh-TW" altLang="zh-TW" sz="2400" dirty="0"/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>
                <a:solidFill>
                  <a:srgbClr val="FF0000"/>
                </a:solidFill>
              </a:rPr>
              <a:t>PCS[core1</a:t>
            </a:r>
            <a:r>
              <a:rPr lang="en-US" altLang="zh-TW" dirty="0">
                <a:solidFill>
                  <a:srgbClr val="FF0000"/>
                </a:solidFill>
              </a:rPr>
              <a:t>].</a:t>
            </a:r>
            <a:r>
              <a:rPr lang="en-US" altLang="zh-TW" dirty="0" err="1">
                <a:solidFill>
                  <a:srgbClr val="FF0000"/>
                </a:solidFill>
              </a:rPr>
              <a:t>CmdWakeup</a:t>
            </a:r>
            <a:endParaRPr lang="en-US" altLang="zh-TW" dirty="0">
              <a:solidFill>
                <a:srgbClr val="FF0000"/>
              </a:solidFill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PCS[core1] FSM </a:t>
            </a:r>
            <a:endParaRPr lang="en-US" altLang="zh-TW" dirty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dirty="0" smtClean="0"/>
              <a:t>PD[core1</a:t>
            </a:r>
            <a:r>
              <a:rPr lang="en-US" altLang="zh-TW" dirty="0"/>
              <a:t>] clock on </a:t>
            </a:r>
            <a:endParaRPr lang="zh-TW" altLang="zh-TW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black">
          <a:xfrm>
            <a:off x="4781549" y="1127125"/>
            <a:ext cx="3857625" cy="4883150"/>
          </a:xfrm>
          <a:prstGeom prst="rect">
            <a:avLst/>
          </a:prstGeom>
          <a:noFill/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v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l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80808"/>
              </a:buClr>
              <a:buFont typeface="Wingdings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400" b="0" dirty="0" smtClean="0"/>
              <a:t>Wakeup II</a:t>
            </a:r>
            <a:endParaRPr lang="zh-TW" altLang="zh-TW" sz="2400" b="0" dirty="0" smtClean="0"/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>
                <a:solidFill>
                  <a:srgbClr val="FF0000"/>
                </a:solidFill>
              </a:rPr>
              <a:t>core1[</a:t>
            </a:r>
            <a:r>
              <a:rPr lang="en-US" altLang="zh-TW" b="0" dirty="0" err="1" smtClean="0">
                <a:solidFill>
                  <a:srgbClr val="FF0000"/>
                </a:solidFill>
              </a:rPr>
              <a:t>mti</a:t>
            </a:r>
            <a:r>
              <a:rPr lang="en-US" altLang="zh-TW" b="0" dirty="0" smtClean="0">
                <a:solidFill>
                  <a:srgbClr val="FF0000"/>
                </a:solidFill>
              </a:rPr>
              <a:t>/</a:t>
            </a:r>
            <a:r>
              <a:rPr lang="en-US" altLang="zh-TW" b="0" dirty="0" err="1" smtClean="0">
                <a:solidFill>
                  <a:srgbClr val="FF0000"/>
                </a:solidFill>
              </a:rPr>
              <a:t>msi</a:t>
            </a:r>
            <a:r>
              <a:rPr lang="en-US" altLang="zh-TW" b="0" dirty="0" smtClean="0">
                <a:solidFill>
                  <a:srgbClr val="FF0000"/>
                </a:solidFill>
              </a:rPr>
              <a:t>]</a:t>
            </a:r>
            <a:endParaRPr lang="en-US" altLang="zh-TW" b="0" dirty="0" smtClean="0">
              <a:solidFill>
                <a:srgbClr val="FF0000"/>
              </a:solidFill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PCS[core1</a:t>
            </a:r>
            <a:r>
              <a:rPr lang="en-US" altLang="zh-TW" b="0" dirty="0"/>
              <a:t>] </a:t>
            </a:r>
            <a:r>
              <a:rPr lang="en-US" altLang="zh-TW" b="0" dirty="0" smtClean="0"/>
              <a:t>FSM</a:t>
            </a:r>
            <a:endParaRPr lang="en-US" altLang="zh-TW" b="0" dirty="0" smtClean="0">
              <a:sym typeface="Wingdings"/>
            </a:endParaRPr>
          </a:p>
          <a:p>
            <a:pPr lvl="1">
              <a:buFont typeface="Tahoma" pitchFamily="34" charset="0"/>
              <a:buChar char="→"/>
            </a:pPr>
            <a:r>
              <a:rPr lang="en-US" altLang="zh-TW" b="0" dirty="0" smtClean="0"/>
              <a:t>PD[core1</a:t>
            </a:r>
            <a:r>
              <a:rPr lang="en-US" altLang="zh-TW" b="0" dirty="0"/>
              <a:t>] clock </a:t>
            </a:r>
            <a:r>
              <a:rPr lang="en-US" altLang="zh-TW" b="0" dirty="0" smtClean="0"/>
              <a:t>on</a:t>
            </a:r>
            <a:endParaRPr lang="zh-TW" altLang="en-US" b="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266826" y="3020514"/>
            <a:ext cx="2876549" cy="92948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PCS[core1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].wakeup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core1</a:t>
            </a: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[</a:t>
            </a:r>
            <a:r>
              <a:rPr kumimoji="1" lang="en-US" altLang="zh-TW" sz="1600" b="0" dirty="0" err="1" smtClean="0">
                <a:latin typeface="Tahoma" pitchFamily="34" charset="0"/>
                <a:ea typeface="新細明體" pitchFamily="18" charset="-120"/>
              </a:rPr>
              <a:t>mei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core1 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exit WFI</a:t>
            </a:r>
            <a:endParaRPr kumimoji="1" lang="zh-TW" altLang="zh-TW" sz="1600" b="0" dirty="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266826" y="4359574"/>
            <a:ext cx="2876549" cy="122495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PCS[</a:t>
            </a:r>
            <a:r>
              <a:rPr kumimoji="1" lang="en-US" altLang="zh-TW" sz="1600" b="0" dirty="0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core1</a:t>
            </a: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].wakeup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</a:t>
            </a:r>
            <a:r>
              <a:rPr kumimoji="1" lang="en-US" altLang="zh-TW" sz="1600" b="0" dirty="0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0</a:t>
            </a: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[</a:t>
            </a:r>
            <a:r>
              <a:rPr kumimoji="1" lang="en-US" altLang="zh-TW" sz="1600" b="0" dirty="0" err="1" smtClean="0">
                <a:latin typeface="Tahoma" pitchFamily="34" charset="0"/>
                <a:ea typeface="新細明體" pitchFamily="18" charset="-120"/>
              </a:rPr>
              <a:t>mei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core0 fire core1[</a:t>
            </a:r>
            <a:r>
              <a:rPr kumimoji="1" lang="en-US" altLang="zh-TW" sz="1600" b="0" dirty="0" err="1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msi</a:t>
            </a:r>
            <a:r>
              <a:rPr kumimoji="1" lang="en-US" altLang="zh-TW" sz="1600" b="0" dirty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]</a:t>
            </a:r>
            <a:endParaRPr kumimoji="1" lang="en-US" altLang="zh-TW" sz="1600" b="0" dirty="0">
              <a:solidFill>
                <a:srgbClr val="FF0000"/>
              </a:solidFill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core1 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exit </a:t>
            </a: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WFI</a:t>
            </a:r>
            <a:endParaRPr kumimoji="1" lang="zh-TW" altLang="en-US" sz="1600" b="0" dirty="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772151" y="3018051"/>
            <a:ext cx="2733674" cy="92948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PCS[core1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].wakeup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core1[</a:t>
            </a:r>
            <a:r>
              <a:rPr kumimoji="1" lang="en-US" altLang="zh-TW" sz="1600" b="0" dirty="0" err="1" smtClean="0">
                <a:solidFill>
                  <a:srgbClr val="FF0000"/>
                </a:solidFill>
                <a:latin typeface="Tahoma" pitchFamily="34" charset="0"/>
                <a:ea typeface="新細明體" pitchFamily="18" charset="-120"/>
              </a:rPr>
              <a:t>mei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] </a:t>
            </a:r>
            <a:endParaRPr kumimoji="1" lang="en-US" altLang="zh-TW" sz="1600" b="0" dirty="0">
              <a:latin typeface="Tahoma" pitchFamily="34" charset="0"/>
              <a:ea typeface="新細明體" pitchFamily="18" charset="-120"/>
              <a:sym typeface="Wingdings"/>
            </a:endParaRPr>
          </a:p>
          <a:p>
            <a:pPr marL="285750" lvl="1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kumimoji="1" lang="en-US" altLang="zh-TW" sz="1600" b="0" dirty="0" smtClean="0">
                <a:latin typeface="Tahoma" pitchFamily="34" charset="0"/>
                <a:ea typeface="新細明體" pitchFamily="18" charset="-120"/>
              </a:rPr>
              <a:t>core1 </a:t>
            </a:r>
            <a:r>
              <a:rPr kumimoji="1" lang="en-US" altLang="zh-TW" sz="1600" b="0" dirty="0">
                <a:latin typeface="Tahoma" pitchFamily="34" charset="0"/>
                <a:ea typeface="新細明體" pitchFamily="18" charset="-120"/>
              </a:rPr>
              <a:t>exit WFI</a:t>
            </a:r>
            <a:endParaRPr kumimoji="1" lang="zh-TW" altLang="zh-TW" sz="1600" b="0" dirty="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772151" y="4359574"/>
            <a:ext cx="2733674" cy="7017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lang="en-US" altLang="zh-TW" b="0" dirty="0" smtClean="0">
                <a:solidFill>
                  <a:srgbClr val="FF0000"/>
                </a:solidFill>
              </a:rPr>
              <a:t>core1[</a:t>
            </a:r>
            <a:r>
              <a:rPr lang="en-US" altLang="zh-TW" b="0" dirty="0" err="1" smtClean="0">
                <a:solidFill>
                  <a:srgbClr val="FF0000"/>
                </a:solidFill>
              </a:rPr>
              <a:t>mti</a:t>
            </a:r>
            <a:r>
              <a:rPr lang="en-US" altLang="zh-TW" b="0" dirty="0" smtClean="0">
                <a:solidFill>
                  <a:srgbClr val="FF0000"/>
                </a:solidFill>
              </a:rPr>
              <a:t>/</a:t>
            </a:r>
            <a:r>
              <a:rPr lang="en-US" altLang="zh-TW" b="0" dirty="0" err="1" smtClean="0">
                <a:solidFill>
                  <a:srgbClr val="FF0000"/>
                </a:solidFill>
              </a:rPr>
              <a:t>msi</a:t>
            </a:r>
            <a:r>
              <a:rPr lang="en-US" altLang="zh-TW" b="0" dirty="0">
                <a:solidFill>
                  <a:srgbClr val="FF0000"/>
                </a:solidFill>
              </a:rPr>
              <a:t>] </a:t>
            </a:r>
            <a:endParaRPr lang="en-US" altLang="zh-TW" b="0" dirty="0" smtClean="0">
              <a:solidFill>
                <a:srgbClr val="FF0000"/>
              </a:solidFill>
              <a:sym typeface="Wingdings"/>
            </a:endParaRPr>
          </a:p>
          <a:p>
            <a:pPr marL="285750" indent="-285750">
              <a:spcBef>
                <a:spcPct val="20000"/>
              </a:spcBef>
              <a:buClr>
                <a:srgbClr val="080808"/>
              </a:buClr>
              <a:buFont typeface="Tahoma" pitchFamily="34" charset="0"/>
              <a:buChar char="→"/>
            </a:pPr>
            <a:r>
              <a:rPr lang="en-US" altLang="zh-TW" b="0" dirty="0" smtClean="0"/>
              <a:t>core1 </a:t>
            </a:r>
            <a:r>
              <a:rPr lang="en-US" altLang="zh-TW" b="0" dirty="0"/>
              <a:t>exit </a:t>
            </a:r>
            <a:r>
              <a:rPr lang="en-US" altLang="zh-TW" b="0" dirty="0" smtClean="0"/>
              <a:t>WFI</a:t>
            </a:r>
            <a:endParaRPr kumimoji="1" lang="zh-TW" altLang="en-US" sz="1600" b="0" dirty="0"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0042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50800" y="1052513"/>
            <a:ext cx="8936038" cy="4824412"/>
          </a:xfrm>
        </p:spPr>
        <p:txBody>
          <a:bodyPr/>
          <a:lstStyle/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44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36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r>
              <a:rPr lang="en-US" altLang="zh-TW" sz="8000" b="1" dirty="0" smtClean="0">
                <a:solidFill>
                  <a:schemeClr val="tx2"/>
                </a:solidFill>
                <a:ea typeface="新細明體" charset="-120"/>
              </a:rPr>
              <a:t>Thank You!</a:t>
            </a:r>
            <a:endParaRPr lang="en-US" altLang="zh-TW" sz="3200" b="1" dirty="0" smtClean="0">
              <a:solidFill>
                <a:schemeClr val="tx2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790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50800" y="1052513"/>
            <a:ext cx="8936038" cy="4824412"/>
          </a:xfrm>
        </p:spPr>
        <p:txBody>
          <a:bodyPr anchor="ctr"/>
          <a:lstStyle/>
          <a:p>
            <a:pPr marL="268288" indent="-268288" algn="ctr" eaLnBrk="1" hangingPunct="1">
              <a:buFont typeface="Wingdings" pitchFamily="2" charset="2"/>
              <a:buNone/>
            </a:pPr>
            <a:r>
              <a:rPr lang="en-US" altLang="zh-TW" sz="4400" b="1" dirty="0" smtClean="0">
                <a:solidFill>
                  <a:schemeClr val="tx2"/>
                </a:solidFill>
                <a:ea typeface="新細明體" charset="-120"/>
              </a:rPr>
              <a:t>TMP</a:t>
            </a:r>
            <a:endParaRPr lang="en-US" altLang="zh-TW" sz="3200" b="1" dirty="0" smtClean="0">
              <a:solidFill>
                <a:schemeClr val="tx2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478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mode definition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DVFS</a:t>
            </a:r>
          </a:p>
          <a:p>
            <a:pPr lvl="1"/>
            <a:r>
              <a:rPr lang="en-US" altLang="zh-TW" sz="2000" dirty="0"/>
              <a:t>Purpose: </a:t>
            </a:r>
            <a:r>
              <a:rPr lang="en-US" altLang="zh-TW" sz="2000" dirty="0" smtClean="0"/>
              <a:t>Dynamic change power for workload requirement</a:t>
            </a:r>
          </a:p>
          <a:p>
            <a:pPr lvl="1"/>
            <a:r>
              <a:rPr lang="en-US" altLang="zh-TW" sz="2000" dirty="0" smtClean="0"/>
              <a:t>Function</a:t>
            </a:r>
            <a:r>
              <a:rPr lang="en-US" altLang="zh-TW" sz="2000" dirty="0"/>
              <a:t>: Change </a:t>
            </a:r>
            <a:r>
              <a:rPr lang="en-US" altLang="zh-TW" sz="2000" dirty="0" smtClean="0"/>
              <a:t>voltage and frequency</a:t>
            </a:r>
          </a:p>
          <a:p>
            <a:pPr lvl="1"/>
            <a:r>
              <a:rPr lang="en-US" altLang="zh-TW" sz="2000" dirty="0"/>
              <a:t>Latency: For voltage/clock source, it might takes </a:t>
            </a:r>
            <a:r>
              <a:rPr lang="en-US" altLang="zh-TW" sz="2000" dirty="0" err="1"/>
              <a:t>ms</a:t>
            </a:r>
            <a:r>
              <a:rPr lang="en-US" altLang="zh-TW" sz="2000" dirty="0"/>
              <a:t> scale for </a:t>
            </a:r>
            <a:r>
              <a:rPr lang="en-US" altLang="zh-TW" sz="2000" dirty="0" smtClean="0"/>
              <a:t>scaling </a:t>
            </a:r>
            <a:r>
              <a:rPr lang="en-US" altLang="zh-TW" sz="2000" dirty="0"/>
              <a:t>and stable. </a:t>
            </a:r>
          </a:p>
          <a:p>
            <a:r>
              <a:rPr lang="en-US" altLang="zh-TW" sz="2400" dirty="0" smtClean="0">
                <a:solidFill>
                  <a:srgbClr val="FF0000"/>
                </a:solidFill>
              </a:rPr>
              <a:t>Light </a:t>
            </a:r>
            <a:r>
              <a:rPr lang="en-US" altLang="zh-TW" sz="2400" dirty="0">
                <a:solidFill>
                  <a:srgbClr val="FF0000"/>
                </a:solidFill>
              </a:rPr>
              <a:t>Sleep </a:t>
            </a:r>
            <a:endParaRPr lang="en-US" altLang="zh-TW" sz="24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Purpose: Fast response for </a:t>
            </a:r>
            <a:r>
              <a:rPr lang="en-US" altLang="zh-TW" sz="2000" dirty="0" smtClean="0"/>
              <a:t>interrupt and save power</a:t>
            </a:r>
          </a:p>
          <a:p>
            <a:pPr lvl="1"/>
            <a:r>
              <a:rPr lang="en-US" altLang="zh-TW" sz="2000" dirty="0" smtClean="0"/>
              <a:t>Function: Core and RAM are </a:t>
            </a:r>
            <a:r>
              <a:rPr lang="en-US" altLang="zh-TW" sz="2000" dirty="0">
                <a:solidFill>
                  <a:srgbClr val="FF0000"/>
                </a:solidFill>
              </a:rPr>
              <a:t>clock-gated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 smtClean="0"/>
              <a:t>Latency: fast for enabling clock switch</a:t>
            </a:r>
          </a:p>
          <a:p>
            <a:r>
              <a:rPr lang="en-US" altLang="zh-TW" sz="2400" dirty="0" smtClean="0">
                <a:solidFill>
                  <a:srgbClr val="FF0000"/>
                </a:solidFill>
              </a:rPr>
              <a:t>Deep Sleep</a:t>
            </a:r>
          </a:p>
          <a:p>
            <a:pPr lvl="1"/>
            <a:r>
              <a:rPr lang="en-US" altLang="zh-TW" sz="2000" dirty="0"/>
              <a:t>Purpose</a:t>
            </a:r>
            <a:r>
              <a:rPr lang="en-US" altLang="zh-TW" sz="2000" dirty="0" smtClean="0"/>
              <a:t>: Stop core and save most power</a:t>
            </a:r>
            <a:endParaRPr lang="en-US" altLang="zh-TW" sz="2000" dirty="0"/>
          </a:p>
          <a:p>
            <a:pPr lvl="1"/>
            <a:r>
              <a:rPr lang="en-US" altLang="zh-TW" sz="2000" dirty="0"/>
              <a:t>Function: Core and RAM </a:t>
            </a:r>
            <a:r>
              <a:rPr lang="en-US" altLang="zh-TW" sz="2000" dirty="0" smtClean="0"/>
              <a:t>are </a:t>
            </a:r>
            <a:r>
              <a:rPr lang="en-US" altLang="zh-TW" sz="2000" dirty="0">
                <a:solidFill>
                  <a:srgbClr val="FF0000"/>
                </a:solidFill>
              </a:rPr>
              <a:t>powered off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Latency: </a:t>
            </a:r>
            <a:r>
              <a:rPr lang="en-US" altLang="zh-TW" sz="2000" dirty="0" smtClean="0"/>
              <a:t>For voltage/clock source, it might takes </a:t>
            </a:r>
            <a:r>
              <a:rPr lang="en-US" altLang="zh-TW" sz="2000" dirty="0" err="1" smtClean="0"/>
              <a:t>ms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scale for turn-on and stable. 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487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Power Control Slot</a:t>
            </a:r>
            <a:endParaRPr lang="zh-TW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78" y="1600199"/>
            <a:ext cx="7188597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4500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658" y="1217521"/>
            <a:ext cx="6438900" cy="504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1175658" y="2847975"/>
            <a:ext cx="2643868" cy="2895600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80908" y="2638425"/>
            <a:ext cx="2643868" cy="1108869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080908" y="3846115"/>
            <a:ext cx="2643868" cy="1735535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36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Architecture state backup &amp; 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Baseline RV32/64 register file (x1 ~ x31)</a:t>
            </a:r>
          </a:p>
          <a:p>
            <a:r>
              <a:rPr lang="en-US" altLang="zh-TW" dirty="0"/>
              <a:t>F</a:t>
            </a:r>
            <a:r>
              <a:rPr lang="en-US" altLang="zh-TW" dirty="0" smtClean="0"/>
              <a:t>loating point RVF/D </a:t>
            </a:r>
            <a:r>
              <a:rPr lang="en-US" altLang="zh-TW" dirty="0"/>
              <a:t>register </a:t>
            </a:r>
            <a:r>
              <a:rPr lang="en-US" altLang="zh-TW" dirty="0" smtClean="0"/>
              <a:t>file (f0 ~ f31)</a:t>
            </a:r>
          </a:p>
          <a:p>
            <a:r>
              <a:rPr lang="en-US" altLang="zh-TW" dirty="0" smtClean="0"/>
              <a:t>CSRs</a:t>
            </a:r>
          </a:p>
          <a:p>
            <a:pPr lvl="1"/>
            <a:r>
              <a:rPr lang="en-US" altLang="zh-TW" sz="2000" dirty="0" smtClean="0"/>
              <a:t>Status CSRs</a:t>
            </a:r>
          </a:p>
          <a:p>
            <a:pPr lvl="1"/>
            <a:r>
              <a:rPr lang="en-US" altLang="zh-TW" sz="2000" dirty="0" smtClean="0"/>
              <a:t>Trap </a:t>
            </a:r>
            <a:r>
              <a:rPr lang="en-US" altLang="zh-TW" sz="2000" dirty="0"/>
              <a:t>CSRs</a:t>
            </a:r>
          </a:p>
          <a:p>
            <a:pPr lvl="1"/>
            <a:r>
              <a:rPr lang="en-US" altLang="zh-TW" sz="2000" dirty="0" smtClean="0"/>
              <a:t>PMP CSRs</a:t>
            </a:r>
            <a:endParaRPr lang="en-US" altLang="zh-TW" sz="2000" dirty="0"/>
          </a:p>
          <a:p>
            <a:pPr lvl="1"/>
            <a:r>
              <a:rPr lang="en-US" altLang="zh-TW" sz="2000" dirty="0" smtClean="0"/>
              <a:t>HPM CSRs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Debug CSRs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AndeStarV5 </a:t>
            </a:r>
            <a:r>
              <a:rPr lang="en-US" altLang="zh-TW" sz="2000" dirty="0" smtClean="0"/>
              <a:t>CSRs</a:t>
            </a:r>
            <a:endParaRPr lang="en-US" altLang="zh-TW" sz="2200" dirty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196277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</a:t>
            </a:r>
            <a:r>
              <a:rPr lang="en-US" altLang="zh-TW" dirty="0" smtClean="0"/>
              <a:t>Operation Sequence (1/)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/>
              <a:t>Before an new operation</a:t>
            </a:r>
            <a:endParaRPr lang="zh-TW" altLang="zh-TW" sz="2400" b="1" dirty="0"/>
          </a:p>
          <a:p>
            <a:pPr lvl="1"/>
            <a:r>
              <a:rPr lang="en-US" altLang="zh-TW" sz="2000" dirty="0" smtClean="0"/>
              <a:t>Check/Clear </a:t>
            </a:r>
            <a:r>
              <a:rPr lang="en-US" altLang="zh-TW" sz="2000" dirty="0"/>
              <a:t>status/interrupts</a:t>
            </a:r>
            <a:endParaRPr lang="zh-TW" altLang="zh-TW" sz="2000" dirty="0"/>
          </a:p>
          <a:p>
            <a:pPr lvl="1"/>
            <a:r>
              <a:rPr lang="en-US" altLang="zh-TW" sz="2000" dirty="0"/>
              <a:t>Initialize PCS_WE, PCS_MISC …</a:t>
            </a:r>
            <a:endParaRPr lang="zh-TW" altLang="zh-TW" sz="2000" dirty="0"/>
          </a:p>
          <a:p>
            <a:endParaRPr lang="en-US" altLang="zh-TW" sz="2400" b="1" dirty="0" smtClean="0"/>
          </a:p>
          <a:p>
            <a:r>
              <a:rPr lang="en-US" altLang="zh-TW" sz="2400" b="1" dirty="0" smtClean="0"/>
              <a:t>PCS </a:t>
            </a:r>
            <a:r>
              <a:rPr lang="en-US" altLang="zh-TW" sz="2400" b="1" dirty="0"/>
              <a:t>Reset operation</a:t>
            </a:r>
            <a:endParaRPr lang="zh-TW" altLang="zh-TW" sz="2400" b="1" dirty="0"/>
          </a:p>
          <a:p>
            <a:pPr lvl="1"/>
            <a:r>
              <a:rPr lang="en-US" altLang="zh-TW" sz="2000" dirty="0"/>
              <a:t>Write PCS_CTL</a:t>
            </a:r>
            <a:endParaRPr lang="zh-TW" altLang="zh-TW" sz="2000" dirty="0"/>
          </a:p>
          <a:p>
            <a:pPr lvl="2"/>
            <a:r>
              <a:rPr lang="en-US" altLang="zh-TW" sz="1600" dirty="0" err="1">
                <a:solidFill>
                  <a:srgbClr val="FF0000"/>
                </a:solidFill>
              </a:rPr>
              <a:t>cmd</a:t>
            </a:r>
            <a:r>
              <a:rPr lang="en-US" altLang="zh-TW" sz="1600" dirty="0">
                <a:solidFill>
                  <a:srgbClr val="FF0000"/>
                </a:solidFill>
              </a:rPr>
              <a:t> = </a:t>
            </a:r>
            <a:r>
              <a:rPr lang="en-US" altLang="zh-TW" sz="1600" dirty="0" err="1">
                <a:solidFill>
                  <a:srgbClr val="FF0000"/>
                </a:solidFill>
              </a:rPr>
              <a:t>PCS_reset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2"/>
            <a:r>
              <a:rPr lang="en-US" altLang="zh-TW" sz="1600" dirty="0" err="1">
                <a:solidFill>
                  <a:srgbClr val="FF0000"/>
                </a:solidFill>
              </a:rPr>
              <a:t>param</a:t>
            </a:r>
            <a:r>
              <a:rPr lang="en-US" altLang="zh-TW" sz="1600" dirty="0">
                <a:solidFill>
                  <a:srgbClr val="FF0000"/>
                </a:solidFill>
              </a:rPr>
              <a:t> = Reset cycle count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The reset will be asserted for specific cycles</a:t>
            </a:r>
            <a:endParaRPr lang="zh-TW" altLang="zh-TW" sz="2000" dirty="0"/>
          </a:p>
          <a:p>
            <a:pPr lvl="1"/>
            <a:r>
              <a:rPr lang="en-US" altLang="zh-TW" sz="2000" dirty="0"/>
              <a:t>The PD goes to ACTIVE state.</a:t>
            </a:r>
            <a:endParaRPr lang="zh-TW" altLang="zh-TW" sz="2000" dirty="0"/>
          </a:p>
          <a:p>
            <a:pPr lvl="2"/>
            <a:r>
              <a:rPr lang="en-US" altLang="zh-TW" sz="1600" dirty="0"/>
              <a:t>PCS_STATUS. </a:t>
            </a:r>
            <a:r>
              <a:rPr lang="en-US" altLang="zh-TW" sz="1600" dirty="0" err="1"/>
              <a:t>PD_Type</a:t>
            </a:r>
            <a:r>
              <a:rPr lang="en-US" altLang="zh-TW" sz="1600" dirty="0"/>
              <a:t> = Reset</a:t>
            </a:r>
            <a:endParaRPr lang="zh-TW" altLang="zh-TW" sz="1600" dirty="0"/>
          </a:p>
          <a:p>
            <a:pPr lvl="2"/>
            <a:r>
              <a:rPr lang="en-US" altLang="zh-TW" sz="1600" dirty="0"/>
              <a:t>PCS_STATUS. </a:t>
            </a:r>
            <a:r>
              <a:rPr lang="en-US" altLang="zh-TW" sz="1600" dirty="0" err="1"/>
              <a:t>PD_Status</a:t>
            </a:r>
            <a:r>
              <a:rPr lang="en-US" altLang="zh-TW" sz="1600" dirty="0"/>
              <a:t> = </a:t>
            </a:r>
            <a:r>
              <a:rPr lang="en-US" altLang="zh-TW" sz="1600" dirty="0" err="1"/>
              <a:t>PCS_reset</a:t>
            </a:r>
            <a:endParaRPr lang="zh-TW" altLang="zh-TW" sz="1600" dirty="0"/>
          </a:p>
        </p:txBody>
      </p:sp>
      <p:pic>
        <p:nvPicPr>
          <p:cNvPr id="4" name="內容版面配置區 3"/>
          <p:cNvPicPr>
            <a:picLocks/>
          </p:cNvPicPr>
          <p:nvPr/>
        </p:nvPicPr>
        <p:blipFill rotWithShape="1">
          <a:blip r:embed="rId2"/>
          <a:srcRect t="18590" r="62907" b="24358"/>
          <a:stretch/>
        </p:blipFill>
        <p:spPr bwMode="black">
          <a:xfrm>
            <a:off x="6315073" y="2987675"/>
            <a:ext cx="2095500" cy="161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手繪多邊形 4"/>
          <p:cNvSpPr/>
          <p:nvPr/>
        </p:nvSpPr>
        <p:spPr bwMode="auto">
          <a:xfrm>
            <a:off x="6886575" y="3343275"/>
            <a:ext cx="763838" cy="739756"/>
          </a:xfrm>
          <a:custGeom>
            <a:avLst/>
            <a:gdLst>
              <a:gd name="connsiteX0" fmla="*/ 180975 w 763838"/>
              <a:gd name="connsiteY0" fmla="*/ 0 h 739756"/>
              <a:gd name="connsiteX1" fmla="*/ 723900 w 763838"/>
              <a:gd name="connsiteY1" fmla="*/ 409575 h 739756"/>
              <a:gd name="connsiteX2" fmla="*/ 657225 w 763838"/>
              <a:gd name="connsiteY2" fmla="*/ 733425 h 739756"/>
              <a:gd name="connsiteX3" fmla="*/ 133350 w 763838"/>
              <a:gd name="connsiteY3" fmla="*/ 590550 h 739756"/>
              <a:gd name="connsiteX4" fmla="*/ 0 w 763838"/>
              <a:gd name="connsiteY4" fmla="*/ 190500 h 739756"/>
              <a:gd name="connsiteX5" fmla="*/ 0 w 763838"/>
              <a:gd name="connsiteY5" fmla="*/ 190500 h 73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3838" h="739756">
                <a:moveTo>
                  <a:pt x="180975" y="0"/>
                </a:moveTo>
                <a:cubicBezTo>
                  <a:pt x="412750" y="143669"/>
                  <a:pt x="644525" y="287338"/>
                  <a:pt x="723900" y="409575"/>
                </a:cubicBezTo>
                <a:cubicBezTo>
                  <a:pt x="803275" y="531812"/>
                  <a:pt x="755650" y="703262"/>
                  <a:pt x="657225" y="733425"/>
                </a:cubicBezTo>
                <a:cubicBezTo>
                  <a:pt x="558800" y="763588"/>
                  <a:pt x="242887" y="681037"/>
                  <a:pt x="133350" y="590550"/>
                </a:cubicBezTo>
                <a:cubicBezTo>
                  <a:pt x="23813" y="500063"/>
                  <a:pt x="0" y="190500"/>
                  <a:pt x="0" y="190500"/>
                </a:cubicBezTo>
                <a:lnTo>
                  <a:pt x="0" y="190500"/>
                </a:ln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5396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Operation </a:t>
            </a:r>
            <a:r>
              <a:rPr lang="en-US" altLang="zh-TW" dirty="0" smtClean="0"/>
              <a:t>Sequence (2/)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/>
              <a:t>PCS </a:t>
            </a:r>
            <a:r>
              <a:rPr lang="en-US" altLang="zh-TW" sz="2400" b="1" dirty="0" err="1" smtClean="0"/>
              <a:t>LightSleep</a:t>
            </a:r>
            <a:r>
              <a:rPr lang="en-US" altLang="zh-TW" sz="2400" b="1" dirty="0" smtClean="0"/>
              <a:t> operation</a:t>
            </a:r>
            <a:endParaRPr lang="zh-TW" altLang="zh-TW" sz="2400" b="1" dirty="0"/>
          </a:p>
          <a:p>
            <a:pPr lvl="1"/>
            <a:r>
              <a:rPr lang="en-US" altLang="zh-TW" sz="2000" dirty="0"/>
              <a:t>Write PCS_CTL</a:t>
            </a:r>
            <a:endParaRPr lang="zh-TW" altLang="zh-TW" sz="2000" dirty="0"/>
          </a:p>
          <a:p>
            <a:pPr lvl="2"/>
            <a:r>
              <a:rPr lang="en-US" altLang="zh-TW" sz="1600" dirty="0" err="1">
                <a:solidFill>
                  <a:srgbClr val="FF0000"/>
                </a:solidFill>
              </a:rPr>
              <a:t>Sleep.LightSleep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PCS goes to </a:t>
            </a:r>
            <a:r>
              <a:rPr lang="en-US" altLang="zh-TW" sz="2000" dirty="0" err="1"/>
              <a:t>ST_Wait_Standby</a:t>
            </a:r>
            <a:endParaRPr lang="zh-TW" altLang="zh-TW" sz="2000" dirty="0"/>
          </a:p>
          <a:p>
            <a:pPr lvl="2"/>
            <a:r>
              <a:rPr lang="en-US" altLang="zh-TW" sz="1600" dirty="0" err="1"/>
              <a:t>Pcs_standby_req</a:t>
            </a:r>
            <a:r>
              <a:rPr lang="en-US" altLang="zh-TW" sz="1600" dirty="0"/>
              <a:t> is asserting and waiting for </a:t>
            </a:r>
            <a:r>
              <a:rPr lang="en-US" altLang="zh-TW" sz="1600" dirty="0" err="1"/>
              <a:t>pcs_standby_ok</a:t>
            </a:r>
            <a:endParaRPr lang="zh-TW" altLang="zh-TW" sz="1600" dirty="0"/>
          </a:p>
          <a:p>
            <a:pPr lvl="1"/>
            <a:r>
              <a:rPr lang="en-US" altLang="zh-TW" sz="2000" dirty="0"/>
              <a:t>The clock is gated after the </a:t>
            </a:r>
            <a:r>
              <a:rPr lang="en-US" altLang="zh-TW" sz="2000" dirty="0" err="1"/>
              <a:t>pcs_standby_ok</a:t>
            </a:r>
            <a:r>
              <a:rPr lang="en-US" altLang="zh-TW" sz="2000" dirty="0"/>
              <a:t> asserted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PD goes to </a:t>
            </a:r>
            <a:r>
              <a:rPr lang="en-US" altLang="zh-TW" sz="2000" dirty="0" err="1"/>
              <a:t>LightSleep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state</a:t>
            </a:r>
            <a:endParaRPr lang="zh-TW" altLang="zh-TW" sz="2000" dirty="0"/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PCS_STATUS =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Sleep.LightSleep</a:t>
            </a:r>
            <a:endParaRPr lang="zh-TW" altLang="zh-TW" sz="1600" dirty="0">
              <a:solidFill>
                <a:srgbClr val="FF0000"/>
              </a:solidFill>
            </a:endParaRPr>
          </a:p>
        </p:txBody>
      </p:sp>
      <p:pic>
        <p:nvPicPr>
          <p:cNvPr id="4" name="內容版面配置區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4810125" y="3819525"/>
            <a:ext cx="3575404" cy="23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橢圓 8"/>
          <p:cNvSpPr/>
          <p:nvPr/>
        </p:nvSpPr>
        <p:spPr bwMode="auto">
          <a:xfrm>
            <a:off x="4810125" y="437197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橢圓 9"/>
          <p:cNvSpPr/>
          <p:nvPr/>
        </p:nvSpPr>
        <p:spPr bwMode="auto">
          <a:xfrm>
            <a:off x="5600700" y="381952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橢圓 11"/>
          <p:cNvSpPr/>
          <p:nvPr/>
        </p:nvSpPr>
        <p:spPr bwMode="auto">
          <a:xfrm>
            <a:off x="7594954" y="437197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手繪多邊形 15"/>
          <p:cNvSpPr/>
          <p:nvPr/>
        </p:nvSpPr>
        <p:spPr bwMode="auto">
          <a:xfrm>
            <a:off x="5238750" y="4038567"/>
            <a:ext cx="2590800" cy="543001"/>
          </a:xfrm>
          <a:custGeom>
            <a:avLst/>
            <a:gdLst>
              <a:gd name="connsiteX0" fmla="*/ 0 w 2590800"/>
              <a:gd name="connsiteY0" fmla="*/ 438183 h 543001"/>
              <a:gd name="connsiteX1" fmla="*/ 638175 w 2590800"/>
              <a:gd name="connsiteY1" fmla="*/ 33 h 543001"/>
              <a:gd name="connsiteX2" fmla="*/ 1571625 w 2590800"/>
              <a:gd name="connsiteY2" fmla="*/ 457233 h 543001"/>
              <a:gd name="connsiteX3" fmla="*/ 2590800 w 2590800"/>
              <a:gd name="connsiteY3" fmla="*/ 542958 h 543001"/>
              <a:gd name="connsiteX4" fmla="*/ 2590800 w 2590800"/>
              <a:gd name="connsiteY4" fmla="*/ 542958 h 54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543001">
                <a:moveTo>
                  <a:pt x="0" y="438183"/>
                </a:moveTo>
                <a:cubicBezTo>
                  <a:pt x="188119" y="217520"/>
                  <a:pt x="376238" y="-3142"/>
                  <a:pt x="638175" y="33"/>
                </a:cubicBezTo>
                <a:cubicBezTo>
                  <a:pt x="900112" y="3208"/>
                  <a:pt x="1246188" y="366746"/>
                  <a:pt x="1571625" y="457233"/>
                </a:cubicBezTo>
                <a:cubicBezTo>
                  <a:pt x="1897062" y="547720"/>
                  <a:pt x="2590800" y="542958"/>
                  <a:pt x="2590800" y="542958"/>
                </a:cubicBezTo>
                <a:lnTo>
                  <a:pt x="2590800" y="542958"/>
                </a:ln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5809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Operation Sequence </a:t>
            </a:r>
            <a:r>
              <a:rPr lang="en-US" altLang="zh-TW" dirty="0" smtClean="0"/>
              <a:t>(3/)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 smtClean="0"/>
              <a:t>PCS </a:t>
            </a:r>
            <a:r>
              <a:rPr lang="en-US" altLang="zh-TW" sz="2400" b="1" dirty="0" err="1"/>
              <a:t>DeepSleep</a:t>
            </a:r>
            <a:r>
              <a:rPr lang="en-US" altLang="zh-TW" sz="2400" b="1" dirty="0"/>
              <a:t> operation</a:t>
            </a:r>
            <a:endParaRPr lang="zh-TW" altLang="zh-TW" sz="2400" b="1" dirty="0"/>
          </a:p>
          <a:p>
            <a:pPr lvl="1"/>
            <a:r>
              <a:rPr lang="en-US" altLang="zh-TW" sz="2000" dirty="0"/>
              <a:t>Write PCS_CTL</a:t>
            </a:r>
            <a:endParaRPr lang="zh-TW" altLang="zh-TW" sz="2000" dirty="0"/>
          </a:p>
          <a:p>
            <a:pPr lvl="2"/>
            <a:r>
              <a:rPr lang="en-US" altLang="zh-TW" sz="1600" dirty="0" err="1">
                <a:solidFill>
                  <a:srgbClr val="FF0000"/>
                </a:solidFill>
              </a:rPr>
              <a:t>Sleep.DeepSleep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PCS goes to </a:t>
            </a:r>
            <a:r>
              <a:rPr lang="en-US" altLang="zh-TW" sz="2000" dirty="0" err="1"/>
              <a:t>ST_Wait_Standby</a:t>
            </a:r>
            <a:endParaRPr lang="zh-TW" altLang="zh-TW" sz="2000" dirty="0"/>
          </a:p>
          <a:p>
            <a:pPr lvl="2"/>
            <a:r>
              <a:rPr lang="en-US" altLang="zh-TW" sz="1600" dirty="0" err="1"/>
              <a:t>Pcs_standby_req</a:t>
            </a:r>
            <a:r>
              <a:rPr lang="en-US" altLang="zh-TW" sz="1600" dirty="0"/>
              <a:t> is asserting and waiting for </a:t>
            </a:r>
            <a:r>
              <a:rPr lang="en-US" altLang="zh-TW" sz="1600" dirty="0" err="1"/>
              <a:t>pcs_standby_ok</a:t>
            </a:r>
            <a:endParaRPr lang="zh-TW" altLang="zh-TW" sz="1600" dirty="0"/>
          </a:p>
          <a:p>
            <a:pPr lvl="1"/>
            <a:r>
              <a:rPr lang="en-US" altLang="zh-TW" sz="2000" dirty="0"/>
              <a:t>The clock will be gated after the </a:t>
            </a:r>
            <a:r>
              <a:rPr lang="en-US" altLang="zh-TW" sz="2000" dirty="0" err="1"/>
              <a:t>pcs_standby_ok</a:t>
            </a:r>
            <a:r>
              <a:rPr lang="en-US" altLang="zh-TW" sz="2000" dirty="0"/>
              <a:t> asserted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isolation/retention cells are </a:t>
            </a:r>
            <a:r>
              <a:rPr lang="en-US" altLang="zh-TW" sz="2000" dirty="0" smtClean="0"/>
              <a:t>enabled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reset is asserted and then the power is gated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PD goes to 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 state.</a:t>
            </a:r>
            <a:endParaRPr lang="zh-TW" altLang="zh-TW" sz="2000" dirty="0"/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PCS_STATUS =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Sleep.DeepSleep</a:t>
            </a:r>
            <a:endParaRPr lang="zh-TW" altLang="zh-TW" sz="1600" dirty="0">
              <a:solidFill>
                <a:srgbClr val="FF0000"/>
              </a:solidFill>
            </a:endParaRPr>
          </a:p>
        </p:txBody>
      </p:sp>
      <p:pic>
        <p:nvPicPr>
          <p:cNvPr id="4" name="內容版面配置區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4962525" y="4219575"/>
            <a:ext cx="3575404" cy="23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 bwMode="auto">
          <a:xfrm>
            <a:off x="4962525" y="477202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5753100" y="421957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7747354" y="6210299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手繪多邊形 7"/>
          <p:cNvSpPr/>
          <p:nvPr/>
        </p:nvSpPr>
        <p:spPr bwMode="auto">
          <a:xfrm>
            <a:off x="5353050" y="4381493"/>
            <a:ext cx="2495550" cy="2079939"/>
          </a:xfrm>
          <a:custGeom>
            <a:avLst/>
            <a:gdLst>
              <a:gd name="connsiteX0" fmla="*/ 0 w 2495550"/>
              <a:gd name="connsiteY0" fmla="*/ 533407 h 2079939"/>
              <a:gd name="connsiteX1" fmla="*/ 666750 w 2495550"/>
              <a:gd name="connsiteY1" fmla="*/ 7 h 2079939"/>
              <a:gd name="connsiteX2" fmla="*/ 1647825 w 2495550"/>
              <a:gd name="connsiteY2" fmla="*/ 542932 h 2079939"/>
              <a:gd name="connsiteX3" fmla="*/ 1666875 w 2495550"/>
              <a:gd name="connsiteY3" fmla="*/ 1190632 h 2079939"/>
              <a:gd name="connsiteX4" fmla="*/ 342900 w 2495550"/>
              <a:gd name="connsiteY4" fmla="*/ 1276357 h 2079939"/>
              <a:gd name="connsiteX5" fmla="*/ 876300 w 2495550"/>
              <a:gd name="connsiteY5" fmla="*/ 2000257 h 2079939"/>
              <a:gd name="connsiteX6" fmla="*/ 2495550 w 2495550"/>
              <a:gd name="connsiteY6" fmla="*/ 2028832 h 20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5550" h="2079939">
                <a:moveTo>
                  <a:pt x="0" y="533407"/>
                </a:moveTo>
                <a:cubicBezTo>
                  <a:pt x="196056" y="265913"/>
                  <a:pt x="392113" y="-1580"/>
                  <a:pt x="666750" y="7"/>
                </a:cubicBezTo>
                <a:cubicBezTo>
                  <a:pt x="941387" y="1594"/>
                  <a:pt x="1481138" y="344494"/>
                  <a:pt x="1647825" y="542932"/>
                </a:cubicBezTo>
                <a:cubicBezTo>
                  <a:pt x="1814513" y="741370"/>
                  <a:pt x="1884363" y="1068395"/>
                  <a:pt x="1666875" y="1190632"/>
                </a:cubicBezTo>
                <a:cubicBezTo>
                  <a:pt x="1449388" y="1312870"/>
                  <a:pt x="474663" y="1141420"/>
                  <a:pt x="342900" y="1276357"/>
                </a:cubicBezTo>
                <a:cubicBezTo>
                  <a:pt x="211138" y="1411295"/>
                  <a:pt x="517525" y="1874845"/>
                  <a:pt x="876300" y="2000257"/>
                </a:cubicBezTo>
                <a:cubicBezTo>
                  <a:pt x="1235075" y="2125670"/>
                  <a:pt x="1865312" y="2077251"/>
                  <a:pt x="2495550" y="2028832"/>
                </a:cubicBez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4109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Operation </a:t>
            </a:r>
            <a:r>
              <a:rPr lang="en-US" altLang="zh-TW" dirty="0" smtClean="0"/>
              <a:t>Sequence (4/)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/>
              <a:t>PCS Wakeup operation</a:t>
            </a:r>
            <a:endParaRPr lang="zh-TW" altLang="zh-TW" sz="2400" b="1" dirty="0"/>
          </a:p>
          <a:p>
            <a:pPr lvl="1"/>
            <a:r>
              <a:rPr lang="en-US" altLang="zh-TW" sz="2000" dirty="0"/>
              <a:t>The PD is under 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/</a:t>
            </a:r>
            <a:r>
              <a:rPr lang="en-US" altLang="zh-TW" sz="2000" dirty="0" err="1"/>
              <a:t>LightSleep</a:t>
            </a:r>
            <a:r>
              <a:rPr lang="en-US" altLang="zh-TW" sz="2000" dirty="0"/>
              <a:t> state</a:t>
            </a:r>
            <a:endParaRPr lang="zh-TW" altLang="zh-TW" sz="2000" dirty="0"/>
          </a:p>
          <a:p>
            <a:pPr lvl="1"/>
            <a:r>
              <a:rPr lang="en-US" altLang="zh-TW" sz="2000" dirty="0"/>
              <a:t>Wakeup occurs</a:t>
            </a:r>
            <a:endParaRPr lang="zh-TW" altLang="zh-TW" sz="2000" dirty="0"/>
          </a:p>
          <a:p>
            <a:pPr lvl="2"/>
            <a:r>
              <a:rPr lang="en-US" altLang="zh-TW" sz="1600" dirty="0"/>
              <a:t>Wakeup by PCS</a:t>
            </a:r>
            <a:endParaRPr lang="zh-TW" altLang="zh-TW" sz="1600" dirty="0"/>
          </a:p>
          <a:p>
            <a:pPr lvl="3"/>
            <a:r>
              <a:rPr lang="en-US" altLang="zh-TW" sz="1600" dirty="0">
                <a:solidFill>
                  <a:srgbClr val="FF0000"/>
                </a:solidFill>
              </a:rPr>
              <a:t>PCS_CTL =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Active.wakeup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Non-masked wakeup event occurs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 smtClean="0"/>
              <a:t>(from 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The power is supplied and then the reset is de-asserted</a:t>
            </a:r>
            <a:endParaRPr lang="zh-TW" altLang="zh-TW" sz="2000" dirty="0"/>
          </a:p>
          <a:p>
            <a:pPr lvl="1"/>
            <a:r>
              <a:rPr lang="en-US" altLang="zh-TW" sz="2000" dirty="0" smtClean="0"/>
              <a:t>(from </a:t>
            </a:r>
            <a:r>
              <a:rPr lang="en-US" altLang="zh-TW" sz="2000" dirty="0" err="1"/>
              <a:t>DeepSleep</a:t>
            </a:r>
            <a:r>
              <a:rPr lang="en-US" altLang="zh-TW" sz="2000" dirty="0"/>
              <a:t>) The isolation/retention cells are disabled and the state is recovered.</a:t>
            </a:r>
            <a:endParaRPr lang="zh-TW" altLang="zh-TW" sz="2000" dirty="0"/>
          </a:p>
          <a:p>
            <a:pPr lvl="1"/>
            <a:r>
              <a:rPr lang="en-US" altLang="zh-TW" sz="2000" dirty="0"/>
              <a:t>The clock is generated</a:t>
            </a:r>
            <a:endParaRPr lang="zh-TW" altLang="zh-TW" sz="2000" dirty="0"/>
          </a:p>
          <a:p>
            <a:pPr lvl="1"/>
            <a:r>
              <a:rPr lang="en-US" altLang="zh-TW" sz="2000" dirty="0"/>
              <a:t>The PD goes to Active state</a:t>
            </a:r>
            <a:endParaRPr lang="zh-TW" altLang="zh-TW" sz="2000" dirty="0"/>
          </a:p>
          <a:p>
            <a:pPr lvl="2"/>
            <a:r>
              <a:rPr lang="en-US" altLang="zh-TW" sz="1600" dirty="0" smtClean="0"/>
              <a:t>PCS_STATUS</a:t>
            </a:r>
            <a:r>
              <a:rPr lang="en-US" altLang="zh-TW" sz="1600" dirty="0"/>
              <a:t>. </a:t>
            </a:r>
            <a:r>
              <a:rPr lang="en-US" altLang="zh-TW" sz="1600" dirty="0" err="1"/>
              <a:t>PD_Type</a:t>
            </a:r>
            <a:r>
              <a:rPr lang="en-US" altLang="zh-TW" sz="1600" dirty="0"/>
              <a:t> = Active</a:t>
            </a:r>
            <a:endParaRPr lang="zh-TW" altLang="zh-TW" sz="1600" dirty="0"/>
          </a:p>
          <a:p>
            <a:pPr lvl="2"/>
            <a:r>
              <a:rPr lang="en-US" altLang="zh-TW" sz="1600" dirty="0"/>
              <a:t>PCS_STATUS. </a:t>
            </a:r>
            <a:r>
              <a:rPr lang="en-US" altLang="zh-TW" sz="1600" dirty="0" err="1"/>
              <a:t>PD_Status</a:t>
            </a:r>
            <a:r>
              <a:rPr lang="en-US" altLang="zh-TW" sz="1600" dirty="0"/>
              <a:t> = </a:t>
            </a:r>
            <a:r>
              <a:rPr lang="en-US" altLang="zh-TW" sz="1600" dirty="0" smtClean="0">
                <a:solidFill>
                  <a:srgbClr val="FF0000"/>
                </a:solidFill>
              </a:rPr>
              <a:t>event vector</a:t>
            </a:r>
          </a:p>
          <a:p>
            <a:pPr lvl="2"/>
            <a:r>
              <a:rPr lang="en-US" altLang="zh-TW" sz="1600" dirty="0" err="1" smtClean="0">
                <a:solidFill>
                  <a:srgbClr val="FF0000"/>
                </a:solidFill>
              </a:rPr>
              <a:t>pcs_wakeup</a:t>
            </a:r>
            <a:r>
              <a:rPr lang="en-US" altLang="zh-TW" sz="1600" dirty="0" smtClean="0">
                <a:solidFill>
                  <a:srgbClr val="FF0000"/>
                </a:solidFill>
              </a:rPr>
              <a:t> is asserted</a:t>
            </a:r>
            <a:endParaRPr lang="zh-TW" altLang="zh-TW" sz="1600" dirty="0">
              <a:solidFill>
                <a:srgbClr val="FF0000"/>
              </a:solidFill>
            </a:endParaRPr>
          </a:p>
        </p:txBody>
      </p:sp>
      <p:pic>
        <p:nvPicPr>
          <p:cNvPr id="4" name="內容版面配置區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5324475" y="4219575"/>
            <a:ext cx="3575404" cy="23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 bwMode="auto">
          <a:xfrm>
            <a:off x="5324475" y="4772025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8109304" y="6210299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手繪多邊形 7"/>
          <p:cNvSpPr/>
          <p:nvPr/>
        </p:nvSpPr>
        <p:spPr bwMode="auto">
          <a:xfrm>
            <a:off x="5715000" y="4381493"/>
            <a:ext cx="2495550" cy="2079939"/>
          </a:xfrm>
          <a:custGeom>
            <a:avLst/>
            <a:gdLst>
              <a:gd name="connsiteX0" fmla="*/ 0 w 2495550"/>
              <a:gd name="connsiteY0" fmla="*/ 533407 h 2079939"/>
              <a:gd name="connsiteX1" fmla="*/ 666750 w 2495550"/>
              <a:gd name="connsiteY1" fmla="*/ 7 h 2079939"/>
              <a:gd name="connsiteX2" fmla="*/ 1647825 w 2495550"/>
              <a:gd name="connsiteY2" fmla="*/ 542932 h 2079939"/>
              <a:gd name="connsiteX3" fmla="*/ 1666875 w 2495550"/>
              <a:gd name="connsiteY3" fmla="*/ 1190632 h 2079939"/>
              <a:gd name="connsiteX4" fmla="*/ 342900 w 2495550"/>
              <a:gd name="connsiteY4" fmla="*/ 1276357 h 2079939"/>
              <a:gd name="connsiteX5" fmla="*/ 876300 w 2495550"/>
              <a:gd name="connsiteY5" fmla="*/ 2000257 h 2079939"/>
              <a:gd name="connsiteX6" fmla="*/ 2495550 w 2495550"/>
              <a:gd name="connsiteY6" fmla="*/ 2028832 h 207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5550" h="2079939">
                <a:moveTo>
                  <a:pt x="0" y="533407"/>
                </a:moveTo>
                <a:cubicBezTo>
                  <a:pt x="196056" y="265913"/>
                  <a:pt x="392113" y="-1580"/>
                  <a:pt x="666750" y="7"/>
                </a:cubicBezTo>
                <a:cubicBezTo>
                  <a:pt x="941387" y="1594"/>
                  <a:pt x="1481138" y="344494"/>
                  <a:pt x="1647825" y="542932"/>
                </a:cubicBezTo>
                <a:cubicBezTo>
                  <a:pt x="1814513" y="741370"/>
                  <a:pt x="1884363" y="1068395"/>
                  <a:pt x="1666875" y="1190632"/>
                </a:cubicBezTo>
                <a:cubicBezTo>
                  <a:pt x="1449388" y="1312870"/>
                  <a:pt x="474663" y="1141420"/>
                  <a:pt x="342900" y="1276357"/>
                </a:cubicBezTo>
                <a:cubicBezTo>
                  <a:pt x="211138" y="1411295"/>
                  <a:pt x="517525" y="1874845"/>
                  <a:pt x="876300" y="2000257"/>
                </a:cubicBezTo>
                <a:cubicBezTo>
                  <a:pt x="1235075" y="2125670"/>
                  <a:pt x="1865312" y="2077251"/>
                  <a:pt x="2495550" y="2028832"/>
                </a:cubicBez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" name="手繪多邊形 12"/>
          <p:cNvSpPr/>
          <p:nvPr/>
        </p:nvSpPr>
        <p:spPr bwMode="auto">
          <a:xfrm>
            <a:off x="7419975" y="5010150"/>
            <a:ext cx="942975" cy="152454"/>
          </a:xfrm>
          <a:custGeom>
            <a:avLst/>
            <a:gdLst>
              <a:gd name="connsiteX0" fmla="*/ 942975 w 942975"/>
              <a:gd name="connsiteY0" fmla="*/ 0 h 152454"/>
              <a:gd name="connsiteX1" fmla="*/ 295275 w 942975"/>
              <a:gd name="connsiteY1" fmla="*/ 152400 h 152454"/>
              <a:gd name="connsiteX2" fmla="*/ 0 w 942975"/>
              <a:gd name="connsiteY2" fmla="*/ 19050 h 152454"/>
              <a:gd name="connsiteX3" fmla="*/ 0 w 942975"/>
              <a:gd name="connsiteY3" fmla="*/ 19050 h 152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975" h="152454">
                <a:moveTo>
                  <a:pt x="942975" y="0"/>
                </a:moveTo>
                <a:cubicBezTo>
                  <a:pt x="697706" y="74612"/>
                  <a:pt x="452437" y="149225"/>
                  <a:pt x="295275" y="152400"/>
                </a:cubicBezTo>
                <a:cubicBezTo>
                  <a:pt x="138113" y="155575"/>
                  <a:pt x="0" y="19050"/>
                  <a:pt x="0" y="19050"/>
                </a:cubicBezTo>
                <a:lnTo>
                  <a:pt x="0" y="19050"/>
                </a:ln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" name="橢圓 13"/>
          <p:cNvSpPr/>
          <p:nvPr/>
        </p:nvSpPr>
        <p:spPr bwMode="auto">
          <a:xfrm>
            <a:off x="8109303" y="4800681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4716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PCS Operation Sequence </a:t>
            </a:r>
            <a:r>
              <a:rPr lang="en-US" altLang="zh-TW" dirty="0" smtClean="0"/>
              <a:t>(5/)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 smtClean="0"/>
              <a:t>PCS </a:t>
            </a:r>
            <a:r>
              <a:rPr lang="en-US" altLang="zh-TW" sz="2400" b="1" dirty="0"/>
              <a:t>Wakeup operation (in WAIT_STBY </a:t>
            </a:r>
            <a:r>
              <a:rPr lang="en-US" altLang="zh-TW" sz="2400" b="1" dirty="0" smtClean="0"/>
              <a:t>state)</a:t>
            </a:r>
            <a:endParaRPr lang="zh-TW" altLang="zh-TW" sz="2400" b="1" dirty="0" smtClean="0"/>
          </a:p>
          <a:p>
            <a:pPr lvl="1"/>
            <a:r>
              <a:rPr lang="en-US" altLang="zh-TW" sz="2000" dirty="0"/>
              <a:t>The PD can be </a:t>
            </a:r>
            <a:r>
              <a:rPr lang="en-US" altLang="zh-TW" sz="2000" dirty="0">
                <a:solidFill>
                  <a:srgbClr val="FF0000"/>
                </a:solidFill>
              </a:rPr>
              <a:t>wakeup immediately </a:t>
            </a:r>
            <a:r>
              <a:rPr lang="en-US" altLang="zh-TW" sz="2000" dirty="0"/>
              <a:t>from ST_WAIT_STBY.</a:t>
            </a:r>
            <a:endParaRPr lang="zh-TW" altLang="zh-TW" sz="2000" dirty="0"/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dirty="0"/>
              <a:t>PD is under WAIT_STBY state</a:t>
            </a:r>
            <a:endParaRPr lang="zh-TW" altLang="zh-TW" sz="2000" dirty="0"/>
          </a:p>
          <a:p>
            <a:pPr lvl="2"/>
            <a:r>
              <a:rPr lang="en-US" altLang="zh-TW" sz="1600" dirty="0" err="1"/>
              <a:t>Pcs_standby_req</a:t>
            </a:r>
            <a:r>
              <a:rPr lang="en-US" altLang="zh-TW" sz="1600" dirty="0"/>
              <a:t> is asserting and waiting for </a:t>
            </a:r>
            <a:r>
              <a:rPr lang="en-US" altLang="zh-TW" sz="1600" dirty="0" err="1"/>
              <a:t>pcs_standby_ok</a:t>
            </a:r>
            <a:endParaRPr lang="zh-TW" altLang="zh-TW" sz="1600" dirty="0"/>
          </a:p>
          <a:p>
            <a:pPr lvl="1"/>
            <a:r>
              <a:rPr lang="en-US" altLang="zh-TW" sz="2000" dirty="0"/>
              <a:t>Wakeup occurs</a:t>
            </a:r>
            <a:endParaRPr lang="zh-TW" altLang="zh-TW" sz="2000" dirty="0"/>
          </a:p>
          <a:p>
            <a:pPr lvl="2"/>
            <a:r>
              <a:rPr lang="en-US" altLang="zh-TW" sz="1600" dirty="0"/>
              <a:t>Wakeup by PCS</a:t>
            </a:r>
            <a:endParaRPr lang="zh-TW" altLang="zh-TW" sz="1600" dirty="0"/>
          </a:p>
          <a:p>
            <a:pPr lvl="3"/>
            <a:r>
              <a:rPr lang="en-US" altLang="zh-TW" sz="1600" dirty="0">
                <a:solidFill>
                  <a:srgbClr val="FF0000"/>
                </a:solidFill>
              </a:rPr>
              <a:t>PCS_CTL =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Active.wakeup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2"/>
            <a:r>
              <a:rPr lang="en-US" altLang="zh-TW" sz="1600" dirty="0">
                <a:solidFill>
                  <a:srgbClr val="FF0000"/>
                </a:solidFill>
              </a:rPr>
              <a:t>Non-masked wakeup event occurs</a:t>
            </a:r>
            <a:endParaRPr lang="zh-TW" altLang="zh-TW" sz="1600" dirty="0">
              <a:solidFill>
                <a:srgbClr val="FF0000"/>
              </a:solidFill>
            </a:endParaRPr>
          </a:p>
          <a:p>
            <a:pPr lvl="1"/>
            <a:r>
              <a:rPr lang="en-US" altLang="zh-TW" sz="2000" dirty="0"/>
              <a:t>The PD goes to Active state after the </a:t>
            </a:r>
            <a:r>
              <a:rPr lang="en-US" altLang="zh-TW" sz="2000" dirty="0" err="1"/>
              <a:t>pcs_standby_ok</a:t>
            </a:r>
            <a:r>
              <a:rPr lang="en-US" altLang="zh-TW" sz="2000" dirty="0"/>
              <a:t> asserted</a:t>
            </a:r>
            <a:endParaRPr lang="zh-TW" altLang="zh-TW" sz="2000" dirty="0"/>
          </a:p>
          <a:p>
            <a:pPr lvl="2"/>
            <a:r>
              <a:rPr lang="en-US" altLang="zh-TW" sz="1600" dirty="0" smtClean="0"/>
              <a:t>PCS_STATUS</a:t>
            </a:r>
            <a:r>
              <a:rPr lang="en-US" altLang="zh-TW" sz="1600" dirty="0"/>
              <a:t>. </a:t>
            </a:r>
            <a:r>
              <a:rPr lang="en-US" altLang="zh-TW" sz="1600" dirty="0" err="1"/>
              <a:t>PD_Type</a:t>
            </a:r>
            <a:r>
              <a:rPr lang="en-US" altLang="zh-TW" sz="1600" dirty="0"/>
              <a:t> = Active</a:t>
            </a:r>
            <a:endParaRPr lang="zh-TW" altLang="zh-TW" sz="1600" dirty="0"/>
          </a:p>
          <a:p>
            <a:pPr lvl="2"/>
            <a:r>
              <a:rPr lang="en-US" altLang="zh-TW" sz="1600" dirty="0"/>
              <a:t>PCS_STATUS. </a:t>
            </a:r>
            <a:r>
              <a:rPr lang="en-US" altLang="zh-TW" sz="1600" dirty="0" err="1"/>
              <a:t>PD_Status</a:t>
            </a:r>
            <a:r>
              <a:rPr lang="en-US" altLang="zh-TW" sz="1600" dirty="0"/>
              <a:t> = </a:t>
            </a:r>
            <a:r>
              <a:rPr lang="en-US" altLang="zh-TW" sz="1600" dirty="0" smtClean="0">
                <a:solidFill>
                  <a:srgbClr val="FF0000"/>
                </a:solidFill>
              </a:rPr>
              <a:t>event vector</a:t>
            </a:r>
          </a:p>
          <a:p>
            <a:pPr lvl="2"/>
            <a:r>
              <a:rPr lang="en-US" altLang="zh-TW" sz="1600" dirty="0" err="1" smtClean="0">
                <a:solidFill>
                  <a:srgbClr val="FF0000"/>
                </a:solidFill>
              </a:rPr>
              <a:t>pcs_wakeup</a:t>
            </a:r>
            <a:r>
              <a:rPr lang="en-US" altLang="zh-TW" sz="1600" dirty="0" smtClean="0">
                <a:solidFill>
                  <a:srgbClr val="FF0000"/>
                </a:solidFill>
              </a:rPr>
              <a:t> is asserted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pic>
        <p:nvPicPr>
          <p:cNvPr id="4" name="內容版面配置區 3"/>
          <p:cNvPicPr>
            <a:picLocks/>
          </p:cNvPicPr>
          <p:nvPr/>
        </p:nvPicPr>
        <p:blipFill rotWithShape="1">
          <a:blip r:embed="rId2"/>
          <a:srcRect r="29719" b="38644"/>
          <a:stretch/>
        </p:blipFill>
        <p:spPr bwMode="black">
          <a:xfrm>
            <a:off x="5783439" y="4686267"/>
            <a:ext cx="2512836" cy="146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橢圓 4"/>
          <p:cNvSpPr/>
          <p:nvPr/>
        </p:nvSpPr>
        <p:spPr bwMode="auto">
          <a:xfrm>
            <a:off x="5783439" y="5238717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橢圓 5"/>
          <p:cNvSpPr/>
          <p:nvPr/>
        </p:nvSpPr>
        <p:spPr bwMode="auto">
          <a:xfrm>
            <a:off x="6574014" y="4686267"/>
            <a:ext cx="790575" cy="3810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手繪多邊形 10"/>
          <p:cNvSpPr/>
          <p:nvPr/>
        </p:nvSpPr>
        <p:spPr bwMode="auto">
          <a:xfrm>
            <a:off x="6086474" y="4876767"/>
            <a:ext cx="898813" cy="533433"/>
          </a:xfrm>
          <a:custGeom>
            <a:avLst/>
            <a:gdLst>
              <a:gd name="connsiteX0" fmla="*/ 12011 w 1025124"/>
              <a:gd name="connsiteY0" fmla="*/ 556599 h 613749"/>
              <a:gd name="connsiteX1" fmla="*/ 107261 w 1025124"/>
              <a:gd name="connsiteY1" fmla="*/ 108924 h 613749"/>
              <a:gd name="connsiteX2" fmla="*/ 793061 w 1025124"/>
              <a:gd name="connsiteY2" fmla="*/ 4149 h 613749"/>
              <a:gd name="connsiteX3" fmla="*/ 1012136 w 1025124"/>
              <a:gd name="connsiteY3" fmla="*/ 204174 h 613749"/>
              <a:gd name="connsiteX4" fmla="*/ 469211 w 1025124"/>
              <a:gd name="connsiteY4" fmla="*/ 613749 h 613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5124" h="613749">
                <a:moveTo>
                  <a:pt x="12011" y="556599"/>
                </a:moveTo>
                <a:cubicBezTo>
                  <a:pt x="-5452" y="378799"/>
                  <a:pt x="-22914" y="200999"/>
                  <a:pt x="107261" y="108924"/>
                </a:cubicBezTo>
                <a:cubicBezTo>
                  <a:pt x="237436" y="16849"/>
                  <a:pt x="642249" y="-11726"/>
                  <a:pt x="793061" y="4149"/>
                </a:cubicBezTo>
                <a:cubicBezTo>
                  <a:pt x="943873" y="20024"/>
                  <a:pt x="1066111" y="102574"/>
                  <a:pt x="1012136" y="204174"/>
                </a:cubicBezTo>
                <a:cubicBezTo>
                  <a:pt x="958161" y="305774"/>
                  <a:pt x="713686" y="459761"/>
                  <a:pt x="469211" y="613749"/>
                </a:cubicBezTo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432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Debug Wakeup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609600" y="1138624"/>
            <a:ext cx="1314449" cy="1924049"/>
          </a:xfrm>
          <a:prstGeom prst="rect">
            <a:avLst/>
          </a:prstGeom>
          <a:solidFill>
            <a:srgbClr val="FFF78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924048" y="1138623"/>
            <a:ext cx="1314449" cy="19240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9600" y="1962148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NCEJDTM200</a:t>
            </a:r>
          </a:p>
          <a:p>
            <a:pPr algn="ctr"/>
            <a:r>
              <a:rPr lang="en-US" altLang="zh-TW" sz="1200" dirty="0" smtClean="0"/>
              <a:t>(Always On)</a:t>
            </a:r>
            <a:endParaRPr lang="zh-TW" altLang="en-US" sz="1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924049" y="1962148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chemeClr val="bg1">
                    <a:lumMod val="65000"/>
                  </a:schemeClr>
                </a:solidFill>
              </a:rPr>
              <a:t>NCEPLDM200</a:t>
            </a:r>
          </a:p>
          <a:p>
            <a:pPr algn="ctr"/>
            <a:r>
              <a:rPr lang="en-US" altLang="zh-TW" sz="1200" dirty="0" smtClean="0">
                <a:solidFill>
                  <a:schemeClr val="bg1">
                    <a:lumMod val="65000"/>
                  </a:schemeClr>
                </a:solidFill>
              </a:rPr>
              <a:t>(Power off)</a:t>
            </a:r>
            <a:endParaRPr lang="zh-TW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23899" y="3071423"/>
            <a:ext cx="2400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1. Target Power on</a:t>
            </a:r>
            <a:endParaRPr lang="zh-TW" altLang="en-US" sz="1200" dirty="0"/>
          </a:p>
        </p:txBody>
      </p:sp>
      <p:sp>
        <p:nvSpPr>
          <p:cNvPr id="10" name="矩形 9"/>
          <p:cNvSpPr/>
          <p:nvPr/>
        </p:nvSpPr>
        <p:spPr bwMode="auto">
          <a:xfrm>
            <a:off x="5534025" y="1152524"/>
            <a:ext cx="1314449" cy="1924049"/>
          </a:xfrm>
          <a:prstGeom prst="rect">
            <a:avLst/>
          </a:prstGeom>
          <a:solidFill>
            <a:srgbClr val="FFF78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6848473" y="1152523"/>
            <a:ext cx="1314449" cy="19240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534025" y="1976048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NCEJDTM200</a:t>
            </a:r>
          </a:p>
          <a:p>
            <a:pPr algn="ctr"/>
            <a:r>
              <a:rPr lang="en-US" altLang="zh-TW" sz="1200" dirty="0" smtClean="0"/>
              <a:t>(Always On)</a:t>
            </a:r>
            <a:endParaRPr lang="zh-TW" altLang="en-US" sz="1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848474" y="1976048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chemeClr val="bg1">
                    <a:lumMod val="65000"/>
                  </a:schemeClr>
                </a:solidFill>
              </a:rPr>
              <a:t>NCEPLDM200</a:t>
            </a:r>
          </a:p>
          <a:p>
            <a:pPr algn="ctr"/>
            <a:r>
              <a:rPr lang="en-US" altLang="zh-TW" sz="1200" dirty="0" smtClean="0">
                <a:solidFill>
                  <a:schemeClr val="bg1">
                    <a:lumMod val="65000"/>
                  </a:schemeClr>
                </a:solidFill>
              </a:rPr>
              <a:t>(Power off)</a:t>
            </a:r>
            <a:endParaRPr lang="zh-TW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534025" y="3104369"/>
            <a:ext cx="2809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2. Start Debug Option (Start </a:t>
            </a:r>
            <a:r>
              <a:rPr lang="en-US" altLang="zh-TW" sz="1200" dirty="0" err="1" smtClean="0"/>
              <a:t>ICEMan</a:t>
            </a:r>
            <a:r>
              <a:rPr lang="en-US" altLang="zh-TW" sz="1200" dirty="0" smtClean="0"/>
              <a:t>)</a:t>
            </a:r>
          </a:p>
        </p:txBody>
      </p:sp>
      <p:cxnSp>
        <p:nvCxnSpPr>
          <p:cNvPr id="16" name="肘形接點 15"/>
          <p:cNvCxnSpPr>
            <a:stCxn id="10" idx="1"/>
          </p:cNvCxnSpPr>
          <p:nvPr/>
        </p:nvCxnSpPr>
        <p:spPr bwMode="auto">
          <a:xfrm rot="10800000" flipV="1">
            <a:off x="5219701" y="2114548"/>
            <a:ext cx="314325" cy="123387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文字方塊 16"/>
          <p:cNvSpPr txBox="1"/>
          <p:nvPr/>
        </p:nvSpPr>
        <p:spPr>
          <a:xfrm>
            <a:off x="4614863" y="1699049"/>
            <a:ext cx="1838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>
                <a:solidFill>
                  <a:srgbClr val="C00000"/>
                </a:solidFill>
              </a:rPr>
              <a:t>dbg_wakeup_req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09599" y="3910399"/>
            <a:ext cx="1314449" cy="1924049"/>
          </a:xfrm>
          <a:prstGeom prst="rect">
            <a:avLst/>
          </a:prstGeom>
          <a:solidFill>
            <a:srgbClr val="FFF78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1924047" y="3910398"/>
            <a:ext cx="1314449" cy="19240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09599" y="4733923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NCEJDTM200</a:t>
            </a:r>
          </a:p>
          <a:p>
            <a:pPr algn="ctr"/>
            <a:r>
              <a:rPr lang="en-US" altLang="zh-TW" sz="1200" dirty="0" smtClean="0"/>
              <a:t>(Always On)</a:t>
            </a:r>
            <a:endParaRPr lang="zh-TW" altLang="en-US" sz="12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924048" y="4733923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rgbClr val="00B050"/>
                </a:solidFill>
              </a:rPr>
              <a:t>NCEPLDM200</a:t>
            </a:r>
          </a:p>
          <a:p>
            <a:pPr algn="ctr"/>
            <a:r>
              <a:rPr lang="en-US" altLang="zh-TW" sz="1200" dirty="0" smtClean="0">
                <a:solidFill>
                  <a:srgbClr val="00B050"/>
                </a:solidFill>
              </a:rPr>
              <a:t>(Wake Up)</a:t>
            </a:r>
            <a:endParaRPr lang="zh-TW" altLang="en-US" sz="1200" dirty="0">
              <a:solidFill>
                <a:srgbClr val="00B05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23898" y="5843198"/>
            <a:ext cx="2400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3. SMU wake up PLDM</a:t>
            </a:r>
            <a:endParaRPr lang="zh-TW" altLang="en-US" sz="1200" dirty="0"/>
          </a:p>
        </p:txBody>
      </p:sp>
      <p:sp>
        <p:nvSpPr>
          <p:cNvPr id="23" name="向右箭號 22"/>
          <p:cNvSpPr/>
          <p:nvPr/>
        </p:nvSpPr>
        <p:spPr bwMode="auto">
          <a:xfrm>
            <a:off x="3609974" y="2179248"/>
            <a:ext cx="1257301" cy="402535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向右箭號 23"/>
          <p:cNvSpPr/>
          <p:nvPr/>
        </p:nvSpPr>
        <p:spPr bwMode="auto">
          <a:xfrm rot="9161689">
            <a:off x="3629348" y="3472449"/>
            <a:ext cx="1309472" cy="402535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向右箭號 24"/>
          <p:cNvSpPr/>
          <p:nvPr/>
        </p:nvSpPr>
        <p:spPr bwMode="auto">
          <a:xfrm>
            <a:off x="3655433" y="4872422"/>
            <a:ext cx="1257301" cy="402535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5534025" y="3910399"/>
            <a:ext cx="1314449" cy="1924049"/>
          </a:xfrm>
          <a:prstGeom prst="rect">
            <a:avLst/>
          </a:prstGeom>
          <a:solidFill>
            <a:srgbClr val="FFF78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6848473" y="3910398"/>
            <a:ext cx="1314449" cy="19240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534025" y="4733923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NCEJDTM200</a:t>
            </a:r>
          </a:p>
          <a:p>
            <a:pPr algn="ctr"/>
            <a:r>
              <a:rPr lang="en-US" altLang="zh-TW" sz="1200" dirty="0" smtClean="0"/>
              <a:t>(Always On)</a:t>
            </a:r>
            <a:endParaRPr lang="zh-TW" altLang="en-US" sz="1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6848474" y="4733923"/>
            <a:ext cx="131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B050"/>
                </a:solidFill>
              </a:rPr>
              <a:t>NCEPLDM200</a:t>
            </a:r>
          </a:p>
          <a:p>
            <a:pPr algn="ctr"/>
            <a:r>
              <a:rPr lang="en-US" altLang="zh-TW" sz="1200" dirty="0">
                <a:solidFill>
                  <a:srgbClr val="00B050"/>
                </a:solidFill>
              </a:rPr>
              <a:t>(Wake Up)</a:t>
            </a:r>
            <a:endParaRPr lang="zh-TW" altLang="en-US" sz="1200" dirty="0">
              <a:solidFill>
                <a:srgbClr val="00B05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534026" y="5843198"/>
            <a:ext cx="2628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4. PLDM keeps alive until the system is reset by reset </a:t>
            </a:r>
            <a:r>
              <a:rPr lang="en-US" altLang="zh-TW" sz="1200" dirty="0" err="1" smtClean="0"/>
              <a:t>buttom</a:t>
            </a:r>
            <a:endParaRPr lang="zh-TW" altLang="en-US" sz="1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5534026" y="3371845"/>
            <a:ext cx="3114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* </a:t>
            </a:r>
            <a:r>
              <a:rPr lang="en-US" altLang="zh-TW" sz="1200" dirty="0" err="1" smtClean="0"/>
              <a:t>dbg_wakeup_req</a:t>
            </a:r>
            <a:r>
              <a:rPr lang="en-US" altLang="zh-TW" sz="1200" dirty="0" smtClean="0"/>
              <a:t> = 1 when </a:t>
            </a:r>
            <a:r>
              <a:rPr lang="en-US" altLang="zh-TW" sz="1200" dirty="0" err="1" smtClean="0"/>
              <a:t>jtag</a:t>
            </a:r>
            <a:r>
              <a:rPr lang="en-US" altLang="zh-TW" sz="1200" dirty="0" smtClean="0"/>
              <a:t> leave IDLE state</a:t>
            </a:r>
          </a:p>
        </p:txBody>
      </p:sp>
      <p:sp>
        <p:nvSpPr>
          <p:cNvPr id="32" name="文字方塊 31"/>
          <p:cNvSpPr txBox="1"/>
          <p:nvPr/>
        </p:nvSpPr>
        <p:spPr>
          <a:xfrm>
            <a:off x="609599" y="6120197"/>
            <a:ext cx="3114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* </a:t>
            </a:r>
            <a:r>
              <a:rPr lang="en-US" altLang="zh-TW" sz="1200" dirty="0" err="1" smtClean="0"/>
              <a:t>dbg_wakeup_req</a:t>
            </a:r>
            <a:r>
              <a:rPr lang="en-US" altLang="zh-TW" sz="1200" dirty="0"/>
              <a:t> </a:t>
            </a:r>
            <a:r>
              <a:rPr lang="en-US" altLang="zh-TW" sz="1200" dirty="0" smtClean="0"/>
              <a:t> keeps 1</a:t>
            </a:r>
          </a:p>
        </p:txBody>
      </p:sp>
      <p:cxnSp>
        <p:nvCxnSpPr>
          <p:cNvPr id="33" name="肘形接點 32"/>
          <p:cNvCxnSpPr/>
          <p:nvPr/>
        </p:nvCxnSpPr>
        <p:spPr bwMode="auto">
          <a:xfrm rot="10800000" flipV="1">
            <a:off x="295275" y="4733923"/>
            <a:ext cx="314325" cy="123387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文字方塊 33"/>
          <p:cNvSpPr txBox="1"/>
          <p:nvPr/>
        </p:nvSpPr>
        <p:spPr>
          <a:xfrm>
            <a:off x="0" y="4332322"/>
            <a:ext cx="1838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>
                <a:solidFill>
                  <a:srgbClr val="C00000"/>
                </a:solidFill>
              </a:rPr>
              <a:t>dbg_wakeup_req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506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PCS/PD Reset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609851"/>
            <a:ext cx="7086599" cy="31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內容版面配置區 3"/>
          <p:cNvPicPr>
            <a:picLocks/>
          </p:cNvPicPr>
          <p:nvPr/>
        </p:nvPicPr>
        <p:blipFill rotWithShape="1">
          <a:blip r:embed="rId3"/>
          <a:srcRect t="18590" r="62907" b="24358"/>
          <a:stretch/>
        </p:blipFill>
        <p:spPr bwMode="black">
          <a:xfrm>
            <a:off x="6915149" y="996950"/>
            <a:ext cx="2095500" cy="161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29354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LightSleep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15" y="2083708"/>
            <a:ext cx="6907212" cy="46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內容版面配置區 3"/>
          <p:cNvPicPr>
            <a:picLocks/>
          </p:cNvPicPr>
          <p:nvPr/>
        </p:nvPicPr>
        <p:blipFill rotWithShape="1">
          <a:blip r:embed="rId3"/>
          <a:srcRect b="54808"/>
          <a:stretch/>
        </p:blipFill>
        <p:spPr bwMode="black">
          <a:xfrm>
            <a:off x="5588000" y="946151"/>
            <a:ext cx="3287890" cy="101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22740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DeepSleep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58" y="1304478"/>
            <a:ext cx="8113784" cy="533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內容版面配置區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3009894" y="1186541"/>
            <a:ext cx="3472542" cy="2242457"/>
          </a:xfrm>
          <a:prstGeom prst="corner">
            <a:avLst>
              <a:gd name="adj1" fmla="val 25728"/>
              <a:gd name="adj2" fmla="val 107616"/>
            </a:avLst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7663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DVFS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04862"/>
            <a:ext cx="8420100" cy="4029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69949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Retention components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(TBD)</a:t>
            </a:r>
          </a:p>
          <a:p>
            <a:r>
              <a:rPr lang="en-US" altLang="zh-TW" dirty="0" err="1" smtClean="0"/>
              <a:t>Mems</a:t>
            </a:r>
            <a:endParaRPr lang="en-US" altLang="zh-TW" dirty="0" smtClean="0"/>
          </a:p>
          <a:p>
            <a:r>
              <a:rPr lang="en-US" altLang="zh-TW" dirty="0" smtClean="0"/>
              <a:t>CSRs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08577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en-US" altLang="zh-TW" dirty="0" smtClean="0"/>
              <a:t>Legal </a:t>
            </a:r>
            <a:r>
              <a:rPr lang="en-US" altLang="zh-TW" dirty="0"/>
              <a:t>combinations of </a:t>
            </a:r>
            <a:r>
              <a:rPr lang="en-US" altLang="zh-TW" dirty="0" smtClean="0"/>
              <a:t>power states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528119"/>
              </p:ext>
            </p:extLst>
          </p:nvPr>
        </p:nvGraphicFramePr>
        <p:xfrm>
          <a:off x="678424" y="2759392"/>
          <a:ext cx="7482349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8907"/>
                <a:gridCol w="1068907"/>
                <a:gridCol w="1068907"/>
                <a:gridCol w="1068907"/>
                <a:gridCol w="1068907"/>
                <a:gridCol w="1068907"/>
                <a:gridCol w="1068907"/>
              </a:tblGrid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Level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1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PLDM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MPD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core </a:t>
                      </a:r>
                      <a:r>
                        <a:rPr lang="en-US" sz="1100" kern="100" dirty="0">
                          <a:effectLst/>
                        </a:rPr>
                        <a:t>0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core 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core </a:t>
                      </a: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effectLst/>
                        </a:rPr>
                        <a:t>core </a:t>
                      </a:r>
                      <a:r>
                        <a:rPr lang="en-US" sz="1100" kern="100" dirty="0">
                          <a:effectLst/>
                        </a:rPr>
                        <a:t>3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 dirty="0">
                          <a:effectLst/>
                        </a:rPr>
                        <a:t>ON</a:t>
                      </a:r>
                      <a:r>
                        <a:rPr lang="en-US" sz="1100" kern="100" dirty="0" smtClean="0">
                          <a:effectLst/>
                        </a:rPr>
                        <a:t>/- </a:t>
                      </a:r>
                      <a:r>
                        <a:rPr lang="en-US" altLang="zh-TW" sz="1200" kern="100" dirty="0" smtClean="0">
                          <a:effectLst/>
                        </a:rPr>
                        <a:t>(OFF)</a:t>
                      </a:r>
                      <a:endParaRPr lang="zh-TW" altLang="zh-TW" sz="1400" kern="100" dirty="0" smtClean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 (OFF)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ON/-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ON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HI/LO</a:t>
                      </a:r>
                      <a:endParaRPr lang="zh-TW" sz="1200" kern="10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HI/LO</a:t>
                      </a:r>
                      <a:endParaRPr lang="zh-TW" sz="1200" kern="100" dirty="0">
                        <a:effectLst/>
                        <a:latin typeface="Georgia"/>
                        <a:ea typeface="Georgia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907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TODO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DVFS</a:t>
            </a:r>
          </a:p>
          <a:p>
            <a:r>
              <a:rPr lang="en-US" altLang="zh-TW" dirty="0" smtClean="0"/>
              <a:t>Clock gated by individual IP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0571741"/>
      </p:ext>
    </p:extLst>
  </p:cSld>
  <p:clrMapOvr>
    <a:masterClrMapping/>
  </p:clrMapOvr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15838</TotalTime>
  <Words>2486</Words>
  <Application>Microsoft Office PowerPoint</Application>
  <PresentationFormat>如螢幕大小 (4:3)</PresentationFormat>
  <Paragraphs>656</Paragraphs>
  <Slides>51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52" baseType="lpstr">
      <vt:lpstr>Probation Review</vt:lpstr>
      <vt:lpstr>ATCSMU100</vt:lpstr>
      <vt:lpstr>Agenda</vt:lpstr>
      <vt:lpstr>Purpose</vt:lpstr>
      <vt:lpstr>PowerPoint 簡報</vt:lpstr>
      <vt:lpstr>AE350_SMU</vt:lpstr>
      <vt:lpstr>AE350 SMU Registers</vt:lpstr>
      <vt:lpstr>PROCESSOR CLOCK OPERATION SEQUENCE</vt:lpstr>
      <vt:lpstr>AE35x Power Domain</vt:lpstr>
      <vt:lpstr>PowerPoint 簡報</vt:lpstr>
      <vt:lpstr>Features &amp; Terminologies</vt:lpstr>
      <vt:lpstr>Block Diagram</vt:lpstr>
      <vt:lpstr>ATCSMU system registers</vt:lpstr>
      <vt:lpstr> SMU System Control</vt:lpstr>
      <vt:lpstr>PCS registers</vt:lpstr>
      <vt:lpstr>PCS_CFG - Slot Configuration</vt:lpstr>
      <vt:lpstr>PCS_MISC</vt:lpstr>
      <vt:lpstr>PCS_WE - Wakeup enable</vt:lpstr>
      <vt:lpstr>PCS_CTL - Control</vt:lpstr>
      <vt:lpstr>PCS_STATUS</vt:lpstr>
      <vt:lpstr>PCS_STATUS.PD_status</vt:lpstr>
      <vt:lpstr>PowerPoint 簡報</vt:lpstr>
      <vt:lpstr>System view for power control</vt:lpstr>
      <vt:lpstr>Power down sequence</vt:lpstr>
      <vt:lpstr>Power on sequence</vt:lpstr>
      <vt:lpstr>Example of Software programming sequence</vt:lpstr>
      <vt:lpstr>PowerPoint 簡報</vt:lpstr>
      <vt:lpstr>PCS Operation FSM</vt:lpstr>
      <vt:lpstr>PowerPoint 簡報</vt:lpstr>
      <vt:lpstr>AE35x Power Domain Partition</vt:lpstr>
      <vt:lpstr>AE35x Connection</vt:lpstr>
      <vt:lpstr>Control path On AE35x (1/)</vt:lpstr>
      <vt:lpstr>Control path On AE35x (2/)</vt:lpstr>
      <vt:lpstr>PowerPoint 簡報</vt:lpstr>
      <vt:lpstr>PowerPoint 簡報</vt:lpstr>
      <vt:lpstr>Power mode definition</vt:lpstr>
      <vt:lpstr>Power Control Slot</vt:lpstr>
      <vt:lpstr>Interface</vt:lpstr>
      <vt:lpstr>Architecture state backup &amp; recovery</vt:lpstr>
      <vt:lpstr>PCS Operation Sequence (1/)</vt:lpstr>
      <vt:lpstr>PCS Operation Sequence (2/)</vt:lpstr>
      <vt:lpstr>PCS Operation Sequence (3/)</vt:lpstr>
      <vt:lpstr>PCS Operation Sequence (4/)</vt:lpstr>
      <vt:lpstr>PCS Operation Sequence (5/)</vt:lpstr>
      <vt:lpstr>Debug Wakeup</vt:lpstr>
      <vt:lpstr>PCS/PD Reset</vt:lpstr>
      <vt:lpstr>LightSleep </vt:lpstr>
      <vt:lpstr>DeepSleep</vt:lpstr>
      <vt:lpstr>DVFS</vt:lpstr>
      <vt:lpstr>Retention components </vt:lpstr>
      <vt:lpstr> Legal combinations of power states </vt:lpstr>
      <vt:lpstr>TODO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Chevy Chia-Wei Hsu(許家瑋)</cp:lastModifiedBy>
  <cp:revision>740</cp:revision>
  <dcterms:created xsi:type="dcterms:W3CDTF">2017-03-02T07:26:01Z</dcterms:created>
  <dcterms:modified xsi:type="dcterms:W3CDTF">2019-05-21T05:01:13Z</dcterms:modified>
</cp:coreProperties>
</file>